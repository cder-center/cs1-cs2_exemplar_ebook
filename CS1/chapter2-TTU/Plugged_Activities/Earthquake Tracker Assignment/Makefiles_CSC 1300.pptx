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4"/>
  </p:sldMasterIdLst>
  <p:notesMasterIdLst>
    <p:notesMasterId r:id="rId28"/>
  </p:notesMasterIdLst>
  <p:handoutMasterIdLst>
    <p:handoutMasterId r:id="rId29"/>
  </p:handoutMasterIdLst>
  <p:sldIdLst>
    <p:sldId id="358" r:id="rId5"/>
    <p:sldId id="359" r:id="rId6"/>
    <p:sldId id="363" r:id="rId7"/>
    <p:sldId id="360" r:id="rId8"/>
    <p:sldId id="364" r:id="rId9"/>
    <p:sldId id="365" r:id="rId10"/>
    <p:sldId id="366" r:id="rId11"/>
    <p:sldId id="367" r:id="rId12"/>
    <p:sldId id="368" r:id="rId13"/>
    <p:sldId id="369" r:id="rId14"/>
    <p:sldId id="376" r:id="rId15"/>
    <p:sldId id="371" r:id="rId16"/>
    <p:sldId id="372" r:id="rId17"/>
    <p:sldId id="373" r:id="rId18"/>
    <p:sldId id="377" r:id="rId19"/>
    <p:sldId id="378" r:id="rId20"/>
    <p:sldId id="379" r:id="rId21"/>
    <p:sldId id="380" r:id="rId22"/>
    <p:sldId id="381" r:id="rId23"/>
    <p:sldId id="382" r:id="rId24"/>
    <p:sldId id="374" r:id="rId25"/>
    <p:sldId id="375" r:id="rId26"/>
    <p:sldId id="272" r:id="rId27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AE6"/>
    <a:srgbClr val="EBE4DE"/>
    <a:srgbClr val="F2ED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4648" autoAdjust="0"/>
  </p:normalViewPr>
  <p:slideViewPr>
    <p:cSldViewPr snapToGrid="0">
      <p:cViewPr varScale="1">
        <p:scale>
          <a:sx n="95" d="100"/>
          <a:sy n="95" d="100"/>
        </p:scale>
        <p:origin x="89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F97142D-023B-4CF6-A720-B7641569B6CA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3D3FD74E-EB82-463C-A9B4-BD6F09BDD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17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06:02.66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0,'1928'0'0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11:07.5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0,'15619'0'0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1:12.87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1 214,'1'0,"1"0,-1 0,1-1,-1 1,1 0,-1-1,0 1,1-1,1 0,7-3,57-14,117-14,195 2,3 28,-238 2,127-10,-85 0,353 7,-322 4,899-1,-874-11,-20 0,516 10,-352 2,1080-1,-1441-1,32-5,-6 0,395-16,5 22,-197 1,6712-1,-6801-10,-35 1,425 5,-310 5,1979-1,-2105-9,-42 1,340 2,-270 7,2246-1,-2375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6:42.03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0,'0'1,"0"-1,1 0,-1 1,0-1,0 1,1-1,-1 0,0 1,1-1,-1 0,0 1,1-1,-1 0,0 0,1 1,-1-1,0 0,1 0,-1 0,1 0,-1 0,1 1,-1-1,0 0,1 0,-1 0,1 0,16 1,-13-1,234 4,-150-5,21 1,719 10,-431 8,348 10,77-27,-393-2,367 42,-707-31,64 5,7-12,68 4,110 15,41-7,2-15,-137-2,962 2,-872-10,-223 0,35-2,254-14,-183 10,-121 9,285-12,-96 7,-106 4,-50-3,-7 0,75-1,73-1,233 12,-254 2,-223-1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16:45.90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 0,'9681'-22'0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01.05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34,'37'1,"-8"0,0-2,1-1,40-7,-24 0,94-4,51 11,-123 3,199-1,335 5,-295 12,-205-10,34 4,86 4,60-1,-173-8,175 19,-91-7,-100-13,24 3,94-3,-141-6,3123 1,-2871-16,-155 8,-33 4,-100 1,242-20,111 2,-262 17,34-7,22 0,287 9,-242 3,-167-1,58-8,101-7,0 15,-101 1,1246-1,-1336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05.73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1 403,'10'1,"1"0,0 1,10 2,10 2,367 32,108-20,5-19,-177 0,-71 2,298-3,-143-9,-234 0,-56 2,-14-3,14 0,-18 6,40 0,33-10,-73 4,-65 9,-24 3,0-2,0 0,30-8,-17 2,1 2,64-4,-21 3,-64 5,98-9,-87 9,0-2,36-10,10-1,160-2,-187 16,52-1,123-8,-78-1,-94 7,131-17,-30 1,-60 16,-24 1,51-2,106-10,-130 6,79-14,-78 5,42-9,30-1,2 14,-49 5,91-5,-54 4,194-4,1 15,-118 0,197-1,-400 1,-1 1,29 6,51 15,-49-9,710 99,-646-101,285 18,-226-30,70 3,489 34,-654-32,352 3,-402-8,395 0,-371 3,117 23,-103-14,-45-7,-8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17:10.58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0,'9815'66'0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12.73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68,'0'0,"0"1,0-1,0 1,1-1,-1 1,0-1,0 1,0-1,0 0,1 1,-1-1,0 1,1-1,-1 0,0 1,1-1,-1 0,0 0,1 1,-1-1,0 0,1 0,-1 1,1-1,-1 0,1 0,14 4,-13-4,25 4,1-1,43-2,59-11,242-31,5 24,-151 20,-203-4,41-7,-5 0,243 2,-250 6,-20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20.46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12,'53'3,"-1"2,64 14,-53-8,10-1,87 0,78-10,-88-2,1240 2,-1266-6,-19 1,454 3,-286 3,1341-1,-1499-5,6-1,-79 7,-7 0,1-1,66-10,-64 3,71-2,38 9,-60 2,785-2,-778-8,-40 2,373-3,-363 9,-46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06:02.66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0,'1928'0'0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11:07.5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0,'16432'0'0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1:12.87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1 223,'1'0,"1"0,-1 0,1-2,-1 2,1 0,-1-1,0 1,2-1,0 0,7-3,60-15,121-14,203 2,3 29,-247 2,132-10,-88-1,366 8,-334 4,934-1,-908-11,-21-1,536 11,-365 2,1122-1,-1498-1,34-5,-7 0,411-17,5 23,-205 1,6980-1,-7072-11,-37 2,442 5,-322 5,2058-1,-2189-9,-44 0,353 3,-280 7,2336-1,-2470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6:42.03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0,'0'1,"0"-1,1 0,-1 1,0-1,0 1,1-1,-1 0,0 1,1-1,-1 0,0 1,1-1,-1 0,0 0,1 1,-1-1,0 0,1 0,-1 0,1 0,-1 0,1 1,-1-1,0 0,1 0,-1 0,1 0,16 1,-13-1,234 4,-150-5,21 1,719 10,-431 8,348 10,77-27,-393-2,367 42,-707-31,64 5,7-12,68 4,110 15,41-7,2-15,-137-2,962 2,-872-10,-223 0,35-2,254-14,-183 10,-121 9,285-12,-96 7,-106 4,-50-3,-7 0,75-1,73-1,233 12,-254 2,-223-1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16:45.90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1 121 0,'11306'-121'0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01.05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34,'37'1,"-8"0,0-2,1-1,40-7,-24 0,94-4,51 11,-123 3,199-1,335 5,-295 12,-205-10,34 4,86 4,60-1,-173-8,175 19,-91-7,-100-13,24 3,94-3,-141-6,3123 1,-2871-16,-155 8,-33 4,-100 1,242-20,111 2,-262 17,34-7,22 0,287 9,-242 3,-167-1,58-8,101-7,0 15,-101 1,1246-1,-1336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05.73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1 403,'10'1,"1"0,0 1,10 2,10 2,367 32,108-20,5-19,-177 0,-71 2,298-3,-143-9,-234 0,-56 2,-14-3,14 0,-18 6,40 0,33-10,-73 4,-65 9,-24 3,0-2,0 0,30-8,-17 2,1 2,64-4,-21 3,-64 5,98-9,-87 9,0-2,36-10,10-1,160-2,-187 16,52-1,123-8,-78-1,-94 7,131-17,-30 1,-60 16,-24 1,51-2,106-10,-130 6,79-14,-78 5,42-9,30-1,2 14,-49 5,91-5,-54 4,194-4,1 15,-118 0,197-1,-400 1,-1 1,29 6,51 15,-49-9,710 99,-646-101,285 18,-226-30,70 3,489 34,-654-32,352 3,-402-8,395 0,-371 3,117 23,-103-14,-45-7,-8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20:17:10.58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0,'9815'66'0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12.73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68,'0'0,"0"1,0-1,0 1,1-1,-1 1,0-1,0 1,0-1,0 0,1 1,-1-1,0 1,1-1,-1 0,0 1,1-1,-1 0,0 0,1 1,-1-1,0 0,1 0,-1 1,1-1,-1 0,1 0,14 4,-13-4,25 4,1-1,43-2,59-11,242-31,5 24,-151 20,-203-4,41-7,-5 0,243 2,-250 6,-20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20:17:20.46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12,'53'3,"-1"2,64 14,-53-8,10-1,87 0,78-10,-88-2,1240 2,-1266-6,-19 1,454 3,-286 3,1341-1,-1499-5,6-1,-79 7,-7 0,1-1,66-10,-64 3,71-2,38 9,-60 2,785-2,-778-8,-40 2,373-3,-363 9,-46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749D1-E148-4EBC-BBDA-CC53FAF15085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F8B0E-65A0-44B2-93C4-7E0D78DCD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0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2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53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100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0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579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14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37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5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55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55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9373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openxmlformats.org/officeDocument/2006/relationships/customXml" Target="../ink/ink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21.png"/><Relationship Id="rId4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23.png"/><Relationship Id="rId4" Type="http://schemas.openxmlformats.org/officeDocument/2006/relationships/customXml" Target="../ink/ink1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customXml" Target="../ink/ink2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customXml" Target="../ink/ink19.xml"/><Relationship Id="rId4" Type="http://schemas.openxmlformats.org/officeDocument/2006/relationships/customXml" Target="../ink/ink16.xml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dogs sitting at a table with a computer and books&#10;&#10;AI-generated content may be incorrect.">
            <a:extLst>
              <a:ext uri="{FF2B5EF4-FFF2-40B4-BE49-F238E27FC236}">
                <a16:creationId xmlns:a16="http://schemas.microsoft.com/office/drawing/2014/main" id="{7D3DDBF1-8B40-2EE7-DB27-237B7814A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-1"/>
            <a:ext cx="6858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04C06F-71C8-4747-B64A-A192AE9F1152}"/>
              </a:ext>
            </a:extLst>
          </p:cNvPr>
          <p:cNvSpPr/>
          <p:nvPr/>
        </p:nvSpPr>
        <p:spPr>
          <a:xfrm>
            <a:off x="484095" y="1982450"/>
            <a:ext cx="458096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Wave2">
              <a:avLst/>
            </a:prstTxWarp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rlin Sans FB Demi" panose="020E0802020502020306" pitchFamily="34" charset="0"/>
              </a:rPr>
              <a:t>Makefiles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83BABD-2850-A6CD-F181-E701D595E832}"/>
              </a:ext>
            </a:extLst>
          </p:cNvPr>
          <p:cNvSpPr/>
          <p:nvPr/>
        </p:nvSpPr>
        <p:spPr>
          <a:xfrm>
            <a:off x="1370987" y="3332293"/>
            <a:ext cx="28071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CSC 1300</a:t>
            </a:r>
          </a:p>
        </p:txBody>
      </p:sp>
    </p:spTree>
    <p:extLst>
      <p:ext uri="{BB962C8B-B14F-4D97-AF65-F5344CB8AC3E}">
        <p14:creationId xmlns:p14="http://schemas.microsoft.com/office/powerpoint/2010/main" val="82828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What is a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1" y="1418602"/>
            <a:ext cx="11759013" cy="5302832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Manually compiling and linking a program with numerous source and header files can be time consuming and challenging.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A </a:t>
            </a:r>
            <a:r>
              <a:rPr lang="en-US" sz="3600" dirty="0" err="1">
                <a:solidFill>
                  <a:schemeClr val="bg1"/>
                </a:solidFill>
              </a:rPr>
              <a:t>Makefile</a:t>
            </a:r>
            <a:r>
              <a:rPr lang="en-US" sz="3600" dirty="0">
                <a:solidFill>
                  <a:schemeClr val="bg1"/>
                </a:solidFill>
              </a:rPr>
              <a:t> is a special file used by the </a:t>
            </a:r>
            <a:r>
              <a:rPr lang="en-US" sz="3600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sz="3600" dirty="0">
                <a:solidFill>
                  <a:schemeClr val="bg1"/>
                </a:solidFill>
              </a:rPr>
              <a:t> utility to automate the process of compiling and linking programs.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The </a:t>
            </a:r>
            <a:r>
              <a:rPr lang="en-US" sz="3600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sz="3600" dirty="0">
                <a:solidFill>
                  <a:schemeClr val="bg1"/>
                </a:solidFill>
              </a:rPr>
              <a:t> utility uses a </a:t>
            </a:r>
            <a:r>
              <a:rPr lang="en-US" sz="3600" b="1" dirty="0" err="1">
                <a:solidFill>
                  <a:schemeClr val="bg1"/>
                </a:solidFill>
              </a:rPr>
              <a:t>Makefile</a:t>
            </a:r>
            <a:r>
              <a:rPr lang="en-US" sz="3600" dirty="0">
                <a:solidFill>
                  <a:schemeClr val="bg1"/>
                </a:solidFill>
              </a:rPr>
              <a:t> to recompile and link a program </a:t>
            </a:r>
            <a:r>
              <a:rPr lang="en-US" sz="3600" u="sng" dirty="0">
                <a:solidFill>
                  <a:schemeClr val="bg1"/>
                </a:solidFill>
              </a:rPr>
              <a:t>whenever changes are made to the source or header files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35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C95AB-3527-CCB8-31A9-4BAECF3F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B71B-F91B-9E28-2CA4-55B537BC7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Purpose and Benefits of using a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endParaRPr lang="en-US" dirty="0">
              <a:solidFill>
                <a:schemeClr val="bg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EBAD4-453A-9DC9-412C-E9544DF01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418602"/>
            <a:ext cx="11759013" cy="530283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Saves time </a:t>
            </a:r>
            <a:r>
              <a:rPr lang="en-US" sz="3600" dirty="0">
                <a:solidFill>
                  <a:schemeClr val="bg1"/>
                </a:solidFill>
              </a:rPr>
              <a:t>by automating builds with a single command (make).</a:t>
            </a:r>
          </a:p>
          <a:p>
            <a:r>
              <a:rPr lang="en-US" sz="3600" dirty="0">
                <a:solidFill>
                  <a:schemeClr val="bg1"/>
                </a:solidFill>
              </a:rPr>
              <a:t>Helps </a:t>
            </a:r>
            <a:r>
              <a:rPr lang="en-US" sz="3600" b="1" dirty="0">
                <a:solidFill>
                  <a:schemeClr val="bg1"/>
                </a:solidFill>
              </a:rPr>
              <a:t>manage multiple files </a:t>
            </a:r>
            <a:r>
              <a:rPr lang="en-US" sz="3600" dirty="0">
                <a:solidFill>
                  <a:schemeClr val="bg1"/>
                </a:solidFill>
              </a:rPr>
              <a:t>and their dependencies.</a:t>
            </a:r>
          </a:p>
          <a:p>
            <a:r>
              <a:rPr lang="en-US" sz="3600" dirty="0">
                <a:solidFill>
                  <a:schemeClr val="bg1"/>
                </a:solidFill>
              </a:rPr>
              <a:t>Only recompiles the files that actually changed.</a:t>
            </a:r>
          </a:p>
          <a:p>
            <a:r>
              <a:rPr lang="en-US" sz="3600" dirty="0">
                <a:solidFill>
                  <a:schemeClr val="bg1"/>
                </a:solidFill>
              </a:rPr>
              <a:t>Keeps your project </a:t>
            </a:r>
            <a:r>
              <a:rPr lang="en-US" sz="3600" b="1" dirty="0">
                <a:solidFill>
                  <a:schemeClr val="bg1"/>
                </a:solidFill>
              </a:rPr>
              <a:t>organized</a:t>
            </a:r>
            <a:r>
              <a:rPr lang="en-US" sz="3600" dirty="0">
                <a:solidFill>
                  <a:schemeClr val="bg1"/>
                </a:solidFill>
              </a:rPr>
              <a:t> and easier to maintain.</a:t>
            </a:r>
          </a:p>
          <a:p>
            <a:r>
              <a:rPr lang="en-US" sz="3600" dirty="0">
                <a:solidFill>
                  <a:schemeClr val="bg1"/>
                </a:solidFill>
              </a:rPr>
              <a:t>Consistently compiles the project the same way every time.</a:t>
            </a:r>
          </a:p>
          <a:p>
            <a:r>
              <a:rPr lang="en-US" sz="3600" dirty="0" err="1">
                <a:solidFill>
                  <a:schemeClr val="bg1"/>
                </a:solidFill>
              </a:rPr>
              <a:t>Makefiles</a:t>
            </a:r>
            <a:r>
              <a:rPr lang="en-US" sz="3600" dirty="0">
                <a:solidFill>
                  <a:schemeClr val="bg1"/>
                </a:solidFill>
              </a:rPr>
              <a:t> are </a:t>
            </a:r>
            <a:r>
              <a:rPr lang="en-US" sz="3600" b="1" dirty="0">
                <a:solidFill>
                  <a:schemeClr val="bg1"/>
                </a:solidFill>
              </a:rPr>
              <a:t>portable</a:t>
            </a:r>
            <a:r>
              <a:rPr lang="en-US" sz="3600" dirty="0">
                <a:solidFill>
                  <a:schemeClr val="bg1"/>
                </a:solidFill>
              </a:rPr>
              <a:t>! You can use the same </a:t>
            </a:r>
            <a:r>
              <a:rPr lang="en-US" sz="3600" dirty="0" err="1">
                <a:solidFill>
                  <a:schemeClr val="bg1"/>
                </a:solidFill>
              </a:rPr>
              <a:t>Makefile</a:t>
            </a:r>
            <a:r>
              <a:rPr lang="en-US" sz="3600" dirty="0">
                <a:solidFill>
                  <a:schemeClr val="bg1"/>
                </a:solidFill>
              </a:rPr>
              <a:t> across different systems.</a:t>
            </a:r>
          </a:p>
        </p:txBody>
      </p:sp>
    </p:spTree>
    <p:extLst>
      <p:ext uri="{BB962C8B-B14F-4D97-AF65-F5344CB8AC3E}">
        <p14:creationId xmlns:p14="http://schemas.microsoft.com/office/powerpoint/2010/main" val="10759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Rules and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1" y="1418602"/>
            <a:ext cx="11759013" cy="5302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The </a:t>
            </a:r>
            <a:r>
              <a:rPr lang="en-US" sz="3600" b="1" dirty="0" err="1">
                <a:solidFill>
                  <a:schemeClr val="bg1"/>
                </a:solidFill>
              </a:rPr>
              <a:t>Makefile</a:t>
            </a:r>
            <a:r>
              <a:rPr lang="en-US" sz="3600" dirty="0">
                <a:solidFill>
                  <a:schemeClr val="bg1"/>
                </a:solidFill>
              </a:rPr>
              <a:t> contains </a:t>
            </a:r>
            <a:r>
              <a:rPr lang="en-US" sz="3600" b="1" dirty="0">
                <a:solidFill>
                  <a:schemeClr val="bg1"/>
                </a:solidFill>
              </a:rPr>
              <a:t>make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rgbClr val="0070C0"/>
                </a:solidFill>
              </a:rPr>
              <a:t>rules</a:t>
            </a:r>
            <a:r>
              <a:rPr lang="en-US" sz="3600" dirty="0">
                <a:solidFill>
                  <a:schemeClr val="bg1"/>
                </a:solidFill>
              </a:rPr>
              <a:t> to specify dependencies between an object file and executable file and a set of prerequisite files (source &amp; header files) that are needed to generate the object file.</a:t>
            </a:r>
          </a:p>
        </p:txBody>
      </p:sp>
      <p:pic>
        <p:nvPicPr>
          <p:cNvPr id="1025" name="Picture 1" descr="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">
            <a:extLst>
              <a:ext uri="{FF2B5EF4-FFF2-40B4-BE49-F238E27FC236}">
                <a16:creationId xmlns:a16="http://schemas.microsoft.com/office/drawing/2014/main" id="{84C78501-206A-4015-8BC9-82D13982E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911" y="3748735"/>
            <a:ext cx="4844178" cy="2125621"/>
          </a:xfrm>
          <a:prstGeom prst="rect">
            <a:avLst/>
          </a:prstGeom>
          <a:solidFill>
            <a:schemeClr val="tx2"/>
          </a:solidFill>
          <a:ln w="190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73945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1B259-7F00-C707-7118-5E5D8B10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CBD5-CDF1-4BF3-6924-036ACBA8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Rule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90AD8-2990-E080-EA6B-51B6CC404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096" y="1223445"/>
            <a:ext cx="11759013" cy="47760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0C0"/>
                </a:solidFill>
                <a:cs typeface="Courier New" panose="02070309020205020404" pitchFamily="49" charset="0"/>
              </a:rPr>
              <a:t>Example Rule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target:  prerequisite_1  prerequisite_2… 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prerequisite_n</a:t>
            </a:r>
            <a:endParaRPr lang="en-US" sz="2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command_1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command_2</a:t>
            </a:r>
          </a:p>
        </p:txBody>
      </p:sp>
    </p:spTree>
    <p:extLst>
      <p:ext uri="{BB962C8B-B14F-4D97-AF65-F5344CB8AC3E}">
        <p14:creationId xmlns:p14="http://schemas.microsoft.com/office/powerpoint/2010/main" val="323303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C8E9C-3B8C-C2D3-24CF-C7623DAC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6D27-BDA8-C9E0-2A5C-DEC1A4193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87CB0-71DB-0D02-EE1C-2DFFFDCE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290917"/>
            <a:ext cx="11759013" cy="47760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Suppose your project includes the following files:</a:t>
            </a:r>
          </a:p>
          <a:p>
            <a:pPr marL="690563"/>
            <a:r>
              <a:rPr lang="en-US" b="1" dirty="0">
                <a:solidFill>
                  <a:srgbClr val="0070C0"/>
                </a:solidFill>
              </a:rPr>
              <a:t>turtle.h</a:t>
            </a:r>
            <a:r>
              <a:rPr lang="en-US" dirty="0">
                <a:solidFill>
                  <a:schemeClr val="bg1"/>
                </a:solidFill>
              </a:rPr>
              <a:t> 	– contains your header file for your program</a:t>
            </a:r>
          </a:p>
          <a:p>
            <a:pPr marL="690563"/>
            <a:r>
              <a:rPr lang="en-US" b="1" dirty="0">
                <a:solidFill>
                  <a:srgbClr val="0070C0"/>
                </a:solidFill>
              </a:rPr>
              <a:t>driver.cpp 	</a:t>
            </a:r>
            <a:r>
              <a:rPr lang="en-US" dirty="0">
                <a:solidFill>
                  <a:schemeClr val="bg1"/>
                </a:solidFill>
              </a:rPr>
              <a:t>– contains the main function</a:t>
            </a:r>
          </a:p>
          <a:p>
            <a:pPr marL="690563"/>
            <a:r>
              <a:rPr lang="en-US" b="1" dirty="0">
                <a:solidFill>
                  <a:srgbClr val="0070C0"/>
                </a:solidFill>
              </a:rPr>
              <a:t>functions.cpp </a:t>
            </a:r>
            <a:r>
              <a:rPr lang="en-US" dirty="0">
                <a:solidFill>
                  <a:schemeClr val="bg1"/>
                </a:solidFill>
              </a:rPr>
              <a:t>– contains all your programmer-defined functions</a:t>
            </a:r>
          </a:p>
          <a:p>
            <a:pPr marL="690563"/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To create a </a:t>
            </a:r>
            <a:r>
              <a:rPr lang="en-US" dirty="0" err="1">
                <a:solidFill>
                  <a:schemeClr val="bg1"/>
                </a:solidFill>
              </a:rPr>
              <a:t>Makefile</a:t>
            </a:r>
            <a:r>
              <a:rPr lang="en-US" dirty="0">
                <a:solidFill>
                  <a:schemeClr val="bg1"/>
                </a:solidFill>
              </a:rPr>
              <a:t> to help you compile &amp; run your program, you would create a text file named “</a:t>
            </a:r>
            <a:r>
              <a:rPr lang="en-US" b="1" dirty="0" err="1">
                <a:solidFill>
                  <a:srgbClr val="0070C0"/>
                </a:solidFill>
              </a:rPr>
              <a:t>Makefile</a:t>
            </a:r>
            <a:r>
              <a:rPr lang="en-US" dirty="0">
                <a:solidFill>
                  <a:schemeClr val="bg1"/>
                </a:solidFill>
              </a:rPr>
              <a:t>” with NO extension and place it in the same directory as your source and header files.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following slides shows how to create a </a:t>
            </a:r>
            <a:r>
              <a:rPr lang="en-US" b="1" dirty="0" err="1">
                <a:solidFill>
                  <a:schemeClr val="bg1"/>
                </a:solidFill>
                <a:highlight>
                  <a:srgbClr val="00FFFF"/>
                </a:highlight>
              </a:rPr>
              <a:t>Makefile</a:t>
            </a:r>
            <a:r>
              <a:rPr lang="en-US" b="1" dirty="0">
                <a:solidFill>
                  <a:schemeClr val="bg1"/>
                </a:solidFill>
                <a:highlight>
                  <a:srgbClr val="00FFFF"/>
                </a:highlight>
              </a:rPr>
              <a:t> for Windows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and then how to create a </a:t>
            </a:r>
            <a:r>
              <a:rPr lang="en-US" b="1" dirty="0" err="1">
                <a:solidFill>
                  <a:schemeClr val="bg1"/>
                </a:solidFill>
                <a:highlight>
                  <a:srgbClr val="00FFFF"/>
                </a:highlight>
              </a:rPr>
              <a:t>Makefile</a:t>
            </a:r>
            <a:r>
              <a:rPr lang="en-US" b="1" dirty="0">
                <a:solidFill>
                  <a:schemeClr val="bg1"/>
                </a:solidFill>
                <a:highlight>
                  <a:srgbClr val="00FFFF"/>
                </a:highlight>
              </a:rPr>
              <a:t> for Mac</a:t>
            </a:r>
            <a:r>
              <a:rPr lang="en-US" dirty="0">
                <a:solidFill>
                  <a:schemeClr val="bg1"/>
                </a:solidFill>
              </a:rPr>
              <a:t>. They are very similar.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5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B1768-E335-2499-1E1A-30E6DD96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F9A3-476B-98CA-8A0B-DDD277EA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3E9E7B-5436-615A-5834-A279AED91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1" y="1324758"/>
            <a:ext cx="1991043" cy="1385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1E33FC-0A6E-7DFD-EE62-78C5F984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222" y="3352793"/>
            <a:ext cx="179086" cy="152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FC74E7-A462-EEF5-47AC-4556DF356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948" y="1273683"/>
            <a:ext cx="9240256" cy="315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0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1E028-2125-DD38-F6FB-10518A48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69BB-55B2-379E-67C6-9C8504C9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4D4481-D963-DA4A-766B-64103B220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1" y="1519491"/>
            <a:ext cx="1991043" cy="1385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E206FF-97FD-3B89-F8B2-520FE293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73" y="3111592"/>
            <a:ext cx="10776505" cy="3678300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914F499A-CFBB-78BD-19CA-392685F443C9}"/>
              </a:ext>
            </a:extLst>
          </p:cNvPr>
          <p:cNvSpPr/>
          <p:nvPr/>
        </p:nvSpPr>
        <p:spPr>
          <a:xfrm>
            <a:off x="7171153" y="1136591"/>
            <a:ext cx="4948658" cy="3205487"/>
          </a:xfrm>
          <a:prstGeom prst="wedgeRectCallout">
            <a:avLst>
              <a:gd name="adj1" fmla="val -159426"/>
              <a:gd name="adj2" fmla="val 2703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sz="2400" b="1" dirty="0">
                <a:ln/>
                <a:solidFill>
                  <a:schemeClr val="accent3"/>
                </a:solidFill>
              </a:rPr>
              <a:t> is the default rule and the first one in the </a:t>
            </a:r>
            <a:r>
              <a:rPr lang="en-US" sz="2400" b="1" dirty="0" err="1">
                <a:ln/>
                <a:solidFill>
                  <a:schemeClr val="accent3"/>
                </a:solidFill>
              </a:rPr>
              <a:t>Makefile</a:t>
            </a:r>
            <a:r>
              <a:rPr lang="en-US" sz="2400" b="1" dirty="0">
                <a:ln/>
                <a:solidFill>
                  <a:schemeClr val="accent3"/>
                </a:solidFill>
              </a:rPr>
              <a:t>. It's the entry point for the build process. When you type “</a:t>
            </a:r>
            <a:r>
              <a:rPr lang="en-US" sz="2400" b="1" dirty="0">
                <a:ln/>
                <a:solidFill>
                  <a:schemeClr val="accent3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sz="2400" b="1" dirty="0">
                <a:ln/>
                <a:solidFill>
                  <a:schemeClr val="accent3"/>
                </a:solidFill>
              </a:rPr>
              <a:t>” with no arguments in the command prompt, this is the rule that executes.</a:t>
            </a:r>
          </a:p>
          <a:p>
            <a:endParaRPr lang="en-US" sz="2400" b="1" dirty="0">
              <a:ln/>
              <a:solidFill>
                <a:schemeClr val="accent3"/>
              </a:solidFill>
            </a:endParaRPr>
          </a:p>
          <a:p>
            <a:r>
              <a:rPr lang="en-US" sz="2400" b="1" dirty="0">
                <a:ln/>
                <a:solidFill>
                  <a:schemeClr val="accent3"/>
                </a:solidFill>
              </a:rPr>
              <a:t>This rule requires the </a:t>
            </a:r>
            <a:r>
              <a:rPr lang="en-US" sz="2400" b="1" dirty="0" err="1">
                <a:ln/>
                <a:solidFill>
                  <a:schemeClr val="bg1"/>
                </a:solidFill>
                <a:highlight>
                  <a:srgbClr val="FF00FF"/>
                </a:highlight>
              </a:rPr>
              <a:t>Turtleprog</a:t>
            </a:r>
            <a:r>
              <a:rPr lang="en-US" sz="2400" b="1" dirty="0">
                <a:ln/>
                <a:solidFill>
                  <a:schemeClr val="accent3"/>
                </a:solidFill>
              </a:rPr>
              <a:t> rule to execute (next slide)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4E824A2-A7D4-41A9-A61E-75B9690B92B2}"/>
                  </a:ext>
                </a:extLst>
              </p14:cNvPr>
              <p14:cNvContentPartPr/>
              <p14:nvPr/>
            </p14:nvContentPartPr>
            <p14:xfrm>
              <a:off x="1006447" y="3905931"/>
              <a:ext cx="694440" cy="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4E824A2-A7D4-41A9-A61E-75B9690B92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447" y="3617931"/>
                <a:ext cx="838080" cy="57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39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F1266-AA21-5FFE-EC6B-96118A2C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6DF53-5230-986F-9F71-1D4BC77DA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6" y="2975235"/>
            <a:ext cx="10776505" cy="3678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B4D088-17EB-FF32-6ED1-923B7B8B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5E47D9-EE5C-3763-7636-93274DFFD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6" y="1235664"/>
            <a:ext cx="1771650" cy="1232453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2EF48BDA-9EB3-0E07-A44E-39DEBD1DAD7E}"/>
              </a:ext>
            </a:extLst>
          </p:cNvPr>
          <p:cNvSpPr/>
          <p:nvPr/>
        </p:nvSpPr>
        <p:spPr>
          <a:xfrm>
            <a:off x="7122036" y="997922"/>
            <a:ext cx="4899273" cy="3335058"/>
          </a:xfrm>
          <a:prstGeom prst="wedgeRectCallout">
            <a:avLst>
              <a:gd name="adj1" fmla="val -141285"/>
              <a:gd name="adj2" fmla="val 4792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b="1" dirty="0">
                <a:ln/>
                <a:solidFill>
                  <a:schemeClr val="accent3"/>
                </a:solidFill>
              </a:rPr>
              <a:t>The </a:t>
            </a:r>
            <a:r>
              <a:rPr lang="en-US" sz="2800" b="1" dirty="0" err="1">
                <a:ln/>
                <a:solidFill>
                  <a:schemeClr val="accent3"/>
                </a:solidFill>
                <a:highlight>
                  <a:srgbClr val="FF00FF"/>
                </a:highlight>
              </a:rPr>
              <a:t>Turtleprog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rule executes only if driver.cpp and functions.cpp already exists.</a:t>
            </a:r>
          </a:p>
          <a:p>
            <a:endParaRPr lang="en-US" sz="2800" b="1" dirty="0">
              <a:ln/>
              <a:solidFill>
                <a:schemeClr val="accent3"/>
              </a:solidFill>
            </a:endParaRPr>
          </a:p>
          <a:p>
            <a:r>
              <a:rPr lang="en-US" sz="2800" b="1" dirty="0">
                <a:ln/>
                <a:solidFill>
                  <a:schemeClr val="accent3"/>
                </a:solidFill>
              </a:rPr>
              <a:t>This rule will </a:t>
            </a:r>
            <a:r>
              <a:rPr lang="en-US" sz="2800" b="1" dirty="0">
                <a:ln/>
                <a:solidFill>
                  <a:schemeClr val="bg1"/>
                </a:solidFill>
                <a:highlight>
                  <a:srgbClr val="00FFFF"/>
                </a:highlight>
              </a:rPr>
              <a:t>compile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the source files into an executable file named </a:t>
            </a:r>
            <a:r>
              <a:rPr lang="en-US" sz="2800" b="1" dirty="0">
                <a:ln/>
                <a:solidFill>
                  <a:srgbClr val="0070C0"/>
                </a:solidFill>
              </a:rPr>
              <a:t>turtleprog.exe</a:t>
            </a:r>
          </a:p>
          <a:p>
            <a:endParaRPr lang="en-US" sz="2000" b="1" dirty="0">
              <a:ln/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774B282-6894-3FFA-9215-28BA22125EB0}"/>
                  </a:ext>
                </a:extLst>
              </p14:cNvPr>
              <p14:cNvContentPartPr/>
              <p14:nvPr/>
            </p14:nvContentPartPr>
            <p14:xfrm>
              <a:off x="1054371" y="4359354"/>
              <a:ext cx="5623200" cy="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774B282-6894-3FFA-9215-28BA22125E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2731" y="4071354"/>
                <a:ext cx="576684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B5B7CC-F75F-8578-F727-26E175599A63}"/>
                  </a:ext>
                </a:extLst>
              </p14:cNvPr>
              <p14:cNvContentPartPr/>
              <p14:nvPr/>
            </p14:nvContentPartPr>
            <p14:xfrm>
              <a:off x="2895411" y="4639434"/>
              <a:ext cx="7670520" cy="77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B5B7CC-F75F-8578-F727-26E175599A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23771" y="4495794"/>
                <a:ext cx="7814160" cy="3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76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A6670-5E99-BA02-FBFA-982636CB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DD0632-9FD4-4D00-6B5B-CF4671569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6" y="2975235"/>
            <a:ext cx="10776505" cy="3678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5356EE-A28C-4D4C-DE37-52E72511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F65013-DF2A-0CB2-BBF6-3B8D044C3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23" y="1341071"/>
            <a:ext cx="1595477" cy="1109898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134CE5F0-2CBE-3EC5-D0D8-3DB38061A840}"/>
              </a:ext>
            </a:extLst>
          </p:cNvPr>
          <p:cNvSpPr/>
          <p:nvPr/>
        </p:nvSpPr>
        <p:spPr>
          <a:xfrm>
            <a:off x="6949584" y="2119169"/>
            <a:ext cx="4899273" cy="3114567"/>
          </a:xfrm>
          <a:prstGeom prst="wedgeRectCallout">
            <a:avLst>
              <a:gd name="adj1" fmla="val -153385"/>
              <a:gd name="adj2" fmla="val 4738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b="1" dirty="0">
                <a:ln/>
                <a:solidFill>
                  <a:schemeClr val="accent3"/>
                </a:solidFill>
              </a:rPr>
              <a:t>Type “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run</a:t>
            </a:r>
            <a:r>
              <a:rPr lang="en-US" sz="2800" b="1" dirty="0">
                <a:ln/>
                <a:solidFill>
                  <a:schemeClr val="accent3"/>
                </a:solidFill>
              </a:rPr>
              <a:t>” (without the double quotes) in the command prompt to 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</a:rPr>
              <a:t>RUN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your program. </a:t>
            </a:r>
          </a:p>
          <a:p>
            <a:endParaRPr lang="en-US" sz="2800" b="1" dirty="0">
              <a:ln/>
              <a:solidFill>
                <a:schemeClr val="accent3"/>
              </a:solidFill>
              <a:cs typeface="Courier New" panose="02070309020205020404" pitchFamily="49" charset="0"/>
            </a:endParaRPr>
          </a:p>
          <a:p>
            <a:r>
              <a:rPr lang="en-US" sz="2800" b="1" dirty="0">
                <a:ln/>
                <a:solidFill>
                  <a:schemeClr val="accent3"/>
                </a:solidFill>
                <a:cs typeface="Courier New" panose="02070309020205020404" pitchFamily="49" charset="0"/>
              </a:rPr>
              <a:t>This rule will only execute if the turtleprog.exe file exists.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2F790FE-2D99-0395-C193-E1D33C1705E1}"/>
                  </a:ext>
                </a:extLst>
              </p14:cNvPr>
              <p14:cNvContentPartPr/>
              <p14:nvPr/>
            </p14:nvContentPartPr>
            <p14:xfrm>
              <a:off x="1078851" y="5237754"/>
              <a:ext cx="4070520" cy="65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2F790FE-2D99-0395-C193-E1D33C1705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851" y="5093754"/>
                <a:ext cx="42141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4405D4-FA78-F985-38F2-C752F41A8FC8}"/>
                  </a:ext>
                </a:extLst>
              </p14:cNvPr>
              <p14:cNvContentPartPr/>
              <p14:nvPr/>
            </p14:nvContentPartPr>
            <p14:xfrm>
              <a:off x="1078491" y="5526474"/>
              <a:ext cx="3485520" cy="8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4405D4-FA78-F985-38F2-C752F41A8F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6851" y="5382474"/>
                <a:ext cx="3629160" cy="2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834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AA013-1EB6-DE50-9CD7-D78D7BCB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DDDC1-5F7F-625D-FDDC-5EFFF1DD6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6" y="2975235"/>
            <a:ext cx="10776505" cy="3678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7821E7-90A1-291F-2F51-F1B019826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E3C3BC-F8F3-3E9C-7CDB-8AE634428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23" y="1341071"/>
            <a:ext cx="1595477" cy="1109898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9F545460-DACE-81B2-9C97-2B38DC4E8D53}"/>
              </a:ext>
            </a:extLst>
          </p:cNvPr>
          <p:cNvSpPr/>
          <p:nvPr/>
        </p:nvSpPr>
        <p:spPr>
          <a:xfrm>
            <a:off x="6949584" y="1479885"/>
            <a:ext cx="4899273" cy="3962400"/>
          </a:xfrm>
          <a:prstGeom prst="wedgeRectCallout">
            <a:avLst>
              <a:gd name="adj1" fmla="val -153549"/>
              <a:gd name="adj2" fmla="val 6478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b="1" dirty="0">
                <a:ln/>
                <a:solidFill>
                  <a:schemeClr val="accent3"/>
                </a:solidFill>
              </a:rPr>
              <a:t>Type “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clean</a:t>
            </a:r>
            <a:r>
              <a:rPr lang="en-US" sz="2800" b="1" dirty="0">
                <a:ln/>
                <a:solidFill>
                  <a:schemeClr val="accent3"/>
                </a:solidFill>
              </a:rPr>
              <a:t>” (without the double quotes) in the command prompt to 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</a:rPr>
              <a:t>delete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your executable file (turtleprog.exe). </a:t>
            </a:r>
          </a:p>
          <a:p>
            <a:endParaRPr lang="en-US" sz="2800" b="1" dirty="0">
              <a:ln/>
              <a:solidFill>
                <a:schemeClr val="accent3"/>
              </a:solidFill>
              <a:cs typeface="Courier New" panose="02070309020205020404" pitchFamily="49" charset="0"/>
            </a:endParaRPr>
          </a:p>
          <a:p>
            <a:r>
              <a:rPr lang="en-US" sz="2800" b="1" dirty="0">
                <a:ln/>
                <a:solidFill>
                  <a:schemeClr val="accent3"/>
                </a:solidFill>
                <a:cs typeface="Courier New" panose="02070309020205020404" pitchFamily="49" charset="0"/>
              </a:rPr>
              <a:t>This rule will only execute if the turtleprog.exe file exists.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880260-303F-FF31-C074-CA8D35F92960}"/>
                  </a:ext>
                </a:extLst>
              </p14:cNvPr>
              <p14:cNvContentPartPr/>
              <p14:nvPr/>
            </p14:nvContentPartPr>
            <p14:xfrm>
              <a:off x="1062291" y="6191754"/>
              <a:ext cx="4113720" cy="4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880260-303F-FF31-C074-CA8D35F929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651" y="6047754"/>
                <a:ext cx="425736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53655A-3859-97DB-7CC8-94907616CBD8}"/>
                  </a:ext>
                </a:extLst>
              </p14:cNvPr>
              <p14:cNvContentPartPr/>
              <p14:nvPr/>
            </p14:nvContentPartPr>
            <p14:xfrm>
              <a:off x="1054371" y="6331794"/>
              <a:ext cx="4765320" cy="170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53655A-3859-97DB-7CC8-94907616CB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2731" y="6187794"/>
                <a:ext cx="490896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423EF99-5910-FBC0-D320-D2FAE7BF14A0}"/>
                  </a:ext>
                </a:extLst>
              </p14:cNvPr>
              <p14:cNvContentPartPr/>
              <p14:nvPr/>
            </p14:nvContentPartPr>
            <p14:xfrm>
              <a:off x="2305731" y="6460674"/>
              <a:ext cx="3533760" cy="24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423EF99-5910-FBC0-D320-D2FAE7BF14A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3731" y="6317034"/>
                <a:ext cx="36774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8C42886-8532-A821-096C-48CB711F2738}"/>
                  </a:ext>
                </a:extLst>
              </p14:cNvPr>
              <p14:cNvContentPartPr/>
              <p14:nvPr/>
            </p14:nvContentPartPr>
            <p14:xfrm>
              <a:off x="1178931" y="6356274"/>
              <a:ext cx="644040" cy="32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8C42886-8532-A821-096C-48CB711F273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6931" y="6212634"/>
                <a:ext cx="7876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86C90FC-00C6-0E16-B495-BB88FD800938}"/>
                  </a:ext>
                </a:extLst>
              </p14:cNvPr>
              <p14:cNvContentPartPr/>
              <p14:nvPr/>
            </p14:nvContentPartPr>
            <p14:xfrm>
              <a:off x="1728291" y="6175914"/>
              <a:ext cx="2639160" cy="25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86C90FC-00C6-0E16-B495-BB88FD8009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56291" y="6031914"/>
                <a:ext cx="2782800" cy="3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527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C107A-AC69-5909-6EB7-851E3E1E3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7614-74BB-0D51-C86E-0AB31AAF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Using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on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(slide 1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8AE9A-FF67-75E3-93EE-0224BA137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290917"/>
            <a:ext cx="11759013" cy="4776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If you installed the MinGW compiler, it already came with make in the bin directory but it probably </a:t>
            </a:r>
            <a:r>
              <a:rPr lang="en-US" b="1" dirty="0">
                <a:solidFill>
                  <a:schemeClr val="bg1"/>
                </a:solidFill>
              </a:rPr>
              <a:t>needs to be renamed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Go to wherever you installed your mingw64 folder (mine is in C: drive)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Then click on the bin folder.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files are in alphabetical order. Scroll way down to the m’s.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Rename </a:t>
            </a:r>
            <a:r>
              <a:rPr lang="en-US" b="1" i="0" dirty="0">
                <a:solidFill>
                  <a:srgbClr val="0C0D0E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mingw32-make</a:t>
            </a:r>
            <a:r>
              <a:rPr lang="en-US" dirty="0">
                <a:solidFill>
                  <a:schemeClr val="bg1"/>
                </a:solidFill>
              </a:rPr>
              <a:t> to just </a:t>
            </a:r>
            <a:r>
              <a:rPr lang="en-US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C4965-8DF7-10A2-B7EB-A083988C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27" y="4338539"/>
            <a:ext cx="6637595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42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78298-4678-EB85-F467-A6B5B57B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6DA4-FD3D-DD84-5931-3D95B7BE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Using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on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(slide 2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DAC60-FB96-9304-218D-08ECD61F3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290917"/>
            <a:ext cx="11759013" cy="4776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Now go to the directory where your program (and </a:t>
            </a:r>
            <a:r>
              <a:rPr lang="en-US" dirty="0" err="1">
                <a:solidFill>
                  <a:schemeClr val="bg1"/>
                </a:solidFill>
              </a:rPr>
              <a:t>Makefile</a:t>
            </a:r>
            <a:r>
              <a:rPr lang="en-US" dirty="0">
                <a:solidFill>
                  <a:schemeClr val="bg1"/>
                </a:solidFill>
              </a:rPr>
              <a:t>) are located in your command prompt or terminal and type </a:t>
            </a:r>
            <a:r>
              <a:rPr lang="en-US" b="1" dirty="0">
                <a:solidFill>
                  <a:schemeClr val="bg1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>
                <a:solidFill>
                  <a:schemeClr val="bg1"/>
                </a:solidFill>
              </a:rPr>
              <a:t>. This creates your executable file.</a:t>
            </a:r>
            <a:endParaRPr lang="en-US" b="1" dirty="0">
              <a:solidFill>
                <a:schemeClr val="bg1"/>
              </a:solidFill>
              <a:highlight>
                <a:srgbClr val="FF00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1ADF3-E2DE-B823-809B-13EC96BFA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03" y="2524557"/>
            <a:ext cx="11257591" cy="1213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248389-D891-EA06-8808-2B101C5B3A92}"/>
              </a:ext>
            </a:extLst>
          </p:cNvPr>
          <p:cNvSpPr/>
          <p:nvPr/>
        </p:nvSpPr>
        <p:spPr>
          <a:xfrm>
            <a:off x="122274" y="3285460"/>
            <a:ext cx="6563273" cy="40403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10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DF7CD-5BC7-2001-94B7-1FE87649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C8C8-8B7E-1A44-02F9-B8E62488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Using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on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(slide 3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50F7A-87DF-CC74-C0C9-F40748B46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290917"/>
            <a:ext cx="11759013" cy="4776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Now </a:t>
            </a:r>
            <a:r>
              <a:rPr lang="en-US" b="1" dirty="0">
                <a:solidFill>
                  <a:schemeClr val="bg1"/>
                </a:solidFill>
              </a:rPr>
              <a:t>run</a:t>
            </a:r>
            <a:r>
              <a:rPr lang="en-US" dirty="0">
                <a:solidFill>
                  <a:schemeClr val="bg1"/>
                </a:solidFill>
              </a:rPr>
              <a:t> your program by typing </a:t>
            </a:r>
            <a:r>
              <a:rPr lang="en-US" b="1" dirty="0">
                <a:solidFill>
                  <a:schemeClr val="bg1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run</a:t>
            </a:r>
            <a:r>
              <a:rPr lang="en-US" dirty="0">
                <a:solidFill>
                  <a:schemeClr val="bg1"/>
                </a:solidFill>
              </a:rPr>
              <a:t> in your command prompt.</a:t>
            </a:r>
            <a:endParaRPr lang="en-US" b="1" dirty="0">
              <a:solidFill>
                <a:schemeClr val="bg1"/>
              </a:solidFill>
              <a:highlight>
                <a:srgbClr val="FF00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1E354F-DEFC-275C-D0FC-766E21967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83" y="1907065"/>
            <a:ext cx="11616440" cy="39036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6DA8B5-C10D-969C-7D60-C1EEF310C7D8}"/>
              </a:ext>
            </a:extLst>
          </p:cNvPr>
          <p:cNvSpPr/>
          <p:nvPr/>
        </p:nvSpPr>
        <p:spPr>
          <a:xfrm>
            <a:off x="70137" y="2760081"/>
            <a:ext cx="2333847" cy="40403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16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62006-3FB0-636E-D017-40C1B950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6054-41E9-DCFF-EF49-D1FE47810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Using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on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Windows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(slide 4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0147E-775E-9A4D-1E2F-CDB1D7190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290917"/>
            <a:ext cx="11759013" cy="4776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If you want to delete your executable file, type </a:t>
            </a:r>
            <a:r>
              <a:rPr lang="en-US" b="1" dirty="0">
                <a:solidFill>
                  <a:schemeClr val="bg1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clean</a:t>
            </a:r>
            <a:r>
              <a:rPr lang="en-US" dirty="0">
                <a:solidFill>
                  <a:schemeClr val="bg1"/>
                </a:solidFill>
              </a:rPr>
              <a:t> in your command prompt.</a:t>
            </a:r>
            <a:endParaRPr lang="en-US" b="1" dirty="0">
              <a:solidFill>
                <a:schemeClr val="bg1"/>
              </a:solidFill>
              <a:highlight>
                <a:srgbClr val="FF00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B26B5-448C-20AA-1957-99D9B146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8" y="2299641"/>
            <a:ext cx="11762710" cy="14111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FB020E-CD35-F260-A1EB-AA86CC38A865}"/>
              </a:ext>
            </a:extLst>
          </p:cNvPr>
          <p:cNvSpPr/>
          <p:nvPr/>
        </p:nvSpPr>
        <p:spPr>
          <a:xfrm>
            <a:off x="122274" y="3285460"/>
            <a:ext cx="2333847" cy="40403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4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F87BE-6B26-25ED-3085-43A85AD4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CB92-F998-B895-DB9B-71833F09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Mac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0DD392-9153-2B8E-89BA-FD2D0F58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1" y="1324758"/>
            <a:ext cx="1991043" cy="1385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B84A91-AB88-EE17-A465-4DB24E4C9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47" y="1289488"/>
            <a:ext cx="9472262" cy="30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16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57440-9033-83CF-C766-EF617A9A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F86C67-C061-3210-E978-21DD697A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63" y="3066151"/>
            <a:ext cx="10875747" cy="35294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7BD1A8-198A-E34E-069D-34EAEB40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Mac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89674-7D5C-84A9-259D-D34A94B8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11" y="1519491"/>
            <a:ext cx="1991043" cy="1385074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3FCF98E-6669-70B6-A18A-0B6432764C2F}"/>
              </a:ext>
            </a:extLst>
          </p:cNvPr>
          <p:cNvSpPr/>
          <p:nvPr/>
        </p:nvSpPr>
        <p:spPr>
          <a:xfrm>
            <a:off x="7171153" y="1136591"/>
            <a:ext cx="4948658" cy="3205487"/>
          </a:xfrm>
          <a:prstGeom prst="wedgeRectCallout">
            <a:avLst>
              <a:gd name="adj1" fmla="val -159426"/>
              <a:gd name="adj2" fmla="val 2703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sz="2400" b="1" dirty="0">
                <a:ln/>
                <a:solidFill>
                  <a:schemeClr val="accent3"/>
                </a:solidFill>
              </a:rPr>
              <a:t> is the default rule and the first one in the </a:t>
            </a:r>
            <a:r>
              <a:rPr lang="en-US" sz="2400" b="1" dirty="0" err="1">
                <a:ln/>
                <a:solidFill>
                  <a:schemeClr val="accent3"/>
                </a:solidFill>
              </a:rPr>
              <a:t>Makefile</a:t>
            </a:r>
            <a:r>
              <a:rPr lang="en-US" sz="2400" b="1" dirty="0">
                <a:ln/>
                <a:solidFill>
                  <a:schemeClr val="accent3"/>
                </a:solidFill>
              </a:rPr>
              <a:t>. It's the entry point for the build process. When you type “</a:t>
            </a:r>
            <a:r>
              <a:rPr lang="en-US" sz="2400" b="1" dirty="0">
                <a:ln/>
                <a:solidFill>
                  <a:schemeClr val="accent3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sz="2400" b="1" dirty="0">
                <a:ln/>
                <a:solidFill>
                  <a:schemeClr val="accent3"/>
                </a:solidFill>
              </a:rPr>
              <a:t>” with no arguments in the terminal, this is the rule that executes.</a:t>
            </a:r>
          </a:p>
          <a:p>
            <a:endParaRPr lang="en-US" sz="2400" b="1" dirty="0">
              <a:ln/>
              <a:solidFill>
                <a:schemeClr val="accent3"/>
              </a:solidFill>
            </a:endParaRPr>
          </a:p>
          <a:p>
            <a:r>
              <a:rPr lang="en-US" sz="2400" b="1" dirty="0">
                <a:ln/>
                <a:solidFill>
                  <a:schemeClr val="accent3"/>
                </a:solidFill>
              </a:rPr>
              <a:t>This rule requires the </a:t>
            </a:r>
            <a:r>
              <a:rPr lang="en-US" sz="2400" b="1" dirty="0" err="1">
                <a:ln/>
                <a:solidFill>
                  <a:schemeClr val="bg1"/>
                </a:solidFill>
                <a:highlight>
                  <a:srgbClr val="FF00FF"/>
                </a:highlight>
              </a:rPr>
              <a:t>Turtleprog</a:t>
            </a:r>
            <a:r>
              <a:rPr lang="en-US" sz="2400" b="1" dirty="0">
                <a:ln/>
                <a:solidFill>
                  <a:schemeClr val="accent3"/>
                </a:solidFill>
              </a:rPr>
              <a:t> rule to execute (next slide)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C13B73C-0657-6C13-BC40-29A8621F78AB}"/>
                  </a:ext>
                </a:extLst>
              </p14:cNvPr>
              <p14:cNvContentPartPr/>
              <p14:nvPr/>
            </p14:nvContentPartPr>
            <p14:xfrm>
              <a:off x="1018478" y="3581079"/>
              <a:ext cx="694440" cy="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C13B73C-0657-6C13-BC40-29A8621F78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6478" y="3293079"/>
                <a:ext cx="838080" cy="57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6482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ADC6E-0546-C886-2856-B5B95568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85E0D4-DB3C-F7E5-F3DD-3E47E6399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1" y="3201063"/>
            <a:ext cx="10875747" cy="35294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047F05-61FB-7978-EB95-4D0ADF156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Mac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21BC2-CE1F-9520-0877-F7AA94D66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6" y="1235664"/>
            <a:ext cx="1771650" cy="1232453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FEACE22-B9D6-6202-E566-80460D3095E5}"/>
              </a:ext>
            </a:extLst>
          </p:cNvPr>
          <p:cNvSpPr/>
          <p:nvPr/>
        </p:nvSpPr>
        <p:spPr>
          <a:xfrm>
            <a:off x="7122036" y="997922"/>
            <a:ext cx="4899273" cy="3335058"/>
          </a:xfrm>
          <a:prstGeom prst="wedgeRectCallout">
            <a:avLst>
              <a:gd name="adj1" fmla="val -141285"/>
              <a:gd name="adj2" fmla="val 4792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b="1" dirty="0">
                <a:ln/>
                <a:solidFill>
                  <a:schemeClr val="accent3"/>
                </a:solidFill>
              </a:rPr>
              <a:t>The </a:t>
            </a:r>
            <a:r>
              <a:rPr lang="en-US" sz="2800" b="1" dirty="0" err="1">
                <a:ln/>
                <a:solidFill>
                  <a:schemeClr val="accent3"/>
                </a:solidFill>
                <a:highlight>
                  <a:srgbClr val="FF00FF"/>
                </a:highlight>
              </a:rPr>
              <a:t>Turtleprog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rule executes only if driver.cpp and functions.cpp already exists.</a:t>
            </a:r>
          </a:p>
          <a:p>
            <a:endParaRPr lang="en-US" sz="2800" b="1" dirty="0">
              <a:ln/>
              <a:solidFill>
                <a:schemeClr val="accent3"/>
              </a:solidFill>
            </a:endParaRPr>
          </a:p>
          <a:p>
            <a:r>
              <a:rPr lang="en-US" sz="2800" b="1" dirty="0">
                <a:ln/>
                <a:solidFill>
                  <a:schemeClr val="accent3"/>
                </a:solidFill>
              </a:rPr>
              <a:t>This rule will </a:t>
            </a:r>
            <a:r>
              <a:rPr lang="en-US" sz="2800" b="1" dirty="0">
                <a:ln/>
                <a:solidFill>
                  <a:schemeClr val="bg1"/>
                </a:solidFill>
                <a:highlight>
                  <a:srgbClr val="00FFFF"/>
                </a:highlight>
              </a:rPr>
              <a:t>compile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the source files into an executable file named </a:t>
            </a:r>
            <a:r>
              <a:rPr lang="en-US" sz="2800" b="1" dirty="0" err="1">
                <a:ln/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turtleprog</a:t>
            </a:r>
            <a:endParaRPr lang="en-US" sz="2800" b="1" dirty="0">
              <a:ln/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n/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1E64388-8F87-6FA9-8CF0-9D208D16C8D1}"/>
                  </a:ext>
                </a:extLst>
              </p14:cNvPr>
              <p14:cNvContentPartPr/>
              <p14:nvPr/>
            </p14:nvContentPartPr>
            <p14:xfrm>
              <a:off x="1054371" y="4359354"/>
              <a:ext cx="5915924" cy="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1E64388-8F87-6FA9-8CF0-9D208D16C8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2370" y="4071354"/>
                <a:ext cx="6059565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413C12-71C9-3267-196D-CC88A8320C06}"/>
                  </a:ext>
                </a:extLst>
              </p14:cNvPr>
              <p14:cNvContentPartPr/>
              <p14:nvPr/>
            </p14:nvContentPartPr>
            <p14:xfrm>
              <a:off x="2895411" y="4639433"/>
              <a:ext cx="7977126" cy="80119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413C12-71C9-3267-196D-CC88A8320C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23409" y="4495722"/>
                <a:ext cx="8120770" cy="3671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8981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C223D-C833-C966-C034-93F058C3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974146-BE40-49B0-8428-BA5EF09FD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1" y="3209084"/>
            <a:ext cx="10875747" cy="35294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816C39-E6E8-68CF-DA71-CF74E6F8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Mac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036A2-59D3-0AA9-AF2E-17BDDF02E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23" y="1341071"/>
            <a:ext cx="1595477" cy="1109898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770489A1-EB2F-EE29-2CF1-8B23FE3B7B6A}"/>
              </a:ext>
            </a:extLst>
          </p:cNvPr>
          <p:cNvSpPr/>
          <p:nvPr/>
        </p:nvSpPr>
        <p:spPr>
          <a:xfrm>
            <a:off x="6949584" y="2119169"/>
            <a:ext cx="4899273" cy="3114567"/>
          </a:xfrm>
          <a:prstGeom prst="wedgeRectCallout">
            <a:avLst>
              <a:gd name="adj1" fmla="val -153385"/>
              <a:gd name="adj2" fmla="val 4738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b="1" dirty="0">
                <a:ln/>
                <a:solidFill>
                  <a:schemeClr val="accent3"/>
                </a:solidFill>
              </a:rPr>
              <a:t>Type “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run</a:t>
            </a:r>
            <a:r>
              <a:rPr lang="en-US" sz="2800" b="1" dirty="0">
                <a:ln/>
                <a:solidFill>
                  <a:schemeClr val="accent3"/>
                </a:solidFill>
              </a:rPr>
              <a:t>” (without the double quotes) in the terminal to 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</a:rPr>
              <a:t>RUN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your program. </a:t>
            </a:r>
          </a:p>
          <a:p>
            <a:endParaRPr lang="en-US" sz="2800" b="1" dirty="0">
              <a:ln/>
              <a:solidFill>
                <a:schemeClr val="accent3"/>
              </a:solidFill>
              <a:cs typeface="Courier New" panose="02070309020205020404" pitchFamily="49" charset="0"/>
            </a:endParaRPr>
          </a:p>
          <a:p>
            <a:r>
              <a:rPr lang="en-US" sz="2800" b="1" dirty="0">
                <a:ln/>
                <a:solidFill>
                  <a:schemeClr val="accent3"/>
                </a:solidFill>
                <a:cs typeface="Courier New" panose="02070309020205020404" pitchFamily="49" charset="0"/>
              </a:rPr>
              <a:t>This rule will only execute if the </a:t>
            </a:r>
            <a:r>
              <a:rPr lang="en-US" sz="2800" b="1" dirty="0" err="1">
                <a:ln/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turtleprog</a:t>
            </a:r>
            <a:r>
              <a:rPr lang="en-US" sz="2800" b="1" dirty="0">
                <a:ln/>
                <a:solidFill>
                  <a:schemeClr val="accent3"/>
                </a:solidFill>
                <a:cs typeface="Courier New" panose="02070309020205020404" pitchFamily="49" charset="0"/>
              </a:rPr>
              <a:t> executable file exists.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4EEFA5-BAF3-ABDC-2C09-10B41CE1143E}"/>
                  </a:ext>
                </a:extLst>
              </p14:cNvPr>
              <p14:cNvContentPartPr/>
              <p14:nvPr/>
            </p14:nvContentPartPr>
            <p14:xfrm>
              <a:off x="1069161" y="5293901"/>
              <a:ext cx="4070520" cy="65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4EEFA5-BAF3-ABDC-2C09-10B41CE114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7161" y="5149901"/>
                <a:ext cx="42141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E398036-D786-70A9-B2FD-184E8EEFDEF6}"/>
                  </a:ext>
                </a:extLst>
              </p14:cNvPr>
              <p14:cNvContentPartPr/>
              <p14:nvPr/>
            </p14:nvContentPartPr>
            <p14:xfrm>
              <a:off x="1094062" y="5581098"/>
              <a:ext cx="4070520" cy="45719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E398036-D786-70A9-B2FD-184E8EEFDE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2062" y="5431200"/>
                <a:ext cx="4214160" cy="3451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679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E494A-3BFC-FE1B-CFBE-67033903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206F73-6BC1-2C01-73F2-AA889030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1" y="3209084"/>
            <a:ext cx="10875747" cy="35294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93CCE8-3983-E5CF-7616-9E498EF7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Example for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Mac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5A16A7-C84F-24E7-7E8B-40164D7D8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23" y="1341071"/>
            <a:ext cx="1595477" cy="1109898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915294D-8505-C558-8B9B-486424694028}"/>
              </a:ext>
            </a:extLst>
          </p:cNvPr>
          <p:cNvSpPr/>
          <p:nvPr/>
        </p:nvSpPr>
        <p:spPr>
          <a:xfrm>
            <a:off x="6949584" y="1479885"/>
            <a:ext cx="4899273" cy="3962400"/>
          </a:xfrm>
          <a:prstGeom prst="wedgeRectCallout">
            <a:avLst>
              <a:gd name="adj1" fmla="val -153549"/>
              <a:gd name="adj2" fmla="val 6478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b="1" dirty="0">
                <a:ln/>
                <a:solidFill>
                  <a:schemeClr val="accent3"/>
                </a:solidFill>
              </a:rPr>
              <a:t>Type “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clean</a:t>
            </a:r>
            <a:r>
              <a:rPr lang="en-US" sz="2800" b="1" dirty="0">
                <a:ln/>
                <a:solidFill>
                  <a:schemeClr val="accent3"/>
                </a:solidFill>
              </a:rPr>
              <a:t>” (without the double quotes) in the terminal to </a:t>
            </a:r>
            <a:r>
              <a:rPr lang="en-US" sz="2800" b="1" dirty="0">
                <a:ln/>
                <a:solidFill>
                  <a:schemeClr val="accent3"/>
                </a:solidFill>
                <a:highlight>
                  <a:srgbClr val="00FFFF"/>
                </a:highlight>
              </a:rPr>
              <a:t>delete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your executable file (</a:t>
            </a:r>
            <a:r>
              <a:rPr lang="en-US" sz="2800" b="1" dirty="0" err="1">
                <a:ln/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turtleprog</a:t>
            </a:r>
            <a:r>
              <a:rPr lang="en-US" sz="2800" b="1" dirty="0">
                <a:ln/>
                <a:solidFill>
                  <a:schemeClr val="accent3"/>
                </a:solidFill>
              </a:rPr>
              <a:t>). </a:t>
            </a:r>
          </a:p>
          <a:p>
            <a:endParaRPr lang="en-US" sz="2800" b="1" dirty="0">
              <a:ln/>
              <a:solidFill>
                <a:schemeClr val="accent3"/>
              </a:solidFill>
              <a:cs typeface="Courier New" panose="02070309020205020404" pitchFamily="49" charset="0"/>
            </a:endParaRPr>
          </a:p>
          <a:p>
            <a:r>
              <a:rPr lang="en-US" sz="2800" b="1" dirty="0">
                <a:ln/>
                <a:solidFill>
                  <a:schemeClr val="accent3"/>
                </a:solidFill>
                <a:cs typeface="Courier New" panose="02070309020205020404" pitchFamily="49" charset="0"/>
              </a:rPr>
              <a:t>This rule will only execute if the </a:t>
            </a:r>
            <a:r>
              <a:rPr lang="en-US" sz="2800" b="1" dirty="0" err="1">
                <a:ln/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turtleprog</a:t>
            </a:r>
            <a:r>
              <a:rPr lang="en-US" sz="2800" b="1" dirty="0">
                <a:ln/>
                <a:solidFill>
                  <a:schemeClr val="accent3"/>
                </a:solidFill>
                <a:cs typeface="Courier New" panose="02070309020205020404" pitchFamily="49" charset="0"/>
              </a:rPr>
              <a:t> executable file exists.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C23EB3-37D8-E52F-987F-F680E134BB55}"/>
                  </a:ext>
                </a:extLst>
              </p14:cNvPr>
              <p14:cNvContentPartPr/>
              <p14:nvPr/>
            </p14:nvContentPartPr>
            <p14:xfrm>
              <a:off x="1062291" y="6191754"/>
              <a:ext cx="4113720" cy="4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C23EB3-37D8-E52F-987F-F680E134BB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291" y="6048797"/>
                <a:ext cx="4257360" cy="334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E04C6C-A02E-D7F7-EA5D-6334F6A25EE7}"/>
                  </a:ext>
                </a:extLst>
              </p14:cNvPr>
              <p14:cNvContentPartPr/>
              <p14:nvPr/>
            </p14:nvContentPartPr>
            <p14:xfrm>
              <a:off x="1054371" y="6331794"/>
              <a:ext cx="4765320" cy="170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E04C6C-A02E-D7F7-EA5D-6334F6A25E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2371" y="6187794"/>
                <a:ext cx="490896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E7B7A1-DB8B-165B-419E-411FA0555800}"/>
                  </a:ext>
                </a:extLst>
              </p14:cNvPr>
              <p14:cNvContentPartPr/>
              <p14:nvPr/>
            </p14:nvContentPartPr>
            <p14:xfrm>
              <a:off x="2285931" y="6502434"/>
              <a:ext cx="3533760" cy="24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E7B7A1-DB8B-165B-419E-411FA05558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3931" y="6358434"/>
                <a:ext cx="36774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D84295C-F954-C627-26FE-9915658DB01F}"/>
                  </a:ext>
                </a:extLst>
              </p14:cNvPr>
              <p14:cNvContentPartPr/>
              <p14:nvPr/>
            </p14:nvContentPartPr>
            <p14:xfrm>
              <a:off x="1178931" y="6356274"/>
              <a:ext cx="644040" cy="32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D84295C-F954-C627-26FE-9915658DB0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6931" y="6210656"/>
                <a:ext cx="787680" cy="3232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3C38609-C54B-6BAD-C193-6CC672FA5C13}"/>
                  </a:ext>
                </a:extLst>
              </p14:cNvPr>
              <p14:cNvContentPartPr/>
              <p14:nvPr/>
            </p14:nvContentPartPr>
            <p14:xfrm>
              <a:off x="1728291" y="6175914"/>
              <a:ext cx="2639160" cy="25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3C38609-C54B-6BAD-C193-6CC672FA5C1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56301" y="6031914"/>
                <a:ext cx="2782780" cy="3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6769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BF62B-CAA4-4B6C-BF67-6CE9980D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A80B-F53B-5E18-483F-ED7407C7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Using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on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Mac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8CEE-C30C-9055-0870-5A975DF91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290917"/>
            <a:ext cx="11759013" cy="4776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Xcode already comes with make. To verify in your terminal, type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–version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Then, you can duplicate the directions for Windows by typing </a:t>
            </a:r>
            <a:r>
              <a:rPr lang="en-US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 to create your executable and then run the program as usual.</a:t>
            </a:r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037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100000">
              <a:schemeClr val="tx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5FEDD-176A-A5CE-815B-0E295202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C797-F6ED-A5D7-15D6-EAD3E627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1" y="365125"/>
            <a:ext cx="11759013" cy="771466"/>
          </a:xfrm>
          <a:solidFill>
            <a:schemeClr val="tx2"/>
          </a:solidFill>
          <a:ln w="19050"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Using </a:t>
            </a:r>
            <a:r>
              <a:rPr lang="en-US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Makefile</a:t>
            </a:r>
            <a:r>
              <a:rPr lang="en-US" dirty="0">
                <a:solidFill>
                  <a:schemeClr val="bg2"/>
                </a:solidFill>
                <a:latin typeface="Berlin Sans FB Demi" panose="020E0802020502020306" pitchFamily="34" charset="0"/>
              </a:rPr>
              <a:t> on 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  <a:latin typeface="Berlin Sans FB Demi" panose="020E0802020502020306" pitchFamily="34" charset="0"/>
              </a:rPr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CB33-7E8C-61D1-7706-66E02F8E3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1" y="1290917"/>
            <a:ext cx="11759013" cy="4776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Ensure build-essential is installed. To verify in your terminal type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apt update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apt install build-essential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To verify make is installed in your terminal, type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 –version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Then, you can duplicate the directions for Windows by typing </a:t>
            </a:r>
            <a:r>
              <a:rPr lang="en-US" b="1" dirty="0">
                <a:solidFill>
                  <a:schemeClr val="bg1"/>
                </a:solidFill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 to create your executable and then run the program as usual.</a:t>
            </a:r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707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og wearing headphones and a bow tie and wearing glasses&#10;&#10;AI-generated content may be incorrect.">
            <a:extLst>
              <a:ext uri="{FF2B5EF4-FFF2-40B4-BE49-F238E27FC236}">
                <a16:creationId xmlns:a16="http://schemas.microsoft.com/office/drawing/2014/main" id="{3F8875C9-1D77-1F62-0454-6B9EC36B4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5741"/>
          <a:stretch>
            <a:fillRect/>
          </a:stretch>
        </p:blipFill>
        <p:spPr>
          <a:xfrm>
            <a:off x="-719" y="0"/>
            <a:ext cx="1219344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0900281"/>
      </p:ext>
    </p:extLst>
  </p:cSld>
  <p:clrMapOvr>
    <a:masterClrMapping/>
  </p:clrMapOvr>
</p:sld>
</file>

<file path=ppt/theme/theme1.xml><?xml version="1.0" encoding="utf-8"?>
<a:theme xmlns:a="http://schemas.openxmlformats.org/drawingml/2006/main" name="APRIL THEME FOR LABS">
  <a:themeElements>
    <a:clrScheme name="TTU">
      <a:dk1>
        <a:sysClr val="windowText" lastClr="000000"/>
      </a:dk1>
      <a:lt1>
        <a:sysClr val="window" lastClr="FFFFFF"/>
      </a:lt1>
      <a:dk2>
        <a:srgbClr val="4F2984"/>
      </a:dk2>
      <a:lt2>
        <a:srgbClr val="EAE5EB"/>
      </a:lt2>
      <a:accent1>
        <a:srgbClr val="4F2984"/>
      </a:accent1>
      <a:accent2>
        <a:srgbClr val="FFDD00"/>
      </a:accent2>
      <a:accent3>
        <a:srgbClr val="000000"/>
      </a:accent3>
      <a:accent4>
        <a:srgbClr val="7F7F7F"/>
      </a:accent4>
      <a:accent5>
        <a:srgbClr val="A5A5A5"/>
      </a:accent5>
      <a:accent6>
        <a:srgbClr val="BFBFBF"/>
      </a:accent6>
      <a:hlink>
        <a:srgbClr val="0000FF"/>
      </a:hlink>
      <a:folHlink>
        <a:srgbClr val="0000FF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EF96C5-3DBB-474D-9A68-6602A116B4D3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16c05727-aa75-4e4a-9b5f-8a80a1165891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4ABC737-7714-4383-83AA-9E7E16CCB4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13E99F-A368-412C-B268-19FC7C8FD4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1784</TotalTime>
  <Words>924</Words>
  <Application>Microsoft Office PowerPoint</Application>
  <PresentationFormat>Widescreen</PresentationFormat>
  <Paragraphs>89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Berlin Sans FB Demi</vt:lpstr>
      <vt:lpstr>Calibri</vt:lpstr>
      <vt:lpstr>Cambria</vt:lpstr>
      <vt:lpstr>Courier New</vt:lpstr>
      <vt:lpstr>APRIL THEME FOR LABS</vt:lpstr>
      <vt:lpstr>PowerPoint Presentation</vt:lpstr>
      <vt:lpstr>What is a Makefile?</vt:lpstr>
      <vt:lpstr>Purpose and Benefits of using a Makefile</vt:lpstr>
      <vt:lpstr>Makefile Rules and Commands</vt:lpstr>
      <vt:lpstr>Makefile Rule Syntax</vt:lpstr>
      <vt:lpstr>Makefile Example</vt:lpstr>
      <vt:lpstr>Makefile Example for Windows</vt:lpstr>
      <vt:lpstr>Makefile Example for Windows</vt:lpstr>
      <vt:lpstr>Makefile Example for Windows</vt:lpstr>
      <vt:lpstr>Makefile Example for Windows</vt:lpstr>
      <vt:lpstr>Makefile Example for Windows</vt:lpstr>
      <vt:lpstr>Using Makefile on Windows (slide 1 of 4)</vt:lpstr>
      <vt:lpstr>Using Makefile on Windows (slide 2 of 4)</vt:lpstr>
      <vt:lpstr>Using Makefile on Windows (slide 3 of 4)</vt:lpstr>
      <vt:lpstr>Using Makefile on Windows (slide 4 of 4)</vt:lpstr>
      <vt:lpstr>Makefile Example for Mac</vt:lpstr>
      <vt:lpstr>Makefile Example for Mac</vt:lpstr>
      <vt:lpstr>Makefile Example for Mac</vt:lpstr>
      <vt:lpstr>Makefile Example for Mac</vt:lpstr>
      <vt:lpstr>Makefile Example for Mac</vt:lpstr>
      <vt:lpstr>Using Makefile on Mac</vt:lpstr>
      <vt:lpstr>Using Makefile on Linux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Crockett, April</cp:lastModifiedBy>
  <cp:revision>8</cp:revision>
  <dcterms:created xsi:type="dcterms:W3CDTF">2019-05-17T13:33:27Z</dcterms:created>
  <dcterms:modified xsi:type="dcterms:W3CDTF">2025-07-15T20:36:10Z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
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8"/>
  </p:notesMasterIdLst>
  <p:handoutMasterIdLst>
    <p:handoutMasterId r:id="rId99"/>
  </p:handoutMasterIdLst>
  <p:sldIdLst>
    <p:sldId id="256" r:id="rId5"/>
    <p:sldId id="271" r:id="rId6"/>
    <p:sldId id="327" r:id="rId7"/>
    <p:sldId id="272" r:id="rId8"/>
    <p:sldId id="269" r:id="rId9"/>
    <p:sldId id="270" r:id="rId10"/>
    <p:sldId id="328" r:id="rId11"/>
    <p:sldId id="329" r:id="rId12"/>
    <p:sldId id="330" r:id="rId13"/>
    <p:sldId id="331" r:id="rId14"/>
    <p:sldId id="332" r:id="rId15"/>
    <p:sldId id="333" r:id="rId16"/>
    <p:sldId id="334" r:id="rId17"/>
    <p:sldId id="335" r:id="rId18"/>
    <p:sldId id="336" r:id="rId19"/>
    <p:sldId id="337" r:id="rId20"/>
    <p:sldId id="528" r:id="rId21"/>
    <p:sldId id="548" r:id="rId22"/>
    <p:sldId id="549" r:id="rId23"/>
    <p:sldId id="550" r:id="rId24"/>
    <p:sldId id="551" r:id="rId25"/>
    <p:sldId id="339" r:id="rId26"/>
    <p:sldId id="338" r:id="rId27"/>
    <p:sldId id="340" r:id="rId28"/>
    <p:sldId id="341" r:id="rId29"/>
    <p:sldId id="342" r:id="rId30"/>
    <p:sldId id="529" r:id="rId31"/>
    <p:sldId id="530" r:id="rId32"/>
    <p:sldId id="531" r:id="rId33"/>
    <p:sldId id="532" r:id="rId34"/>
    <p:sldId id="533" r:id="rId35"/>
    <p:sldId id="543" r:id="rId36"/>
    <p:sldId id="552" r:id="rId37"/>
    <p:sldId id="553" r:id="rId38"/>
    <p:sldId id="554" r:id="rId39"/>
    <p:sldId id="555" r:id="rId40"/>
    <p:sldId id="556" r:id="rId41"/>
    <p:sldId id="605" r:id="rId42"/>
    <p:sldId id="534" r:id="rId43"/>
    <p:sldId id="535" r:id="rId44"/>
    <p:sldId id="536" r:id="rId45"/>
    <p:sldId id="538" r:id="rId46"/>
    <p:sldId id="539" r:id="rId47"/>
    <p:sldId id="540" r:id="rId48"/>
    <p:sldId id="541" r:id="rId49"/>
    <p:sldId id="557" r:id="rId50"/>
    <p:sldId id="558" r:id="rId51"/>
    <p:sldId id="559" r:id="rId52"/>
    <p:sldId id="542" r:id="rId53"/>
    <p:sldId id="544" r:id="rId54"/>
    <p:sldId id="560" r:id="rId55"/>
    <p:sldId id="562" r:id="rId56"/>
    <p:sldId id="563" r:id="rId57"/>
    <p:sldId id="564" r:id="rId58"/>
    <p:sldId id="565" r:id="rId59"/>
    <p:sldId id="566" r:id="rId60"/>
    <p:sldId id="545" r:id="rId61"/>
    <p:sldId id="567" r:id="rId62"/>
    <p:sldId id="573" r:id="rId63"/>
    <p:sldId id="569" r:id="rId64"/>
    <p:sldId id="571" r:id="rId65"/>
    <p:sldId id="568" r:id="rId66"/>
    <p:sldId id="572" r:id="rId67"/>
    <p:sldId id="574" r:id="rId68"/>
    <p:sldId id="606" r:id="rId69"/>
    <p:sldId id="546" r:id="rId70"/>
    <p:sldId id="575" r:id="rId71"/>
    <p:sldId id="577" r:id="rId72"/>
    <p:sldId id="578" r:id="rId73"/>
    <p:sldId id="579" r:id="rId74"/>
    <p:sldId id="580" r:id="rId75"/>
    <p:sldId id="581" r:id="rId76"/>
    <p:sldId id="582" r:id="rId77"/>
    <p:sldId id="583" r:id="rId78"/>
    <p:sldId id="584" r:id="rId79"/>
    <p:sldId id="585" r:id="rId80"/>
    <p:sldId id="586" r:id="rId81"/>
    <p:sldId id="587" r:id="rId82"/>
    <p:sldId id="588" r:id="rId83"/>
    <p:sldId id="599" r:id="rId84"/>
    <p:sldId id="547" r:id="rId85"/>
    <p:sldId id="589" r:id="rId86"/>
    <p:sldId id="570" r:id="rId87"/>
    <p:sldId id="591" r:id="rId88"/>
    <p:sldId id="603" r:id="rId89"/>
    <p:sldId id="604" r:id="rId90"/>
    <p:sldId id="602" r:id="rId91"/>
    <p:sldId id="593" r:id="rId92"/>
    <p:sldId id="594" r:id="rId93"/>
    <p:sldId id="601" r:id="rId94"/>
    <p:sldId id="596" r:id="rId95"/>
    <p:sldId id="597" r:id="rId96"/>
    <p:sldId id="592"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A63901"/>
    <a:srgbClr val="A73801"/>
    <a:srgbClr val="FF00FF"/>
    <a:srgbClr val="66FFFF"/>
    <a:srgbClr val="00FF00"/>
    <a:srgbClr val="1C5F79"/>
    <a:srgbClr val="02825F"/>
    <a:srgbClr val="B57A58"/>
    <a:srgbClr val="9EA4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20" autoAdjust="0"/>
    <p:restoredTop sz="94959" autoAdjust="0"/>
  </p:normalViewPr>
  <p:slideViewPr>
    <p:cSldViewPr>
      <p:cViewPr>
        <p:scale>
          <a:sx n="51" d="100"/>
          <a:sy n="51" d="100"/>
        </p:scale>
        <p:origin x="1488" y="388"/>
      </p:cViewPr>
      <p:guideLst>
        <p:guide pos="3840"/>
        <p:guide orient="horz" pos="2160"/>
      </p:guideLst>
    </p:cSldViewPr>
  </p:slideViewPr>
  <p:outlineViewPr>
    <p:cViewPr>
      <p:scale>
        <a:sx n="33" d="100"/>
        <a:sy n="33" d="100"/>
      </p:scale>
      <p:origin x="0" y="-1420"/>
    </p:cViewPr>
  </p:outlineViewPr>
  <p:notesTextViewPr>
    <p:cViewPr>
      <p:scale>
        <a:sx n="1" d="1"/>
        <a:sy n="1" d="1"/>
      </p:scale>
      <p:origin x="0" y="0"/>
    </p:cViewPr>
  </p:notesTextViewPr>
  <p:sorterViewPr>
    <p:cViewPr>
      <p:scale>
        <a:sx n="100" d="100"/>
        <a:sy n="100" d="100"/>
      </p:scale>
      <p:origin x="0" y="-6900"/>
    </p:cViewPr>
  </p:sorter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3/7/2026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00.122"/>
    </inkml:context>
    <inkml:brush xml:id="br0">
      <inkml:brushProperty name="width" value="0.1" units="cm"/>
      <inkml:brushProperty name="height" value="0.1" units="cm"/>
    </inkml:brush>
  </inkml:definitions>
  <inkml:trace contextRef="#ctx0" brushRef="#br0">289 166 1568,'3'-11'5439,"-2"-17"-2865,-1 24-2429,1-2-33,-1 1 1,0-1-1,-1 1 0,1-1 0,-1 1 0,0-1 1,-1 1-1,1 0 0,-1-1 0,0 1 0,0 0 1,-1 0-1,1 1 0,-1-1 0,0 0 1,-1 1-1,1 0 0,-8-8 0,9 10-105,-1 0 0,0 0 0,1 1 0,-1-1 0,0 0 0,0 1 0,0 0 0,0-1 0,0 1 0,0 1 0,-1-1 0,1 0 0,0 1 0,0-1 0,-1 1 0,1 0 0,0 0 0,0 1 0,-1-1 0,1 0 0,0 1 0,0 0 0,0 0 0,-1 0-1,1 0 1,0 1 0,1-1 0,-1 1 0,0-1 0,0 1 0,-4 4 0,-4 3-1,1 1 0,1 0 1,-1 1-1,2-1 0,-1 2 0,2-1 0,-1 1 0,2 0 0,0 1 0,0 0 0,-5 17 1,9-21-7,-34 123-5,31-111 5,2 1-1,0 0 0,2 0 0,1 26 1,0-43-2,1 1 0,0 0 1,1-1-1,-1 0 0,1 1 1,0-1-1,0 0 1,1 0-1,0 0 0,-1 0 1,2 0-1,-1-1 0,1 1 1,-1-1-1,1 0 1,6 5-1,-4-4-1,1 0 1,-1-1-1,1 1 0,0-1 0,1-1 1,-1 1-1,0-1 0,1 0 1,0-1-1,12 3 0,6-1 0,-16-2 3,0 0 0,1 0 0,17-1 0,-24-1 5,-1-1 1,0 1 0,1-1 0,-1 1 0,1-1 0,-1 0 0,0-1 0,0 1 0,0-1 0,0 1-1,0-1 1,0 0 0,0 0 0,0 0 0,3-4 0,-1 0 21,0 0 1,-1 0-1,0 0 1,0-1-1,-1 0 1,1 0-1,-1 0 1,2-10-1,12-24 62,-7 19-7,-2-1-1,0 1 1,-2-1 0,0-1-1,-2 1 1,0-1 0,-2 0-1,0-32 1,-3 48-61,1-1 1,-1 1 0,0 0-1,-1 0 1,0-1-1,0 1 1,-6-12-1,-2 0 97,-18-28 1,16 29-97,-2 4 58,5 10-228,9 5 126,-1 0 1,1 0 0,0 0 0,0 0 0,0 0 0,-1 0-1,1 0 1,0 0 0,0 0 0,0 0 0,-1 1-1,1-1 1,0 0 0,0 0 0,0 0 0,0 0 0,0 0-1,-1 0 1,1 1 0,0-1 0,0 0 0,0 0 0,0 0-1,0 0 1,0 0 0,-1 1 0,1-1 0,0 0 0,0 0-1,0 0 1,0 1 0,0-1 0,0 0 0,0 0 0,0 0-1,0 1 1,0-1 0,0 0 0,0 1 0,0 11-359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01.918"/>
    </inkml:context>
    <inkml:brush xml:id="br0">
      <inkml:brushProperty name="width" value="0.1" units="cm"/>
      <inkml:brushProperty name="height" value="0.1" units="cm"/>
    </inkml:brush>
  </inkml:definitions>
  <inkml:trace contextRef="#ctx0" brushRef="#br0">338 4 3817,'-2'-4'3792,"-2"8"-2571,-4 7-949,-33 65 139,14-21-241,-3-2 1,-2-1-1,-43 52 0,-32 27-1022,96-116 504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04.211"/>
    </inkml:context>
    <inkml:brush xml:id="br0">
      <inkml:brushProperty name="width" value="0.1" units="cm"/>
      <inkml:brushProperty name="height" value="0.1" units="cm"/>
    </inkml:brush>
  </inkml:definitions>
  <inkml:trace contextRef="#ctx0" brushRef="#br0">209 135 2457,'-5'-40'8507,"4"33"-8314,-1 1-1,0-1 0,0 1 0,-1 0 0,0-1 0,0 1 0,0 0 0,-1 1 0,0-1 0,0 1 0,0-1 0,-7-5 1,9 10-166,1-1 1,0 1 0,-1 1 0,0-1 0,1 0-1,-1 0 1,1 0 0,-1 1 0,0-1 0,1 1-1,-1 0 1,0-1 0,0 1 0,1 0 0,-1 0-1,0 0 1,0 0 0,-2 0 0,0 1 2,1 0 0,-1 0 0,1 1 1,-1-1-1,1 1 0,0-1 0,0 1 1,-5 4-1,1 0-11,0 0 0,0 0 0,1 1 0,0 0 0,0 0 0,-7 11 0,11-12-17,0-1 0,0 0 0,0 1 0,1-1 0,-2 11 0,-3 12 2,0 2-4,1 0 0,1 0 0,1 1 0,3 54 0,0-51 0,0-24 0,0 4-4,-1-1 0,2 1 0,0-1 0,0 1 1,1-1-1,1 0 0,0 0 0,10 25 0,-4-12-16,-8-22 14,0 0 1,0-1-1,1 1 1,-1 0-1,1 0 0,0-1 1,-1 1-1,2 0 0,-1-1 1,0 0-1,1 0 1,4 5-1,-2-7-3,0 1 1,0-1-1,1 0 1,-1 0-1,0-1 0,0 0 1,1 0-1,-1 0 1,0-1-1,6 0 0,-7-1 8,0 1-1,0-1 1,0 0-1,0 0 1,0-1-1,0 1 1,-1-1-1,1 0 1,4-5 0,28-34-2,-15 15 4,-16 22 3,-1-1-1,0 1 0,-1-1 0,0 0 0,0 0 1,0-1-1,0 1 0,-1-1 0,0 1 1,1-8-1,1-11 11,1-37 0,0 2 2,-2 45 1,-1-1-1,-1 0 0,-1-29 0,-1 38-4,0 0 0,-1 0 0,0 0 0,0 0 0,0 0 0,-1 1 0,0-1 0,0 1 0,0 0-1,-8-11 1,-8-13 6,15 23-24,-1-1 1,1 1-1,-12-12 0,16 18-118,-1 1 1,1-1-1,-1 0 0,0 1 1,1 0-1,-1-1 0,0 1 1,1-1-1,-1 1 0,0 0 1,0 0-1,1-1 0,-1 1 1,0 0-1,0 0 0,0 0 1,1 0-1,-1 0 1,0 0-1,0 0 0,0 0 1,1 0-1,-1 0 0,0 0 1,0 0-1,1 1 0,-1-1 1,0 0-1,0 1 0,1-1 1,-1 0-1,-1 2 0,-3 3-1068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05.004"/>
    </inkml:context>
    <inkml:brush xml:id="br0">
      <inkml:brushProperty name="width" value="0.1" units="cm"/>
      <inkml:brushProperty name="height" value="0.1" units="cm"/>
    </inkml:brush>
  </inkml:definitions>
  <inkml:trace contextRef="#ctx0" brushRef="#br0">235 0 3417,'-2'2'284,"1"-1"-1,-1 1 1,1 0 0,0-1 0,0 1 0,0 0-1,0 0 1,0 0 0,0 0 0,1 0 0,-1 0-1,1 0 1,-1 3 0,-1 1 130,-76 191 3645,43-87-3773,13-38-223,-43 97 0,62-162-232,-1 0 1,2 0-1,-1 1 1,1-1-1,-2 13 1,4-14-230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09.832"/>
    </inkml:context>
    <inkml:brush xml:id="br0">
      <inkml:brushProperty name="width" value="0.1" units="cm"/>
      <inkml:brushProperty name="height" value="0.1" units="cm"/>
    </inkml:brush>
  </inkml:definitions>
  <inkml:trace contextRef="#ctx0" brushRef="#br0">1 127 4849,'6'-5'5225,"14"-6"-2682,-14 8-1496,77-50 552,-79 51-1589,1-1 0,0 1 0,-1-1 0,0 0 0,1 0 0,-1-1 0,0 1 0,-1-1 0,1 0 0,-1 0 0,1 0 0,-1 0 0,3-7 0,-5 11-7,-1 0 0,0 0 0,0 0 0,0 0 0,0 0 0,0 0 0,0 0 0,0 1 0,0-1 0,0 0 0,0 0 0,0 0 0,0 0-1,0 0 1,0 0 0,0 0 0,1 0 0,-1 0 0,0 0 0,0 0 0,0 0 0,0 0 0,0 0 0,0 0 0,0 0 0,0 0 0,0 0 0,0 0 0,1 0 0,-1 0-1,0 0 1,0 0 0,0 0 0,0 0 0,0 0 0,0 0 0,0 0 0,0 0 0,1 0 0,-2 12 47,-10 23 12,-9 50 0,4-11-19,5-31-129,4-11-245,-1-2-1,-2 1 0,-14 31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0.422"/>
    </inkml:context>
    <inkml:brush xml:id="br0">
      <inkml:brushProperty name="width" value="0.1" units="cm"/>
      <inkml:brushProperty name="height" value="0.1" units="cm"/>
    </inkml:brush>
  </inkml:definitions>
  <inkml:trace contextRef="#ctx0" brushRef="#br0">1 65 6153,'9'-4'2083,"0"0"0,0 1-1,16-4 1,63-4 142,-60 8-2254,52-11 1,-59 7 72,-16 5-48,-1 0 0,0 0 1,1 1-1,-1 0 1,1-1-1,-1 2 0,1-1 1,0 0-1,6 1 1,-5 5-1970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1.857"/>
    </inkml:context>
    <inkml:brush xml:id="br0">
      <inkml:brushProperty name="width" value="0.1" units="cm"/>
      <inkml:brushProperty name="height" value="0.1" units="cm"/>
    </inkml:brush>
  </inkml:definitions>
  <inkml:trace contextRef="#ctx0" brushRef="#br0">0 115 5433,'5'5'2406,"-5"-5"-2188,1 1 1,0-1 0,-1 0-1,1 0 1,-1 1 0,1-1-1,-1 0 1,1 0 0,-1 0-1,1 0 1,0 0 0,-1 0-1,1 0 1,-1 0 0,1 0-1,0 0 1,22 0 1123,-21 0-885,5-1-249,0 0-1,-1 0 1,1 0 0,-1-1 0,1 0-1,-1 0 1,1 0 0,-1-1 0,0 0-1,0 0 1,0-1 0,-1 0 0,9-7-1,-1-1-145,-2 0 0,1-1-1,-2-1 1,12-17 0,-33 88 322,2-17-350,-5 46 0,9-46-9,-12 44 0,16-76-78,-2 4-118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2.401"/>
    </inkml:context>
    <inkml:brush xml:id="br0">
      <inkml:brushProperty name="width" value="0.1" units="cm"/>
      <inkml:brushProperty name="height" value="0.1" units="cm"/>
    </inkml:brush>
  </inkml:definitions>
  <inkml:trace contextRef="#ctx0" brushRef="#br0">0 73 4249,'82'-3'8920,"2"-6"-6027,-60 5-2746,0-1 0,0-1 0,0-2 0,41-18 0,-35 15-273,-17 11-2350,-10 1 1436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4.332"/>
    </inkml:context>
    <inkml:brush xml:id="br0">
      <inkml:brushProperty name="width" value="0.1" units="cm"/>
      <inkml:brushProperty name="height" value="0.1" units="cm"/>
    </inkml:brush>
  </inkml:definitions>
  <inkml:trace contextRef="#ctx0" brushRef="#br0">29 119 5633,'0'-2'400,"0"-1"0,0 1-1,0-1 1,0 1 0,0-1 0,0 1-1,1-1 1,-1 1 0,1 0-1,0-1 1,0 1 0,0 0 0,0-1-1,0 1 1,0 0 0,1 0-1,-1 0 1,4-3 0,0-2 111,1 1 1,0-1 0,0 1-1,9-6 1,-7 7-422,0 1 0,0-1 0,0 1 0,14-4-1,-18 7-82,0-1 0,1 1 0,0 0 0,-1 0-1,1 1 1,-1-1 0,1 1 0,0 0 0,-1 0-1,9 2 1,-11-1 6,-1-1 0,1 1-1,0 0 1,-1 0 0,0 0-1,1 1 1,-1-1 0,0 0-1,1 0 1,-1 1 0,0-1-1,0 1 1,0-1 0,0 1 0,-1-1-1,1 1 1,0 0 0,-1 0-1,1-1 1,-1 1 0,1 0-1,-1 0 1,0-1 0,0 1-1,0 0 1,0 0 0,0-1 0,0 1-1,-1 3 1,0 6 49,0 0 1,-1 0-1,-5 14 1,5-19 26,-1 1 0,-1-1 0,1 1 0,-1-1 0,0 0 0,-1-1 0,1 1 0,-1-1 0,0 0 0,-1 0 0,1 0 0,-1-1 0,-10 7 0,8-6-20,1 1 1,-1 0-1,1 0 0,0 0 0,1 1 1,-1 0-1,1 1 0,-5 7 1,-11 21 221,16-28-267,0 1 0,1 0-1,0 0 1,0 1 0,1-1 0,0 1 0,1 0-1,-4 14 1,7-24-24,0 0-1,0 0 0,0 1 1,0-1-1,0 0 1,0 0-1,0 1 1,0-1-1,0 0 0,0 0 1,0 1-1,0-1 1,0 0-1,0 1 1,0-1-1,0 0 0,0 0 1,0 1-1,0-1 1,0 0-1,0 0 0,0 1 1,0-1-1,1 0 1,-1 0-1,0 0 1,0 1-1,0-1 0,1 0 1,-1 0-1,0 0 1,0 1-1,0-1 1,1 0-1,-1 0 0,0 0 1,0 0-1,1 0 1,-1 0-1,0 0 1,0 1-1,1-1 0,-1 0 1,0 0-1,0 0 1,1 0-1,-1 0 1,0 0-1,0 0 0,1 0 1,-1 0-1,0 0 1,1-1-1,-1 1 1,0 0-1,0 0 0,1 0 1,20-11 45,-5 2-57,-2 6 31,1 0 0,0 1 0,21 0 1,-21 2-300,0-1 0,1-1 0,18-4 0,-19 2-821,1 1 244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6.003"/>
    </inkml:context>
    <inkml:brush xml:id="br0">
      <inkml:brushProperty name="width" value="0.1" units="cm"/>
      <inkml:brushProperty name="height" value="0.1" units="cm"/>
    </inkml:brush>
  </inkml:definitions>
  <inkml:trace contextRef="#ctx0" brushRef="#br0">28 64 5281,'-1'-7'6211,"11"-3"-3786,14-5-671,-4 8-1612,0 1-1,0 1 0,1 0 0,-1 2 0,1 0 0,22 0 1,-42 3-133,0 0 1,1 0-1,-1 0 0,0 0 1,1 0-1,-1 1 1,0-1-1,0 0 1,1 1-1,-1-1 1,0 1-1,0-1 1,1 1-1,-1-1 1,0 1-1,0 0 1,0 0-1,1 0 1,-1 0 3,-1 0 0,1 0 1,-1 0-1,0-1 0,1 1 0,-1 0 1,0 0-1,0 0 0,1 0 1,-1 0-1,0 0 0,0 0 1,0 0-1,0-1 0,0 1 1,0 0-1,0 0 0,-1 0 1,1 1-1,-2 2 23,1 0 0,0-1 0,-1 1 1,0-1-1,0 0 0,0 0 0,-1 0 0,1 0 0,-1 0 1,-4 5-1,-103 98 958,60-54-896,42-45-76,1 0 1,1 0-1,-1 0 1,1 1-1,0 0 0,1 0 1,0 0-1,0 1 1,-5 14-1,13-27 22,1 0 0,0 1 0,0 0 0,0-1 0,1 1 0,-1 1 0,10-5 0,-1 2-43,0 2 0,0-1-1,0 1 1,1 1 0,-1 1 0,15-1-1,41-5 3,22-16-1569,-80 21 908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7.628"/>
    </inkml:context>
    <inkml:brush xml:id="br0">
      <inkml:brushProperty name="width" value="0.1" units="cm"/>
      <inkml:brushProperty name="height" value="0.1" units="cm"/>
    </inkml:brush>
  </inkml:definitions>
  <inkml:trace contextRef="#ctx0" brushRef="#br0">56 49 7354,'0'0'193,"-1"-1"0,1 1 0,0-1 0,0 1 0,-1-1 0,1 1 0,0-1 0,0 1 0,0-1 0,-1 1 0,1-1 0,0 1 0,0-1 0,0 0 0,0 1 0,0-1 0,0 1 0,0-1 0,1 0 0,-1 1 0,0-1 0,0 1 0,0-1 0,0 1 0,1-1 0,-1 1 0,1-2 0,15-10 1879,22-1-979,-19 10-911,34-2 0,-47 5-169,0 0 0,1 1 1,-1-1-1,0 1 1,0 0-1,0 1 1,0-1-1,-1 1 0,11 5 1,-15-7 0,0 1 0,1 0 1,-1 0-1,0-1 0,0 1 1,1 0-1,-1 0 0,0 0 1,0 1-1,0-1 0,0 0 0,0 0 1,-1 1-1,1-1 0,0 0 1,0 1-1,-1-1 0,1 0 1,-1 1-1,1-1 0,-1 1 0,0-1 1,0 3-1,0-1 26,0 0-1,-1 0 1,1 0 0,-1 0-1,0-1 1,0 1-1,0 0 1,0-1 0,-1 1-1,1 0 1,-3 3 0,-3 3 89,-1-1-1,1 1 1,-2-1 0,1-1 0,-12 9 0,13-12-74,-1 0-1,1 0 1,-1 0-1,-11 3 1,-13 5 314,63-3-452,-24-7 82,1 0 0,0 0 1,-1 1-1,0-1 0,1 2 0,-1-1 0,-1 1 1,1 0-1,0 1 0,-1 0 0,7 6 1,-10-8 7,-1-1 0,1 0 0,-1 1 0,0 0 0,0-1 0,0 1 0,0 0 0,-1 0 0,1 0 0,-1 0 0,1 0 0,-1 0 0,0 1 0,-1-1 0,1 0 0,0 1 0,-1-1 0,0 0 0,0 1 0,0-1 0,0 0 0,0 1 0,-1-1 0,1 0 1,-1 1-1,0-1 0,0 0 0,-3 6 0,2-5 20,-1-1 1,0 1 0,1-1 0,-1 0-1,-1 1 1,1-2 0,0 1 0,-1 0-1,1-1 1,-1 1 0,0-1 0,0 0-1,0 0 1,0-1 0,0 1-1,0-1 1,0 0 0,-1 0 0,1 0-1,0 0 1,-1-1 0,-5 0 0,-12 0 130,-1-1 0,1 0 1,-25-6-1,28 4-164,15 2 9,2 1-63,-1 0 0,1 0 0,0-1 0,-1 1 0,1-1 0,0 0 0,0 1 0,0-1 0,0 0 0,0 0 0,0 0 0,-3-3 0,2-3-255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19.058"/>
    </inkml:context>
    <inkml:brush xml:id="br0">
      <inkml:brushProperty name="width" value="0.1" units="cm"/>
      <inkml:brushProperty name="height" value="0.1" units="cm"/>
    </inkml:brush>
  </inkml:definitions>
  <inkml:trace contextRef="#ctx0" brushRef="#br0">0 71 9050,'0'-1'226,"1"-1"0,-1 1-1,1 0 1,-1-1 0,1 1 0,0 0-1,0 0 1,-1 0 0,1-1 0,0 1 0,0 0-1,0 0 1,0 0 0,0 1 0,1-2 0,21-15 412,-19 15-316,3-3-122,1 1-1,0 0 1,1 0 0,-1 1 0,1 0-1,-1 1 1,1 0 0,0 0 0,15-1-1,-18 3-169,-1-1-1,1 1 0,0 0 0,-1 1 0,1-1 0,0 1 0,-1 0 0,1 1 1,-1-1-1,1 1 0,-1 0 0,0 1 0,0-1 0,0 1 0,0 0 0,6 5 0,-9-7-14,-1 1-1,0-1 0,1 1 0,-1-1 1,0 1-1,0 0 0,1-1 0,-1 1 1,-1 0-1,1 0 0,0 0 0,0 0 1,-1 0-1,1 0 0,-1 0 0,0 0 1,1 0-1,-1 0 0,0 0 0,0 3 1,-1-2 2,0 0 0,0 0 0,0 0 0,0 0 0,0 0 0,-1 0 0,1 0 0,-1 0-1,0 0 1,0-1 0,0 1 0,-2 2 0,0-1 60,0 0 0,0-1-1,0 1 1,-1-1 0,1 0-1,-1 0 1,0 0 0,0 0-1,0-1 1,0 0 0,0 0-1,-1-1 1,1 1-1,-11 1 1,9-4 10,13 1-103,17 3-35,-14 0 48,0 1 0,0 0 0,0 0 0,0 1 0,-1 0-1,0 1 1,8 7 0,-13-11 8,-1 0 0,0 1 0,0-1 0,0 1 0,0-1 0,0 1 0,0 0-1,-1 0 1,1 0 0,-1 0 0,0 0 0,0 0 0,0 0 0,0 0 0,-1 0 0,1 1 0,-1-1 0,0 0-1,0 1 1,0-1 0,0 0 0,0 0 0,-1 1 0,0-1 0,-1 5 0,0-4 4,1-1 1,-1 1-1,-1 0 0,1 0 1,0-1-1,-1 0 0,0 1 1,0-1-1,0 0 0,0 0 1,0-1-1,0 1 0,-1 0 1,0-1-1,1 0 0,-1 0 1,0 0-1,0-1 0,-8 3 1,4-1 25,-1-1 0,0 0-1,0-1 1,0 0 0,0 0 0,0-1 0,-1 0 0,-11-3 0,13 2 5,-5 0-57,0-2 0,-1 0 1,1 0-1,1-1 0,-15-6 0,21 5-1011,1 0 432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22.463"/>
    </inkml:context>
    <inkml:brush xml:id="br0">
      <inkml:brushProperty name="width" value="0.1" units="cm"/>
      <inkml:brushProperty name="height" value="0.1" units="cm"/>
    </inkml:brush>
  </inkml:definitions>
  <inkml:trace contextRef="#ctx0" brushRef="#br0">94 0 8610,'-6'43'7596,"-7"0"-5188,-24 40-3018,27-63 1239,-18 30-509,31-50-146,1 0-1,-1 0 1,0 0-1,1 0 1,-1-1-1,0 1 1,6-3-1,-2 2 3,28-4-112,1 2 0,0 1-1,59 5 1,-94-3 43,0 0 1,-1 0-1,1 0 0,0 0 1,0 0-1,-1-1 0,1 1 1,0 0-1,0-1 0,-1 1 1,1 0-1,0-1 1,-1 1-1,1-1 0,-1 1 1,1-1-1,0 1 0,-1-1 1,1 0-1,-1 1 0,1-1 1,-1 0-1,0 1 1,1-1-1,-1 0 0,0 1 1,1-1-1,-1 0 0,0 0 1,0 0-1,0 1 1,0-1-1,0-1 0,3-32-3248,-3 26 2314,0-9 63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22.804"/>
    </inkml:context>
    <inkml:brush xml:id="br0">
      <inkml:brushProperty name="width" value="0.1" units="cm"/>
      <inkml:brushProperty name="height" value="0.1" units="cm"/>
    </inkml:brush>
  </inkml:definitions>
  <inkml:trace contextRef="#ctx0" brushRef="#br0">45 1 3865,'5'12'6221,"-5"-11"-5972,0 23 1491,0-18-1040,-4 70 526,-4-1 1,-26 115-1,31-170-1164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6:24.543"/>
    </inkml:context>
    <inkml:brush xml:id="br0">
      <inkml:brushProperty name="width" value="0.1" units="cm"/>
      <inkml:brushProperty name="height" value="0.1" units="cm"/>
    </inkml:brush>
  </inkml:definitions>
  <inkml:trace contextRef="#ctx0" brushRef="#br0">44 0 5929,'-5'60'8352,"-13"36"-6171,-2 19-2334,22-111 54,5-7 70,8-9 51,-14 11-22,2-2 3,1 1 0,0 0 0,-1 0-1,1 0 1,0 1 0,0-1 0,0 1-1,1 0 1,-1 0 0,0 0 0,0 1-1,1 0 1,7 0 0,7 1 8,32 5 0,-42-5-6,-7 0-39,0-1 0,0 1-1,0-1 1,0 0 0,1 0 0,-1 0 0,0 0 0,0 0-1,0 0 1,1-1 0,-1 1 0,0-1 0,0 1 0,0-1-1,0 0 1,0 0 0,3-2 0,-3 1-183,0 0-1,-1 0 1,1 0-1,-1-1 1,0 1-1,0-1 1,0 1-1,0-1 1,0 1-1,-1-1 1,1 1-1,-1-1 1,0 0-1,1-4 1,1-107-2936,-5 74 7891,1 48-4268,-1 91 1303,3-57-1463,-2 0 1,-1 0-1,-16 69 0,16-99-344,1-1 0,0 1 0,0 23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08.166"/>
    </inkml:context>
    <inkml:brush xml:id="br0">
      <inkml:brushProperty name="width" value="0.1" units="cm"/>
      <inkml:brushProperty name="height" value="0.1" units="cm"/>
      <inkml:brushProperty name="color" value="#5B2D90"/>
    </inkml:brush>
  </inkml:definitions>
  <inkml:trace contextRef="#ctx0" brushRef="#br0">10 18 3889,'-9'-18'7806,"15"27"-6686,86 131 1145,52 78-1808,-65-94-359,-107-163-5445,9 13 3613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08.742"/>
    </inkml:context>
    <inkml:brush xml:id="br0">
      <inkml:brushProperty name="width" value="0.1" units="cm"/>
      <inkml:brushProperty name="height" value="0.1" units="cm"/>
      <inkml:brushProperty name="color" value="#5B2D90"/>
    </inkml:brush>
  </inkml:definitions>
  <inkml:trace contextRef="#ctx0" brushRef="#br0">20 201 3809,'-2'-2'461,"1"0"0,-1 0 0,0 0 0,1 0 1,-1 0-1,1 0 0,0-1 0,-1 1 0,1 0 0,0-1 1,0 1-1,1-1 0,-1 1 0,0-1 0,1 1 0,0-1 1,-1-2-1,2 1-271,0 0 0,0 0 1,0 0-1,0 0 0,0 0 1,1 0-1,2-3 0,-3 5-161,8-17 166,23-34 1,-29 49-190,-1 1 1,1-1 0,0 0 0,0 1 0,1 0 0,-1-1 0,1 1 0,0 1-1,-1-1 1,1 0 0,1 1 0,-1 0 0,0 0 0,0 0 0,5-1 0,-6 3 5,-1 0-1,0-1 1,0 1 0,0 0 0,0 0 0,0 1 0,0-1 0,0 0-1,0 1 1,0-1 0,0 1 0,0-1 0,0 1 0,0 0 0,0 0 0,0 0-1,0 0 1,-1 0 0,4 3 0,-2-1 10,0 0 0,-1 0-1,1 1 1,0-1 0,-1 1 0,0 0 0,0 0-1,0 0 1,1 4 0,1 6 77,-1-1 0,0 0 0,0 1-1,-2 0 1,1 14 0,-3-9 21,0 0 1,-1 0-1,-1 0 0,-6 19 0,10-42-132,1-1-1,-1 1 1,1 0 0,0 0-1,0 0 1,0 0-1,0 0 1,1 0-1,0 1 1,-1-1-1,2 1 1,-1 0-1,0-1 1,0 1-1,1 1 1,4-4 0,-2 3 9,0 0 1,0 0 0,1 1 0,-1-1 0,1 1-1,-1 1 1,1-1 0,0 1 0,0 1 0,8-1 0,-6 1 8,1 0 0,-1 1-1,1 0 1,-1 1 0,1 0 0,-1 0 0,0 1 0,0 0 0,0 1 0,0 0 0,0 0 0,-1 1 0,0 0 0,0 1 0,0-1 0,8 10 0,-7-4 13,-1 0 0,0 0 1,-1 1-1,-1 0 0,0 0 1,0 1-1,-1 0 0,-1 0 0,0 0 1,-1 0-1,0 1 0,-1-1 1,0 1-1,-1 0 0,-1 0 1,0-1-1,-1 1 0,-1 0 0,0-1 1,-6 20-1,7-28-2,-1 0-1,-1 0 1,1 0-1,-1 0 1,0-1-1,0 1 1,0-1-1,-1 0 1,0 1-1,0-1 1,0-1-1,0 1 1,0-1 0,-1 0-1,-6 4 1,8-5-67,1-1 1,-1 0-1,1 0 1,-1 0-1,1 0 1,-1-1-1,0 1 1,0-1-1,1 1 1,-1-1-1,0 0 1,0 0-1,1 0 1,-1-1-1,0 1 1,0-1-1,1 1 1,-1-1 0,0 0-1,1 0 1,-1 0-1,1 0 1,-1-1-1,1 1 1,-1-1-1,1 1 1,0-1-1,0 0 1,0 0-1,0 0 1,0 0-1,-2-3 1,-6-11-502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09.114"/>
    </inkml:context>
    <inkml:brush xml:id="br0">
      <inkml:brushProperty name="width" value="0.1" units="cm"/>
      <inkml:brushProperty name="height" value="0.1" units="cm"/>
      <inkml:brushProperty name="color" value="#5B2D90"/>
    </inkml:brush>
  </inkml:definitions>
  <inkml:trace contextRef="#ctx0" brushRef="#br0">1 0 7946,'7'11'768,"4"2"344,3 2 8,2 1-496,1 3-191,1-1-217,1 0-72,-1 0-80,-3-1-16,-1-2 80,-4 0-384,-4-6-1729,-3-3 1409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09.467"/>
    </inkml:context>
    <inkml:brush xml:id="br0">
      <inkml:brushProperty name="width" value="0.1" units="cm"/>
      <inkml:brushProperty name="height" value="0.1" units="cm"/>
      <inkml:brushProperty name="color" value="#5B2D90"/>
    </inkml:brush>
  </inkml:definitions>
  <inkml:trace contextRef="#ctx0" brushRef="#br0">8 5 5585,'-5'0'456,"2"0"649,4-1-1225,1-2 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09.793"/>
    </inkml:context>
    <inkml:brush xml:id="br0">
      <inkml:brushProperty name="width" value="0.1" units="cm"/>
      <inkml:brushProperty name="height" value="0.1" units="cm"/>
      <inkml:brushProperty name="color" value="#5B2D90"/>
    </inkml:brush>
  </inkml:definitions>
  <inkml:trace contextRef="#ctx0" brushRef="#br0">1 0 7826,'0'7'800,"7"4"360,2 2-152,8 9-608,2 4-136,9 11-112,3 4-7,4 6-41,0 0-24,-5-4-24,-2-4-16,-6-7 0,-1-3-8,-3-7-8,-3-4 64,-7-7-617,-2-5-599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0.121"/>
    </inkml:context>
    <inkml:brush xml:id="br0">
      <inkml:brushProperty name="width" value="0.1" units="cm"/>
      <inkml:brushProperty name="height" value="0.1" units="cm"/>
      <inkml:brushProperty name="color" value="#5B2D90"/>
    </inkml:brush>
  </inkml:definitions>
  <inkml:trace contextRef="#ctx0" brushRef="#br0">0 1 4785,'1'1'3587,"8"9"-2260,16 13-557,-1 1 0,39 54 0,28 62-511,-14-22-539,-53-86-1837,-17-24 1232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0.482"/>
    </inkml:context>
    <inkml:brush xml:id="br0">
      <inkml:brushProperty name="width" value="0.1" units="cm"/>
      <inkml:brushProperty name="height" value="0.1" units="cm"/>
      <inkml:brushProperty name="color" value="#5B2D90"/>
    </inkml:brush>
  </inkml:definitions>
  <inkml:trace contextRef="#ctx0" brushRef="#br0">1 57 6129,'1'5'389,"0"1"0,1-1 0,-1 1 0,1-1 0,1 0 0,-1 0 0,1 0 0,-1 0 0,2 0 0,3 4 0,2 6-141,5 10-151,-7-12-50,1 0 0,0 0-1,1 0 1,0-1-1,1-1 1,19 19 0,-29-29-60,1-1 0,0 1 0,0 0 0,-1-1 0,1 1 0,0-1 1,0 1-1,0-1 0,0 1 0,0-1 0,0 1 0,0-1 0,0 0 0,0 0 0,0 0 1,0 1-1,0-1 0,0 0 0,0 0 0,0 0 0,0-1 0,0 1 0,0 0 0,0 0 1,2-1-1,-2 0-40,0 0 0,0 0 1,0 0-1,0 0 1,0-1-1,0 1 0,0 0 1,0-1-1,0 1 0,-1 0 1,1-1-1,0 1 0,-1-1 1,1-2-1,1-6-360,0 0 1,-1 0-1,1-19 0,-3 9-80,-1 0 0,-1 1 0,-1-1 0,0 0 0,-1 1 0,-2 0 0,-13-31 0,35 78 2324,1-1 0,34 44 0,19 30-736,56 99 1037,-117-186-1839,0 0 0,-2 0 0,1 1-1,8 30 1,-14-41-249,0 0 0,0 0 0,0 1 0,-1-1 1,1 0-1,-1 0 0,0 1 0,0-1 0,0 0 0,-1 0 0,0 1 0,0-1 0,0 0 0,0 0 0,0 0 0,-1 0 0,0 0 1,0 0-1,0 0 0,0-1 0,-1 1 0,1-1 0,-4 4 0,4-5-68,-1 0 1,1-1-1,-1 1 0,0 0 1,1-1-1,-1 0 0,0 0 1,0 0-1,0 0 0,0 0 1,0-1-1,0 1 0,0-1 1,0 0-1,0 0 0,0 0 1,0 0-1,0 0 0,0-1 1,0 1-1,0-1 1,-3-1-1,-2-1-664,0 0 0,0 0 0,1-1 1,0 0-1,0-1 0,0 1 0,-7-7 0,-13-14-1273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0.806"/>
    </inkml:context>
    <inkml:brush xml:id="br0">
      <inkml:brushProperty name="width" value="0.1" units="cm"/>
      <inkml:brushProperty name="height" value="0.1" units="cm"/>
      <inkml:brushProperty name="color" value="#5B2D90"/>
    </inkml:brush>
  </inkml:definitions>
  <inkml:trace contextRef="#ctx0" brushRef="#br0">1 0 5641,'11'33'880,"9"2"945,6 0-929,6 2-208,-1 2-264,0-1-208,-3 0-16,-3-4-8,1-3-24,-5-6-48,-5-5-32,-4-4-40,-4-4 40,-5-6-712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1.163"/>
    </inkml:context>
    <inkml:brush xml:id="br0">
      <inkml:brushProperty name="width" value="0.1" units="cm"/>
      <inkml:brushProperty name="height" value="0.1" units="cm"/>
      <inkml:brushProperty name="color" value="#5B2D90"/>
    </inkml:brush>
  </inkml:definitions>
  <inkml:trace contextRef="#ctx0" brushRef="#br0">4 44 6833,'-3'-3'1743,"3"3"-1598,0-1 0,0 1 1,0 0-1,0-1 0,0 1 0,0 0 0,0-1 1,0 1-1,0-1 0,0 1 0,0 0 0,0-1 1,0 1-1,1-2 871,-1 1-870,13-9 1607,21-2-1111,-13 8-599,0 1 1,1 1-1,0 1 0,-1 1 1,1 1-1,-1 0 1,1 2-1,-1 0 1,0 2-1,0 0 1,0 2-1,-1 0 0,23 11 1,-31-12-9,-1 1 0,0 0 0,0 0 0,-1 1 0,0 1 0,0-1 0,-1 2 0,0-1 0,-1 1 0,0 0 0,0 1 0,11 22 0,-15-25 16,-1 0-1,0-1 1,-1 1 0,0 0-1,0 1 1,-1-1 0,0 0-1,0 0 1,-1 1 0,0-1-1,0 0 1,-1 1 0,0-1-1,0 0 1,-1 0 0,0 0-1,-1 0 1,0 0 0,0 0-1,0-1 1,-6 9-1,6-12-27,1 1-1,-1-2 0,0 1 0,0 0 0,-1-1 0,1 1 0,-1-1 0,1 0 0,-1 0 0,-8 4 0,10-6-107,1 0 0,-1 0 0,0-1 0,1 1 0,-1-1 0,0 0 0,0 1 0,0-1 0,1 0 0,-1 0 0,0 0 0,0 0 0,0-1 0,1 1 0,-1 0 0,0-1 0,0 1 0,1-1 0,-1 0 0,0 1 0,1-1 0,-1 0 0,1 0 0,-1 0 0,1 0 0,-1 0 0,1-1 0,0 1 0,-1 0 0,1-1 0,-2-2 0,-6-10-794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1.507"/>
    </inkml:context>
    <inkml:brush xml:id="br0">
      <inkml:brushProperty name="width" value="0.1" units="cm"/>
      <inkml:brushProperty name="height" value="0.1" units="cm"/>
      <inkml:brushProperty name="color" value="#5B2D90"/>
    </inkml:brush>
  </inkml:definitions>
  <inkml:trace contextRef="#ctx0" brushRef="#br0">96 189 6305,'4'-8'1297,"0"1"0,-1-1-1,0 0 1,0 0-1,2-12 1,-1 2-996,-1-1 1,-1 0 0,-1-20-1,0 38-288,-1-1 0,0 1-1,0-1 1,0 1 0,0-1-1,0 1 1,-1-1-1,1 1 1,0-1 0,-1 1-1,1 0 1,-1-1 0,1 1-1,-1-1 1,0 1 0,1 0-1,-1 0 1,0-1 0,0 1-1,0 0 1,0 0 0,-2-2-1,1 3 0,1-1-1,0 1 1,-1 0-1,1-1 0,-1 1 1,1 0-1,-1 0 1,1 0-1,-1 0 1,1 0-1,-1 0 1,1 1-1,-1-1 1,1 0-1,-1 1 0,1-1 1,0 1-1,-3 1 1,-2 1 0,0 0 1,0 1 0,0 0 0,1 0-1,-1 1 1,1-1 0,0 1-1,-7 9 1,8-6-14,0 0-1,0-1 1,1 2-1,0-1 1,0 0 0,1 1-1,0-1 1,1 1 0,0 0-1,0-1 1,1 1-1,0 0 1,0-1 0,1 1-1,0 0 1,3 9-1,-2-10-3,0 0 0,1-1 0,-1 1 0,2-1 0,-1 0-1,1 0 1,0 0 0,5 7 0,-6-11-3,0 1 1,1 0 0,-1-1-1,1 0 1,0 0 0,0 0-1,0 0 1,0 0 0,0-1-1,1 0 1,-1 0-1,1 0 1,6 2 0,-8-4-45,1 1 1,-1-1 0,0 1 0,0-1 0,1 0-1,-1 0 1,0-1 0,0 1 0,1-1-1,-1 1 1,0-1 0,0 0 0,0 0 0,0-1-1,0 1 1,0-1 0,3-1 0,1-3-583,0 1-1,0-1 1,-1 0 0,12-14 0,2-8-460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1.974"/>
    </inkml:context>
    <inkml:brush xml:id="br0">
      <inkml:brushProperty name="width" value="0.1" units="cm"/>
      <inkml:brushProperty name="height" value="0.1" units="cm"/>
      <inkml:brushProperty name="color" value="#5B2D90"/>
    </inkml:brush>
  </inkml:definitions>
  <inkml:trace contextRef="#ctx0" brushRef="#br0">125 32 5353,'-1'-3'381,"-1"1"1,1 0-1,-1 0 0,0 0 1,0 0-1,1 0 0,-1 0 1,-1 0-1,1 1 0,0-1 1,0 1-1,-1 0 0,1-1 1,0 1-1,-1 0 0,0 0 1,1 1-1,-1-1 0,1 0 1,-1 1-1,0 0 0,1-1 1,-5 1-1,4 0-312,1 0-1,-1 1 1,1-1 0,0 0-1,-1 1 1,1 0 0,-1-1 0,1 1-1,0 0 1,-1 0 0,1 0-1,0 0 1,0 1 0,0-1 0,0 1-1,0-1 1,0 1 0,0 0-1,1-1 1,-1 1 0,0 0 0,1 0-1,0 0 1,-1 1 0,-1 3-1,0 4-27,0 0-1,1 1 0,0-1 1,1 0-1,0 1 0,0-1 1,1 1-1,2 14 0,-1-18-44,0 0 0,0 1 0,1-1 0,0 0 0,0 0 0,1 0 0,0 0 0,0 0 0,0-1 0,1 1 0,0-1 0,8 9 0,-11-14 1,0 1 0,0-1 0,0 0 1,0 0-1,0 1 0,1-1 0,-1 0 0,0 0 0,1 0 0,-1 0 0,1-1 0,-1 1 0,1 0 0,-1-1 1,1 1-1,-1-1 0,1 1 0,0-1 0,-1 0 0,1 0 0,0 0 0,-1 0 0,1 0 0,0 0 0,-1 0 1,1 0-1,0-1 0,-1 1 0,1 0 0,-1-1 0,1 0 0,0 1 0,-1-1 0,0 0 0,1 0 0,-1 0 0,1 0 1,-1 0-1,0 0 0,0 0 0,1 0 0,-1 0 0,0-1 0,0 1 0,0-1 0,1-1 0,2-5 7,0 1 1,0-1-1,0 0 0,-1 0 0,0 0 0,-1-1 0,3-14 0,-3 13 7,-1 0 0,0 0 0,0 0 0,-1 0 0,-1 0 0,0 0-1,0 0 1,0 0 0,-2 0 0,1 0 0,-7-15 0,8 24 67,4 9-68,8 12-29,-6-15 22,-1 0 1,1 1-1,1-2 0,-1 1 0,1-1 0,-1 0 1,1 0-1,1 0 0,-1-1 0,13 5 0,-16-7-210,0 0-1,0 0 1,1-1-1,-1 1 0,0-1 1,0 0-1,1 0 0,-1 0 1,0 0-1,1 0 0,-1-1 1,0 0-1,1 1 0,-1-1 1,0 0-1,0-1 0,0 1 1,0-1-1,0 1 0,0-1 1,-1 0-1,1 0 0,0 0 1,-1 0-1,3-4 0,10-12-1140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2.428"/>
    </inkml:context>
    <inkml:brush xml:id="br0">
      <inkml:brushProperty name="width" value="0.1" units="cm"/>
      <inkml:brushProperty name="height" value="0.1" units="cm"/>
      <inkml:brushProperty name="color" value="#5B2D90"/>
    </inkml:brush>
  </inkml:definitions>
  <inkml:trace contextRef="#ctx0" brushRef="#br0">1 109 4937,'0'8'539,"1"0"0,1 0-1,0 0 1,0 0 0,0-1-1,1 1 1,0-1 0,0 1 0,7 9-1,43 60 1513,-52-75-1982,44 65 1177,-40-65-1028,-5-10-80,-3-12 7,-4 1-58,2 1 1,0-1-1,1 0 1,1-1-1,1 1 1,0-33-1,2 44-83,5-58-2,-4 58 0,1 1-1,-1-1 0,1 1 1,0 0-1,1 0 1,5-11-1,-7 17 15,-1 1-1,0-1 1,1 0 0,-1 0-1,1 0 1,0 1 0,-1-1-1,1 0 1,0 0 0,-1 1-1,1-1 1,0 1-1,0-1 1,0 1 0,-1-1-1,1 1 1,0-1 0,0 1-1,0 0 1,0-1 0,0 1-1,0 0 1,0 0-1,0 0 1,1 0 0,0 0 17,0 1 1,0-1 0,-1 1-1,1-1 1,0 1-1,-1 0 1,1 0 0,0 0-1,-1 0 1,1 0-1,-1 0 1,2 3 0,5 3 89,-2 1 1,1 1-1,7 13 1,-13-20-126,32 57 181,-22-37-363,1 0 0,18 23 0,-30-44-21,1-1 0,-1 1 1,1 0-1,0 0 0,-1 0 0,1-1 0,0 1 1,0 0-1,-1-1 0,1 1 0,0-1 1,0 1-1,0-1 0,0 1 0,1 0 0,4-5-1106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2.755"/>
    </inkml:context>
    <inkml:brush xml:id="br0">
      <inkml:brushProperty name="width" value="0.1" units="cm"/>
      <inkml:brushProperty name="height" value="0.1" units="cm"/>
      <inkml:brushProperty name="color" value="#5B2D90"/>
    </inkml:brush>
  </inkml:definitions>
  <inkml:trace contextRef="#ctx0" brushRef="#br0">1 1 8658,'-1'12'1048,"4"7"600,3 4-47,5 5-833,1 5-248,4 6-312,-1-1-88,2-1-48,-3-5-24,-2-8 24,-2-5-264,-4-5-1104,-2-5-1913,2-8 1753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3.175"/>
    </inkml:context>
    <inkml:brush xml:id="br0">
      <inkml:brushProperty name="width" value="0.1" units="cm"/>
      <inkml:brushProperty name="height" value="0.1" units="cm"/>
      <inkml:brushProperty name="color" value="#5B2D90"/>
    </inkml:brush>
  </inkml:definitions>
  <inkml:trace contextRef="#ctx0" brushRef="#br0">115 1 9906,'-3'1'664,"-1"1"0,1-1-1,-1 0 1,1 0 0,-1 0-1,1-1 1,-1 1 0,0-1 0,-4 0-1,5 0-626,0 0-1,0 0 1,0 0 0,0 1-1,0-1 1,0 1-1,0-1 1,1 1-1,-1 0 1,0 0 0,0 1-1,1-1 1,-1 0-1,0 1 1,1 0-1,-3 1 1,3-1-42,0 0 0,0 0 0,0 1 1,0-1-1,0 0 0,0 1 0,1-1 0,-1 1 0,1 0 0,0-1 0,0 1 1,0 0-1,0 0 0,0 0 0,0 0 0,1 0 0,0-1 0,-1 1 0,1 0 1,0 0-1,1 0 0,-1 0 0,0 0 0,1 0 0,-1 0 0,1 0 0,0 0 1,0 0-1,0-1 0,1 1 0,-1 0 0,1-1 0,-1 1 0,1-1 1,0 1-1,0-1 0,0 0 0,0 0 0,0 0 0,0 0 0,1 0 0,-1-1 1,1 1-1,-1-1 0,1 1 0,0-1 0,0 0 0,2 1 0,8 0-25,-1 0 1,0-1-1,24 0 0,-19-2 17,31 5 0,-44-3 16,0-1 0,1 1 0,-1 1 0,0-1-1,1 1 1,-1-1 0,0 1 0,0 1 0,0-1 0,-1 0 0,6 5 0,-8-6 6,1 1 1,-1-1-1,1 1 1,-1 0 0,0-1-1,0 1 1,0 0 0,0 0-1,0 0 1,0 0 0,0 0-1,-1 0 1,1 0-1,0 0 1,-1 0 0,0 0-1,0 0 1,0 0 0,0 2-1,0 1 33,-1-1 0,0 0-1,0 0 1,0 0-1,0-1 1,-1 1 0,1 0-1,-1 0 1,-3 4 0,-1 0 52,0 0 1,0 0-1,-1-1 1,1 0 0,-2 0-1,1-1 1,-13 9-1,15-12-249,1-1-1,-1 0 1,0 1-1,0-1 1,0-1 0,0 1-1,0-1 1,-9 1-1,-3-1-359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5.595"/>
    </inkml:context>
    <inkml:brush xml:id="br0">
      <inkml:brushProperty name="width" value="0.1" units="cm"/>
      <inkml:brushProperty name="height" value="0.1" units="cm"/>
      <inkml:brushProperty name="color" value="#5B2D90"/>
    </inkml:brush>
  </inkml:definitions>
  <inkml:trace contextRef="#ctx0" brushRef="#br0">63 87 2633,'-4'-8'1385,"-14"-37"3015,16 42-4082,1 0 0,-1 1-1,1-1 1,-1 0 0,0 1-1,0 0 1,0-1 0,0 1-1,-1 0 1,1 0 0,0 0-1,-5-2 1,7 4-282,0 0 1,-1 0-1,1 0 0,0 0 1,0-1-1,0 1 0,-1 0 1,1 0-1,0 0 1,0 0-1,0 0 0,-1 0 1,1 1-1,0-1 0,0 0 1,-1 0-1,1 0 0,0 0 1,0 0-1,0 0 0,0 0 1,-1 0-1,1 0 0,0 0 1,0 1-1,0-1 1,0 0-1,-1 0 0,1 0 1,0 0-1,0 1 0,0-1 1,0 0-1,0 0 0,0 0 1,-1 1-1,-2 11 428,2 14-337,4 20-137,3 0 0,1 0-1,26 85 1,-26-106 2,1 0 0,1-1 0,2 0 0,0 0 0,29 42 0,-38-63 3,1 0 0,-1 0 0,1 0 0,0-1 1,0 1-1,0-1 0,0 1 0,0-1 0,1 0 0,-1 0 0,1 0 0,-1-1 0,1 1 0,0-1 0,0 0 1,-1 0-1,7 0 0,-7 0 1,0-2 1,1 1-1,-1 0 0,0-1 1,0 1-1,0-1 0,0 0 1,1 0-1,-1 0 1,-1-1-1,1 1 0,0-1 1,0 0-1,0 1 0,-1-1 1,1 0-1,-1-1 1,0 1-1,1 0 0,-1-1 1,3-3-1,2-5 3,-1 0 0,0 0 0,-1 0 0,0-1-1,0 0 1,-1 0 0,-1 0 0,0 0 0,2-20 0,-3 9 11,-1 1 1,-1-1-1,-1 1 1,-5-35-1,5 54 1,0-1 0,1 1 0,-1-1 0,-1 1 0,1 0 0,0 0 0,-1 0 1,0-1-1,0 2 0,0-1 0,-2-3 0,3 5-5,0 0 1,0 1-1,0-1 1,0 0 0,1 1-1,-1-1 1,0 1-1,0-1 1,0 1 0,0-1-1,-1 1 1,1 0-1,0-1 1,0 1-1,0 0 1,0 0 0,0 0-1,0 0 1,0 0-1,0 0 1,0 0 0,-1 0-1,1 1 1,0-1-1,0 0 1,0 1 0,0-1-1,0 0 1,0 1-1,0-1 1,0 1 0,0 0-1,0-1 1,1 1-1,-1 0 1,0 0 0,0-1-1,-1 3 1,-3 3 4,0 0-1,0 1 1,0 0 0,1 0 0,0 0-1,0 1 1,-4 13 0,4-10-14,-1-1-1,-11 21 1,16-31-25,0 0 0,0 0 0,-1 1-1,1-1 1,0 0 0,0 0 0,0 1 0,0-1 0,0 0 0,0 0 0,0 0 0,-1 1-1,1-1 1,0 0 0,0 0 0,0 0 0,0 1 0,-1-1 0,1 0 0,0 0 0,0 0 0,0 0-1,-1 0 1,1 0 0,0 0 0,0 1 0,0-1 0,-1 0 0,1 0 0,0 0 0,0 0 0,-1 0-1,1 0 1,0 0 0,0 0 0,-1 0 0,1 0 0,0 0 0,0 0 0,-1 0 0,1 0 0,0-1-1,0 1 1,0 0 0,-1 0 0,1 0 0,0 0 0,0 0 0,-1 0 0,1-1 0,0 1 0,0 0-1,0 0 1,0 0 0,-1-1 0,0-7-553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5.938"/>
    </inkml:context>
    <inkml:brush xml:id="br0">
      <inkml:brushProperty name="width" value="0.1" units="cm"/>
      <inkml:brushProperty name="height" value="0.1" units="cm"/>
      <inkml:brushProperty name="color" value="#5B2D90"/>
    </inkml:brush>
  </inkml:definitions>
  <inkml:trace contextRef="#ctx0" brushRef="#br0">0 1 7634,'1'6'600,"4"2"304,5 5-336,4 3-200,3 3-216,3 7-128,0 1-16,2 3-8,-1-1 8,2-3-8,3-2-8,-3-2-96,-2-5-136,-5-3-464,-6-3-304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6.280"/>
    </inkml:context>
    <inkml:brush xml:id="br0">
      <inkml:brushProperty name="width" value="0.1" units="cm"/>
      <inkml:brushProperty name="height" value="0.1" units="cm"/>
      <inkml:brushProperty name="color" value="#5B2D90"/>
    </inkml:brush>
  </inkml:definitions>
  <inkml:trace contextRef="#ctx0" brushRef="#br0">37 241 4129,'-4'-7'230,"-2"-1"565,1 0 0,1-1-1,-1 1 1,-5-18 0,9 23-662,1 0-1,-1 0 1,1 0-1,0 0 1,0 0-1,0 0 1,0 0-1,0-1 1,1 1-1,-1 0 1,1 0-1,0 1 1,0-1-1,0 0 1,0 0 0,1 0-1,-1 1 1,1-1-1,2-3 1,5-6-62,1 1 0,0 0 1,1 0-1,20-14 0,-24 19-64,1 1 0,-1 0-1,1 0 1,0 1-1,1 0 1,-1 1 0,1 0-1,16-4 1,-23 7-5,0 0 0,0-1 0,0 1 0,0 0 0,0 0 0,-1 0 0,1 1 0,0-1 0,0 0 0,0 1 0,0-1 0,-1 1 0,1 0 0,0-1 0,-1 1 0,1 0 0,0 0 0,-1 0 0,1 0 0,-1 0 0,1 1 0,-1-1 0,0 0 0,0 1 0,1-1 0,-1 1 0,0-1 0,0 1 0,0-1 0,-1 1 0,1 0 0,0 0 0,-1-1 0,1 1 0,-1 0 0,1 0 0,-1 0 0,0-1 0,0 5 0,1 5 42,-1 0-1,0 0 0,-1 1 0,0-1 1,-4 14-1,1-7 73,-1 0 1,-1 0-1,0-1 1,-2 0-1,0 0 1,-1-1-1,0 0 1,-21 26-1,29-41-171,1 0-1,-1 0 1,1-1-1,-1 1 1,0 0-1,0-1 1,1 1-1,-1 0 1,0-1-1,0 1 1,0-1-1,0 1 1,0-1-1,1 1 1,-1-1-1,0 0 1,-1 1-1,-2-6-363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6.747"/>
    </inkml:context>
    <inkml:brush xml:id="br0">
      <inkml:brushProperty name="width" value="0.1" units="cm"/>
      <inkml:brushProperty name="height" value="0.1" units="cm"/>
      <inkml:brushProperty name="color" value="#5B2D90"/>
    </inkml:brush>
  </inkml:definitions>
  <inkml:trace contextRef="#ctx0" brushRef="#br0">20 115 7242,'1'3'135,"-1"1"0,2-1 0,-1 1 0,0-1 1,1 1-1,-1-1 0,1 0 0,0 0 1,0 0-1,1 0 0,4 5 0,3 6 23,156 240 743,-184-269-1366,-21-38 165,-36-65-1,57 86 603,1-2 1,2 0-1,-16-54 0,29 83-142,1-1 0,0 0 0,0 0 0,-1-10 0,2 15-130,0 1 0,0-1 0,0 1 0,0-1-1,0 1 1,1-1 0,-1 0 0,0 1 0,0-1 0,0 1 0,1-1-1,-1 1 1,0-1 0,0 1 0,1-1 0,-1 1 0,0-1 0,1 1-1,-1-1 1,1 1 0,-1-1 0,1 1 0,0-1 5,0 1 0,0 0 0,0 0 0,0 0 0,0 0 0,0 0 0,0 0-1,0 0 1,0 0 0,0 1 0,0-1 0,0 0 0,0 0 0,0 1 0,-1-1 0,1 1 0,0-1 0,0 1 0,1 0 0,81 51 770,-46-28-712,69 35 0,-83-49-212,1 0 0,0-2 0,0 0 0,34 5 0,-56-13-745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7.104"/>
    </inkml:context>
    <inkml:brush xml:id="br0">
      <inkml:brushProperty name="width" value="0.1" units="cm"/>
      <inkml:brushProperty name="height" value="0.1" units="cm"/>
      <inkml:brushProperty name="color" value="#5B2D90"/>
    </inkml:brush>
  </inkml:definitions>
  <inkml:trace contextRef="#ctx0" brushRef="#br0">1 157 10434,'6'6'600,"5"-7"-32,4-6 17,6-4-369,1-3-128,4-4-32,1-1 0,-1-2-16,-3-2-64,-4-1-1377,1-1 1017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7.494"/>
    </inkml:context>
    <inkml:brush xml:id="br0">
      <inkml:brushProperty name="width" value="0.1" units="cm"/>
      <inkml:brushProperty name="height" value="0.1" units="cm"/>
      <inkml:brushProperty name="color" value="#5B2D90"/>
    </inkml:brush>
  </inkml:definitions>
  <inkml:trace contextRef="#ctx0" brushRef="#br0">106 170 13155,'12'15'712,"8"-1"0,5-1-64,2-1-280,0-1-208,-2-2-120,-4 0-8,-4 1-8,-2-2 16,-7 0-384,-1-1-480,-6-6 480</inkml:trace>
  <inkml:trace contextRef="#ctx0" brushRef="#br0" timeOffset="1">10 0 10786,'-5'7'792,"1"1"225,5 1-497,3 0-576,6 1-3073,4-3 2201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17.835"/>
    </inkml:context>
    <inkml:brush xml:id="br0">
      <inkml:brushProperty name="width" value="0.1" units="cm"/>
      <inkml:brushProperty name="height" value="0.1" units="cm"/>
      <inkml:brushProperty name="color" value="#5B2D90"/>
    </inkml:brush>
  </inkml:definitions>
  <inkml:trace contextRef="#ctx0" brushRef="#br0">66 1 9834,'-8'10'1496,"-2"2"255,0 0-1,-15 26 1,23-35-1693,1 1 0,-1 0 0,0 0 0,1-1 0,0 1 1,0 0-1,0 0 0,1 0 0,-1 0 0,1 0 0,0 0 0,0 1 0,0-1 0,0 0 0,1 0 0,1 5 0,-1-8-62,-1 0 0,1 1 1,0-1-1,0 0 0,-1 0 0,1 0 0,0 0 0,0 0 0,0 0 1,0 0-1,0 0 0,0 0 0,1 0 0,-1-1 0,0 1 0,0 0 1,1-1-1,-1 1 0,0-1 0,1 0 0,-1 1 0,0-1 0,1 0 1,-1 0-1,0 1 0,1-1 0,-1 0 0,1-1 0,-1 1 0,2 0 1,7-1-23,0-1 0,0 0 0,11-4 0,-9 3-10,0-1-37,32-6-320,-42 10 371,0-1 1,1 1 0,-1 0-1,0 0 1,0 0-1,1 0 1,-1 0-1,0 0 1,1 1 0,-1-1-1,0 1 1,0 0-1,1 0 1,-1 0-1,2 1 1,-2-1 29,-1 1 1,0-1-1,0 1 1,0 0-1,0-1 1,-1 1-1,1 0 1,0-1-1,-1 1 1,1 0-1,-1 0 1,1 0-1,-1-1 0,0 1 1,0 0-1,0 0 1,0 0-1,0 0 1,0 0-1,-1-1 1,1 1-1,0 0 1,-1 0-1,0 1 1,-2 7 81,-1 0-1,-8 17 1,7-18-172,0 0 0,0-1-1,-1 0 1,0 0 0,0 0 0,-1-1-1,0 1 1,-1-2 0,-9 8-1,5-7-393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20.647"/>
    </inkml:context>
    <inkml:brush xml:id="br0">
      <inkml:brushProperty name="width" value="0.1" units="cm"/>
      <inkml:brushProperty name="height" value="0.1" units="cm"/>
      <inkml:brushProperty name="color" value="#5B2D90"/>
    </inkml:brush>
  </inkml:definitions>
  <inkml:trace contextRef="#ctx0" brushRef="#br0">8 215 9002,'-7'6'1868,"7"-7"-1726,1 0 1,0-1-1,0 1 1,-1 0-1,1 0 1,-1-1-1,1 1 0,-1-1 1,0 1-1,1 0 1,-1-1-1,0 1 1,0-3-1,1-16 304,1 0 1,8-37-1,-8 48-439,1 0 1,0 1-1,0-1 0,1 1 0,0 0 1,0 0-1,1 0 0,9-12 0,-13 19-2,-1 0-1,1 0 0,0 0 0,-1 0 0,1 0 0,0 0 0,0 0 0,0 0 1,0 1-1,0-1 0,0 0 0,0 1 0,0-1 0,0 1 0,0-1 0,0 1 1,0-1-1,0 1 0,1 0 0,-1-1 0,0 1 0,0 0 0,0 0 0,0 0 1,1 0-1,-1 0 0,0 0 0,0 0 0,0 1 0,1-1 0,-1 0 0,0 1 1,0-1-1,0 0 0,0 1 0,0 0 0,0-1 0,0 1 0,0 0 0,0-1 1,0 1-1,0 0 0,0 0 0,0 0 0,-1 0 0,1 0 0,0 0 0,-1 0 1,1 0-1,0 1 0,3 4 31,-1 0 0,-1 0-1,1 1 1,-1-1 0,0 1 0,0-1 0,1 11 0,-2 2 95,-1 1-1,-1 0 1,-1-1 0,-1 1 0,-1-1 0,0 0 0,-11 30-1,14-47-108,3-8-39,1 0 0,0 0-1,0 1 1,1-1 0,-1 1 0,1-1 0,0 1 0,1 0 0,-1 0 0,1 1 0,0 0 0,0 0 0,11-7 0,-12 8 20,1 1 1,-1-1-1,1 1 1,-1 0-1,1 0 0,0 1 1,0-1-1,0 1 1,0 0-1,0 1 1,0-1-1,0 1 1,0 0-1,0 0 0,0 0 1,1 1-1,-1 0 1,0 0-1,9 3 1,-12-3 4,0 0 0,0 0 0,0 1 0,0-1 0,0 0 0,0 1 1,0-1-1,0 1 0,0 0 0,-1 0 0,1 0 0,0-1 0,-1 2 0,0-1 1,1 0-1,-1 0 0,1 3 0,-1-1 8,0 0-1,0 0 1,0 0 0,-1 0 0,1 0-1,-1 0 1,0 0 0,-1 1-1,0 5 1,-1-1 12,0 0 0,0-1 0,-1 1 0,0-1 0,-1 1-1,0-1 1,0 0 0,-10 13 0,4-9 20,0-1-1,-14 13 0,20-21-140,1 0-1,-1 0 1,1 0-1,-1-1 1,0 0-1,0 1 1,0-1-1,-1-1 1,1 1-1,0-1 1,-9 2-1,3-4-1125,3-5 396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21.039"/>
    </inkml:context>
    <inkml:brush xml:id="br0">
      <inkml:brushProperty name="width" value="0.1" units="cm"/>
      <inkml:brushProperty name="height" value="0.1" units="cm"/>
      <inkml:brushProperty name="color" value="#5B2D90"/>
    </inkml:brush>
  </inkml:definitions>
  <inkml:trace contextRef="#ctx0" brushRef="#br0">5 1 10258,'1'16'960,"0"-9"761,0 0-905,0-4-160,3-1-344,-2-2-240,-1 0 32,-1-3-224,-3-3-960,-3 0-832,-1-8 943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21.385"/>
    </inkml:context>
    <inkml:brush xml:id="br0">
      <inkml:brushProperty name="width" value="0.1" units="cm"/>
      <inkml:brushProperty name="height" value="0.1" units="cm"/>
      <inkml:brushProperty name="color" value="#5B2D90"/>
    </inkml:brush>
  </inkml:definitions>
  <inkml:trace contextRef="#ctx0" brushRef="#br0">1 11 8530,'34'36'5356,"5"5"-3748,53 54-1380,-92-95-228,0 0-1,0 0 1,0 0-1,1 0 1,-1 1 0,0-1-1,0 0 1,0 0 0,1 0-1,-1 0 1,0 0-1,0 0 1,0 0 0,1 0-1,-1 0 1,0 0 0,0 0-1,1 0 1,-1 0-1,0 0 1,0 0 0,0 0-1,1 0 1,-1 0-1,0 0 1,0 0 0,1 0-1,-1 0 1,0 0 0,0 0-1,0 0 1,1 0-1,-1-1 1,0 1 0,0 0-1,0 0 1,1 0-1,7-12-4,5-24 10,-8 23 2,1 1 33,0 0 0,12-16 1,-11 17-667,0 0 1,9-17 0,-14 18-1254,-1 0 641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21.728"/>
    </inkml:context>
    <inkml:brush xml:id="br0">
      <inkml:brushProperty name="width" value="0.1" units="cm"/>
      <inkml:brushProperty name="height" value="0.1" units="cm"/>
      <inkml:brushProperty name="color" value="#5B2D90"/>
    </inkml:brush>
  </inkml:definitions>
  <inkml:trace contextRef="#ctx0" brushRef="#br0">0 0 8474,'2'3'471,"0"0"-1,0 0 1,0-1 0,0 1-1,0 0 1,1-1 0,4 4-1,8 8 231,69 79 1194,40 52-1720,-119-139-2216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22.244"/>
    </inkml:context>
    <inkml:brush xml:id="br0">
      <inkml:brushProperty name="width" value="0.1" units="cm"/>
      <inkml:brushProperty name="height" value="0.1" units="cm"/>
      <inkml:brushProperty name="color" value="#5B2D90"/>
    </inkml:brush>
  </inkml:definitions>
  <inkml:trace contextRef="#ctx0" brushRef="#br0">1 155 10130,'5'14'3525,"14"8"-2910,-11-13-301,38 59 645,-32-46-609,1 0 1,31 35-1,-40-51-330,-1-1 0,1 0 0,0 0 0,1 0 0,-1-1 0,1 0 0,0 0 0,0-1 0,0 1 0,1-2 0,-1 1 0,1-1 0,13 2 0,-16-4-18,0 0-1,0 0 0,0-1 1,1 1-1,-1-1 0,0-1 1,0 1-1,0-1 1,-1 0-1,1 0 0,0 0 1,-1-1-1,1 1 0,-1-1 1,0 0-1,0-1 1,0 1-1,0-1 0,0 1 1,3-6-1,4-5 10,0 0 0,-1-1-1,0 0 1,12-27 0,-14 24 6,-1 0-1,-1 0 1,-1 0 0,6-34-1,-9 45 5,-2-1-1,1 0 1,-1 0-1,0 1 1,0-1-1,-1 0 1,0 1-1,0-1 1,-1 0-1,0 1 1,-1 0-1,1-1 1,-1 1-1,-6-10 1,7 14 2,0 1 1,0 0 0,-1-1-1,1 1 1,0 0 0,-1 0 0,1 0-1,-1 1 1,0-1 0,1 1-1,-1-1 1,0 1 0,0 0-1,0 0 1,0 0 0,0 0-1,0 1 1,0-1 0,0 1 0,-6 0-1,7 0 14,-1 0 0,1 0 0,-1 1 0,1-1 0,-1 1 1,1-1-1,0 1 0,-1 0 0,1 0 0,0 0 0,0 0 0,0 0 0,0 1 0,0-1 0,0 1 0,0-1 0,0 1 0,0 0 0,1-1 0,-1 1 0,1 0 0,-1 0 0,1 0 0,0 1 0,0-1 0,-2 3 0,1 3 2,0 1 0,1-1-1,0 0 1,0 0 0,1 1-1,0-1 1,0 1 0,1-1-1,0 0 1,0 0 0,1 1-1,0-1 1,5 9 0,-3-5-27,1-1-1,0 0 1,1 0 0,0-1 0,1 0 0,0 0 0,0 0 0,13 11-1,-12-13-229,-1-1-1,2-1 0,-1 0 0,0 0 0,18 9 0,-21-14-1347,-1-5 419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30.085"/>
    </inkml:context>
    <inkml:brush xml:id="br0">
      <inkml:brushProperty name="width" value="0.1" units="cm"/>
      <inkml:brushProperty name="height" value="0.1" units="cm"/>
      <inkml:brushProperty name="color" value="#5B2D90"/>
    </inkml:brush>
  </inkml:definitions>
  <inkml:trace contextRef="#ctx0" brushRef="#br0">0 670 2232,'16'11'4625,"-7"-8"-4103,0 1 0,1-2 0,0 1 0,-1-1 0,1-1 0,19 1 0,-3-2 19,37-5 0,155-40 748,-126 22-1152,48-16 318,161-67 0,95-28-53,458-40-240,-662 139-123,86-5 14,-125 21-34,273-32 36,-307 37-37,2 5-1,-1 6 1,170 16 0,-115 2-8,188 22 29,-14 28 139,-318-55-151,1 1 1,-2 1 0,58 33 0,27 11-5,-91-46-3,-1 0-1,0 2 1,0 1-1,-2 0 1,1 2-1,-2 0 1,0 1-1,-1 1 1,0 1-1,29 38 1,7 18 33,75 91 81,-118-151-116,0-1 0,-1 2 1,-1-1-1,0 1 1,-1 1-1,-1 0 0,0 0 1,-1 1-1,8 32 1,58 200 179,-71-245-181,0 1 18,-1-1-1,1 0 0,-1 1 1,0-1-1,1 7 0,-2-11 15,-15-12 103,8 5-128,-6-7 6,0 1 1,-1 0 0,0 1 0,-1 1 0,0 0-1,-29-14 1,39 23-34,-52-28 14,53 28-16,1 0 0,0 0 0,0-1 0,0 1-1,0-1 1,0 0 0,0 0 0,1 0 0,-1 0 0,1 0-1,0 0 1,0-1 0,0 1 0,-1-4 0,3 6 0,-1 1 0,1-1 0,0 1 0,0-1 0,-1 1 0,1-1 0,0 1 0,0-1 0,0 1 0,0-1 0,0 0 1,0 1-1,0-1 0,0 1 0,0-1 0,0 1 0,0-1 0,0 1 0,0-1 0,0 1 0,1-1 0,-1 1 0,0-1 0,0 1 0,1-1 0,-1 1 0,0-1 0,1 1 0,0-1 1,-1 1 0,1 0 0,0-1 0,0 2 0,0-1 0,0 0 0,0 0 0,-1 0 0,1 0 0,0 1-1,0-1 1,0 0 0,0 1 0,-1-1 0,1 0 0,1 2 0,29 22-17,-30-24 20,56 54-28,-28-26 141,1-1-1,63 43 1,-90-69-65,-1 1 1,1 0-1,0 0 1,-1 0-1,1 0 1,-1 0-1,0 0 1,0 1 0,0-1-1,0 1 1,3 5 190,-5-32 369,1 11-559,0 1-1,0 0 1,1 0 0,1 1 0,7-24 0,30-55 30,-10 27-98,-12 24-649,-11 24 441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33.034"/>
    </inkml:context>
    <inkml:brush xml:id="br0">
      <inkml:brushProperty name="width" value="0.1" units="cm"/>
      <inkml:brushProperty name="height" value="0.1" units="cm"/>
      <inkml:brushProperty name="color" value="#5B2D90"/>
    </inkml:brush>
  </inkml:definitions>
  <inkml:trace contextRef="#ctx0" brushRef="#br0">0 673 1760,'3'4'4643,"10"12"-1537,-11-16-3016,0-1 0,0 1 0,0 0 0,1-1 0,-1 1 1,0-1-1,0 1 0,0-1 0,0 0 0,0 0 0,-1 0 0,1 0 1,0 0-1,0 0 0,-1-1 0,4-2 0,17-9 451,-14 12-409,1 0-1,0 0 1,0 1-1,-1 0 1,1 0-1,0 1 1,-1 0-1,15 5 1,-12-4 46,-1 0 1,1 0-1,-1-1 1,1-1-1,16 0 0,133-6 1248,-109 6-1243,67-8-1,10-15 127,37-4 62,-125 23-305,0-2-1,0-1 0,-1-2 0,0-2 0,45-19 0,1-8 82,81-34-35,-141 62-71,-2-1 0,1-1-1,32-24 1,59-53 301,-41 29-202,14 2-69,-61 42-44,-1-1 0,44-38 0,-16 5 103,-54 50-126,0 0 1,0 0-1,0 0 1,1 0-1,-1 0 0,0 0 1,0 0-1,0 0 1,1-1-1,-1 1 1,0 0-1,0 0 1,0 0-1,0 0 1,1 0-1,-1 0 0,0 0 1,0 0-1,0 0 1,0-1-1,0 1 1,0 0-1,1 0 1,-1 0-1,0 0 0,0 0 1,0-1-1,0 1 1,0 0-1,0 0 1,0 0-1,0 0 1,0-1-1,0 1 0,0 0 1,0 0-1,0 0 1,0-1-1,0 1 1,0 0-1,0 0 1,0 0-1,0 0 0,0-1 1,0 1-1,0 0 1,0 0-1,0 0 1,0 0-1,0-1 1,0 1-1,0 0 0,0 0 1,-1 0-1,1-1 1,-14 2 63,-21 6-40,-110 47 88,-99 41-42,113-42-328,168-68 163,45-26-1,-48 22 75,65-24 0,103-15 17,-97 30 1,-95 26 5,3-3 15,1 2 1,0 0-1,27-3 0,-56 20 388,11-13-398,1 1 1,-1 0-1,1 0 0,0 0 0,-1 1 0,1-1 1,0 1-1,0 0 0,1 0 0,-1 0 0,1 0 0,-1 0 1,1 0-1,0 1 0,0-1 0,0 1 0,1-1 0,-1 1 1,1 0-1,0 0 0,0 0 0,-1 7 0,1 6 46,0 0 0,1 1-1,1-1 1,3 19-1,0 5 18,-3-22-4,0 0 0,-1 0 0,-1 0 0,-1 0 0,0 0 0,-9 32 1,24-66-5830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44.9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42 146 8898,'2'-2'76,"-1"0"0,1 0 1,-1 0-1,1 1 0,-1-1 0,1 1 0,0-1 1,0 1-1,0-1 0,0 1 0,0 0 0,0 0 1,0 0-1,0 0 0,1 1 0,-1-1 1,3 0-1,43-5-219,-40 5 204,178 1-117,-129 3 144,107-9 0,-17-18 219,-129 20-242,0-1 0,0-1 0,0-1-1,-1 0 1,31-19 0,-47 26-49,-1 0 1,1 0-1,-1 0 1,0-1-1,1 1 1,-1 0-1,1 0 1,-1-1 0,0 1-1,1 0 1,-1 0-1,0-1 1,1 1-1,-1 0 1,0-1-1,0 1 1,1 0-1,-1-1 1,0 1 0,0 0-1,0-1 1,1 1-1,-1-1 1,0 1-1,0 0 1,0-1-1,0 1 1,0-1-1,0 1 1,0-1-1,0 1 1,0 0 0,0-1-1,0 1 1,0-1-1,0 1 1,0 0-1,0-1 1,-1 0-1,0 0 20,0 0 0,0 0 0,-1 0 0,1 1 0,0-1 0,-1 0 0,1 0-1,-1 1 1,1-1 0,-1 1 0,-1-1 0,-45-6 327,1 5-303,0 2 0,-57 8 0,-95 22-47,136-19-5,62-11-8,-171 36 23,170-36-25,1 0-1,0 1 1,-1-1 0,1 0 0,0 1 0,0-1 0,-1 1 0,1 0 0,0 0 0,0-1-1,0 1 1,0 0 0,-2 1 0,3-1 0,0-1 0,0 0 0,0 1 1,0-1-1,0 0 0,1 0 0,-1 1 0,0-1 0,0 0 0,0 1 0,0-1 0,0 0 1,0 0-1,1 1 0,-1-1 0,0 0 0,0 0 0,0 1 0,1-1 0,-1 0 0,0 0 1,0 0-1,1 0 0,-1 1 0,0-1 0,0 0 0,1 0 0,-1 0 0,0 0 0,1 0 1,-1 0-1,0 0 0,1 0 0,-1 0 0,38 7-104,53-2 54,1-4 0,127-15 0,-215 13 56,15 0 44,1-2-1,-1 0 1,27-9 0,-46 12-39,0 0 0,0 1-1,1-1 1,-1 0 0,0-1 0,1 1 0,-1 0-1,0 0 1,0 0 0,1 0 0,-1 0 0,0 0-1,0 0 1,1 0 0,-1 0 0,0 0 0,0-1-1,1 1 1,-1 0 0,0 0 0,0 0 0,0-1-1,1 1 1,-1 0 0,0 0 0,0 0 0,0-1-1,0 1 1,0 0 0,1 0 0,-1-1 0,0 1-1,0 0 1,0 0 0,0-1 0,0 1 0,0 0-1,0-1 1,0 1 0,0-1 0,-12-3 189,-19 0-85,-38 10-104,1 2 0,1 3 0,-109 33 0,59-7-20,100-30 2,-1 1-1,1 0 1,1 1-1,-24 16 0,39-24 6,0 0 0,0-1 0,0 1 0,0 0 0,0 0 0,0-1 0,0 1 0,1 0-1,-1 0 1,0 0 0,0 0 0,1 0 0,-1 0 0,0 1 0,1-1 0,-1 0-1,1 0 1,0 0 0,-1 1 0,1 1 0,0-2-1,0 0 0,1 0 1,-1-1-1,1 1 0,-1 0 1,0 0-1,1 0 0,0-1 0,-1 1 1,1 0-1,-1-1 0,1 1 0,0 0 1,-1-1-1,1 1 0,0-1 0,0 1 1,0-1-1,-1 0 0,1 1 0,1-1 1,5 3-17,1-1 0,0 0 0,-1 0 1,16 1-1,173-3-54,-43-3 142,-149 3-59,-1 0-1,0 0 0,-1 0-1,1 0 1,0 0 0,0 0 0,-1 1-1,1-1 1,0 1 0,-1 0-1,1-1 1,-1 1 0,1 1 0,-1-1-1,4 2 1,-6-2-3,0-1 1,0 0-1,0 1 0,0-1 1,0 1-1,-1-1 1,1 0-1,0 1 0,0-1 1,0 1-1,0-1 0,-1 0 1,1 1-1,0-1 0,0 0 1,-1 1-1,1-1 0,0 0 1,-1 0-1,1 1 0,0-1 1,-1 0-1,1 0 0,0 1 1,-1-1-1,1 0 0,0 0 1,-1 0-1,1 0 0,-1 0 1,1 0-1,0 0 0,-1 1 1,-17 4 45,17-4-40,-209 44 109,30-8-84,176-36-37,-29 10-7,31-11 4,1 1 0,0-1 0,0 1 0,-1-1 0,1 1-1,0 0 1,0 0 0,0 0 0,0-1 0,0 1 0,0 0-1,0 0 1,0 0 0,0 0 0,0 0 0,1 1 0,-1-1-1,0 0 1,1 0 0,-1 2 0,1-2 0,0 0 0,1 0-1,-1 0 1,0 0 0,1 0 0,-1 0 0,1-1 0,-1 1 0,1 0-1,-1 0 1,1 0 0,0-1 0,0 1 0,-1 0 0,1-1 0,0 1-1,0-1 1,0 1 0,-1-1 0,1 1 0,0-1 0,0 1 0,0-1-1,0 0 1,0 0 0,0 1 0,0-1 0,0 0 0,0 0 0,1 0-1,33 4-41,18-6 90,0-1 0,79-17 0,-47 7 48,-38 7-49,69-13 163,-110 17-36,-6 0-49,-12 0 6,-21 0-73,-46 2-1014,-107 13 0,148-3-2908,26-4 2458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22:47:46.7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418 173 3953,'12'-8'-53,"0"-1"1,1 2 0,0 0-1,18-8 1,21-26 2340,-117 42-205,-1-3 1,-79-13 0,-79-4-1171,187 25-991,36-6 69,0 0 1,0 0 0,0 1 0,1-1-1,-1 0 1,0 1 0,0-1-1,0 1 1,0-1 0,1 1 0,-1 0-1,0-1 1,1 1 0,-1 0-1,-1 0 1,2 0 0,0 0 1,0-1-1,0 1 0,0-1 1,0 1-1,0-1 0,0 1 1,0 0-1,1-1 0,-1 1 1,0-1-1,0 1 0,0-1 1,1 1-1,-1-1 0,0 1 1,0-1-1,1 1 0,-1-1 1,0 1-1,1-1 0,-1 1 0,1-1 1,-1 0-1,1 1 0,-1-1 1,0 0-1,2 1 0,2 2-14,0 0-1,1-1 0,-1 1 0,1-1 0,-1 0 0,1-1 0,0 1 0,9 1 0,46 4 3,-48-6 24,53 2 146,-1-3 1,1-2 0,65-12 0,189-51 155,-298 60-272,-13 3-1,-1 1 1,1-1-1,-1-1 0,0 1 0,0-1 1,0 0-1,10-7 0,-44 12 347,-47 18-343,0 3 0,-131 60 0,130-50-28,12-10 1,41-16-7,0 2 0,-37 19 0,49-19-66,9-3 16,3-6 42,-1 1 1,0 0 0,0-1-1,1 1 1,-1 0 0,1-1-1,-1 0 1,0 1-1,1-1 1,-1 0 0,1 0-1,1 1 1,50-2-33,190-34-41,-11 1 191,-261 39-44,-1 1 0,2 2 0,-48 18 0,59-20-52,-59 21-11,14-6 2,1 3 0,-70 37 1,130-60-9,-7 3-9,0 1 1,1 0 0,-12 10 0,18-14 4,0 0-1,0 0 1,0 0 0,1 0 0,-1 0 0,0 0-1,0 1 1,1-1 0,-1 0 0,1 0 0,-1 0-1,1 1 1,-1-1 0,1 3 0,0-3-1,0-1 1,0 1-1,0 0 1,1 0-1,-1 0 1,0 0 0,1-1-1,-1 1 1,0 0-1,1 0 1,-1-1-1,1 1 1,0 0-1,-1-1 1,1 1-1,-1 0 1,1-1-1,0 1 1,0-1-1,-1 1 1,1-1 0,0 0-1,0 1 1,-1-1-1,3 1 1,5 2-7,1 0 0,0-1 0,1 0 0,-1 0 0,0-1 0,1 0 0,-1-1 0,0 0 0,11-1 0,86-15-7,-99 15 15,365-102 52,-356 96 35,-22 6 101,-28 7-15,-232 87-63,96-29-102,130-52-5,14-4-8,0 1-1,0 0 1,1 2-1,0 1 1,-40 27-1,64-39 6,0 1-1,0 0 0,0-1 0,0 1 0,0 0 0,0 0 0,1-1 0,-1 1 0,0 0 1,0 0-1,1 0 0,-1 0 0,1 0 0,-1 0 0,1 0 0,-1 0 0,0 2 0,2-3 1,-1 1 0,0-1-1,0 0 1,0 1-1,1-1 1,-1 1-1,0-1 1,1 0 0,-1 1-1,0-1 1,1 0-1,-1 1 1,0-1-1,1 0 1,-1 0 0,0 1-1,1-1 1,-1 0-1,1 0 1,-1 0-1,1 1 1,-1-1 0,1 0-1,-1 0 1,0 0-1,1 0 1,0 0-1,6 1-14,1-1 0,-1 0 0,0 0-1,10-2 1,62-13 43,149-50 0,1 0 84,-194 57 3,-33 7-40,-5 2-3,-16 4 9,-157 45-626,23-5-3698,115-34 3081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3/7/2026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Slides created by April Crockett, Tennessee Tech University</a:t>
            </a:r>
          </a:p>
        </p:txBody>
      </p:sp>
      <p:sp>
        <p:nvSpPr>
          <p:cNvPr id="4" name="Slide Number Placeholder 3"/>
          <p:cNvSpPr>
            <a:spLocks noGrp="1"/>
          </p:cNvSpPr>
          <p:nvPr>
            <p:ph type="sldNum" sz="quarter" idx="5"/>
          </p:nvPr>
        </p:nvSpPr>
        <p:spPr/>
        <p:txBody>
          <a:bodyPr/>
          <a:lstStyle/>
          <a:p>
            <a:fld id="{5EE2CF44-2B13-41B4-A334-1CDF534EEBBF}" type="slidenum">
              <a:rPr lang="en-US" smtClean="0"/>
              <a:t>1</a:t>
            </a:fld>
            <a:endParaRPr lang="en-US"/>
          </a:p>
        </p:txBody>
      </p:sp>
    </p:spTree>
    <p:extLst>
      <p:ext uri="{BB962C8B-B14F-4D97-AF65-F5344CB8AC3E}">
        <p14:creationId xmlns:p14="http://schemas.microsoft.com/office/powerpoint/2010/main" val="3681594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a:t>
            </a:fld>
            <a:endParaRPr lang="en-US"/>
          </a:p>
        </p:txBody>
      </p:sp>
    </p:spTree>
    <p:extLst>
      <p:ext uri="{BB962C8B-B14F-4D97-AF65-F5344CB8AC3E}">
        <p14:creationId xmlns:p14="http://schemas.microsoft.com/office/powerpoint/2010/main" val="2234338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a:t>
            </a:fld>
            <a:endParaRPr lang="en-US"/>
          </a:p>
        </p:txBody>
      </p:sp>
    </p:spTree>
    <p:extLst>
      <p:ext uri="{BB962C8B-B14F-4D97-AF65-F5344CB8AC3E}">
        <p14:creationId xmlns:p14="http://schemas.microsoft.com/office/powerpoint/2010/main" val="3259599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a:t>
            </a:fld>
            <a:endParaRPr lang="en-US"/>
          </a:p>
        </p:txBody>
      </p:sp>
    </p:spTree>
    <p:extLst>
      <p:ext uri="{BB962C8B-B14F-4D97-AF65-F5344CB8AC3E}">
        <p14:creationId xmlns:p14="http://schemas.microsoft.com/office/powerpoint/2010/main" val="1021952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a:t>
            </a:fld>
            <a:endParaRPr lang="en-US"/>
          </a:p>
        </p:txBody>
      </p:sp>
    </p:spTree>
    <p:extLst>
      <p:ext uri="{BB962C8B-B14F-4D97-AF65-F5344CB8AC3E}">
        <p14:creationId xmlns:p14="http://schemas.microsoft.com/office/powerpoint/2010/main" val="2379781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a:t>
            </a:fld>
            <a:endParaRPr lang="en-US"/>
          </a:p>
        </p:txBody>
      </p:sp>
    </p:spTree>
    <p:extLst>
      <p:ext uri="{BB962C8B-B14F-4D97-AF65-F5344CB8AC3E}">
        <p14:creationId xmlns:p14="http://schemas.microsoft.com/office/powerpoint/2010/main" val="2648267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9</a:t>
            </a:fld>
            <a:endParaRPr lang="en-US"/>
          </a:p>
        </p:txBody>
      </p:sp>
    </p:spTree>
    <p:extLst>
      <p:ext uri="{BB962C8B-B14F-4D97-AF65-F5344CB8AC3E}">
        <p14:creationId xmlns:p14="http://schemas.microsoft.com/office/powerpoint/2010/main" val="3469120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10</a:t>
            </a:fld>
            <a:endParaRPr lang="en-US"/>
          </a:p>
        </p:txBody>
      </p:sp>
    </p:spTree>
    <p:extLst>
      <p:ext uri="{BB962C8B-B14F-4D97-AF65-F5344CB8AC3E}">
        <p14:creationId xmlns:p14="http://schemas.microsoft.com/office/powerpoint/2010/main" val="1984163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12</a:t>
            </a:fld>
            <a:endParaRPr lang="en-US"/>
          </a:p>
        </p:txBody>
      </p:sp>
    </p:spTree>
    <p:extLst>
      <p:ext uri="{BB962C8B-B14F-4D97-AF65-F5344CB8AC3E}">
        <p14:creationId xmlns:p14="http://schemas.microsoft.com/office/powerpoint/2010/main" val="171817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13</a:t>
            </a:fld>
            <a:endParaRPr lang="en-US"/>
          </a:p>
        </p:txBody>
      </p:sp>
    </p:spTree>
    <p:extLst>
      <p:ext uri="{BB962C8B-B14F-4D97-AF65-F5344CB8AC3E}">
        <p14:creationId xmlns:p14="http://schemas.microsoft.com/office/powerpoint/2010/main" val="254973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14</a:t>
            </a:fld>
            <a:endParaRPr lang="en-US"/>
          </a:p>
        </p:txBody>
      </p:sp>
    </p:spTree>
    <p:extLst>
      <p:ext uri="{BB962C8B-B14F-4D97-AF65-F5344CB8AC3E}">
        <p14:creationId xmlns:p14="http://schemas.microsoft.com/office/powerpoint/2010/main" val="2373911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15</a:t>
            </a:fld>
            <a:endParaRPr lang="en-US"/>
          </a:p>
        </p:txBody>
      </p:sp>
    </p:spTree>
    <p:extLst>
      <p:ext uri="{BB962C8B-B14F-4D97-AF65-F5344CB8AC3E}">
        <p14:creationId xmlns:p14="http://schemas.microsoft.com/office/powerpoint/2010/main" val="3498629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16</a:t>
            </a:fld>
            <a:endParaRPr lang="en-US"/>
          </a:p>
        </p:txBody>
      </p:sp>
    </p:spTree>
    <p:extLst>
      <p:ext uri="{BB962C8B-B14F-4D97-AF65-F5344CB8AC3E}">
        <p14:creationId xmlns:p14="http://schemas.microsoft.com/office/powerpoint/2010/main" val="817852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18</a:t>
            </a:fld>
            <a:endParaRPr lang="en-US"/>
          </a:p>
        </p:txBody>
      </p:sp>
    </p:spTree>
    <p:extLst>
      <p:ext uri="{BB962C8B-B14F-4D97-AF65-F5344CB8AC3E}">
        <p14:creationId xmlns:p14="http://schemas.microsoft.com/office/powerpoint/2010/main" val="3313719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19</a:t>
            </a:fld>
            <a:endParaRPr lang="en-US"/>
          </a:p>
        </p:txBody>
      </p:sp>
    </p:spTree>
    <p:extLst>
      <p:ext uri="{BB962C8B-B14F-4D97-AF65-F5344CB8AC3E}">
        <p14:creationId xmlns:p14="http://schemas.microsoft.com/office/powerpoint/2010/main" val="2781204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20</a:t>
            </a:fld>
            <a:endParaRPr lang="en-US"/>
          </a:p>
        </p:txBody>
      </p:sp>
    </p:spTree>
    <p:extLst>
      <p:ext uri="{BB962C8B-B14F-4D97-AF65-F5344CB8AC3E}">
        <p14:creationId xmlns:p14="http://schemas.microsoft.com/office/powerpoint/2010/main" val="390363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21</a:t>
            </a:fld>
            <a:endParaRPr lang="en-US"/>
          </a:p>
        </p:txBody>
      </p:sp>
    </p:spTree>
    <p:extLst>
      <p:ext uri="{BB962C8B-B14F-4D97-AF65-F5344CB8AC3E}">
        <p14:creationId xmlns:p14="http://schemas.microsoft.com/office/powerpoint/2010/main" val="455548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23</a:t>
            </a:fld>
            <a:endParaRPr lang="en-US"/>
          </a:p>
        </p:txBody>
      </p:sp>
    </p:spTree>
    <p:extLst>
      <p:ext uri="{BB962C8B-B14F-4D97-AF65-F5344CB8AC3E}">
        <p14:creationId xmlns:p14="http://schemas.microsoft.com/office/powerpoint/2010/main" val="949030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24</a:t>
            </a:fld>
            <a:endParaRPr lang="en-US"/>
          </a:p>
        </p:txBody>
      </p:sp>
    </p:spTree>
    <p:extLst>
      <p:ext uri="{BB962C8B-B14F-4D97-AF65-F5344CB8AC3E}">
        <p14:creationId xmlns:p14="http://schemas.microsoft.com/office/powerpoint/2010/main" val="11811128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25</a:t>
            </a:fld>
            <a:endParaRPr lang="en-US"/>
          </a:p>
        </p:txBody>
      </p:sp>
    </p:spTree>
    <p:extLst>
      <p:ext uri="{BB962C8B-B14F-4D97-AF65-F5344CB8AC3E}">
        <p14:creationId xmlns:p14="http://schemas.microsoft.com/office/powerpoint/2010/main" val="2417278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26</a:t>
            </a:fld>
            <a:endParaRPr lang="en-US"/>
          </a:p>
        </p:txBody>
      </p:sp>
    </p:spTree>
    <p:extLst>
      <p:ext uri="{BB962C8B-B14F-4D97-AF65-F5344CB8AC3E}">
        <p14:creationId xmlns:p14="http://schemas.microsoft.com/office/powerpoint/2010/main" val="1832424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28</a:t>
            </a:fld>
            <a:endParaRPr lang="en-US"/>
          </a:p>
        </p:txBody>
      </p:sp>
    </p:spTree>
    <p:extLst>
      <p:ext uri="{BB962C8B-B14F-4D97-AF65-F5344CB8AC3E}">
        <p14:creationId xmlns:p14="http://schemas.microsoft.com/office/powerpoint/2010/main" val="2337495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29</a:t>
            </a:fld>
            <a:endParaRPr lang="en-US"/>
          </a:p>
        </p:txBody>
      </p:sp>
    </p:spTree>
    <p:extLst>
      <p:ext uri="{BB962C8B-B14F-4D97-AF65-F5344CB8AC3E}">
        <p14:creationId xmlns:p14="http://schemas.microsoft.com/office/powerpoint/2010/main" val="4280348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30</a:t>
            </a:fld>
            <a:endParaRPr lang="en-US"/>
          </a:p>
        </p:txBody>
      </p:sp>
    </p:spTree>
    <p:extLst>
      <p:ext uri="{BB962C8B-B14F-4D97-AF65-F5344CB8AC3E}">
        <p14:creationId xmlns:p14="http://schemas.microsoft.com/office/powerpoint/2010/main" val="1328848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31</a:t>
            </a:fld>
            <a:endParaRPr lang="en-US"/>
          </a:p>
        </p:txBody>
      </p:sp>
    </p:spTree>
    <p:extLst>
      <p:ext uri="{BB962C8B-B14F-4D97-AF65-F5344CB8AC3E}">
        <p14:creationId xmlns:p14="http://schemas.microsoft.com/office/powerpoint/2010/main" val="22733511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33</a:t>
            </a:fld>
            <a:endParaRPr lang="en-US"/>
          </a:p>
        </p:txBody>
      </p:sp>
    </p:spTree>
    <p:extLst>
      <p:ext uri="{BB962C8B-B14F-4D97-AF65-F5344CB8AC3E}">
        <p14:creationId xmlns:p14="http://schemas.microsoft.com/office/powerpoint/2010/main" val="16413334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34</a:t>
            </a:fld>
            <a:endParaRPr lang="en-US"/>
          </a:p>
        </p:txBody>
      </p:sp>
    </p:spTree>
    <p:extLst>
      <p:ext uri="{BB962C8B-B14F-4D97-AF65-F5344CB8AC3E}">
        <p14:creationId xmlns:p14="http://schemas.microsoft.com/office/powerpoint/2010/main" val="3230440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35</a:t>
            </a:fld>
            <a:endParaRPr lang="en-US"/>
          </a:p>
        </p:txBody>
      </p:sp>
    </p:spTree>
    <p:extLst>
      <p:ext uri="{BB962C8B-B14F-4D97-AF65-F5344CB8AC3E}">
        <p14:creationId xmlns:p14="http://schemas.microsoft.com/office/powerpoint/2010/main" val="19644490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36</a:t>
            </a:fld>
            <a:endParaRPr lang="en-US"/>
          </a:p>
        </p:txBody>
      </p:sp>
    </p:spTree>
    <p:extLst>
      <p:ext uri="{BB962C8B-B14F-4D97-AF65-F5344CB8AC3E}">
        <p14:creationId xmlns:p14="http://schemas.microsoft.com/office/powerpoint/2010/main" val="2519894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37</a:t>
            </a:fld>
            <a:endParaRPr lang="en-US"/>
          </a:p>
        </p:txBody>
      </p:sp>
    </p:spTree>
    <p:extLst>
      <p:ext uri="{BB962C8B-B14F-4D97-AF65-F5344CB8AC3E}">
        <p14:creationId xmlns:p14="http://schemas.microsoft.com/office/powerpoint/2010/main" val="2305315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40</a:t>
            </a:fld>
            <a:endParaRPr lang="en-US"/>
          </a:p>
        </p:txBody>
      </p:sp>
    </p:spTree>
    <p:extLst>
      <p:ext uri="{BB962C8B-B14F-4D97-AF65-F5344CB8AC3E}">
        <p14:creationId xmlns:p14="http://schemas.microsoft.com/office/powerpoint/2010/main" val="39901225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41</a:t>
            </a:fld>
            <a:endParaRPr lang="en-US"/>
          </a:p>
        </p:txBody>
      </p:sp>
    </p:spTree>
    <p:extLst>
      <p:ext uri="{BB962C8B-B14F-4D97-AF65-F5344CB8AC3E}">
        <p14:creationId xmlns:p14="http://schemas.microsoft.com/office/powerpoint/2010/main" val="4373469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43</a:t>
            </a:fld>
            <a:endParaRPr lang="en-US"/>
          </a:p>
        </p:txBody>
      </p:sp>
    </p:spTree>
    <p:extLst>
      <p:ext uri="{BB962C8B-B14F-4D97-AF65-F5344CB8AC3E}">
        <p14:creationId xmlns:p14="http://schemas.microsoft.com/office/powerpoint/2010/main" val="3770641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44</a:t>
            </a:fld>
            <a:endParaRPr lang="en-US"/>
          </a:p>
        </p:txBody>
      </p:sp>
    </p:spTree>
    <p:extLst>
      <p:ext uri="{BB962C8B-B14F-4D97-AF65-F5344CB8AC3E}">
        <p14:creationId xmlns:p14="http://schemas.microsoft.com/office/powerpoint/2010/main" val="15624211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45</a:t>
            </a:fld>
            <a:endParaRPr lang="en-US"/>
          </a:p>
        </p:txBody>
      </p:sp>
    </p:spTree>
    <p:extLst>
      <p:ext uri="{BB962C8B-B14F-4D97-AF65-F5344CB8AC3E}">
        <p14:creationId xmlns:p14="http://schemas.microsoft.com/office/powerpoint/2010/main" val="4924351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46</a:t>
            </a:fld>
            <a:endParaRPr lang="en-US"/>
          </a:p>
        </p:txBody>
      </p:sp>
    </p:spTree>
    <p:extLst>
      <p:ext uri="{BB962C8B-B14F-4D97-AF65-F5344CB8AC3E}">
        <p14:creationId xmlns:p14="http://schemas.microsoft.com/office/powerpoint/2010/main" val="34298615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47</a:t>
            </a:fld>
            <a:endParaRPr lang="en-US"/>
          </a:p>
        </p:txBody>
      </p:sp>
    </p:spTree>
    <p:extLst>
      <p:ext uri="{BB962C8B-B14F-4D97-AF65-F5344CB8AC3E}">
        <p14:creationId xmlns:p14="http://schemas.microsoft.com/office/powerpoint/2010/main" val="3989587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48</a:t>
            </a:fld>
            <a:endParaRPr lang="en-US"/>
          </a:p>
        </p:txBody>
      </p:sp>
    </p:spTree>
    <p:extLst>
      <p:ext uri="{BB962C8B-B14F-4D97-AF65-F5344CB8AC3E}">
        <p14:creationId xmlns:p14="http://schemas.microsoft.com/office/powerpoint/2010/main" val="5510652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49</a:t>
            </a:fld>
            <a:endParaRPr lang="en-US"/>
          </a:p>
        </p:txBody>
      </p:sp>
    </p:spTree>
    <p:extLst>
      <p:ext uri="{BB962C8B-B14F-4D97-AF65-F5344CB8AC3E}">
        <p14:creationId xmlns:p14="http://schemas.microsoft.com/office/powerpoint/2010/main" val="6594159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51</a:t>
            </a:fld>
            <a:endParaRPr lang="en-US"/>
          </a:p>
        </p:txBody>
      </p:sp>
    </p:spTree>
    <p:extLst>
      <p:ext uri="{BB962C8B-B14F-4D97-AF65-F5344CB8AC3E}">
        <p14:creationId xmlns:p14="http://schemas.microsoft.com/office/powerpoint/2010/main" val="25338534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52</a:t>
            </a:fld>
            <a:endParaRPr lang="en-US"/>
          </a:p>
        </p:txBody>
      </p:sp>
    </p:spTree>
    <p:extLst>
      <p:ext uri="{BB962C8B-B14F-4D97-AF65-F5344CB8AC3E}">
        <p14:creationId xmlns:p14="http://schemas.microsoft.com/office/powerpoint/2010/main" val="27913503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53</a:t>
            </a:fld>
            <a:endParaRPr lang="en-US"/>
          </a:p>
        </p:txBody>
      </p:sp>
    </p:spTree>
    <p:extLst>
      <p:ext uri="{BB962C8B-B14F-4D97-AF65-F5344CB8AC3E}">
        <p14:creationId xmlns:p14="http://schemas.microsoft.com/office/powerpoint/2010/main" val="13776209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54</a:t>
            </a:fld>
            <a:endParaRPr lang="en-US"/>
          </a:p>
        </p:txBody>
      </p:sp>
    </p:spTree>
    <p:extLst>
      <p:ext uri="{BB962C8B-B14F-4D97-AF65-F5344CB8AC3E}">
        <p14:creationId xmlns:p14="http://schemas.microsoft.com/office/powerpoint/2010/main" val="41639012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55</a:t>
            </a:fld>
            <a:endParaRPr lang="en-US"/>
          </a:p>
        </p:txBody>
      </p:sp>
    </p:spTree>
    <p:extLst>
      <p:ext uri="{BB962C8B-B14F-4D97-AF65-F5344CB8AC3E}">
        <p14:creationId xmlns:p14="http://schemas.microsoft.com/office/powerpoint/2010/main" val="15332934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56</a:t>
            </a:fld>
            <a:endParaRPr lang="en-US"/>
          </a:p>
        </p:txBody>
      </p:sp>
    </p:spTree>
    <p:extLst>
      <p:ext uri="{BB962C8B-B14F-4D97-AF65-F5344CB8AC3E}">
        <p14:creationId xmlns:p14="http://schemas.microsoft.com/office/powerpoint/2010/main" val="35017914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58</a:t>
            </a:fld>
            <a:endParaRPr lang="en-US"/>
          </a:p>
        </p:txBody>
      </p:sp>
    </p:spTree>
    <p:extLst>
      <p:ext uri="{BB962C8B-B14F-4D97-AF65-F5344CB8AC3E}">
        <p14:creationId xmlns:p14="http://schemas.microsoft.com/office/powerpoint/2010/main" val="19035996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59</a:t>
            </a:fld>
            <a:endParaRPr lang="en-US"/>
          </a:p>
        </p:txBody>
      </p:sp>
    </p:spTree>
    <p:extLst>
      <p:ext uri="{BB962C8B-B14F-4D97-AF65-F5344CB8AC3E}">
        <p14:creationId xmlns:p14="http://schemas.microsoft.com/office/powerpoint/2010/main" val="9749284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60</a:t>
            </a:fld>
            <a:endParaRPr lang="en-US"/>
          </a:p>
        </p:txBody>
      </p:sp>
    </p:spTree>
    <p:extLst>
      <p:ext uri="{BB962C8B-B14F-4D97-AF65-F5344CB8AC3E}">
        <p14:creationId xmlns:p14="http://schemas.microsoft.com/office/powerpoint/2010/main" val="36679487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61</a:t>
            </a:fld>
            <a:endParaRPr lang="en-US"/>
          </a:p>
        </p:txBody>
      </p:sp>
    </p:spTree>
    <p:extLst>
      <p:ext uri="{BB962C8B-B14F-4D97-AF65-F5344CB8AC3E}">
        <p14:creationId xmlns:p14="http://schemas.microsoft.com/office/powerpoint/2010/main" val="26617667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62</a:t>
            </a:fld>
            <a:endParaRPr lang="en-US"/>
          </a:p>
        </p:txBody>
      </p:sp>
    </p:spTree>
    <p:extLst>
      <p:ext uri="{BB962C8B-B14F-4D97-AF65-F5344CB8AC3E}">
        <p14:creationId xmlns:p14="http://schemas.microsoft.com/office/powerpoint/2010/main" val="34477281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63</a:t>
            </a:fld>
            <a:endParaRPr lang="en-US"/>
          </a:p>
        </p:txBody>
      </p:sp>
    </p:spTree>
    <p:extLst>
      <p:ext uri="{BB962C8B-B14F-4D97-AF65-F5344CB8AC3E}">
        <p14:creationId xmlns:p14="http://schemas.microsoft.com/office/powerpoint/2010/main" val="36821146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64</a:t>
            </a:fld>
            <a:endParaRPr lang="en-US"/>
          </a:p>
        </p:txBody>
      </p:sp>
    </p:spTree>
    <p:extLst>
      <p:ext uri="{BB962C8B-B14F-4D97-AF65-F5344CB8AC3E}">
        <p14:creationId xmlns:p14="http://schemas.microsoft.com/office/powerpoint/2010/main" val="12679323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67</a:t>
            </a:fld>
            <a:endParaRPr lang="en-US"/>
          </a:p>
        </p:txBody>
      </p:sp>
    </p:spTree>
    <p:extLst>
      <p:ext uri="{BB962C8B-B14F-4D97-AF65-F5344CB8AC3E}">
        <p14:creationId xmlns:p14="http://schemas.microsoft.com/office/powerpoint/2010/main" val="5537495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68</a:t>
            </a:fld>
            <a:endParaRPr lang="en-US"/>
          </a:p>
        </p:txBody>
      </p:sp>
    </p:spTree>
    <p:extLst>
      <p:ext uri="{BB962C8B-B14F-4D97-AF65-F5344CB8AC3E}">
        <p14:creationId xmlns:p14="http://schemas.microsoft.com/office/powerpoint/2010/main" val="5900670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69</a:t>
            </a:fld>
            <a:endParaRPr lang="en-US"/>
          </a:p>
        </p:txBody>
      </p:sp>
    </p:spTree>
    <p:extLst>
      <p:ext uri="{BB962C8B-B14F-4D97-AF65-F5344CB8AC3E}">
        <p14:creationId xmlns:p14="http://schemas.microsoft.com/office/powerpoint/2010/main" val="21120055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70</a:t>
            </a:fld>
            <a:endParaRPr lang="en-US"/>
          </a:p>
        </p:txBody>
      </p:sp>
    </p:spTree>
    <p:extLst>
      <p:ext uri="{BB962C8B-B14F-4D97-AF65-F5344CB8AC3E}">
        <p14:creationId xmlns:p14="http://schemas.microsoft.com/office/powerpoint/2010/main" val="16858267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71</a:t>
            </a:fld>
            <a:endParaRPr lang="en-US"/>
          </a:p>
        </p:txBody>
      </p:sp>
    </p:spTree>
    <p:extLst>
      <p:ext uri="{BB962C8B-B14F-4D97-AF65-F5344CB8AC3E}">
        <p14:creationId xmlns:p14="http://schemas.microsoft.com/office/powerpoint/2010/main" val="38012138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72</a:t>
            </a:fld>
            <a:endParaRPr lang="en-US"/>
          </a:p>
        </p:txBody>
      </p:sp>
    </p:spTree>
    <p:extLst>
      <p:ext uri="{BB962C8B-B14F-4D97-AF65-F5344CB8AC3E}">
        <p14:creationId xmlns:p14="http://schemas.microsoft.com/office/powerpoint/2010/main" val="37568299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73</a:t>
            </a:fld>
            <a:endParaRPr lang="en-US"/>
          </a:p>
        </p:txBody>
      </p:sp>
    </p:spTree>
    <p:extLst>
      <p:ext uri="{BB962C8B-B14F-4D97-AF65-F5344CB8AC3E}">
        <p14:creationId xmlns:p14="http://schemas.microsoft.com/office/powerpoint/2010/main" val="13168747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74</a:t>
            </a:fld>
            <a:endParaRPr lang="en-US"/>
          </a:p>
        </p:txBody>
      </p:sp>
    </p:spTree>
    <p:extLst>
      <p:ext uri="{BB962C8B-B14F-4D97-AF65-F5344CB8AC3E}">
        <p14:creationId xmlns:p14="http://schemas.microsoft.com/office/powerpoint/2010/main" val="36216452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75</a:t>
            </a:fld>
            <a:endParaRPr lang="en-US"/>
          </a:p>
        </p:txBody>
      </p:sp>
    </p:spTree>
    <p:extLst>
      <p:ext uri="{BB962C8B-B14F-4D97-AF65-F5344CB8AC3E}">
        <p14:creationId xmlns:p14="http://schemas.microsoft.com/office/powerpoint/2010/main" val="20920024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76</a:t>
            </a:fld>
            <a:endParaRPr lang="en-US"/>
          </a:p>
        </p:txBody>
      </p:sp>
    </p:spTree>
    <p:extLst>
      <p:ext uri="{BB962C8B-B14F-4D97-AF65-F5344CB8AC3E}">
        <p14:creationId xmlns:p14="http://schemas.microsoft.com/office/powerpoint/2010/main" val="155575798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77</a:t>
            </a:fld>
            <a:endParaRPr lang="en-US"/>
          </a:p>
        </p:txBody>
      </p:sp>
    </p:spTree>
    <p:extLst>
      <p:ext uri="{BB962C8B-B14F-4D97-AF65-F5344CB8AC3E}">
        <p14:creationId xmlns:p14="http://schemas.microsoft.com/office/powerpoint/2010/main" val="17658127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78</a:t>
            </a:fld>
            <a:endParaRPr lang="en-US"/>
          </a:p>
        </p:txBody>
      </p:sp>
    </p:spTree>
    <p:extLst>
      <p:ext uri="{BB962C8B-B14F-4D97-AF65-F5344CB8AC3E}">
        <p14:creationId xmlns:p14="http://schemas.microsoft.com/office/powerpoint/2010/main" val="6554759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79</a:t>
            </a:fld>
            <a:endParaRPr lang="en-US"/>
          </a:p>
        </p:txBody>
      </p:sp>
    </p:spTree>
    <p:extLst>
      <p:ext uri="{BB962C8B-B14F-4D97-AF65-F5344CB8AC3E}">
        <p14:creationId xmlns:p14="http://schemas.microsoft.com/office/powerpoint/2010/main" val="9637152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80</a:t>
            </a:fld>
            <a:endParaRPr lang="en-US"/>
          </a:p>
        </p:txBody>
      </p:sp>
    </p:spTree>
    <p:extLst>
      <p:ext uri="{BB962C8B-B14F-4D97-AF65-F5344CB8AC3E}">
        <p14:creationId xmlns:p14="http://schemas.microsoft.com/office/powerpoint/2010/main" val="18336269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82</a:t>
            </a:fld>
            <a:endParaRPr lang="en-US"/>
          </a:p>
        </p:txBody>
      </p:sp>
    </p:spTree>
    <p:extLst>
      <p:ext uri="{BB962C8B-B14F-4D97-AF65-F5344CB8AC3E}">
        <p14:creationId xmlns:p14="http://schemas.microsoft.com/office/powerpoint/2010/main" val="122273247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84</a:t>
            </a:fld>
            <a:endParaRPr lang="en-US"/>
          </a:p>
        </p:txBody>
      </p:sp>
    </p:spTree>
    <p:extLst>
      <p:ext uri="{BB962C8B-B14F-4D97-AF65-F5344CB8AC3E}">
        <p14:creationId xmlns:p14="http://schemas.microsoft.com/office/powerpoint/2010/main" val="15108498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85</a:t>
            </a:fld>
            <a:endParaRPr lang="en-US"/>
          </a:p>
        </p:txBody>
      </p:sp>
    </p:spTree>
    <p:extLst>
      <p:ext uri="{BB962C8B-B14F-4D97-AF65-F5344CB8AC3E}">
        <p14:creationId xmlns:p14="http://schemas.microsoft.com/office/powerpoint/2010/main" val="16311096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86</a:t>
            </a:fld>
            <a:endParaRPr lang="en-US"/>
          </a:p>
        </p:txBody>
      </p:sp>
    </p:spTree>
    <p:extLst>
      <p:ext uri="{BB962C8B-B14F-4D97-AF65-F5344CB8AC3E}">
        <p14:creationId xmlns:p14="http://schemas.microsoft.com/office/powerpoint/2010/main" val="993269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87</a:t>
            </a:fld>
            <a:endParaRPr lang="en-US"/>
          </a:p>
        </p:txBody>
      </p:sp>
    </p:spTree>
    <p:extLst>
      <p:ext uri="{BB962C8B-B14F-4D97-AF65-F5344CB8AC3E}">
        <p14:creationId xmlns:p14="http://schemas.microsoft.com/office/powerpoint/2010/main" val="22635654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88</a:t>
            </a:fld>
            <a:endParaRPr lang="en-US"/>
          </a:p>
        </p:txBody>
      </p:sp>
    </p:spTree>
    <p:extLst>
      <p:ext uri="{BB962C8B-B14F-4D97-AF65-F5344CB8AC3E}">
        <p14:creationId xmlns:p14="http://schemas.microsoft.com/office/powerpoint/2010/main" val="41399771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89</a:t>
            </a:fld>
            <a:endParaRPr lang="en-US"/>
          </a:p>
        </p:txBody>
      </p:sp>
    </p:spTree>
    <p:extLst>
      <p:ext uri="{BB962C8B-B14F-4D97-AF65-F5344CB8AC3E}">
        <p14:creationId xmlns:p14="http://schemas.microsoft.com/office/powerpoint/2010/main" val="994475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90</a:t>
            </a:fld>
            <a:endParaRPr lang="en-US"/>
          </a:p>
        </p:txBody>
      </p:sp>
    </p:spTree>
    <p:extLst>
      <p:ext uri="{BB962C8B-B14F-4D97-AF65-F5344CB8AC3E}">
        <p14:creationId xmlns:p14="http://schemas.microsoft.com/office/powerpoint/2010/main" val="25449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91</a:t>
            </a:fld>
            <a:endParaRPr lang="en-US"/>
          </a:p>
        </p:txBody>
      </p:sp>
    </p:spTree>
    <p:extLst>
      <p:ext uri="{BB962C8B-B14F-4D97-AF65-F5344CB8AC3E}">
        <p14:creationId xmlns:p14="http://schemas.microsoft.com/office/powerpoint/2010/main" val="410522577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92</a:t>
            </a:fld>
            <a:endParaRPr lang="en-US"/>
          </a:p>
        </p:txBody>
      </p:sp>
    </p:spTree>
    <p:extLst>
      <p:ext uri="{BB962C8B-B14F-4D97-AF65-F5344CB8AC3E}">
        <p14:creationId xmlns:p14="http://schemas.microsoft.com/office/powerpoint/2010/main" val="9313489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3/7/2026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3/7/2026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3/7/2026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3/7/2026</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3/7/2026</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commons.wikimedia.org/wiki/File:Volvo_VN_tractor-trailer,_G._Goebel.jpg" TargetMode="Externa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hyperlink" Target="https://en.wikipedia.org/wiki/R160_(New_York_City_Subway_car)" TargetMode="External"/><Relationship Id="rId5" Type="http://schemas.openxmlformats.org/officeDocument/2006/relationships/image" Target="../media/image5.jpeg"/><Relationship Id="rId4" Type="http://schemas.openxmlformats.org/officeDocument/2006/relationships/hyperlink" Target="https://creativecommons.org/licenses/by-sa/3.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6" Type="http://schemas.openxmlformats.org/officeDocument/2006/relationships/image" Target="../media/image30.png"/><Relationship Id="rId21" Type="http://schemas.openxmlformats.org/officeDocument/2006/relationships/customXml" Target="../ink/ink10.xml"/><Relationship Id="rId42" Type="http://schemas.openxmlformats.org/officeDocument/2006/relationships/image" Target="../media/image38.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51.png"/><Relationship Id="rId84" Type="http://schemas.openxmlformats.org/officeDocument/2006/relationships/image" Target="../media/image59.png"/><Relationship Id="rId89" Type="http://schemas.openxmlformats.org/officeDocument/2006/relationships/customXml" Target="../ink/ink44.xml"/><Relationship Id="rId16" Type="http://schemas.openxmlformats.org/officeDocument/2006/relationships/image" Target="../media/image25.png"/><Relationship Id="rId11" Type="http://schemas.openxmlformats.org/officeDocument/2006/relationships/customXml" Target="../ink/ink5.xml"/><Relationship Id="rId32" Type="http://schemas.openxmlformats.org/officeDocument/2006/relationships/image" Target="../media/image33.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46.png"/><Relationship Id="rId74" Type="http://schemas.openxmlformats.org/officeDocument/2006/relationships/image" Target="../media/image54.png"/><Relationship Id="rId79" Type="http://schemas.openxmlformats.org/officeDocument/2006/relationships/customXml" Target="../ink/ink39.xml"/><Relationship Id="rId5" Type="http://schemas.openxmlformats.org/officeDocument/2006/relationships/customXml" Target="../ink/ink2.xml"/><Relationship Id="rId90" Type="http://schemas.openxmlformats.org/officeDocument/2006/relationships/image" Target="../media/image62.png"/><Relationship Id="rId14" Type="http://schemas.openxmlformats.org/officeDocument/2006/relationships/image" Target="../media/image24.png"/><Relationship Id="rId22" Type="http://schemas.openxmlformats.org/officeDocument/2006/relationships/image" Target="../media/image28.png"/><Relationship Id="rId27" Type="http://schemas.openxmlformats.org/officeDocument/2006/relationships/customXml" Target="../ink/ink13.xml"/><Relationship Id="rId30" Type="http://schemas.openxmlformats.org/officeDocument/2006/relationships/image" Target="../media/image32.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41.png"/><Relationship Id="rId56" Type="http://schemas.openxmlformats.org/officeDocument/2006/relationships/image" Target="../media/image45.png"/><Relationship Id="rId64" Type="http://schemas.openxmlformats.org/officeDocument/2006/relationships/image" Target="../media/image49.png"/><Relationship Id="rId69" Type="http://schemas.openxmlformats.org/officeDocument/2006/relationships/customXml" Target="../ink/ink34.xml"/><Relationship Id="rId77" Type="http://schemas.openxmlformats.org/officeDocument/2006/relationships/customXml" Target="../ink/ink38.xml"/><Relationship Id="rId8" Type="http://schemas.openxmlformats.org/officeDocument/2006/relationships/image" Target="../media/image21.png"/><Relationship Id="rId51" Type="http://schemas.openxmlformats.org/officeDocument/2006/relationships/customXml" Target="../ink/ink25.xml"/><Relationship Id="rId72" Type="http://schemas.openxmlformats.org/officeDocument/2006/relationships/image" Target="../media/image53.png"/><Relationship Id="rId80" Type="http://schemas.openxmlformats.org/officeDocument/2006/relationships/image" Target="../media/image57.png"/><Relationship Id="rId85" Type="http://schemas.openxmlformats.org/officeDocument/2006/relationships/customXml" Target="../ink/ink42.xml"/><Relationship Id="rId3" Type="http://schemas.openxmlformats.org/officeDocument/2006/relationships/customXml" Target="../ink/ink1.xml"/><Relationship Id="rId12" Type="http://schemas.openxmlformats.org/officeDocument/2006/relationships/image" Target="../media/image23.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36.png"/><Relationship Id="rId46" Type="http://schemas.openxmlformats.org/officeDocument/2006/relationships/image" Target="../media/image40.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27.png"/><Relationship Id="rId41" Type="http://schemas.openxmlformats.org/officeDocument/2006/relationships/customXml" Target="../ink/ink20.xml"/><Relationship Id="rId54" Type="http://schemas.openxmlformats.org/officeDocument/2006/relationships/image" Target="../media/image44.png"/><Relationship Id="rId62" Type="http://schemas.openxmlformats.org/officeDocument/2006/relationships/image" Target="../media/image48.png"/><Relationship Id="rId70" Type="http://schemas.openxmlformats.org/officeDocument/2006/relationships/image" Target="../media/image52.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61.png"/><Relationship Id="rId91" Type="http://schemas.openxmlformats.org/officeDocument/2006/relationships/customXml" Target="../ink/ink45.xml"/><Relationship Id="rId1" Type="http://schemas.openxmlformats.org/officeDocument/2006/relationships/slideLayout" Target="../slideLayouts/slideLayout2.xml"/><Relationship Id="rId6" Type="http://schemas.openxmlformats.org/officeDocument/2006/relationships/image" Target="../media/image20.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1.png"/><Relationship Id="rId36" Type="http://schemas.openxmlformats.org/officeDocument/2006/relationships/image" Target="../media/image35.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22.png"/><Relationship Id="rId31" Type="http://schemas.openxmlformats.org/officeDocument/2006/relationships/customXml" Target="../ink/ink15.xml"/><Relationship Id="rId44" Type="http://schemas.openxmlformats.org/officeDocument/2006/relationships/image" Target="../media/image39.png"/><Relationship Id="rId52" Type="http://schemas.openxmlformats.org/officeDocument/2006/relationships/image" Target="../media/image43.png"/><Relationship Id="rId60" Type="http://schemas.openxmlformats.org/officeDocument/2006/relationships/image" Target="../media/image47.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56.png"/><Relationship Id="rId81" Type="http://schemas.openxmlformats.org/officeDocument/2006/relationships/customXml" Target="../ink/ink40.xml"/><Relationship Id="rId86" Type="http://schemas.openxmlformats.org/officeDocument/2006/relationships/image" Target="../media/image60.png"/><Relationship Id="rId4" Type="http://schemas.openxmlformats.org/officeDocument/2006/relationships/image" Target="../media/image19.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26.png"/><Relationship Id="rId39" Type="http://schemas.openxmlformats.org/officeDocument/2006/relationships/customXml" Target="../ink/ink19.xml"/><Relationship Id="rId34" Type="http://schemas.openxmlformats.org/officeDocument/2006/relationships/image" Target="../media/image34.png"/><Relationship Id="rId50" Type="http://schemas.openxmlformats.org/officeDocument/2006/relationships/image" Target="../media/image42.png"/><Relationship Id="rId55" Type="http://schemas.openxmlformats.org/officeDocument/2006/relationships/customXml" Target="../ink/ink27.xml"/><Relationship Id="rId76" Type="http://schemas.openxmlformats.org/officeDocument/2006/relationships/image" Target="../media/image55.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63.png"/><Relationship Id="rId2" Type="http://schemas.openxmlformats.org/officeDocument/2006/relationships/notesSlide" Target="../notesSlides/notesSlide31.xml"/><Relationship Id="rId29" Type="http://schemas.openxmlformats.org/officeDocument/2006/relationships/customXml" Target="../ink/ink14.xml"/><Relationship Id="rId24" Type="http://schemas.openxmlformats.org/officeDocument/2006/relationships/image" Target="../media/image29.png"/><Relationship Id="rId40" Type="http://schemas.openxmlformats.org/officeDocument/2006/relationships/image" Target="../media/image37.png"/><Relationship Id="rId45" Type="http://schemas.openxmlformats.org/officeDocument/2006/relationships/customXml" Target="../ink/ink22.xml"/><Relationship Id="rId66" Type="http://schemas.openxmlformats.org/officeDocument/2006/relationships/image" Target="../media/image50.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58.png"/><Relationship Id="rId19" Type="http://schemas.openxmlformats.org/officeDocument/2006/relationships/customXml" Target="../ink/ink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cplusplus.com/reference/vector/vector/"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cplusplus.com/reference/algorithm/sort/"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8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hyperlink" Target="https://www.csc.tntech.edu/pdcincs/index.php/ipdc-modules/" TargetMode="Externa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devblogs.microsoft.com/cppblog/using-c17-parallel-algorithms-for-better-performance/"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hyperlink" Target="https://www.geeksforgeeks.org/introduction-to-parallel-programming-with-openmp-in-cpp/" TargetMode="External"/></Relationships>
</file>

<file path=ppt/slides/_rels/slide93.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9690" y="3165763"/>
            <a:ext cx="12016110" cy="2320637"/>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lnSpc>
                <a:spcPct val="90000"/>
              </a:lnSpc>
            </a:pPr>
            <a:r>
              <a:rPr lang="en-US" b="1" dirty="0">
                <a:solidFill>
                  <a:srgbClr val="4F2984"/>
                </a:solidFill>
                <a:latin typeface="Berlin Sans FB Demi" panose="020E0802020502020306" pitchFamily="34" charset="0"/>
                <a:cs typeface="Aharoni" panose="02010803020104030203" pitchFamily="2" charset="-79"/>
              </a:rPr>
              <a:t>Module 8: Arrays, Vectors, &amp; </a:t>
            </a:r>
            <a:br>
              <a:rPr lang="en-US" b="1" dirty="0">
                <a:solidFill>
                  <a:srgbClr val="4F2984"/>
                </a:solidFill>
                <a:latin typeface="Berlin Sans FB Demi" panose="020E0802020502020306" pitchFamily="34" charset="0"/>
                <a:cs typeface="Aharoni" panose="02010803020104030203" pitchFamily="2" charset="-79"/>
              </a:rPr>
            </a:br>
            <a:r>
              <a:rPr lang="en-US" b="1" dirty="0">
                <a:solidFill>
                  <a:srgbClr val="4F2984"/>
                </a:solidFill>
                <a:latin typeface="Berlin Sans FB Demi" panose="020E0802020502020306" pitchFamily="34" charset="0"/>
                <a:cs typeface="Aharoni" panose="02010803020104030203" pitchFamily="2" charset="-79"/>
              </a:rPr>
              <a:t>Data Parallelism</a:t>
            </a:r>
            <a:endParaRPr b="1" dirty="0">
              <a:solidFill>
                <a:srgbClr val="4F2984"/>
              </a:solidFill>
              <a:latin typeface="Berlin Sans FB Demi" panose="020E0802020502020306" pitchFamily="34" charset="0"/>
              <a:cs typeface="Aharoni" panose="02010803020104030203" pitchFamily="2" charset="-79"/>
            </a:endParaRPr>
          </a:p>
        </p:txBody>
      </p:sp>
      <p:sp>
        <p:nvSpPr>
          <p:cNvPr id="4" name="TextBox 3">
            <a:extLst>
              <a:ext uri="{FF2B5EF4-FFF2-40B4-BE49-F238E27FC236}">
                <a16:creationId xmlns:a16="http://schemas.microsoft.com/office/drawing/2014/main" id="{4D7A6B7A-6063-346C-CE22-5D9633B6F429}"/>
              </a:ext>
            </a:extLst>
          </p:cNvPr>
          <p:cNvSpPr txBox="1"/>
          <p:nvPr/>
        </p:nvSpPr>
        <p:spPr>
          <a:xfrm>
            <a:off x="3461018" y="6088559"/>
            <a:ext cx="5293453" cy="769441"/>
          </a:xfrm>
          <a:prstGeom prst="rect">
            <a:avLst/>
          </a:prstGeom>
          <a:solidFill>
            <a:schemeClr val="bg2">
              <a:lumMod val="20000"/>
              <a:lumOff val="80000"/>
            </a:schemeClr>
          </a:solidFill>
          <a:ln>
            <a:solidFill>
              <a:srgbClr val="7030A0"/>
            </a:solidFill>
          </a:ln>
        </p:spPr>
        <p:txBody>
          <a:bodyPr wrap="square" rtlCol="0">
            <a:spAutoFit/>
          </a:bodyPr>
          <a:lstStyle/>
          <a:p>
            <a:pPr algn="ctr"/>
            <a:r>
              <a:rPr lang="en-US" sz="4400" b="1" dirty="0">
                <a:solidFill>
                  <a:srgbClr val="7030A0"/>
                </a:solidFill>
              </a:rPr>
              <a:t>PURPLE GROUP</a:t>
            </a:r>
          </a:p>
        </p:txBody>
      </p:sp>
      <p:pic>
        <p:nvPicPr>
          <p:cNvPr id="8" name="Picture 7" descr="A squirrel wearing glasses and a hoodie using a computer">
            <a:extLst>
              <a:ext uri="{FF2B5EF4-FFF2-40B4-BE49-F238E27FC236}">
                <a16:creationId xmlns:a16="http://schemas.microsoft.com/office/drawing/2014/main" id="{DA3714AD-7130-38E5-601A-5A8A3565AC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400" y="76200"/>
            <a:ext cx="2743200" cy="2743200"/>
          </a:xfrm>
          <a:prstGeom prst="rect">
            <a:avLst/>
          </a:prstGeom>
        </p:spPr>
      </p:pic>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228600" y="190500"/>
            <a:ext cx="117348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ea typeface="+mn-ea"/>
                <a:cs typeface="+mn-cs"/>
              </a:rPr>
              <a:t>What is an Array?</a:t>
            </a:r>
            <a:endParaRPr b="1" dirty="0">
              <a:solidFill>
                <a:srgbClr val="4F2984"/>
              </a:solidFill>
              <a:latin typeface="Amasis MT Pro Black" panose="02040A04050005020304" pitchFamily="18" charset="0"/>
              <a:ea typeface="+mn-ea"/>
              <a:cs typeface="+mn-cs"/>
            </a:endParaRPr>
          </a:p>
        </p:txBody>
      </p:sp>
      <p:sp>
        <p:nvSpPr>
          <p:cNvPr id="3" name="Content Placeholder 2">
            <a:extLst>
              <a:ext uri="{FF2B5EF4-FFF2-40B4-BE49-F238E27FC236}">
                <a16:creationId xmlns:a16="http://schemas.microsoft.com/office/drawing/2014/main" id="{47C45A67-E97A-432B-9380-7AAF08B85C07}"/>
              </a:ext>
            </a:extLst>
          </p:cNvPr>
          <p:cNvSpPr>
            <a:spLocks noGrp="1"/>
          </p:cNvSpPr>
          <p:nvPr>
            <p:ph idx="1"/>
          </p:nvPr>
        </p:nvSpPr>
        <p:spPr>
          <a:xfrm>
            <a:off x="366353" y="1504950"/>
            <a:ext cx="6415447" cy="4591050"/>
          </a:xfrm>
        </p:spPr>
        <p:txBody>
          <a:bodyPr>
            <a:normAutofit lnSpcReduction="10000"/>
          </a:bodyPr>
          <a:lstStyle/>
          <a:p>
            <a:r>
              <a:rPr lang="en-US" altLang="en-US" sz="2800" dirty="0">
                <a:solidFill>
                  <a:schemeClr val="bg1">
                    <a:lumMod val="75000"/>
                    <a:lumOff val="25000"/>
                  </a:schemeClr>
                </a:solidFill>
              </a:rPr>
              <a:t>An </a:t>
            </a:r>
            <a:r>
              <a:rPr lang="en-US" altLang="en-US" sz="2800" b="1" u="sng" dirty="0">
                <a:solidFill>
                  <a:srgbClr val="FF0000"/>
                </a:solidFill>
              </a:rPr>
              <a:t>array</a:t>
            </a:r>
            <a:r>
              <a:rPr lang="en-US" altLang="en-US" sz="2800" dirty="0">
                <a:solidFill>
                  <a:schemeClr val="bg1">
                    <a:lumMod val="75000"/>
                    <a:lumOff val="25000"/>
                  </a:schemeClr>
                </a:solidFill>
              </a:rPr>
              <a:t> is a single variable that can store </a:t>
            </a:r>
            <a:r>
              <a:rPr lang="en-US" altLang="en-US" sz="2800" b="1" dirty="0">
                <a:solidFill>
                  <a:schemeClr val="bg1">
                    <a:lumMod val="75000"/>
                    <a:lumOff val="25000"/>
                  </a:schemeClr>
                </a:solidFill>
              </a:rPr>
              <a:t>multiple</a:t>
            </a:r>
            <a:r>
              <a:rPr lang="en-US" altLang="en-US" sz="2800" dirty="0">
                <a:solidFill>
                  <a:schemeClr val="bg1">
                    <a:lumMod val="75000"/>
                    <a:lumOff val="25000"/>
                  </a:schemeClr>
                </a:solidFill>
              </a:rPr>
              <a:t> values of the same type.  Values are stored in adjacent memory locations.</a:t>
            </a:r>
          </a:p>
          <a:p>
            <a:r>
              <a:rPr lang="en-US" altLang="en-US" sz="2800" dirty="0">
                <a:solidFill>
                  <a:schemeClr val="bg1">
                    <a:lumMod val="75000"/>
                    <a:lumOff val="25000"/>
                  </a:schemeClr>
                </a:solidFill>
              </a:rPr>
              <a:t>Each item in an array is called an </a:t>
            </a:r>
            <a:r>
              <a:rPr lang="en-US" altLang="en-US" sz="2800" b="1" u="sng" dirty="0">
                <a:solidFill>
                  <a:srgbClr val="FF0000"/>
                </a:solidFill>
              </a:rPr>
              <a:t>element</a:t>
            </a:r>
            <a:r>
              <a:rPr lang="en-US" altLang="en-US" sz="2800" dirty="0">
                <a:solidFill>
                  <a:schemeClr val="bg1">
                    <a:lumMod val="75000"/>
                    <a:lumOff val="25000"/>
                  </a:schemeClr>
                </a:solidFill>
              </a:rPr>
              <a:t>.</a:t>
            </a:r>
          </a:p>
          <a:p>
            <a:r>
              <a:rPr lang="en-US" altLang="en-US" sz="2800" dirty="0">
                <a:solidFill>
                  <a:schemeClr val="bg1">
                    <a:lumMod val="75000"/>
                    <a:lumOff val="25000"/>
                  </a:schemeClr>
                </a:solidFill>
              </a:rPr>
              <a:t>Each element’s location number is called the </a:t>
            </a:r>
            <a:r>
              <a:rPr lang="en-US" altLang="en-US" sz="2800" b="1" u="sng" dirty="0">
                <a:solidFill>
                  <a:srgbClr val="FF0000"/>
                </a:solidFill>
              </a:rPr>
              <a:t>index</a:t>
            </a:r>
            <a:r>
              <a:rPr lang="en-US" altLang="en-US" sz="2800" dirty="0">
                <a:solidFill>
                  <a:schemeClr val="bg1">
                    <a:lumMod val="75000"/>
                    <a:lumOff val="25000"/>
                  </a:schemeClr>
                </a:solidFill>
              </a:rPr>
              <a:t> or </a:t>
            </a:r>
            <a:r>
              <a:rPr lang="en-US" altLang="en-US" sz="2800" b="1" u="sng" dirty="0">
                <a:solidFill>
                  <a:srgbClr val="FF0000"/>
                </a:solidFill>
              </a:rPr>
              <a:t>subscript</a:t>
            </a:r>
            <a:r>
              <a:rPr lang="en-US" altLang="en-US" sz="2800" dirty="0">
                <a:solidFill>
                  <a:schemeClr val="bg1">
                    <a:lumMod val="75000"/>
                    <a:lumOff val="25000"/>
                  </a:schemeClr>
                </a:solidFill>
              </a:rPr>
              <a:t>.</a:t>
            </a:r>
          </a:p>
          <a:p>
            <a:r>
              <a:rPr lang="en-US" altLang="en-US" sz="2800" dirty="0">
                <a:solidFill>
                  <a:schemeClr val="bg1">
                    <a:lumMod val="75000"/>
                    <a:lumOff val="25000"/>
                  </a:schemeClr>
                </a:solidFill>
              </a:rPr>
              <a:t>Arrays are BUILT IN to the C++ language (unlike Python).</a:t>
            </a:r>
            <a:br>
              <a:rPr lang="en-US" altLang="en-US" sz="2800" dirty="0"/>
            </a:br>
            <a:endParaRPr lang="en-US" altLang="en-US" sz="2800" dirty="0"/>
          </a:p>
        </p:txBody>
      </p:sp>
      <p:pic>
        <p:nvPicPr>
          <p:cNvPr id="2" name="Picture 2" descr="array – ProgrammerHumor.io">
            <a:extLst>
              <a:ext uri="{FF2B5EF4-FFF2-40B4-BE49-F238E27FC236}">
                <a16:creationId xmlns:a16="http://schemas.microsoft.com/office/drawing/2014/main" id="{70822EF8-F14B-C045-22A9-44356DF75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1504950"/>
            <a:ext cx="5105400" cy="5096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748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228600" y="190500"/>
            <a:ext cx="117348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ea typeface="+mn-ea"/>
                <a:cs typeface="+mn-cs"/>
              </a:rPr>
              <a:t>Array Concept</a:t>
            </a:r>
            <a:endParaRPr b="1" dirty="0">
              <a:solidFill>
                <a:srgbClr val="4F2984"/>
              </a:solidFill>
              <a:latin typeface="Amasis MT Pro Black" panose="02040A04050005020304" pitchFamily="18" charset="0"/>
              <a:ea typeface="+mn-ea"/>
              <a:cs typeface="+mn-cs"/>
            </a:endParaRPr>
          </a:p>
        </p:txBody>
      </p:sp>
      <p:sp>
        <p:nvSpPr>
          <p:cNvPr id="3" name="Content Placeholder 2">
            <a:extLst>
              <a:ext uri="{FF2B5EF4-FFF2-40B4-BE49-F238E27FC236}">
                <a16:creationId xmlns:a16="http://schemas.microsoft.com/office/drawing/2014/main" id="{47C45A67-E97A-432B-9380-7AAF08B85C07}"/>
              </a:ext>
            </a:extLst>
          </p:cNvPr>
          <p:cNvSpPr>
            <a:spLocks noGrp="1"/>
          </p:cNvSpPr>
          <p:nvPr>
            <p:ph idx="1"/>
          </p:nvPr>
        </p:nvSpPr>
        <p:spPr>
          <a:xfrm>
            <a:off x="366353" y="1504950"/>
            <a:ext cx="11901847" cy="4591050"/>
          </a:xfrm>
        </p:spPr>
        <p:txBody>
          <a:bodyPr>
            <a:normAutofit/>
          </a:bodyPr>
          <a:lstStyle/>
          <a:p>
            <a:pPr marL="0" indent="0">
              <a:buNone/>
            </a:pPr>
            <a:r>
              <a:rPr lang="en-US" altLang="en-US" sz="2800" dirty="0">
                <a:solidFill>
                  <a:schemeClr val="bg1">
                    <a:lumMod val="75000"/>
                    <a:lumOff val="25000"/>
                  </a:schemeClr>
                </a:solidFill>
              </a:rPr>
              <a:t>A single variable is like a truck whereas an array is like attached train cars.</a:t>
            </a:r>
            <a:endParaRPr lang="en-US" altLang="en-US" sz="2800" dirty="0"/>
          </a:p>
        </p:txBody>
      </p:sp>
      <p:sp>
        <p:nvSpPr>
          <p:cNvPr id="9" name="TextBox 8">
            <a:extLst>
              <a:ext uri="{FF2B5EF4-FFF2-40B4-BE49-F238E27FC236}">
                <a16:creationId xmlns:a16="http://schemas.microsoft.com/office/drawing/2014/main" id="{FAC88B1E-EB13-E818-45E0-ECF9026F3C71}"/>
              </a:ext>
            </a:extLst>
          </p:cNvPr>
          <p:cNvSpPr txBox="1"/>
          <p:nvPr/>
        </p:nvSpPr>
        <p:spPr>
          <a:xfrm>
            <a:off x="762000" y="2588895"/>
            <a:ext cx="4047764" cy="40011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000" b="1" spc="50" dirty="0">
                <a:ln w="0"/>
                <a:solidFill>
                  <a:schemeClr val="bg1"/>
                </a:solidFill>
                <a:effectLst>
                  <a:innerShdw blurRad="63500" dist="50800" dir="13500000">
                    <a:srgbClr val="000000">
                      <a:alpha val="50000"/>
                    </a:srgbClr>
                  </a:innerShdw>
                </a:effectLst>
              </a:rPr>
              <a:t>Single Variable (tractor trailer)</a:t>
            </a:r>
          </a:p>
        </p:txBody>
      </p:sp>
      <p:pic>
        <p:nvPicPr>
          <p:cNvPr id="4" name="Picture 3" descr="A red truck parked in a parking lot">
            <a:extLst>
              <a:ext uri="{FF2B5EF4-FFF2-40B4-BE49-F238E27FC236}">
                <a16:creationId xmlns:a16="http://schemas.microsoft.com/office/drawing/2014/main" id="{F56A854A-9085-67C2-8A51-7B110C0603D4}"/>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62000" y="2971800"/>
            <a:ext cx="4047765" cy="3634246"/>
          </a:xfrm>
          <a:prstGeom prst="rect">
            <a:avLst/>
          </a:prstGeom>
        </p:spPr>
      </p:pic>
      <p:sp>
        <p:nvSpPr>
          <p:cNvPr id="5" name="TextBox 4">
            <a:extLst>
              <a:ext uri="{FF2B5EF4-FFF2-40B4-BE49-F238E27FC236}">
                <a16:creationId xmlns:a16="http://schemas.microsoft.com/office/drawing/2014/main" id="{14CA58F4-C3BF-FAC5-BEBD-37A26D4285A0}"/>
              </a:ext>
              <a:ext uri="{C183D7F6-B498-43B3-948B-1728B52AA6E4}">
                <adec:decorative xmlns:adec="http://schemas.microsoft.com/office/drawing/2017/decorative" val="1"/>
              </a:ext>
            </a:extLst>
          </p:cNvPr>
          <p:cNvSpPr txBox="1"/>
          <p:nvPr/>
        </p:nvSpPr>
        <p:spPr>
          <a:xfrm>
            <a:off x="2276834" y="6858000"/>
            <a:ext cx="7638331" cy="230832"/>
          </a:xfrm>
          <a:prstGeom prst="rect">
            <a:avLst/>
          </a:prstGeom>
          <a:noFill/>
        </p:spPr>
        <p:txBody>
          <a:bodyPr wrap="square" rtlCol="0">
            <a:spAutoFit/>
          </a:bodyPr>
          <a:lstStyle/>
          <a:p>
            <a:r>
              <a:rPr lang="en-US" sz="900">
                <a:hlinkClick r:id="rId3" tooltip="http://commons.wikimedia.org/wiki/File:Volvo_VN_tractor-trailer,_G._Goebel.jpg"/>
              </a:rPr>
              <a:t>This Photo</a:t>
            </a:r>
            <a:r>
              <a:rPr lang="en-US" sz="900"/>
              <a:t> by Unknown Author is licensed under </a:t>
            </a:r>
            <a:r>
              <a:rPr lang="en-US" sz="900">
                <a:hlinkClick r:id="rId4" tooltip="https://creativecommons.org/licenses/by-sa/3.0/"/>
              </a:rPr>
              <a:t>CC BY-SA</a:t>
            </a:r>
            <a:endParaRPr lang="en-US" sz="900"/>
          </a:p>
        </p:txBody>
      </p:sp>
      <p:sp>
        <p:nvSpPr>
          <p:cNvPr id="10" name="TextBox 9">
            <a:extLst>
              <a:ext uri="{FF2B5EF4-FFF2-40B4-BE49-F238E27FC236}">
                <a16:creationId xmlns:a16="http://schemas.microsoft.com/office/drawing/2014/main" id="{2375E39A-8B1D-99CA-1CAC-064602759C37}"/>
              </a:ext>
            </a:extLst>
          </p:cNvPr>
          <p:cNvSpPr txBox="1"/>
          <p:nvPr/>
        </p:nvSpPr>
        <p:spPr>
          <a:xfrm>
            <a:off x="6825614" y="2588895"/>
            <a:ext cx="4756785" cy="40011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000" b="1" spc="50" dirty="0">
                <a:ln w="0"/>
                <a:solidFill>
                  <a:schemeClr val="bg1"/>
                </a:solidFill>
                <a:effectLst>
                  <a:innerShdw blurRad="63500" dist="50800" dir="13500000">
                    <a:srgbClr val="000000">
                      <a:alpha val="50000"/>
                    </a:srgbClr>
                  </a:innerShdw>
                </a:effectLst>
              </a:rPr>
              <a:t>Array (attached train cars)</a:t>
            </a:r>
          </a:p>
        </p:txBody>
      </p:sp>
      <p:pic>
        <p:nvPicPr>
          <p:cNvPr id="7" name="Picture 6" descr="A train on the tracks">
            <a:extLst>
              <a:ext uri="{FF2B5EF4-FFF2-40B4-BE49-F238E27FC236}">
                <a16:creationId xmlns:a16="http://schemas.microsoft.com/office/drawing/2014/main" id="{39C8842B-AD60-5617-5A45-D45FA8554417}"/>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827519" y="2954417"/>
            <a:ext cx="4724400" cy="3543300"/>
          </a:xfrm>
          <a:prstGeom prst="rect">
            <a:avLst/>
          </a:prstGeom>
        </p:spPr>
      </p:pic>
      <p:sp>
        <p:nvSpPr>
          <p:cNvPr id="8" name="TextBox 7">
            <a:extLst>
              <a:ext uri="{FF2B5EF4-FFF2-40B4-BE49-F238E27FC236}">
                <a16:creationId xmlns:a16="http://schemas.microsoft.com/office/drawing/2014/main" id="{4A50DB55-11EB-8487-364C-C36EF816680A}"/>
              </a:ext>
              <a:ext uri="{C183D7F6-B498-43B3-948B-1728B52AA6E4}">
                <adec:decorative xmlns:adec="http://schemas.microsoft.com/office/drawing/2017/decorative" val="1"/>
              </a:ext>
            </a:extLst>
          </p:cNvPr>
          <p:cNvSpPr txBox="1"/>
          <p:nvPr/>
        </p:nvSpPr>
        <p:spPr>
          <a:xfrm>
            <a:off x="1524000" y="6858000"/>
            <a:ext cx="9144000" cy="230832"/>
          </a:xfrm>
          <a:prstGeom prst="rect">
            <a:avLst/>
          </a:prstGeom>
          <a:noFill/>
        </p:spPr>
        <p:txBody>
          <a:bodyPr wrap="square" rtlCol="0">
            <a:spAutoFit/>
          </a:bodyPr>
          <a:lstStyle/>
          <a:p>
            <a:r>
              <a:rPr lang="en-US" sz="900">
                <a:hlinkClick r:id="rId6" tooltip="https://en.wikipedia.org/wiki/R160_(New_York_City_Subway_car)"/>
              </a:rPr>
              <a:t>This Photo</a:t>
            </a:r>
            <a:r>
              <a:rPr lang="en-US" sz="900"/>
              <a:t> by Unknown Author is licensed under </a:t>
            </a:r>
            <a:r>
              <a:rPr lang="en-US" sz="900">
                <a:hlinkClick r:id="rId4" tooltip="https://creativecommons.org/licenses/by-sa/3.0/"/>
              </a:rPr>
              <a:t>CC BY-SA</a:t>
            </a:r>
            <a:endParaRPr lang="en-US" sz="900"/>
          </a:p>
        </p:txBody>
      </p:sp>
      <p:sp>
        <p:nvSpPr>
          <p:cNvPr id="11" name="Rectangle 10">
            <a:extLst>
              <a:ext uri="{FF2B5EF4-FFF2-40B4-BE49-F238E27FC236}">
                <a16:creationId xmlns:a16="http://schemas.microsoft.com/office/drawing/2014/main" id="{EDCB39A6-E656-1190-7DBB-0A0406472FE3}"/>
              </a:ext>
              <a:ext uri="{C183D7F6-B498-43B3-948B-1728B52AA6E4}">
                <adec:decorative xmlns:adec="http://schemas.microsoft.com/office/drawing/2017/decorative" val="1"/>
              </a:ext>
            </a:extLst>
          </p:cNvPr>
          <p:cNvSpPr/>
          <p:nvPr/>
        </p:nvSpPr>
        <p:spPr>
          <a:xfrm>
            <a:off x="5395672" y="2362200"/>
            <a:ext cx="800219" cy="707886"/>
          </a:xfrm>
          <a:prstGeom prst="rect">
            <a:avLst/>
          </a:prstGeom>
          <a:noFill/>
        </p:spPr>
        <p:txBody>
          <a:bodyPr wrap="none" lIns="91440" tIns="45720" rIns="91440" bIns="45720">
            <a:spAutoFit/>
          </a:bodyPr>
          <a:lstStyle/>
          <a:p>
            <a:pPr algn="ctr"/>
            <a:r>
              <a:rPr lang="en-US" sz="4000" b="1" spc="50" dirty="0">
                <a:ln w="0"/>
                <a:solidFill>
                  <a:schemeClr val="bg2"/>
                </a:solidFill>
                <a:effectLst>
                  <a:innerShdw blurRad="63500" dist="50800" dir="13500000">
                    <a:srgbClr val="000000">
                      <a:alpha val="50000"/>
                    </a:srgbClr>
                  </a:innerShdw>
                </a:effectLst>
              </a:rPr>
              <a:t>vs</a:t>
            </a:r>
            <a:r>
              <a:rPr lang="en-US" sz="4000" b="1" cap="none" spc="50" dirty="0">
                <a:ln w="0"/>
                <a:solidFill>
                  <a:schemeClr val="bg2"/>
                </a:solidFill>
                <a:effectLst>
                  <a:innerShdw blurRad="63500" dist="50800" dir="13500000">
                    <a:srgbClr val="000000">
                      <a:alpha val="50000"/>
                    </a:srgbClr>
                  </a:innerShdw>
                </a:effectLst>
              </a:rPr>
              <a:t>.</a:t>
            </a:r>
          </a:p>
        </p:txBody>
      </p:sp>
    </p:spTree>
    <p:extLst>
      <p:ext uri="{BB962C8B-B14F-4D97-AF65-F5344CB8AC3E}">
        <p14:creationId xmlns:p14="http://schemas.microsoft.com/office/powerpoint/2010/main" val="876794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228600" y="190500"/>
            <a:ext cx="117348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Declaration</a:t>
            </a:r>
            <a:endParaRPr b="1" dirty="0">
              <a:solidFill>
                <a:srgbClr val="4F2984"/>
              </a:solidFill>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47C45A67-E97A-432B-9380-7AAF08B85C07}"/>
              </a:ext>
            </a:extLst>
          </p:cNvPr>
          <p:cNvSpPr>
            <a:spLocks noGrp="1"/>
          </p:cNvSpPr>
          <p:nvPr>
            <p:ph idx="1"/>
          </p:nvPr>
        </p:nvSpPr>
        <p:spPr>
          <a:xfrm>
            <a:off x="247650" y="1524000"/>
            <a:ext cx="11658600" cy="4267200"/>
          </a:xfrm>
        </p:spPr>
        <p:txBody>
          <a:bodyPr>
            <a:normAutofit/>
          </a:bodyPr>
          <a:lstStyle/>
          <a:p>
            <a:pPr marL="0" indent="0">
              <a:buNone/>
            </a:pPr>
            <a:r>
              <a:rPr lang="en-US" sz="2800" dirty="0">
                <a:solidFill>
                  <a:schemeClr val="bg1"/>
                </a:solidFill>
              </a:rPr>
              <a:t>An array is declared using the [] operator</a:t>
            </a:r>
          </a:p>
          <a:p>
            <a:pPr marL="0" indent="0">
              <a:buNone/>
            </a:pPr>
            <a:r>
              <a:rPr lang="en-US" sz="2800" b="1" dirty="0">
                <a:solidFill>
                  <a:srgbClr val="0070C0"/>
                </a:solidFill>
                <a:latin typeface="Courier New" panose="02070309020205020404" pitchFamily="49" charset="0"/>
                <a:cs typeface="Courier New" panose="02070309020205020404" pitchFamily="49" charset="0"/>
              </a:rPr>
              <a:t>int </a:t>
            </a:r>
            <a:r>
              <a:rPr lang="en-US" sz="2800" b="1" dirty="0">
                <a:solidFill>
                  <a:schemeClr val="bg1"/>
                </a:solidFill>
                <a:latin typeface="Courier New" panose="02070309020205020404" pitchFamily="49" charset="0"/>
                <a:cs typeface="Courier New" panose="02070309020205020404" pitchFamily="49" charset="0"/>
              </a:rPr>
              <a:t>tests[</a:t>
            </a:r>
            <a:r>
              <a:rPr lang="en-US" sz="2800" b="1" dirty="0">
                <a:solidFill>
                  <a:schemeClr val="accent6"/>
                </a:solidFill>
                <a:latin typeface="Courier New" panose="02070309020205020404" pitchFamily="49" charset="0"/>
                <a:cs typeface="Courier New" panose="02070309020205020404" pitchFamily="49" charset="0"/>
              </a:rPr>
              <a:t>5</a:t>
            </a:r>
            <a:r>
              <a:rPr lang="en-US" sz="2800" b="1" dirty="0">
                <a:solidFill>
                  <a:schemeClr val="bg1"/>
                </a:solidFill>
                <a:latin typeface="Courier New" panose="02070309020205020404" pitchFamily="49" charset="0"/>
                <a:cs typeface="Courier New" panose="02070309020205020404" pitchFamily="49" charset="0"/>
              </a:rPr>
              <a:t>];</a:t>
            </a:r>
          </a:p>
          <a:p>
            <a:pPr marL="0" indent="0">
              <a:buNone/>
            </a:pPr>
            <a:r>
              <a:rPr lang="en-US" sz="2800" dirty="0">
                <a:solidFill>
                  <a:schemeClr val="bg1"/>
                </a:solidFill>
              </a:rPr>
              <a:t>The variable definition above creates a five-element integer array and allocates the following in memory:</a:t>
            </a:r>
          </a:p>
          <a:p>
            <a:pPr marL="0" indent="0">
              <a:buNone/>
            </a:pPr>
            <a:endParaRPr lang="en-US" sz="2800" b="1" dirty="0">
              <a:solidFill>
                <a:srgbClr val="0070C0"/>
              </a:solidFill>
            </a:endParaRPr>
          </a:p>
        </p:txBody>
      </p:sp>
      <p:graphicFrame>
        <p:nvGraphicFramePr>
          <p:cNvPr id="11" name="Table 10">
            <a:extLst>
              <a:ext uri="{FF2B5EF4-FFF2-40B4-BE49-F238E27FC236}">
                <a16:creationId xmlns:a16="http://schemas.microsoft.com/office/drawing/2014/main" id="{95404C1D-9887-C3B7-9FE0-F582FE38C67E}"/>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872316447"/>
              </p:ext>
            </p:extLst>
          </p:nvPr>
        </p:nvGraphicFramePr>
        <p:xfrm>
          <a:off x="285750" y="4419600"/>
          <a:ext cx="8128000" cy="685800"/>
        </p:xfrm>
        <a:graphic>
          <a:graphicData uri="http://schemas.openxmlformats.org/drawingml/2006/table">
            <a:tbl>
              <a:tblPr firstRow="1" bandRow="1">
                <a:tableStyleId>{616DA210-FB5B-4158-B5E0-FEB733F419BA}</a:tableStyleId>
              </a:tblPr>
              <a:tblGrid>
                <a:gridCol w="1625600">
                  <a:extLst>
                    <a:ext uri="{9D8B030D-6E8A-4147-A177-3AD203B41FA5}">
                      <a16:colId xmlns:a16="http://schemas.microsoft.com/office/drawing/2014/main" val="2775763418"/>
                    </a:ext>
                  </a:extLst>
                </a:gridCol>
                <a:gridCol w="1625600">
                  <a:extLst>
                    <a:ext uri="{9D8B030D-6E8A-4147-A177-3AD203B41FA5}">
                      <a16:colId xmlns:a16="http://schemas.microsoft.com/office/drawing/2014/main" val="2228326843"/>
                    </a:ext>
                  </a:extLst>
                </a:gridCol>
                <a:gridCol w="1625600">
                  <a:extLst>
                    <a:ext uri="{9D8B030D-6E8A-4147-A177-3AD203B41FA5}">
                      <a16:colId xmlns:a16="http://schemas.microsoft.com/office/drawing/2014/main" val="4240089350"/>
                    </a:ext>
                  </a:extLst>
                </a:gridCol>
                <a:gridCol w="1625600">
                  <a:extLst>
                    <a:ext uri="{9D8B030D-6E8A-4147-A177-3AD203B41FA5}">
                      <a16:colId xmlns:a16="http://schemas.microsoft.com/office/drawing/2014/main" val="1336928146"/>
                    </a:ext>
                  </a:extLst>
                </a:gridCol>
                <a:gridCol w="1625600">
                  <a:extLst>
                    <a:ext uri="{9D8B030D-6E8A-4147-A177-3AD203B41FA5}">
                      <a16:colId xmlns:a16="http://schemas.microsoft.com/office/drawing/2014/main" val="3654765577"/>
                    </a:ext>
                  </a:extLst>
                </a:gridCol>
              </a:tblGrid>
              <a:tr h="685800">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1223613"/>
                  </a:ext>
                </a:extLst>
              </a:tr>
            </a:tbl>
          </a:graphicData>
        </a:graphic>
      </p:graphicFrame>
      <p:graphicFrame>
        <p:nvGraphicFramePr>
          <p:cNvPr id="12" name="Group 18">
            <a:extLst>
              <a:ext uri="{FF2B5EF4-FFF2-40B4-BE49-F238E27FC236}">
                <a16:creationId xmlns:a16="http://schemas.microsoft.com/office/drawing/2014/main" id="{55F13790-3566-97A8-82F9-04CF7E5F1291}"/>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797997126"/>
              </p:ext>
            </p:extLst>
          </p:nvPr>
        </p:nvGraphicFramePr>
        <p:xfrm>
          <a:off x="285750" y="5471242"/>
          <a:ext cx="8128000" cy="838200"/>
        </p:xfrm>
        <a:graphic>
          <a:graphicData uri="http://schemas.openxmlformats.org/drawingml/2006/table">
            <a:tbl>
              <a:tblPr firstRow="1"/>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8382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first </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element</a:t>
                      </a:r>
                    </a:p>
                  </a:txBody>
                  <a:tcPr horzOverflow="overflow">
                    <a:lnL cap="flat">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a:ln>
                            <a:noFill/>
                          </a:ln>
                          <a:solidFill>
                            <a:schemeClr val="bg1"/>
                          </a:solidFill>
                          <a:effectLst/>
                          <a:latin typeface="Arial" charset="0"/>
                          <a:ea typeface="ヒラギノ角ゴ Pro W3" pitchFamily="-16" charset="-128"/>
                        </a:rPr>
                        <a:t>second element</a:t>
                      </a: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third </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element</a:t>
                      </a: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fourth element</a:t>
                      </a: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fifth </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ヒラギノ角ゴ Pro W3" pitchFamily="-16" charset="-128"/>
                        </a:rPr>
                        <a:t>element</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2" name="Picture 1" descr="A dog sitting at a computer">
            <a:extLst>
              <a:ext uri="{FF2B5EF4-FFF2-40B4-BE49-F238E27FC236}">
                <a16:creationId xmlns:a16="http://schemas.microsoft.com/office/drawing/2014/main" id="{C1E41054-04D7-4345-3D59-A8A442371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3904" y="4309274"/>
            <a:ext cx="3230446" cy="235822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
        <p:nvSpPr>
          <p:cNvPr id="14" name="Line 36">
            <a:extLst>
              <a:ext uri="{FF2B5EF4-FFF2-40B4-BE49-F238E27FC236}">
                <a16:creationId xmlns:a16="http://schemas.microsoft.com/office/drawing/2014/main" id="{C386AF41-C16B-61F1-B0F4-FD35CBB4CC01}"/>
              </a:ext>
              <a:ext uri="{C183D7F6-B498-43B3-948B-1728B52AA6E4}">
                <adec:decorative xmlns:adec="http://schemas.microsoft.com/office/drawing/2017/decorative" val="1"/>
              </a:ext>
            </a:extLst>
          </p:cNvPr>
          <p:cNvSpPr>
            <a:spLocks noChangeShapeType="1"/>
          </p:cNvSpPr>
          <p:nvPr/>
        </p:nvSpPr>
        <p:spPr bwMode="auto">
          <a:xfrm flipV="1">
            <a:off x="1066800" y="5031187"/>
            <a:ext cx="0" cy="457200"/>
          </a:xfrm>
          <a:prstGeom prst="line">
            <a:avLst/>
          </a:prstGeom>
          <a:ln>
            <a:headEnd/>
            <a:tailEnd type="triangle" w="med" len="me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a:lstStyle/>
          <a:p>
            <a:endParaRPr lang="en-US"/>
          </a:p>
        </p:txBody>
      </p:sp>
      <p:sp>
        <p:nvSpPr>
          <p:cNvPr id="15" name="Line 37">
            <a:extLst>
              <a:ext uri="{FF2B5EF4-FFF2-40B4-BE49-F238E27FC236}">
                <a16:creationId xmlns:a16="http://schemas.microsoft.com/office/drawing/2014/main" id="{65DB3492-8D95-CEF5-7376-445E35D59693}"/>
              </a:ext>
              <a:ext uri="{C183D7F6-B498-43B3-948B-1728B52AA6E4}">
                <adec:decorative xmlns:adec="http://schemas.microsoft.com/office/drawing/2017/decorative" val="1"/>
              </a:ext>
            </a:extLst>
          </p:cNvPr>
          <p:cNvSpPr>
            <a:spLocks noChangeShapeType="1"/>
          </p:cNvSpPr>
          <p:nvPr/>
        </p:nvSpPr>
        <p:spPr bwMode="auto">
          <a:xfrm flipH="1" flipV="1">
            <a:off x="2743200" y="5031187"/>
            <a:ext cx="0" cy="457200"/>
          </a:xfrm>
          <a:prstGeom prst="line">
            <a:avLst/>
          </a:prstGeom>
          <a:ln>
            <a:headEnd/>
            <a:tailEnd type="triangle" w="med" len="me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a:lstStyle/>
          <a:p>
            <a:endParaRPr lang="en-US"/>
          </a:p>
        </p:txBody>
      </p:sp>
      <p:sp>
        <p:nvSpPr>
          <p:cNvPr id="16" name="Line 38">
            <a:extLst>
              <a:ext uri="{FF2B5EF4-FFF2-40B4-BE49-F238E27FC236}">
                <a16:creationId xmlns:a16="http://schemas.microsoft.com/office/drawing/2014/main" id="{9FC80FFE-69ED-22BD-4B9F-BBD40300EE8D}"/>
              </a:ext>
              <a:ext uri="{C183D7F6-B498-43B3-948B-1728B52AA6E4}">
                <adec:decorative xmlns:adec="http://schemas.microsoft.com/office/drawing/2017/decorative" val="1"/>
              </a:ext>
            </a:extLst>
          </p:cNvPr>
          <p:cNvSpPr>
            <a:spLocks noChangeShapeType="1"/>
          </p:cNvSpPr>
          <p:nvPr/>
        </p:nvSpPr>
        <p:spPr bwMode="auto">
          <a:xfrm flipV="1">
            <a:off x="4317365" y="5031187"/>
            <a:ext cx="0" cy="457200"/>
          </a:xfrm>
          <a:prstGeom prst="line">
            <a:avLst/>
          </a:prstGeom>
          <a:ln>
            <a:headEnd/>
            <a:tailEnd type="triangle" w="med" len="me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a:lstStyle/>
          <a:p>
            <a:endParaRPr lang="en-US"/>
          </a:p>
        </p:txBody>
      </p:sp>
      <p:sp>
        <p:nvSpPr>
          <p:cNvPr id="17" name="Line 39">
            <a:extLst>
              <a:ext uri="{FF2B5EF4-FFF2-40B4-BE49-F238E27FC236}">
                <a16:creationId xmlns:a16="http://schemas.microsoft.com/office/drawing/2014/main" id="{61E0FE54-DEEB-F314-F7AF-9A5FF270BCDE}"/>
              </a:ext>
              <a:ext uri="{C183D7F6-B498-43B3-948B-1728B52AA6E4}">
                <adec:decorative xmlns:adec="http://schemas.microsoft.com/office/drawing/2017/decorative" val="1"/>
              </a:ext>
            </a:extLst>
          </p:cNvPr>
          <p:cNvSpPr>
            <a:spLocks noChangeShapeType="1"/>
          </p:cNvSpPr>
          <p:nvPr/>
        </p:nvSpPr>
        <p:spPr bwMode="auto">
          <a:xfrm flipV="1">
            <a:off x="7620000" y="5031187"/>
            <a:ext cx="0" cy="457200"/>
          </a:xfrm>
          <a:prstGeom prst="line">
            <a:avLst/>
          </a:prstGeom>
          <a:ln>
            <a:headEnd/>
            <a:tailEnd type="triangle" w="med" len="me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a:lstStyle/>
          <a:p>
            <a:endParaRPr lang="en-US"/>
          </a:p>
        </p:txBody>
      </p:sp>
      <p:sp>
        <p:nvSpPr>
          <p:cNvPr id="18" name="Line 40">
            <a:extLst>
              <a:ext uri="{FF2B5EF4-FFF2-40B4-BE49-F238E27FC236}">
                <a16:creationId xmlns:a16="http://schemas.microsoft.com/office/drawing/2014/main" id="{CBBB5D20-E985-50F0-8710-A36E299E0B69}"/>
              </a:ext>
              <a:ext uri="{C183D7F6-B498-43B3-948B-1728B52AA6E4}">
                <adec:decorative xmlns:adec="http://schemas.microsoft.com/office/drawing/2017/decorative" val="1"/>
              </a:ext>
            </a:extLst>
          </p:cNvPr>
          <p:cNvSpPr>
            <a:spLocks noChangeShapeType="1"/>
          </p:cNvSpPr>
          <p:nvPr/>
        </p:nvSpPr>
        <p:spPr bwMode="auto">
          <a:xfrm flipV="1">
            <a:off x="5943600" y="5031187"/>
            <a:ext cx="0" cy="457200"/>
          </a:xfrm>
          <a:prstGeom prst="line">
            <a:avLst/>
          </a:prstGeom>
          <a:ln>
            <a:headEnd/>
            <a:tailEnd type="triangle" w="med" len="me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a:lstStyle/>
          <a:p>
            <a:endParaRPr lang="en-US"/>
          </a:p>
        </p:txBody>
      </p:sp>
    </p:spTree>
    <p:extLst>
      <p:ext uri="{BB962C8B-B14F-4D97-AF65-F5344CB8AC3E}">
        <p14:creationId xmlns:p14="http://schemas.microsoft.com/office/powerpoint/2010/main" val="2889623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223345" y="170136"/>
            <a:ext cx="117348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Terminology: Size Declarator</a:t>
            </a:r>
            <a:endParaRPr b="1" dirty="0">
              <a:solidFill>
                <a:srgbClr val="4F2984"/>
              </a:solidFill>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47C45A67-E97A-432B-9380-7AAF08B85C07}"/>
              </a:ext>
            </a:extLst>
          </p:cNvPr>
          <p:cNvSpPr>
            <a:spLocks noGrp="1"/>
          </p:cNvSpPr>
          <p:nvPr>
            <p:ph idx="1"/>
          </p:nvPr>
        </p:nvSpPr>
        <p:spPr>
          <a:xfrm>
            <a:off x="248964" y="1447800"/>
            <a:ext cx="11734800" cy="4267200"/>
          </a:xfrm>
        </p:spPr>
        <p:txBody>
          <a:bodyPr>
            <a:normAutofit/>
          </a:bodyPr>
          <a:lstStyle/>
          <a:p>
            <a:pPr marL="0" indent="0" algn="ctr">
              <a:buNone/>
            </a:pPr>
            <a:r>
              <a:rPr lang="en-US" sz="5400" b="1" dirty="0">
                <a:solidFill>
                  <a:srgbClr val="0070C0"/>
                </a:solidFill>
                <a:latin typeface="Courier New" panose="02070309020205020404" pitchFamily="49" charset="0"/>
                <a:cs typeface="Courier New" panose="02070309020205020404" pitchFamily="49" charset="0"/>
              </a:rPr>
              <a:t>int</a:t>
            </a:r>
            <a:r>
              <a:rPr lang="en-US" sz="5400" dirty="0">
                <a:solidFill>
                  <a:schemeClr val="bg1"/>
                </a:solidFill>
              </a:rPr>
              <a:t> </a:t>
            </a:r>
            <a:r>
              <a:rPr lang="en-US" sz="5400" b="1" dirty="0">
                <a:solidFill>
                  <a:schemeClr val="bg1"/>
                </a:solidFill>
                <a:latin typeface="Courier New" panose="02070309020205020404" pitchFamily="49" charset="0"/>
                <a:cs typeface="Courier New" panose="02070309020205020404" pitchFamily="49" charset="0"/>
              </a:rPr>
              <a:t>tests[</a:t>
            </a:r>
            <a:r>
              <a:rPr lang="en-US" sz="5400" b="1" dirty="0">
                <a:solidFill>
                  <a:schemeClr val="accent6"/>
                </a:solidFill>
                <a:latin typeface="Courier New" panose="02070309020205020404" pitchFamily="49" charset="0"/>
                <a:cs typeface="Courier New" panose="02070309020205020404" pitchFamily="49" charset="0"/>
              </a:rPr>
              <a:t>5</a:t>
            </a:r>
            <a:r>
              <a:rPr lang="en-US" sz="5400" b="1" dirty="0">
                <a:solidFill>
                  <a:schemeClr val="bg1"/>
                </a:solidFill>
                <a:latin typeface="Courier New" panose="02070309020205020404" pitchFamily="49" charset="0"/>
                <a:cs typeface="Courier New" panose="02070309020205020404" pitchFamily="49" charset="0"/>
              </a:rPr>
              <a:t>];</a:t>
            </a:r>
          </a:p>
          <a:p>
            <a:r>
              <a:rPr lang="en-US" sz="2800" b="1" dirty="0">
                <a:solidFill>
                  <a:srgbClr val="0070C0"/>
                </a:solidFill>
                <a:latin typeface="Courier New" panose="02070309020205020404" pitchFamily="49" charset="0"/>
                <a:cs typeface="Courier New" panose="02070309020205020404" pitchFamily="49" charset="0"/>
              </a:rPr>
              <a:t>int</a:t>
            </a:r>
            <a:r>
              <a:rPr lang="en-US" sz="2800" dirty="0">
                <a:solidFill>
                  <a:schemeClr val="bg1"/>
                </a:solidFill>
              </a:rPr>
              <a:t> is the data type of all the array elements.</a:t>
            </a:r>
          </a:p>
          <a:p>
            <a:r>
              <a:rPr lang="en-US" sz="2800" b="1" dirty="0">
                <a:solidFill>
                  <a:schemeClr val="bg1"/>
                </a:solidFill>
                <a:latin typeface="Courier New" panose="02070309020205020404" pitchFamily="49" charset="0"/>
                <a:cs typeface="Courier New" panose="02070309020205020404" pitchFamily="49" charset="0"/>
              </a:rPr>
              <a:t>tests</a:t>
            </a:r>
            <a:r>
              <a:rPr lang="en-US" sz="2800" dirty="0">
                <a:solidFill>
                  <a:schemeClr val="bg1"/>
                </a:solidFill>
              </a:rPr>
              <a:t> is the name of the array</a:t>
            </a:r>
          </a:p>
          <a:p>
            <a:r>
              <a:rPr lang="en-US" sz="2800" b="1" dirty="0">
                <a:solidFill>
                  <a:schemeClr val="bg1"/>
                </a:solidFill>
                <a:latin typeface="Courier New" panose="02070309020205020404" pitchFamily="49" charset="0"/>
                <a:cs typeface="Courier New" panose="02070309020205020404" pitchFamily="49" charset="0"/>
              </a:rPr>
              <a:t>[]</a:t>
            </a:r>
            <a:r>
              <a:rPr lang="en-US" sz="2800" dirty="0">
                <a:solidFill>
                  <a:schemeClr val="bg1"/>
                </a:solidFill>
              </a:rPr>
              <a:t> are square brackets (not curly braces or parenthesis)</a:t>
            </a:r>
          </a:p>
          <a:p>
            <a:r>
              <a:rPr lang="en-US" sz="2800" b="1" dirty="0">
                <a:solidFill>
                  <a:schemeClr val="accent6"/>
                </a:solidFill>
                <a:latin typeface="Courier New" panose="02070309020205020404" pitchFamily="49" charset="0"/>
                <a:cs typeface="Courier New" panose="02070309020205020404" pitchFamily="49" charset="0"/>
              </a:rPr>
              <a:t>5</a:t>
            </a:r>
            <a:r>
              <a:rPr lang="en-US" sz="2800" dirty="0">
                <a:solidFill>
                  <a:schemeClr val="bg1"/>
                </a:solidFill>
              </a:rPr>
              <a:t>, in </a:t>
            </a:r>
            <a:r>
              <a:rPr lang="en-US" sz="2800" b="1" dirty="0">
                <a:solidFill>
                  <a:schemeClr val="bg1"/>
                </a:solidFill>
                <a:latin typeface="Courier New" panose="02070309020205020404" pitchFamily="49" charset="0"/>
                <a:cs typeface="Courier New" panose="02070309020205020404" pitchFamily="49" charset="0"/>
              </a:rPr>
              <a:t>[</a:t>
            </a:r>
            <a:r>
              <a:rPr lang="en-US" sz="2800" b="1" dirty="0">
                <a:solidFill>
                  <a:schemeClr val="accent6"/>
                </a:solidFill>
                <a:latin typeface="Courier New" panose="02070309020205020404" pitchFamily="49" charset="0"/>
                <a:cs typeface="Courier New" panose="02070309020205020404" pitchFamily="49" charset="0"/>
              </a:rPr>
              <a:t>5</a:t>
            </a:r>
            <a:r>
              <a:rPr lang="en-US" sz="2800" b="1" dirty="0">
                <a:solidFill>
                  <a:schemeClr val="bg1"/>
                </a:solidFill>
                <a:latin typeface="Courier New" panose="02070309020205020404" pitchFamily="49" charset="0"/>
                <a:cs typeface="Courier New" panose="02070309020205020404" pitchFamily="49" charset="0"/>
              </a:rPr>
              <a:t>]</a:t>
            </a:r>
            <a:r>
              <a:rPr lang="en-US" sz="2800" dirty="0">
                <a:solidFill>
                  <a:schemeClr val="bg1"/>
                </a:solidFill>
              </a:rPr>
              <a:t>, is the </a:t>
            </a:r>
            <a:r>
              <a:rPr lang="en-US" sz="2800" b="1" dirty="0">
                <a:solidFill>
                  <a:schemeClr val="bg1"/>
                </a:solidFill>
                <a:highlight>
                  <a:srgbClr val="FFFF00"/>
                </a:highlight>
              </a:rPr>
              <a:t>size declarator</a:t>
            </a:r>
            <a:r>
              <a:rPr lang="en-US" sz="2800" dirty="0">
                <a:solidFill>
                  <a:schemeClr val="bg1"/>
                </a:solidFill>
              </a:rPr>
              <a:t>. It determines the number of elements in the array. </a:t>
            </a:r>
          </a:p>
        </p:txBody>
      </p:sp>
    </p:spTree>
    <p:extLst>
      <p:ext uri="{BB962C8B-B14F-4D97-AF65-F5344CB8AC3E}">
        <p14:creationId xmlns:p14="http://schemas.microsoft.com/office/powerpoint/2010/main" val="249842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Size of Array in Memory</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a:lnSpc>
                <a:spcPct val="90000"/>
              </a:lnSpc>
            </a:pPr>
            <a:r>
              <a:rPr lang="en-US" altLang="en-US" sz="3200" dirty="0">
                <a:solidFill>
                  <a:schemeClr val="bg1"/>
                </a:solidFill>
              </a:rPr>
              <a:t>The </a:t>
            </a:r>
            <a:r>
              <a:rPr lang="en-US" altLang="en-US" sz="3200" b="1" dirty="0">
                <a:solidFill>
                  <a:schemeClr val="bg1"/>
                </a:solidFill>
                <a:highlight>
                  <a:srgbClr val="FFFF00"/>
                </a:highlight>
              </a:rPr>
              <a:t>size</a:t>
            </a:r>
            <a:r>
              <a:rPr lang="en-US" altLang="en-US" sz="3200" dirty="0">
                <a:solidFill>
                  <a:schemeClr val="bg1"/>
                </a:solidFill>
              </a:rPr>
              <a:t> of an array is:</a:t>
            </a:r>
          </a:p>
          <a:p>
            <a:pPr marL="914400" lvl="1" indent="-457200">
              <a:lnSpc>
                <a:spcPct val="90000"/>
              </a:lnSpc>
              <a:buFont typeface="Wingdings" panose="05000000000000000000" pitchFamily="2" charset="2"/>
              <a:buChar char="§"/>
            </a:pPr>
            <a:r>
              <a:rPr lang="en-US" altLang="en-US" sz="2800" dirty="0">
                <a:solidFill>
                  <a:schemeClr val="bg1"/>
                </a:solidFill>
              </a:rPr>
              <a:t>the total number of bytes allocated for it</a:t>
            </a:r>
          </a:p>
          <a:p>
            <a:pPr marL="914400" lvl="1" indent="-457200">
              <a:lnSpc>
                <a:spcPct val="90000"/>
              </a:lnSpc>
              <a:buFont typeface="Wingdings" panose="05000000000000000000" pitchFamily="2" charset="2"/>
              <a:buChar char="§"/>
            </a:pPr>
            <a:r>
              <a:rPr lang="en-US" altLang="en-US" sz="2800" dirty="0">
                <a:solidFill>
                  <a:schemeClr val="bg1"/>
                </a:solidFill>
              </a:rPr>
              <a:t>(number of elements) * (number of bytes for each element)</a:t>
            </a:r>
            <a:br>
              <a:rPr lang="en-US" altLang="en-US" sz="3200" dirty="0">
                <a:solidFill>
                  <a:schemeClr val="bg1"/>
                </a:solidFill>
              </a:rPr>
            </a:br>
            <a:endParaRPr lang="en-US" altLang="en-US" sz="3200" dirty="0">
              <a:solidFill>
                <a:schemeClr val="bg1"/>
              </a:solidFill>
            </a:endParaRPr>
          </a:p>
          <a:p>
            <a:pPr>
              <a:lnSpc>
                <a:spcPct val="90000"/>
              </a:lnSpc>
            </a:pPr>
            <a:r>
              <a:rPr lang="en-US" altLang="en-US" sz="3200" dirty="0">
                <a:solidFill>
                  <a:schemeClr val="bg1"/>
                </a:solidFill>
              </a:rPr>
              <a:t>Example:</a:t>
            </a:r>
          </a:p>
          <a:p>
            <a:pPr lvl="1" algn="ctr">
              <a:lnSpc>
                <a:spcPct val="90000"/>
              </a:lnSpc>
              <a:buFontTx/>
              <a:buNone/>
            </a:pP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 tests[</a:t>
            </a:r>
            <a:r>
              <a:rPr lang="en-US" altLang="en-US" sz="2800" b="1" dirty="0">
                <a:solidFill>
                  <a:schemeClr val="accent6"/>
                </a:solidFill>
                <a:latin typeface="Courier New" panose="02070309020205020404" pitchFamily="49" charset="0"/>
                <a:cs typeface="Courier New" panose="02070309020205020404" pitchFamily="49" charset="0"/>
              </a:rPr>
              <a:t>5</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chemeClr val="bg1"/>
                </a:solidFill>
                <a:cs typeface="Courier New" panose="02070309020205020404" pitchFamily="49" charset="0"/>
              </a:rPr>
              <a:t> </a:t>
            </a:r>
            <a:r>
              <a:rPr lang="en-US" altLang="en-US" sz="2800" dirty="0">
                <a:solidFill>
                  <a:schemeClr val="bg1"/>
                </a:solidFill>
              </a:rPr>
              <a:t>is an array of 20 bytes, </a:t>
            </a:r>
          </a:p>
          <a:p>
            <a:pPr lvl="1" algn="ctr">
              <a:lnSpc>
                <a:spcPct val="90000"/>
              </a:lnSpc>
              <a:buFontTx/>
              <a:buNone/>
            </a:pPr>
            <a:r>
              <a:rPr lang="en-US" altLang="en-US" sz="2800" dirty="0">
                <a:solidFill>
                  <a:schemeClr val="bg1"/>
                </a:solidFill>
              </a:rPr>
              <a:t>assuming 4 bytes for an </a:t>
            </a:r>
            <a:r>
              <a:rPr lang="en-US" altLang="en-US" sz="2800" b="1" dirty="0">
                <a:solidFill>
                  <a:srgbClr val="0070C0"/>
                </a:solidFill>
                <a:latin typeface="Courier New" panose="02070309020205020404" pitchFamily="49" charset="0"/>
              </a:rPr>
              <a:t>int</a:t>
            </a:r>
          </a:p>
        </p:txBody>
      </p:sp>
    </p:spTree>
    <p:extLst>
      <p:ext uri="{BB962C8B-B14F-4D97-AF65-F5344CB8AC3E}">
        <p14:creationId xmlns:p14="http://schemas.microsoft.com/office/powerpoint/2010/main" val="2727543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Named Constants as Size Declarators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Named constants are commonly used as size declarators.</a:t>
            </a:r>
            <a:br>
              <a:rPr lang="en-US" altLang="en-US" sz="2800" dirty="0">
                <a:solidFill>
                  <a:schemeClr val="bg1"/>
                </a:solidFill>
              </a:rPr>
            </a:br>
            <a:br>
              <a:rPr lang="en-US" altLang="en-US" sz="2800" dirty="0">
                <a:solidFill>
                  <a:schemeClr val="bg1"/>
                </a:solidFill>
              </a:rPr>
            </a:br>
            <a:r>
              <a:rPr lang="en-US" altLang="en-US" sz="2800" b="1" dirty="0">
                <a:solidFill>
                  <a:srgbClr val="0070C0"/>
                </a:solidFill>
                <a:latin typeface="Courier New" panose="02070309020205020404" pitchFamily="49" charset="0"/>
                <a:cs typeface="Courier New" panose="02070309020205020404" pitchFamily="49" charset="0"/>
              </a:rPr>
              <a:t>const</a:t>
            </a:r>
            <a:r>
              <a:rPr lang="en-US" altLang="en-US" sz="2800" b="1" dirty="0">
                <a:solidFill>
                  <a:schemeClr val="bg1"/>
                </a:solidFill>
                <a:latin typeface="Courier New" panose="02070309020205020404" pitchFamily="49" charset="0"/>
                <a:cs typeface="Courier New" panose="02070309020205020404" pitchFamily="49" charset="0"/>
              </a:rPr>
              <a:t> </a:t>
            </a: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 SIZE = </a:t>
            </a:r>
            <a:r>
              <a:rPr lang="en-US" altLang="en-US" sz="2800" b="1" dirty="0">
                <a:solidFill>
                  <a:schemeClr val="accent6"/>
                </a:solidFill>
                <a:latin typeface="Courier New" panose="02070309020205020404" pitchFamily="49" charset="0"/>
                <a:cs typeface="Courier New" panose="02070309020205020404" pitchFamily="49" charset="0"/>
              </a:rPr>
              <a:t>5</a:t>
            </a: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 tests[SIZE];</a:t>
            </a:r>
            <a:br>
              <a:rPr lang="en-US" altLang="en-US" sz="2800" b="1" dirty="0">
                <a:solidFill>
                  <a:schemeClr val="bg1"/>
                </a:solidFill>
                <a:latin typeface="Courier New" panose="02070309020205020404" pitchFamily="49" charset="0"/>
                <a:cs typeface="Courier New" panose="02070309020205020404" pitchFamily="49" charset="0"/>
              </a:rPr>
            </a:br>
            <a:endParaRPr lang="en-US" altLang="en-US" sz="2800" b="1" dirty="0">
              <a:solidFill>
                <a:schemeClr val="bg1"/>
              </a:solidFill>
              <a:latin typeface="Courier New" panose="02070309020205020404" pitchFamily="49" charset="0"/>
              <a:cs typeface="Courier New" panose="02070309020205020404" pitchFamily="49" charset="0"/>
            </a:endParaRPr>
          </a:p>
          <a:p>
            <a:r>
              <a:rPr lang="en-US" altLang="en-US" sz="2800" dirty="0">
                <a:solidFill>
                  <a:schemeClr val="bg1"/>
                </a:solidFill>
              </a:rPr>
              <a:t>This eases program maintenance when the size of the array needs to be changed because it will only need to be changed in one place.</a:t>
            </a:r>
          </a:p>
        </p:txBody>
      </p:sp>
    </p:spTree>
    <p:extLst>
      <p:ext uri="{BB962C8B-B14F-4D97-AF65-F5344CB8AC3E}">
        <p14:creationId xmlns:p14="http://schemas.microsoft.com/office/powerpoint/2010/main" val="4123870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Accessing Array Elements with an Index</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60375" indent="-460375">
              <a:buFont typeface="Wingdings" panose="05000000000000000000" pitchFamily="2" charset="2"/>
              <a:buChar char="§"/>
            </a:pPr>
            <a:r>
              <a:rPr lang="en-US" altLang="en-US" sz="2800" dirty="0">
                <a:solidFill>
                  <a:schemeClr val="bg1"/>
                </a:solidFill>
              </a:rPr>
              <a:t>Each element in an array is assigned a unique </a:t>
            </a:r>
            <a:r>
              <a:rPr lang="en-US" altLang="en-US" sz="2800" b="1" dirty="0">
                <a:solidFill>
                  <a:schemeClr val="bg1"/>
                </a:solidFill>
                <a:highlight>
                  <a:srgbClr val="FFFF00"/>
                </a:highlight>
              </a:rPr>
              <a:t>index</a:t>
            </a:r>
            <a:r>
              <a:rPr lang="en-US" altLang="en-US" sz="2800" dirty="0">
                <a:solidFill>
                  <a:schemeClr val="bg1"/>
                </a:solidFill>
              </a:rPr>
              <a:t>.</a:t>
            </a:r>
          </a:p>
          <a:p>
            <a:pPr marL="460375" indent="-460375">
              <a:buFont typeface="Wingdings" panose="05000000000000000000" pitchFamily="2" charset="2"/>
              <a:buChar char="§"/>
            </a:pPr>
            <a:r>
              <a:rPr lang="en-US" altLang="en-US" sz="2800" dirty="0">
                <a:solidFill>
                  <a:schemeClr val="bg1"/>
                </a:solidFill>
              </a:rPr>
              <a:t>Index numbers start at </a:t>
            </a:r>
            <a:r>
              <a:rPr lang="en-US" altLang="en-US" sz="2800" b="1" dirty="0">
                <a:solidFill>
                  <a:schemeClr val="bg1"/>
                </a:solidFill>
                <a:highlight>
                  <a:srgbClr val="FFFF00"/>
                </a:highlight>
                <a:latin typeface="Courier New" panose="02070309020205020404" pitchFamily="49" charset="0"/>
                <a:cs typeface="Courier New" panose="02070309020205020404" pitchFamily="49" charset="0"/>
              </a:rPr>
              <a:t>0</a:t>
            </a:r>
          </a:p>
          <a:p>
            <a:pPr marL="460375" indent="-460375">
              <a:buFont typeface="Wingdings" panose="05000000000000000000" pitchFamily="2" charset="2"/>
              <a:buChar char="§"/>
            </a:pPr>
            <a:r>
              <a:rPr lang="en-US" altLang="en-US" sz="2800" dirty="0">
                <a:solidFill>
                  <a:schemeClr val="bg1"/>
                </a:solidFill>
              </a:rPr>
              <a:t>The last element’s index is </a:t>
            </a:r>
            <a:r>
              <a:rPr lang="en-US" altLang="en-US" sz="2800" b="1" dirty="0">
                <a:solidFill>
                  <a:schemeClr val="bg1"/>
                </a:solidFill>
                <a:latin typeface="Courier New" panose="02070309020205020404" pitchFamily="49" charset="0"/>
                <a:cs typeface="Courier New" panose="02070309020205020404" pitchFamily="49" charset="0"/>
              </a:rPr>
              <a:t>n-1</a:t>
            </a:r>
            <a:r>
              <a:rPr lang="en-US" altLang="en-US" sz="2800" dirty="0">
                <a:solidFill>
                  <a:schemeClr val="bg1"/>
                </a:solidFill>
              </a:rPr>
              <a:t> where </a:t>
            </a:r>
            <a:r>
              <a:rPr lang="en-US" altLang="en-US" sz="2800" b="1" dirty="0">
                <a:solidFill>
                  <a:schemeClr val="bg1"/>
                </a:solidFill>
                <a:latin typeface="Courier New" panose="02070309020205020404" pitchFamily="49" charset="0"/>
                <a:cs typeface="Courier New" panose="02070309020205020404" pitchFamily="49" charset="0"/>
              </a:rPr>
              <a:t>n</a:t>
            </a:r>
            <a:r>
              <a:rPr lang="en-US" altLang="en-US" sz="2800" dirty="0">
                <a:solidFill>
                  <a:schemeClr val="bg1"/>
                </a:solidFill>
              </a:rPr>
              <a:t> is the number of elements in the array.</a:t>
            </a:r>
          </a:p>
          <a:p>
            <a:pPr marL="460375" indent="-460375">
              <a:buFont typeface="Wingdings" panose="05000000000000000000" pitchFamily="2" charset="2"/>
              <a:buChar char="§"/>
            </a:pPr>
            <a:endParaRPr lang="en-US" altLang="en-US" sz="2800" dirty="0">
              <a:solidFill>
                <a:schemeClr val="bg1"/>
              </a:solidFill>
            </a:endParaRPr>
          </a:p>
          <a:p>
            <a:pPr marL="0" indent="0">
              <a:buNone/>
            </a:pPr>
            <a:endParaRPr lang="en-US" altLang="en-US" sz="2800" dirty="0">
              <a:solidFill>
                <a:schemeClr val="bg1"/>
              </a:solidFill>
            </a:endParaRPr>
          </a:p>
          <a:p>
            <a:endParaRPr lang="en-US" altLang="en-US" sz="2800" dirty="0">
              <a:solidFill>
                <a:schemeClr val="bg1"/>
              </a:solidFill>
            </a:endParaRPr>
          </a:p>
        </p:txBody>
      </p:sp>
      <p:graphicFrame>
        <p:nvGraphicFramePr>
          <p:cNvPr id="2" name="Table 1">
            <a:extLst>
              <a:ext uri="{FF2B5EF4-FFF2-40B4-BE49-F238E27FC236}">
                <a16:creationId xmlns:a16="http://schemas.microsoft.com/office/drawing/2014/main" id="{0573920D-A8D6-1694-C3C2-DB03505C717A}"/>
              </a:ext>
            </a:extLst>
          </p:cNvPr>
          <p:cNvGraphicFramePr>
            <a:graphicFrameLocks noGrp="1"/>
          </p:cNvGraphicFramePr>
          <p:nvPr>
            <p:extLst>
              <p:ext uri="{D42A27DB-BD31-4B8C-83A1-F6EECF244321}">
                <p14:modId xmlns:p14="http://schemas.microsoft.com/office/powerpoint/2010/main" val="2171375851"/>
              </p:ext>
            </p:extLst>
          </p:nvPr>
        </p:nvGraphicFramePr>
        <p:xfrm>
          <a:off x="2032000" y="5240655"/>
          <a:ext cx="8128000" cy="6858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775763418"/>
                    </a:ext>
                  </a:extLst>
                </a:gridCol>
                <a:gridCol w="1625600">
                  <a:extLst>
                    <a:ext uri="{9D8B030D-6E8A-4147-A177-3AD203B41FA5}">
                      <a16:colId xmlns:a16="http://schemas.microsoft.com/office/drawing/2014/main" val="2228326843"/>
                    </a:ext>
                  </a:extLst>
                </a:gridCol>
                <a:gridCol w="1625600">
                  <a:extLst>
                    <a:ext uri="{9D8B030D-6E8A-4147-A177-3AD203B41FA5}">
                      <a16:colId xmlns:a16="http://schemas.microsoft.com/office/drawing/2014/main" val="4240089350"/>
                    </a:ext>
                  </a:extLst>
                </a:gridCol>
                <a:gridCol w="1625600">
                  <a:extLst>
                    <a:ext uri="{9D8B030D-6E8A-4147-A177-3AD203B41FA5}">
                      <a16:colId xmlns:a16="http://schemas.microsoft.com/office/drawing/2014/main" val="1336928146"/>
                    </a:ext>
                  </a:extLst>
                </a:gridCol>
                <a:gridCol w="1625600">
                  <a:extLst>
                    <a:ext uri="{9D8B030D-6E8A-4147-A177-3AD203B41FA5}">
                      <a16:colId xmlns:a16="http://schemas.microsoft.com/office/drawing/2014/main" val="3654765577"/>
                    </a:ext>
                  </a:extLst>
                </a:gridCol>
              </a:tblGrid>
              <a:tr h="685800">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endParaRPr lang="en-US" b="1" cap="none" spc="50" dirty="0">
                        <a:ln w="0">
                          <a:solidFill>
                            <a:schemeClr val="bg1"/>
                          </a:solidFill>
                        </a:ln>
                        <a:solidFill>
                          <a:schemeClr val="bg1"/>
                        </a:solidFill>
                        <a:effectLst>
                          <a:innerShdw blurRad="63500" dist="50800" dir="13500000">
                            <a:srgbClr val="000000">
                              <a:alpha val="50000"/>
                            </a:srgbClr>
                          </a:innerShdw>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1223613"/>
                  </a:ext>
                </a:extLst>
              </a:tr>
            </a:tbl>
          </a:graphicData>
        </a:graphic>
      </p:graphicFrame>
      <p:sp>
        <p:nvSpPr>
          <p:cNvPr id="3" name="TextBox 2">
            <a:extLst>
              <a:ext uri="{FF2B5EF4-FFF2-40B4-BE49-F238E27FC236}">
                <a16:creationId xmlns:a16="http://schemas.microsoft.com/office/drawing/2014/main" id="{06B267F0-5DD5-6640-169D-9D1784D42C69}"/>
              </a:ext>
            </a:extLst>
          </p:cNvPr>
          <p:cNvSpPr txBox="1"/>
          <p:nvPr/>
        </p:nvSpPr>
        <p:spPr>
          <a:xfrm>
            <a:off x="685800" y="4717435"/>
            <a:ext cx="9398000" cy="523220"/>
          </a:xfrm>
          <a:prstGeom prst="rect">
            <a:avLst/>
          </a:prstGeom>
          <a:noFill/>
        </p:spPr>
        <p:txBody>
          <a:bodyPr wrap="square" rtlCol="0">
            <a:spAutoFit/>
          </a:bodyPr>
          <a:lstStyle/>
          <a:p>
            <a:r>
              <a:rPr lang="en-US" sz="2800" b="1" dirty="0">
                <a:solidFill>
                  <a:schemeClr val="bg1"/>
                </a:solidFill>
              </a:rPr>
              <a:t>Index:             0                   1                   2                  3                   4</a:t>
            </a:r>
            <a:r>
              <a:rPr lang="en-US" sz="2800" dirty="0">
                <a:solidFill>
                  <a:schemeClr val="bg1"/>
                </a:solidFill>
              </a:rPr>
              <a:t>	</a:t>
            </a:r>
          </a:p>
        </p:txBody>
      </p:sp>
    </p:spTree>
    <p:extLst>
      <p:ext uri="{BB962C8B-B14F-4D97-AF65-F5344CB8AC3E}">
        <p14:creationId xmlns:p14="http://schemas.microsoft.com/office/powerpoint/2010/main" val="1825783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Accessing Array Elements with Index Value</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Array elements can be used as regular variables:  </a:t>
            </a:r>
          </a:p>
          <a:p>
            <a:pPr lvl="1">
              <a:buFontTx/>
              <a:buNone/>
            </a:pPr>
            <a:r>
              <a:rPr lang="en-US" altLang="en-US" sz="2800" b="1" dirty="0">
                <a:solidFill>
                  <a:schemeClr val="bg1"/>
                </a:solidFill>
                <a:latin typeface="Courier New" panose="02070309020205020404" pitchFamily="49" charset="0"/>
              </a:rPr>
              <a:t>	tests[</a:t>
            </a:r>
            <a:r>
              <a:rPr lang="en-US" altLang="en-US" sz="2800" b="1" dirty="0">
                <a:solidFill>
                  <a:schemeClr val="accent6"/>
                </a:solidFill>
                <a:latin typeface="Courier New" panose="02070309020205020404" pitchFamily="49" charset="0"/>
              </a:rPr>
              <a:t>0</a:t>
            </a:r>
            <a:r>
              <a:rPr lang="en-US" altLang="en-US" sz="2800" b="1" dirty="0">
                <a:solidFill>
                  <a:schemeClr val="bg1"/>
                </a:solidFill>
                <a:latin typeface="Courier New" panose="02070309020205020404" pitchFamily="49" charset="0"/>
              </a:rPr>
              <a:t>] = </a:t>
            </a:r>
            <a:r>
              <a:rPr lang="en-US" altLang="en-US" sz="2800" b="1" dirty="0">
                <a:solidFill>
                  <a:schemeClr val="accent6"/>
                </a:solidFill>
                <a:latin typeface="Courier New" panose="02070309020205020404" pitchFamily="49" charset="0"/>
              </a:rPr>
              <a:t>79</a:t>
            </a:r>
            <a:r>
              <a:rPr lang="en-US" altLang="en-US" sz="2800" b="1" dirty="0">
                <a:solidFill>
                  <a:schemeClr val="bg1"/>
                </a:solidFill>
                <a:latin typeface="Courier New" panose="02070309020205020404" pitchFamily="49" charset="0"/>
              </a:rPr>
              <a:t>;</a:t>
            </a:r>
          </a:p>
          <a:p>
            <a:pPr lvl="1">
              <a:buFontTx/>
              <a:buNone/>
            </a:pPr>
            <a:r>
              <a:rPr lang="en-US" altLang="en-US" sz="2800" b="1" dirty="0">
                <a:solidFill>
                  <a:schemeClr val="bg1"/>
                </a:solidFill>
                <a:latin typeface="Courier New" panose="02070309020205020404" pitchFamily="49" charset="0"/>
              </a:rPr>
              <a:t>	cout </a:t>
            </a:r>
            <a:r>
              <a:rPr lang="en-US" altLang="en-US" sz="2800" b="1" dirty="0">
                <a:solidFill>
                  <a:srgbClr val="003399"/>
                </a:solidFill>
                <a:latin typeface="Courier New" panose="02070309020205020404" pitchFamily="49" charset="0"/>
              </a:rPr>
              <a:t>&lt;&lt;</a:t>
            </a:r>
            <a:r>
              <a:rPr lang="en-US" altLang="en-US" sz="2800" b="1" dirty="0">
                <a:solidFill>
                  <a:schemeClr val="bg1"/>
                </a:solidFill>
                <a:latin typeface="Courier New" panose="02070309020205020404" pitchFamily="49" charset="0"/>
              </a:rPr>
              <a:t> tests[</a:t>
            </a:r>
            <a:r>
              <a:rPr lang="en-US" altLang="en-US" sz="2800" b="1" dirty="0">
                <a:solidFill>
                  <a:schemeClr val="accent6"/>
                </a:solidFill>
                <a:latin typeface="Courier New" panose="02070309020205020404" pitchFamily="49" charset="0"/>
              </a:rPr>
              <a:t>0</a:t>
            </a:r>
            <a:r>
              <a:rPr lang="en-US" altLang="en-US" sz="2800" b="1" dirty="0">
                <a:solidFill>
                  <a:schemeClr val="bg1"/>
                </a:solidFill>
                <a:latin typeface="Courier New" panose="02070309020205020404" pitchFamily="49" charset="0"/>
              </a:rPr>
              <a:t>];</a:t>
            </a:r>
          </a:p>
          <a:p>
            <a:pPr lvl="1">
              <a:buFontTx/>
              <a:buNone/>
            </a:pPr>
            <a:r>
              <a:rPr lang="en-US" altLang="en-US" sz="2800" b="1" dirty="0">
                <a:solidFill>
                  <a:schemeClr val="bg1"/>
                </a:solidFill>
                <a:latin typeface="Courier New" panose="02070309020205020404" pitchFamily="49" charset="0"/>
              </a:rPr>
              <a:t>	cin </a:t>
            </a:r>
            <a:r>
              <a:rPr lang="en-US" altLang="en-US" sz="2800" b="1" dirty="0">
                <a:solidFill>
                  <a:srgbClr val="003399"/>
                </a:solidFill>
                <a:latin typeface="Courier New" panose="02070309020205020404" pitchFamily="49" charset="0"/>
              </a:rPr>
              <a:t>&gt;&gt;</a:t>
            </a:r>
            <a:r>
              <a:rPr lang="en-US" altLang="en-US" sz="2800" b="1" dirty="0">
                <a:solidFill>
                  <a:schemeClr val="bg1"/>
                </a:solidFill>
                <a:latin typeface="Courier New" panose="02070309020205020404" pitchFamily="49" charset="0"/>
              </a:rPr>
              <a:t> tests[</a:t>
            </a:r>
            <a:r>
              <a:rPr lang="en-US" altLang="en-US" sz="2800" b="1" dirty="0">
                <a:solidFill>
                  <a:schemeClr val="accent6"/>
                </a:solidFill>
                <a:latin typeface="Courier New" panose="02070309020205020404" pitchFamily="49" charset="0"/>
              </a:rPr>
              <a:t>1</a:t>
            </a:r>
            <a:r>
              <a:rPr lang="en-US" altLang="en-US" sz="2800" b="1" dirty="0">
                <a:solidFill>
                  <a:schemeClr val="bg1"/>
                </a:solidFill>
                <a:latin typeface="Courier New" panose="02070309020205020404" pitchFamily="49" charset="0"/>
              </a:rPr>
              <a:t>];</a:t>
            </a:r>
          </a:p>
          <a:p>
            <a:pPr lvl="1">
              <a:buFontTx/>
              <a:buNone/>
            </a:pPr>
            <a:r>
              <a:rPr lang="en-US" altLang="en-US" sz="2800" b="1" dirty="0">
                <a:solidFill>
                  <a:schemeClr val="bg1"/>
                </a:solidFill>
                <a:latin typeface="Courier New" panose="02070309020205020404" pitchFamily="49" charset="0"/>
              </a:rPr>
              <a:t>	tests[</a:t>
            </a:r>
            <a:r>
              <a:rPr lang="en-US" altLang="en-US" sz="2800" b="1" dirty="0">
                <a:solidFill>
                  <a:schemeClr val="accent6"/>
                </a:solidFill>
                <a:latin typeface="Courier New" panose="02070309020205020404" pitchFamily="49" charset="0"/>
              </a:rPr>
              <a:t>4</a:t>
            </a:r>
            <a:r>
              <a:rPr lang="en-US" altLang="en-US" sz="2800" b="1" dirty="0">
                <a:solidFill>
                  <a:schemeClr val="bg1"/>
                </a:solidFill>
                <a:latin typeface="Courier New" panose="02070309020205020404" pitchFamily="49" charset="0"/>
              </a:rPr>
              <a:t>] </a:t>
            </a:r>
            <a:r>
              <a:rPr lang="en-US" altLang="en-US" sz="2800" b="1" dirty="0">
                <a:solidFill>
                  <a:srgbClr val="003399"/>
                </a:solidFill>
                <a:latin typeface="Courier New" panose="02070309020205020404" pitchFamily="49" charset="0"/>
              </a:rPr>
              <a:t>= </a:t>
            </a:r>
            <a:r>
              <a:rPr lang="en-US" altLang="en-US" sz="2800" b="1" dirty="0">
                <a:solidFill>
                  <a:schemeClr val="bg1"/>
                </a:solidFill>
                <a:latin typeface="Courier New" panose="02070309020205020404" pitchFamily="49" charset="0"/>
              </a:rPr>
              <a:t>tests[</a:t>
            </a:r>
            <a:r>
              <a:rPr lang="en-US" altLang="en-US" sz="2800" b="1" dirty="0">
                <a:solidFill>
                  <a:schemeClr val="accent6"/>
                </a:solidFill>
                <a:latin typeface="Courier New" panose="02070309020205020404" pitchFamily="49" charset="0"/>
              </a:rPr>
              <a:t>0</a:t>
            </a:r>
            <a:r>
              <a:rPr lang="en-US" altLang="en-US" sz="2800" b="1" dirty="0">
                <a:solidFill>
                  <a:schemeClr val="bg1"/>
                </a:solidFill>
                <a:latin typeface="Courier New" panose="02070309020205020404" pitchFamily="49" charset="0"/>
              </a:rPr>
              <a:t>] </a:t>
            </a:r>
            <a:r>
              <a:rPr lang="en-US" altLang="en-US" sz="2800" b="1" dirty="0">
                <a:solidFill>
                  <a:srgbClr val="002060"/>
                </a:solidFill>
                <a:latin typeface="Courier New" panose="02070309020205020404" pitchFamily="49" charset="0"/>
              </a:rPr>
              <a:t>+</a:t>
            </a:r>
            <a:r>
              <a:rPr lang="en-US" altLang="en-US" sz="2800" b="1" dirty="0">
                <a:solidFill>
                  <a:schemeClr val="bg1"/>
                </a:solidFill>
                <a:latin typeface="Courier New" panose="02070309020205020404" pitchFamily="49" charset="0"/>
              </a:rPr>
              <a:t> tests[</a:t>
            </a:r>
            <a:r>
              <a:rPr lang="en-US" altLang="en-US" sz="2800" b="1" dirty="0">
                <a:solidFill>
                  <a:schemeClr val="accent6"/>
                </a:solidFill>
                <a:latin typeface="Courier New" panose="02070309020205020404" pitchFamily="49" charset="0"/>
              </a:rPr>
              <a:t>1</a:t>
            </a:r>
            <a:r>
              <a:rPr lang="en-US" altLang="en-US" sz="2800" b="1" dirty="0">
                <a:solidFill>
                  <a:schemeClr val="bg1"/>
                </a:solidFill>
                <a:latin typeface="Courier New" panose="02070309020205020404" pitchFamily="49" charset="0"/>
              </a:rPr>
              <a:t>];</a:t>
            </a:r>
            <a:endParaRPr lang="en-US" altLang="en-US" sz="2800" dirty="0">
              <a:solidFill>
                <a:schemeClr val="bg1"/>
              </a:solidFill>
              <a:latin typeface="Courier New" panose="02070309020205020404" pitchFamily="49" charset="0"/>
            </a:endParaRPr>
          </a:p>
          <a:p>
            <a:r>
              <a:rPr lang="en-US" altLang="en-US" sz="2800" dirty="0">
                <a:solidFill>
                  <a:schemeClr val="bg1"/>
                </a:solidFill>
              </a:rPr>
              <a:t>Arrays must be accessed via individual elements:</a:t>
            </a:r>
          </a:p>
          <a:p>
            <a:pPr lvl="1">
              <a:buClr>
                <a:schemeClr val="tx1"/>
              </a:buClr>
              <a:buFontTx/>
              <a:buNone/>
            </a:pPr>
            <a:r>
              <a:rPr lang="en-US" altLang="en-US" sz="2800" dirty="0">
                <a:solidFill>
                  <a:schemeClr val="bg1"/>
                </a:solidFill>
              </a:rPr>
              <a:t>	</a:t>
            </a:r>
            <a:r>
              <a:rPr lang="en-US" altLang="en-US" sz="2800" b="1" dirty="0">
                <a:solidFill>
                  <a:schemeClr val="bg1"/>
                </a:solidFill>
                <a:latin typeface="Courier New" panose="02070309020205020404" pitchFamily="49" charset="0"/>
              </a:rPr>
              <a:t>cout </a:t>
            </a:r>
            <a:r>
              <a:rPr lang="en-US" altLang="en-US" sz="2800" b="1" dirty="0">
                <a:solidFill>
                  <a:srgbClr val="003399"/>
                </a:solidFill>
                <a:latin typeface="Courier New" panose="02070309020205020404" pitchFamily="49" charset="0"/>
              </a:rPr>
              <a:t>&lt;&lt;</a:t>
            </a:r>
            <a:r>
              <a:rPr lang="en-US" altLang="en-US" sz="2800" b="1" dirty="0">
                <a:solidFill>
                  <a:srgbClr val="002060"/>
                </a:solidFill>
                <a:latin typeface="Courier New" panose="02070309020205020404" pitchFamily="49" charset="0"/>
              </a:rPr>
              <a:t> </a:t>
            </a:r>
            <a:r>
              <a:rPr lang="en-US" altLang="en-US" sz="2800" b="1" dirty="0">
                <a:solidFill>
                  <a:schemeClr val="bg1"/>
                </a:solidFill>
                <a:latin typeface="Courier New" panose="02070309020205020404" pitchFamily="49" charset="0"/>
              </a:rPr>
              <a:t>tests; </a:t>
            </a:r>
            <a:r>
              <a:rPr lang="en-US" altLang="en-US" sz="2800" b="1" dirty="0">
                <a:solidFill>
                  <a:srgbClr val="00B050"/>
                </a:solidFill>
                <a:latin typeface="Courier New" panose="02070309020205020404" pitchFamily="49" charset="0"/>
              </a:rPr>
              <a:t>//prints memory address, not values</a:t>
            </a:r>
            <a:endParaRPr lang="en-US" altLang="en-US" sz="2800" b="1" dirty="0">
              <a:solidFill>
                <a:srgbClr val="00B050"/>
              </a:solidFill>
            </a:endParaRPr>
          </a:p>
          <a:p>
            <a:pPr marL="460375" indent="-460375">
              <a:buFont typeface="Wingdings" panose="05000000000000000000" pitchFamily="2" charset="2"/>
              <a:buChar char="§"/>
            </a:pPr>
            <a:endParaRPr lang="en-US" altLang="en-US" sz="2800" dirty="0">
              <a:solidFill>
                <a:schemeClr val="bg1"/>
              </a:solidFill>
            </a:endParaRPr>
          </a:p>
          <a:p>
            <a:pPr marL="0" indent="0">
              <a:buNone/>
            </a:pPr>
            <a:endParaRPr lang="en-US" altLang="en-US" sz="2800" dirty="0">
              <a:solidFill>
                <a:schemeClr val="bg1"/>
              </a:solidFill>
            </a:endParaRPr>
          </a:p>
          <a:p>
            <a:endParaRPr lang="en-US" altLang="en-US" sz="2800" dirty="0">
              <a:solidFill>
                <a:schemeClr val="bg1"/>
              </a:solidFill>
            </a:endParaRPr>
          </a:p>
        </p:txBody>
      </p:sp>
    </p:spTree>
    <p:extLst>
      <p:ext uri="{BB962C8B-B14F-4D97-AF65-F5344CB8AC3E}">
        <p14:creationId xmlns:p14="http://schemas.microsoft.com/office/powerpoint/2010/main" val="3377978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Example</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b="1" dirty="0">
                <a:solidFill>
                  <a:schemeClr val="bg1"/>
                </a:solidFill>
              </a:rPr>
              <a:t>arrayExample_0.cpp</a:t>
            </a:r>
          </a:p>
          <a:p>
            <a:endParaRPr lang="en-US" altLang="en-US" sz="2800" dirty="0">
              <a:solidFill>
                <a:schemeClr val="bg1"/>
              </a:solidFill>
            </a:endParaRP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ode&#10;">
            <a:extLst>
              <a:ext uri="{FF2B5EF4-FFF2-40B4-BE49-F238E27FC236}">
                <a16:creationId xmlns:a16="http://schemas.microsoft.com/office/drawing/2014/main" id="{D10D2429-4F08-FDC5-0719-24B4D4DD7DDE}"/>
              </a:ext>
            </a:extLst>
          </p:cNvPr>
          <p:cNvPicPr>
            <a:picLocks noChangeAspect="1"/>
          </p:cNvPicPr>
          <p:nvPr/>
        </p:nvPicPr>
        <p:blipFill>
          <a:blip r:embed="rId4"/>
          <a:stretch>
            <a:fillRect/>
          </a:stretch>
        </p:blipFill>
        <p:spPr>
          <a:xfrm>
            <a:off x="4724400" y="1529811"/>
            <a:ext cx="6744284" cy="5220152"/>
          </a:xfrm>
          <a:prstGeom prst="rect">
            <a:avLst/>
          </a:prstGeom>
        </p:spPr>
      </p:pic>
    </p:spTree>
    <p:extLst>
      <p:ext uri="{BB962C8B-B14F-4D97-AF65-F5344CB8AC3E}">
        <p14:creationId xmlns:p14="http://schemas.microsoft.com/office/powerpoint/2010/main" val="1883247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3DF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7010400" y="1828800"/>
            <a:ext cx="5105400" cy="2743200"/>
          </a:xfrm>
          <a:noFill/>
          <a:ln>
            <a:noFill/>
          </a:ln>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chemeClr val="bg1"/>
                </a:solidFill>
                <a:latin typeface="Berlin Sans FB Demi" panose="020E0802020502020306" pitchFamily="34" charset="0"/>
              </a:rPr>
              <a:t>Iterating Through Arrays</a:t>
            </a:r>
          </a:p>
        </p:txBody>
      </p:sp>
      <p:pic>
        <p:nvPicPr>
          <p:cNvPr id="4" name="Picture 3" descr="A squirrel holding a computer on top of a pig">
            <a:extLst>
              <a:ext uri="{FF2B5EF4-FFF2-40B4-BE49-F238E27FC236}">
                <a16:creationId xmlns:a16="http://schemas.microsoft.com/office/drawing/2014/main" id="{2C588D07-D22C-5C99-B166-7CF691F7E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357896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Iterating Through Arrays with For Loop</a:t>
            </a:r>
            <a:endParaRPr b="1" dirty="0">
              <a:solidFill>
                <a:srgbClr val="4F2984"/>
              </a:solidFill>
              <a:latin typeface="Amasis MT Pro Black" panose="02040A04050005020304" pitchFamily="18" charset="0"/>
            </a:endParaRPr>
          </a:p>
        </p:txBody>
      </p:sp>
      <p:sp>
        <p:nvSpPr>
          <p:cNvPr id="2" name="Rectangle 3">
            <a:extLst>
              <a:ext uri="{FF2B5EF4-FFF2-40B4-BE49-F238E27FC236}">
                <a16:creationId xmlns:a16="http://schemas.microsoft.com/office/drawing/2014/main" id="{91D42912-1F86-B634-7076-F804CFF60C70}"/>
              </a:ext>
            </a:extLst>
          </p:cNvPr>
          <p:cNvSpPr txBox="1">
            <a:spLocks noChangeArrowheads="1"/>
          </p:cNvSpPr>
          <p:nvPr/>
        </p:nvSpPr>
        <p:spPr>
          <a:xfrm>
            <a:off x="381000" y="1689903"/>
            <a:ext cx="10058400" cy="1454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buNone/>
            </a:pPr>
            <a:r>
              <a:rPr lang="en-US" altLang="en-US" sz="2800" dirty="0">
                <a:solidFill>
                  <a:schemeClr val="bg1"/>
                </a:solidFill>
              </a:rPr>
              <a:t>Example – The following code defines an array, numbers, and assigns 99 to each element:</a:t>
            </a:r>
          </a:p>
        </p:txBody>
      </p:sp>
      <p:sp>
        <p:nvSpPr>
          <p:cNvPr id="3" name="Text Box 4">
            <a:extLst>
              <a:ext uri="{FF2B5EF4-FFF2-40B4-BE49-F238E27FC236}">
                <a16:creationId xmlns:a16="http://schemas.microsoft.com/office/drawing/2014/main" id="{CD1B58F8-3160-CE56-7226-577C25C2F95D}"/>
              </a:ext>
            </a:extLst>
          </p:cNvPr>
          <p:cNvSpPr txBox="1">
            <a:spLocks noChangeArrowheads="1"/>
          </p:cNvSpPr>
          <p:nvPr/>
        </p:nvSpPr>
        <p:spPr bwMode="auto">
          <a:xfrm>
            <a:off x="609600" y="2600919"/>
            <a:ext cx="10601141"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b="1" dirty="0" err="1">
                <a:solidFill>
                  <a:srgbClr val="0070C0"/>
                </a:solidFill>
                <a:latin typeface="Courier New" panose="02070309020205020404" pitchFamily="49" charset="0"/>
              </a:rPr>
              <a:t>const</a:t>
            </a:r>
            <a:r>
              <a:rPr lang="en-US" altLang="en-US" sz="2800" b="1" dirty="0">
                <a:solidFill>
                  <a:srgbClr val="0070C0"/>
                </a:solidFill>
                <a:latin typeface="Courier New" panose="02070309020205020404" pitchFamily="49" charset="0"/>
              </a:rPr>
              <a:t> </a:t>
            </a:r>
            <a:r>
              <a:rPr lang="en-US" altLang="en-US" sz="2800" b="1" dirty="0" err="1">
                <a:solidFill>
                  <a:srgbClr val="0070C0"/>
                </a:solidFill>
                <a:latin typeface="Courier New" panose="02070309020205020404" pitchFamily="49" charset="0"/>
              </a:rPr>
              <a:t>int</a:t>
            </a:r>
            <a:r>
              <a:rPr lang="en-US" altLang="en-US" sz="2800" b="1" dirty="0">
                <a:solidFill>
                  <a:srgbClr val="0070C0"/>
                </a:solidFill>
                <a:latin typeface="Courier New" panose="02070309020205020404" pitchFamily="49" charset="0"/>
              </a:rPr>
              <a:t> ARRAY_SIZE = 5;</a:t>
            </a:r>
          </a:p>
          <a:p>
            <a:pPr eaLnBrk="1" hangingPunct="1">
              <a:spcBef>
                <a:spcPct val="0"/>
              </a:spcBef>
              <a:buFontTx/>
              <a:buNone/>
            </a:pPr>
            <a:r>
              <a:rPr lang="en-US" altLang="en-US" sz="2800" b="1" dirty="0" err="1">
                <a:solidFill>
                  <a:srgbClr val="0070C0"/>
                </a:solidFill>
                <a:latin typeface="Courier New" panose="02070309020205020404" pitchFamily="49" charset="0"/>
              </a:rPr>
              <a:t>int</a:t>
            </a:r>
            <a:r>
              <a:rPr lang="en-US" altLang="en-US" sz="2800" b="1" dirty="0">
                <a:solidFill>
                  <a:srgbClr val="0070C0"/>
                </a:solidFill>
                <a:latin typeface="Courier New" panose="02070309020205020404" pitchFamily="49" charset="0"/>
              </a:rPr>
              <a:t> numbers[ARRAY_SIZE];</a:t>
            </a:r>
            <a:br>
              <a:rPr lang="en-US" altLang="en-US" sz="2800" b="1" dirty="0">
                <a:solidFill>
                  <a:srgbClr val="0070C0"/>
                </a:solidFill>
                <a:latin typeface="Courier New" panose="02070309020205020404" pitchFamily="49" charset="0"/>
              </a:rPr>
            </a:br>
            <a:endParaRPr lang="en-US" altLang="en-US" sz="2800" b="1" dirty="0">
              <a:solidFill>
                <a:srgbClr val="0070C0"/>
              </a:solidFill>
              <a:latin typeface="Courier New" panose="02070309020205020404" pitchFamily="49" charset="0"/>
            </a:endParaRPr>
          </a:p>
          <a:p>
            <a:pPr eaLnBrk="1" hangingPunct="1">
              <a:spcBef>
                <a:spcPct val="0"/>
              </a:spcBef>
              <a:buFontTx/>
              <a:buNone/>
            </a:pPr>
            <a:r>
              <a:rPr lang="en-US" altLang="en-US" sz="2800" b="1" dirty="0">
                <a:solidFill>
                  <a:srgbClr val="0070C0"/>
                </a:solidFill>
                <a:latin typeface="Courier New" panose="02070309020205020404" pitchFamily="49" charset="0"/>
              </a:rPr>
              <a:t>for (int i = 0; i &lt; ARRAY_SIZE; i++)</a:t>
            </a:r>
          </a:p>
          <a:p>
            <a:pPr eaLnBrk="1" hangingPunct="1">
              <a:spcBef>
                <a:spcPct val="0"/>
              </a:spcBef>
              <a:buFontTx/>
              <a:buNone/>
            </a:pPr>
            <a:r>
              <a:rPr lang="en-US" altLang="en-US" sz="2800" b="1" dirty="0">
                <a:solidFill>
                  <a:srgbClr val="0070C0"/>
                </a:solidFill>
                <a:latin typeface="Courier New" panose="02070309020205020404" pitchFamily="49" charset="0"/>
              </a:rPr>
              <a:t>     numbers[i] = 99;</a:t>
            </a:r>
          </a:p>
        </p:txBody>
      </p:sp>
      <p:sp>
        <p:nvSpPr>
          <p:cNvPr id="5" name="Rectangular Callout 1">
            <a:extLst>
              <a:ext uri="{FF2B5EF4-FFF2-40B4-BE49-F238E27FC236}">
                <a16:creationId xmlns:a16="http://schemas.microsoft.com/office/drawing/2014/main" id="{6A29759A-2FB4-67D3-EC56-6FB2D20E4C78}"/>
              </a:ext>
              <a:ext uri="{C183D7F6-B498-43B3-948B-1728B52AA6E4}">
                <adec:decorative xmlns:adec="http://schemas.microsoft.com/office/drawing/2017/decorative" val="1"/>
              </a:ext>
            </a:extLst>
          </p:cNvPr>
          <p:cNvSpPr/>
          <p:nvPr/>
        </p:nvSpPr>
        <p:spPr>
          <a:xfrm>
            <a:off x="9208893" y="4776610"/>
            <a:ext cx="2583917" cy="1398147"/>
          </a:xfrm>
          <a:prstGeom prst="wedgeRectCallout">
            <a:avLst>
              <a:gd name="adj1" fmla="val -185808"/>
              <a:gd name="adj2" fmla="val -625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loop ends when the variable </a:t>
            </a:r>
            <a:r>
              <a:rPr lang="en-US" b="1" spc="50" dirty="0">
                <a:ln w="0"/>
                <a:solidFill>
                  <a:schemeClr val="bg2"/>
                </a:solidFill>
                <a:effectLst>
                  <a:innerShdw blurRad="63500" dist="50800" dir="13500000">
                    <a:srgbClr val="000000">
                      <a:alpha val="50000"/>
                    </a:srgbClr>
                  </a:innerShdw>
                </a:effectLst>
                <a:latin typeface="Courier New" panose="02070309020205020404" pitchFamily="49" charset="0"/>
                <a:cs typeface="Courier New" panose="02070309020205020404" pitchFamily="49" charset="0"/>
              </a:rPr>
              <a:t>i</a:t>
            </a:r>
            <a:r>
              <a:rPr lang="en-US" b="1" spc="50" dirty="0">
                <a:ln w="0"/>
                <a:solidFill>
                  <a:schemeClr val="bg2"/>
                </a:solidFill>
                <a:effectLst>
                  <a:innerShdw blurRad="63500" dist="50800" dir="13500000">
                    <a:srgbClr val="000000">
                      <a:alpha val="50000"/>
                    </a:srgbClr>
                  </a:innerShdw>
                </a:effectLst>
              </a:rPr>
              <a:t> reaches 5, which is the first invalid index value</a:t>
            </a:r>
          </a:p>
        </p:txBody>
      </p:sp>
      <p:sp>
        <p:nvSpPr>
          <p:cNvPr id="6" name="Left Brace 5">
            <a:extLst>
              <a:ext uri="{FF2B5EF4-FFF2-40B4-BE49-F238E27FC236}">
                <a16:creationId xmlns:a16="http://schemas.microsoft.com/office/drawing/2014/main" id="{0CC375AC-B32E-E5A1-16E4-01952BE19B49}"/>
              </a:ext>
              <a:ext uri="{C183D7F6-B498-43B3-948B-1728B52AA6E4}">
                <adec:decorative xmlns:adec="http://schemas.microsoft.com/office/drawing/2017/decorative" val="1"/>
              </a:ext>
            </a:extLst>
          </p:cNvPr>
          <p:cNvSpPr/>
          <p:nvPr/>
        </p:nvSpPr>
        <p:spPr>
          <a:xfrm rot="16200000">
            <a:off x="5426177" y="2749434"/>
            <a:ext cx="501445" cy="327660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7" name="Rectangular Callout 6">
            <a:extLst>
              <a:ext uri="{FF2B5EF4-FFF2-40B4-BE49-F238E27FC236}">
                <a16:creationId xmlns:a16="http://schemas.microsoft.com/office/drawing/2014/main" id="{1C074E70-548A-167F-207E-C213B05136A7}"/>
              </a:ext>
              <a:ext uri="{C183D7F6-B498-43B3-948B-1728B52AA6E4}">
                <adec:decorative xmlns:adec="http://schemas.microsoft.com/office/drawing/2017/decorative" val="1"/>
              </a:ext>
            </a:extLst>
          </p:cNvPr>
          <p:cNvSpPr/>
          <p:nvPr/>
        </p:nvSpPr>
        <p:spPr>
          <a:xfrm>
            <a:off x="6949195" y="2440758"/>
            <a:ext cx="2583917" cy="1181271"/>
          </a:xfrm>
          <a:prstGeom prst="wedgeRectCallout">
            <a:avLst>
              <a:gd name="adj1" fmla="val -181662"/>
              <a:gd name="adj2" fmla="val 819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The variable </a:t>
            </a:r>
            <a:r>
              <a:rPr lang="en-US" b="1" spc="50" dirty="0">
                <a:ln w="0"/>
                <a:solidFill>
                  <a:schemeClr val="bg2"/>
                </a:solidFill>
                <a:effectLst>
                  <a:innerShdw blurRad="63500" dist="50800" dir="13500000">
                    <a:srgbClr val="000000">
                      <a:alpha val="50000"/>
                    </a:srgbClr>
                  </a:innerShdw>
                </a:effectLst>
                <a:latin typeface="Courier New" panose="02070309020205020404" pitchFamily="49" charset="0"/>
                <a:cs typeface="Courier New" panose="02070309020205020404" pitchFamily="49" charset="0"/>
              </a:rPr>
              <a:t>i</a:t>
            </a:r>
            <a:r>
              <a:rPr lang="en-US" b="1" spc="50" dirty="0">
                <a:ln w="0"/>
                <a:solidFill>
                  <a:schemeClr val="bg2"/>
                </a:solidFill>
                <a:effectLst>
                  <a:innerShdw blurRad="63500" dist="50800" dir="13500000">
                    <a:srgbClr val="000000">
                      <a:alpha val="50000"/>
                    </a:srgbClr>
                  </a:innerShdw>
                </a:effectLst>
              </a:rPr>
              <a:t> starts at 0, which is the first valid index value</a:t>
            </a:r>
          </a:p>
        </p:txBody>
      </p:sp>
      <p:graphicFrame>
        <p:nvGraphicFramePr>
          <p:cNvPr id="8" name="Table 7">
            <a:extLst>
              <a:ext uri="{FF2B5EF4-FFF2-40B4-BE49-F238E27FC236}">
                <a16:creationId xmlns:a16="http://schemas.microsoft.com/office/drawing/2014/main" id="{A2F39034-4EED-541D-0D9E-ECC884791C39}"/>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172599939"/>
              </p:ext>
            </p:extLst>
          </p:nvPr>
        </p:nvGraphicFramePr>
        <p:xfrm>
          <a:off x="401483" y="5800621"/>
          <a:ext cx="8128000" cy="45720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57897529"/>
                    </a:ext>
                  </a:extLst>
                </a:gridCol>
                <a:gridCol w="1625600">
                  <a:extLst>
                    <a:ext uri="{9D8B030D-6E8A-4147-A177-3AD203B41FA5}">
                      <a16:colId xmlns:a16="http://schemas.microsoft.com/office/drawing/2014/main" val="1929784018"/>
                    </a:ext>
                  </a:extLst>
                </a:gridCol>
                <a:gridCol w="1625600">
                  <a:extLst>
                    <a:ext uri="{9D8B030D-6E8A-4147-A177-3AD203B41FA5}">
                      <a16:colId xmlns:a16="http://schemas.microsoft.com/office/drawing/2014/main" val="3168134310"/>
                    </a:ext>
                  </a:extLst>
                </a:gridCol>
                <a:gridCol w="1625600">
                  <a:extLst>
                    <a:ext uri="{9D8B030D-6E8A-4147-A177-3AD203B41FA5}">
                      <a16:colId xmlns:a16="http://schemas.microsoft.com/office/drawing/2014/main" val="342406042"/>
                    </a:ext>
                  </a:extLst>
                </a:gridCol>
                <a:gridCol w="1625600">
                  <a:extLst>
                    <a:ext uri="{9D8B030D-6E8A-4147-A177-3AD203B41FA5}">
                      <a16:colId xmlns:a16="http://schemas.microsoft.com/office/drawing/2014/main" val="1633459087"/>
                    </a:ext>
                  </a:extLst>
                </a:gridCol>
              </a:tblGrid>
              <a:tr h="370840">
                <a:tc>
                  <a:txBody>
                    <a:bodyPr/>
                    <a:lstStyle/>
                    <a:p>
                      <a:pPr algn="ctr"/>
                      <a:r>
                        <a:rPr lang="en-US" sz="2400" dirty="0">
                          <a:solidFill>
                            <a:schemeClr val="tx1"/>
                          </a:solidFill>
                        </a:rPr>
                        <a:t>99</a:t>
                      </a:r>
                    </a:p>
                  </a:txBody>
                  <a:tcPr anchor="ctr"/>
                </a:tc>
                <a:tc>
                  <a:txBody>
                    <a:bodyPr/>
                    <a:lstStyle/>
                    <a:p>
                      <a:pPr algn="ctr"/>
                      <a:r>
                        <a:rPr lang="en-US" sz="2400" dirty="0">
                          <a:solidFill>
                            <a:schemeClr val="tx1"/>
                          </a:solidFill>
                        </a:rPr>
                        <a:t>99</a:t>
                      </a:r>
                    </a:p>
                  </a:txBody>
                  <a:tcPr anchor="ctr"/>
                </a:tc>
                <a:tc>
                  <a:txBody>
                    <a:bodyPr/>
                    <a:lstStyle/>
                    <a:p>
                      <a:pPr algn="ctr"/>
                      <a:r>
                        <a:rPr lang="en-US" sz="2400" dirty="0">
                          <a:solidFill>
                            <a:schemeClr val="tx1"/>
                          </a:solidFill>
                        </a:rPr>
                        <a:t>99</a:t>
                      </a:r>
                    </a:p>
                  </a:txBody>
                  <a:tcPr anchor="ctr"/>
                </a:tc>
                <a:tc>
                  <a:txBody>
                    <a:bodyPr/>
                    <a:lstStyle/>
                    <a:p>
                      <a:pPr algn="ctr"/>
                      <a:r>
                        <a:rPr lang="en-US" sz="2400" dirty="0">
                          <a:solidFill>
                            <a:schemeClr val="tx1"/>
                          </a:solidFill>
                        </a:rPr>
                        <a:t>99</a:t>
                      </a:r>
                    </a:p>
                  </a:txBody>
                  <a:tcPr anchor="ctr"/>
                </a:tc>
                <a:tc>
                  <a:txBody>
                    <a:bodyPr/>
                    <a:lstStyle/>
                    <a:p>
                      <a:pPr algn="ctr"/>
                      <a:r>
                        <a:rPr lang="en-US" sz="2400" dirty="0">
                          <a:solidFill>
                            <a:schemeClr val="tx1"/>
                          </a:solidFill>
                        </a:rPr>
                        <a:t>99</a:t>
                      </a:r>
                    </a:p>
                  </a:txBody>
                  <a:tcPr anchor="ctr"/>
                </a:tc>
                <a:extLst>
                  <a:ext uri="{0D108BD9-81ED-4DB2-BD59-A6C34878D82A}">
                    <a16:rowId xmlns:a16="http://schemas.microsoft.com/office/drawing/2014/main" val="1540377543"/>
                  </a:ext>
                </a:extLst>
              </a:tr>
            </a:tbl>
          </a:graphicData>
        </a:graphic>
      </p:graphicFrame>
      <p:graphicFrame>
        <p:nvGraphicFramePr>
          <p:cNvPr id="9" name="Table 8">
            <a:extLst>
              <a:ext uri="{FF2B5EF4-FFF2-40B4-BE49-F238E27FC236}">
                <a16:creationId xmlns:a16="http://schemas.microsoft.com/office/drawing/2014/main" id="{97CABF35-35CA-8CF2-2C99-312A9D89F950}"/>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615762429"/>
              </p:ext>
            </p:extLst>
          </p:nvPr>
        </p:nvGraphicFramePr>
        <p:xfrm>
          <a:off x="399190" y="5388708"/>
          <a:ext cx="8128000" cy="37084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57897529"/>
                    </a:ext>
                  </a:extLst>
                </a:gridCol>
                <a:gridCol w="1625600">
                  <a:extLst>
                    <a:ext uri="{9D8B030D-6E8A-4147-A177-3AD203B41FA5}">
                      <a16:colId xmlns:a16="http://schemas.microsoft.com/office/drawing/2014/main" val="1929784018"/>
                    </a:ext>
                  </a:extLst>
                </a:gridCol>
                <a:gridCol w="1625600">
                  <a:extLst>
                    <a:ext uri="{9D8B030D-6E8A-4147-A177-3AD203B41FA5}">
                      <a16:colId xmlns:a16="http://schemas.microsoft.com/office/drawing/2014/main" val="3168134310"/>
                    </a:ext>
                  </a:extLst>
                </a:gridCol>
                <a:gridCol w="1625600">
                  <a:extLst>
                    <a:ext uri="{9D8B030D-6E8A-4147-A177-3AD203B41FA5}">
                      <a16:colId xmlns:a16="http://schemas.microsoft.com/office/drawing/2014/main" val="342406042"/>
                    </a:ext>
                  </a:extLst>
                </a:gridCol>
                <a:gridCol w="1625600">
                  <a:extLst>
                    <a:ext uri="{9D8B030D-6E8A-4147-A177-3AD203B41FA5}">
                      <a16:colId xmlns:a16="http://schemas.microsoft.com/office/drawing/2014/main" val="1633459087"/>
                    </a:ext>
                  </a:extLst>
                </a:gridCol>
              </a:tblGrid>
              <a:tr h="370840">
                <a:tc>
                  <a:txBody>
                    <a:bodyPr/>
                    <a:lstStyle/>
                    <a:p>
                      <a:pPr algn="ctr"/>
                      <a:r>
                        <a:rPr lang="en-US" sz="1400" dirty="0">
                          <a:solidFill>
                            <a:schemeClr val="bg1"/>
                          </a:solidFill>
                        </a:rPr>
                        <a:t>0</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dirty="0">
                          <a:solidFill>
                            <a:schemeClr val="bg1"/>
                          </a:solidFill>
                        </a:rPr>
                        <a:t>1</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dirty="0">
                          <a:solidFill>
                            <a:schemeClr val="bg1"/>
                          </a:solidFill>
                        </a:rPr>
                        <a:t>2</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dirty="0">
                          <a:solidFill>
                            <a:schemeClr val="bg1"/>
                          </a:solidFill>
                        </a:rPr>
                        <a:t>3</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dirty="0">
                          <a:solidFill>
                            <a:schemeClr val="bg1"/>
                          </a:solidFill>
                        </a:rPr>
                        <a:t>4</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0377543"/>
                  </a:ext>
                </a:extLst>
              </a:tr>
            </a:tbl>
          </a:graphicData>
        </a:graphic>
      </p:graphicFrame>
    </p:spTree>
    <p:extLst>
      <p:ext uri="{BB962C8B-B14F-4D97-AF65-F5344CB8AC3E}">
        <p14:creationId xmlns:p14="http://schemas.microsoft.com/office/powerpoint/2010/main" val="2917038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Example with For Loop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953000" cy="5079374"/>
          </a:xfrm>
        </p:spPr>
        <p:txBody>
          <a:bodyPr>
            <a:normAutofit/>
          </a:bodyPr>
          <a:lstStyle/>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arrayExample_1.cpp</a:t>
            </a:r>
          </a:p>
          <a:p>
            <a:pPr marL="0" indent="0">
              <a:buNone/>
            </a:pPr>
            <a:r>
              <a:rPr lang="en-US" altLang="en-US" sz="2800" dirty="0">
                <a:solidFill>
                  <a:schemeClr val="bg1"/>
                </a:solidFill>
              </a:rPr>
              <a:t>This example iterates through an array using a for loop.</a:t>
            </a:r>
          </a:p>
          <a:p>
            <a:endParaRPr lang="en-US" altLang="en-US" sz="2800" dirty="0">
              <a:solidFill>
                <a:schemeClr val="bg1"/>
              </a:solidFill>
            </a:endParaRP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ode&#10;">
            <a:extLst>
              <a:ext uri="{FF2B5EF4-FFF2-40B4-BE49-F238E27FC236}">
                <a16:creationId xmlns:a16="http://schemas.microsoft.com/office/drawing/2014/main" id="{84B0CB8E-D3C5-231D-2E1C-E47D906FE745}"/>
              </a:ext>
            </a:extLst>
          </p:cNvPr>
          <p:cNvPicPr>
            <a:picLocks noChangeAspect="1"/>
          </p:cNvPicPr>
          <p:nvPr/>
        </p:nvPicPr>
        <p:blipFill>
          <a:blip r:embed="rId4"/>
          <a:stretch>
            <a:fillRect/>
          </a:stretch>
        </p:blipFill>
        <p:spPr>
          <a:xfrm>
            <a:off x="4474118" y="2743200"/>
            <a:ext cx="7661531" cy="4088774"/>
          </a:xfrm>
          <a:prstGeom prst="rect">
            <a:avLst/>
          </a:prstGeom>
        </p:spPr>
      </p:pic>
    </p:spTree>
    <p:extLst>
      <p:ext uri="{BB962C8B-B14F-4D97-AF65-F5344CB8AC3E}">
        <p14:creationId xmlns:p14="http://schemas.microsoft.com/office/powerpoint/2010/main" val="989452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No Bounds Checking in C++</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8534400" cy="5079374"/>
          </a:xfrm>
        </p:spPr>
        <p:txBody>
          <a:bodyPr>
            <a:normAutofit/>
          </a:bodyPr>
          <a:lstStyle/>
          <a:p>
            <a:pPr marL="460375" indent="-460375">
              <a:buFont typeface="Wingdings" panose="05000000000000000000" pitchFamily="2" charset="2"/>
              <a:buChar char="§"/>
            </a:pPr>
            <a:r>
              <a:rPr lang="en-US" altLang="en-US" sz="2800" dirty="0">
                <a:solidFill>
                  <a:schemeClr val="bg1"/>
                </a:solidFill>
              </a:rPr>
              <a:t>When you use a value as an array index, </a:t>
            </a:r>
            <a:br>
              <a:rPr lang="en-US" altLang="en-US" sz="2800" dirty="0">
                <a:solidFill>
                  <a:schemeClr val="bg1"/>
                </a:solidFill>
              </a:rPr>
            </a:br>
            <a:r>
              <a:rPr lang="en-US" altLang="en-US" sz="2800" dirty="0">
                <a:solidFill>
                  <a:srgbClr val="C00000"/>
                </a:solidFill>
              </a:rPr>
              <a:t>C++ does not check it to make sure it is a </a:t>
            </a:r>
            <a:r>
              <a:rPr lang="en-US" altLang="en-US" sz="2800" i="1" dirty="0">
                <a:solidFill>
                  <a:srgbClr val="C00000"/>
                </a:solidFill>
              </a:rPr>
              <a:t>valid</a:t>
            </a:r>
            <a:r>
              <a:rPr lang="en-US" altLang="en-US" sz="2800" dirty="0">
                <a:solidFill>
                  <a:srgbClr val="C00000"/>
                </a:solidFill>
              </a:rPr>
              <a:t> index.</a:t>
            </a:r>
          </a:p>
          <a:p>
            <a:pPr marL="460375" indent="-460375">
              <a:buFont typeface="Wingdings" panose="05000000000000000000" pitchFamily="2" charset="2"/>
              <a:buChar char="§"/>
            </a:pPr>
            <a:r>
              <a:rPr lang="en-US" altLang="en-US" sz="2800" dirty="0">
                <a:solidFill>
                  <a:schemeClr val="bg1"/>
                </a:solidFill>
              </a:rPr>
              <a:t>In other words, you can use an index that is beyond the bounds of the array. This can </a:t>
            </a:r>
            <a:r>
              <a:rPr lang="en-US" altLang="en-US" sz="2800" b="1" dirty="0">
                <a:solidFill>
                  <a:schemeClr val="bg1"/>
                </a:solidFill>
              </a:rPr>
              <a:t>corrupt other memory locations</a:t>
            </a:r>
            <a:r>
              <a:rPr lang="en-US" altLang="en-US" sz="2800" dirty="0">
                <a:solidFill>
                  <a:schemeClr val="bg1"/>
                </a:solidFill>
              </a:rPr>
              <a:t>, </a:t>
            </a:r>
            <a:r>
              <a:rPr lang="en-US" altLang="en-US" sz="2800" b="1" dirty="0">
                <a:solidFill>
                  <a:schemeClr val="bg1"/>
                </a:solidFill>
              </a:rPr>
              <a:t>crash program</a:t>
            </a:r>
            <a:r>
              <a:rPr lang="en-US" altLang="en-US" sz="2800" dirty="0">
                <a:solidFill>
                  <a:schemeClr val="bg1"/>
                </a:solidFill>
              </a:rPr>
              <a:t>, or </a:t>
            </a:r>
            <a:r>
              <a:rPr lang="en-US" altLang="en-US" sz="2800" b="1" dirty="0">
                <a:solidFill>
                  <a:schemeClr val="bg1"/>
                </a:solidFill>
              </a:rPr>
              <a:t>lock up computer</a:t>
            </a:r>
            <a:r>
              <a:rPr lang="en-US" altLang="en-US" sz="2800" dirty="0">
                <a:solidFill>
                  <a:schemeClr val="bg1"/>
                </a:solidFill>
              </a:rPr>
              <a:t>, </a:t>
            </a:r>
            <a:r>
              <a:rPr lang="en-US" altLang="en-US" sz="2800" b="1" dirty="0">
                <a:solidFill>
                  <a:schemeClr val="bg1"/>
                </a:solidFill>
              </a:rPr>
              <a:t>cause elusive bugs </a:t>
            </a:r>
            <a:r>
              <a:rPr lang="en-US" altLang="en-US" sz="2800" dirty="0">
                <a:solidFill>
                  <a:schemeClr val="bg1"/>
                </a:solidFill>
              </a:rPr>
              <a:t>and possibly the end of the world.</a:t>
            </a:r>
          </a:p>
          <a:p>
            <a:endParaRPr lang="en-US" altLang="en-US" sz="2800" dirty="0">
              <a:solidFill>
                <a:schemeClr val="bg1"/>
              </a:solidFill>
            </a:endParaRPr>
          </a:p>
        </p:txBody>
      </p:sp>
      <p:pic>
        <p:nvPicPr>
          <p:cNvPr id="3" name="Picture 2" descr="lady screaming">
            <a:extLst>
              <a:ext uri="{FF2B5EF4-FFF2-40B4-BE49-F238E27FC236}">
                <a16:creationId xmlns:a16="http://schemas.microsoft.com/office/drawing/2014/main" id="{9B28260F-1AB7-0D8A-6270-403DEB8EB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5408" y="1600200"/>
            <a:ext cx="2907992" cy="387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069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Off-By-One Errors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pPr>
              <a:lnSpc>
                <a:spcPct val="90000"/>
              </a:lnSpc>
            </a:pPr>
            <a:r>
              <a:rPr lang="en-US" altLang="en-US" sz="2800" dirty="0">
                <a:solidFill>
                  <a:schemeClr val="bg1"/>
                </a:solidFill>
              </a:rPr>
              <a:t>An off-by-one error happens when you use an array index that is off by one.</a:t>
            </a:r>
          </a:p>
          <a:p>
            <a:pPr>
              <a:lnSpc>
                <a:spcPct val="90000"/>
              </a:lnSpc>
            </a:pPr>
            <a:r>
              <a:rPr lang="en-US" altLang="en-US" sz="2800" dirty="0">
                <a:solidFill>
                  <a:schemeClr val="bg1"/>
                </a:solidFill>
              </a:rPr>
              <a:t>This can happen when you start at index 1 rather than 0:</a:t>
            </a:r>
          </a:p>
        </p:txBody>
      </p:sp>
      <p:sp>
        <p:nvSpPr>
          <p:cNvPr id="2" name="Text Box 4">
            <a:extLst>
              <a:ext uri="{FF2B5EF4-FFF2-40B4-BE49-F238E27FC236}">
                <a16:creationId xmlns:a16="http://schemas.microsoft.com/office/drawing/2014/main" id="{6FD1A795-3BAC-D71A-1357-DF2951BEE81C}"/>
              </a:ext>
            </a:extLst>
          </p:cNvPr>
          <p:cNvSpPr txBox="1">
            <a:spLocks noChangeArrowheads="1"/>
          </p:cNvSpPr>
          <p:nvPr/>
        </p:nvSpPr>
        <p:spPr bwMode="auto">
          <a:xfrm>
            <a:off x="1215266" y="3578451"/>
            <a:ext cx="982059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rgbClr val="00B050"/>
                </a:solidFill>
                <a:latin typeface="Courier New" panose="02070309020205020404" pitchFamily="49" charset="0"/>
              </a:rPr>
              <a:t>// This code has an off-by-one error.</a:t>
            </a:r>
          </a:p>
          <a:p>
            <a:pPr eaLnBrk="1" hangingPunct="1">
              <a:spcBef>
                <a:spcPct val="0"/>
              </a:spcBef>
              <a:buFontTx/>
              <a:buNone/>
            </a:pPr>
            <a:r>
              <a:rPr lang="en-US" altLang="en-US" sz="2400" b="1" dirty="0" err="1">
                <a:solidFill>
                  <a:srgbClr val="0070C0"/>
                </a:solidFill>
                <a:latin typeface="Courier New" panose="02070309020205020404" pitchFamily="49" charset="0"/>
              </a:rPr>
              <a:t>const</a:t>
            </a:r>
            <a:r>
              <a:rPr lang="en-US" altLang="en-US" sz="2400" b="1" dirty="0">
                <a:solidFill>
                  <a:srgbClr val="0070C0"/>
                </a:solidFill>
                <a:latin typeface="Courier New" panose="02070309020205020404" pitchFamily="49" charset="0"/>
              </a:rPr>
              <a:t> </a:t>
            </a:r>
            <a:r>
              <a:rPr lang="en-US" altLang="en-US" sz="2400" b="1" dirty="0" err="1">
                <a:solidFill>
                  <a:srgbClr val="0070C0"/>
                </a:solidFill>
                <a:latin typeface="Courier New" panose="02070309020205020404" pitchFamily="49" charset="0"/>
              </a:rPr>
              <a:t>int</a:t>
            </a:r>
            <a:r>
              <a:rPr lang="en-US" altLang="en-US" sz="2400" b="1" dirty="0">
                <a:solidFill>
                  <a:srgbClr val="0070C0"/>
                </a:solidFill>
                <a:latin typeface="Courier New" panose="02070309020205020404" pitchFamily="49" charset="0"/>
              </a:rPr>
              <a:t> SIZE = 100;</a:t>
            </a:r>
          </a:p>
          <a:p>
            <a:pPr eaLnBrk="1" hangingPunct="1">
              <a:spcBef>
                <a:spcPct val="0"/>
              </a:spcBef>
              <a:buFontTx/>
              <a:buNone/>
            </a:pPr>
            <a:r>
              <a:rPr lang="en-US" altLang="en-US" sz="2400" b="1" dirty="0" err="1">
                <a:solidFill>
                  <a:srgbClr val="0070C0"/>
                </a:solidFill>
                <a:latin typeface="Courier New" panose="02070309020205020404" pitchFamily="49" charset="0"/>
              </a:rPr>
              <a:t>int</a:t>
            </a:r>
            <a:r>
              <a:rPr lang="en-US" altLang="en-US" sz="2400" b="1" dirty="0">
                <a:solidFill>
                  <a:srgbClr val="0070C0"/>
                </a:solidFill>
                <a:latin typeface="Courier New" panose="02070309020205020404" pitchFamily="49" charset="0"/>
              </a:rPr>
              <a:t> numbers[SIZE];</a:t>
            </a:r>
            <a:br>
              <a:rPr lang="en-US" altLang="en-US" sz="2400" b="1" dirty="0">
                <a:solidFill>
                  <a:srgbClr val="0070C0"/>
                </a:solidFill>
                <a:latin typeface="Courier New" panose="02070309020205020404" pitchFamily="49" charset="0"/>
              </a:rPr>
            </a:br>
            <a:endParaRPr lang="en-US" altLang="en-US" sz="2400" b="1" dirty="0">
              <a:solidFill>
                <a:srgbClr val="0070C0"/>
              </a:solidFill>
              <a:latin typeface="Courier New" panose="02070309020205020404" pitchFamily="49" charset="0"/>
            </a:endParaRPr>
          </a:p>
          <a:p>
            <a:pPr eaLnBrk="1" hangingPunct="1">
              <a:spcBef>
                <a:spcPct val="0"/>
              </a:spcBef>
              <a:buFontTx/>
              <a:buNone/>
            </a:pPr>
            <a:r>
              <a:rPr lang="en-US" altLang="en-US" sz="2400" b="1" dirty="0">
                <a:solidFill>
                  <a:srgbClr val="0070C0"/>
                </a:solidFill>
                <a:latin typeface="Courier New" panose="02070309020205020404" pitchFamily="49" charset="0"/>
              </a:rPr>
              <a:t>for (int count = </a:t>
            </a:r>
            <a:r>
              <a:rPr lang="en-US" altLang="en-US" sz="2400" b="1" dirty="0">
                <a:solidFill>
                  <a:srgbClr val="FF0000"/>
                </a:solidFill>
                <a:latin typeface="Courier New" panose="02070309020205020404" pitchFamily="49" charset="0"/>
              </a:rPr>
              <a:t>1</a:t>
            </a:r>
            <a:r>
              <a:rPr lang="en-US" altLang="en-US" sz="2400" b="1" dirty="0">
                <a:solidFill>
                  <a:srgbClr val="0070C0"/>
                </a:solidFill>
                <a:latin typeface="Courier New" panose="02070309020205020404" pitchFamily="49" charset="0"/>
              </a:rPr>
              <a:t>; count &lt;</a:t>
            </a:r>
            <a:r>
              <a:rPr lang="en-US" altLang="en-US" sz="2400" b="1" dirty="0">
                <a:solidFill>
                  <a:srgbClr val="FF0000"/>
                </a:solidFill>
                <a:latin typeface="Courier New" panose="02070309020205020404" pitchFamily="49" charset="0"/>
              </a:rPr>
              <a:t>=</a:t>
            </a:r>
            <a:r>
              <a:rPr lang="en-US" altLang="en-US" sz="2400" b="1" dirty="0">
                <a:solidFill>
                  <a:srgbClr val="0070C0"/>
                </a:solidFill>
                <a:latin typeface="Courier New" panose="02070309020205020404" pitchFamily="49" charset="0"/>
              </a:rPr>
              <a:t> SIZE; count++)</a:t>
            </a:r>
          </a:p>
          <a:p>
            <a:pPr eaLnBrk="1" hangingPunct="1">
              <a:spcBef>
                <a:spcPct val="0"/>
              </a:spcBef>
              <a:buFontTx/>
              <a:buNone/>
            </a:pPr>
            <a:r>
              <a:rPr lang="en-US" altLang="en-US" sz="2400" b="1" dirty="0">
                <a:solidFill>
                  <a:srgbClr val="0070C0"/>
                </a:solidFill>
                <a:latin typeface="Courier New" panose="02070309020205020404" pitchFamily="49" charset="0"/>
              </a:rPr>
              <a:t>     numbers[count] = 0;</a:t>
            </a:r>
          </a:p>
        </p:txBody>
      </p:sp>
    </p:spTree>
    <p:extLst>
      <p:ext uri="{BB962C8B-B14F-4D97-AF65-F5344CB8AC3E}">
        <p14:creationId xmlns:p14="http://schemas.microsoft.com/office/powerpoint/2010/main" val="1774168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Iterating Through Array Examples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arrayExample_2.cpp</a:t>
            </a:r>
            <a:br>
              <a:rPr lang="en-US" sz="2800" dirty="0">
                <a:solidFill>
                  <a:schemeClr val="bg1"/>
                </a:solidFill>
              </a:rPr>
            </a:br>
            <a:r>
              <a:rPr lang="en-US" sz="2800" dirty="0">
                <a:solidFill>
                  <a:schemeClr val="bg1"/>
                </a:solidFill>
              </a:rPr>
              <a:t>reads data from a file into an array</a:t>
            </a:r>
          </a:p>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arrayExample_3.cpp</a:t>
            </a:r>
            <a:br>
              <a:rPr lang="en-US" sz="2800" dirty="0">
                <a:solidFill>
                  <a:schemeClr val="bg1"/>
                </a:solidFill>
              </a:rPr>
            </a:br>
            <a:r>
              <a:rPr lang="en-US" sz="2800" dirty="0">
                <a:solidFill>
                  <a:schemeClr val="bg1"/>
                </a:solidFill>
              </a:rPr>
              <a:t>writes the contents of an array to a file</a:t>
            </a:r>
          </a:p>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arrayExample_4.cpp</a:t>
            </a:r>
            <a:br>
              <a:rPr lang="en-US" sz="2800" dirty="0">
                <a:solidFill>
                  <a:schemeClr val="bg1"/>
                </a:solidFill>
              </a:rPr>
            </a:br>
            <a:r>
              <a:rPr lang="en-US" sz="2800" dirty="0">
                <a:solidFill>
                  <a:schemeClr val="bg1"/>
                </a:solidFill>
              </a:rPr>
              <a:t>demonstrates going out of bounds of </a:t>
            </a:r>
            <a:r>
              <a:rPr lang="en-US" sz="2800">
                <a:solidFill>
                  <a:schemeClr val="bg1"/>
                </a:solidFill>
              </a:rPr>
              <a:t>an array</a:t>
            </a:r>
            <a:endParaRPr lang="en-US" sz="2800" dirty="0">
              <a:solidFill>
                <a:schemeClr val="bg1"/>
              </a:solidFill>
            </a:endParaRPr>
          </a:p>
          <a:p>
            <a:endParaRPr lang="en-US" altLang="en-US" sz="2800" dirty="0">
              <a:solidFill>
                <a:schemeClr val="bg1"/>
              </a:solidFill>
            </a:endParaRP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701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364"/>
            <a:ext cx="12192000" cy="796762"/>
          </a:xfrm>
          <a:solidFill>
            <a:schemeClr val="accent1"/>
          </a:solidFill>
        </p:spPr>
        <p:txBody>
          <a:bodyPr>
            <a:normAutofit/>
          </a:bodyPr>
          <a:lstStyle/>
          <a:p>
            <a:r>
              <a:rPr lang="en-US" sz="3600" b="1" dirty="0">
                <a:solidFill>
                  <a:schemeClr val="bg1"/>
                </a:solidFill>
                <a:latin typeface="Berlin Sans FB Demi" panose="020E0802020502020306" pitchFamily="34" charset="0"/>
              </a:rPr>
              <a:t>Module 8 In-Class Practice 1</a:t>
            </a:r>
          </a:p>
        </p:txBody>
      </p:sp>
      <p:sp>
        <p:nvSpPr>
          <p:cNvPr id="3" name="Content Placeholder 2"/>
          <p:cNvSpPr>
            <a:spLocks noGrp="1"/>
          </p:cNvSpPr>
          <p:nvPr>
            <p:ph idx="1"/>
          </p:nvPr>
        </p:nvSpPr>
        <p:spPr>
          <a:xfrm>
            <a:off x="0" y="796762"/>
            <a:ext cx="2286000" cy="5985038"/>
          </a:xfrm>
          <a:solidFill>
            <a:schemeClr val="tx1"/>
          </a:solidFill>
        </p:spPr>
        <p:txBody>
          <a:bodyPr>
            <a:normAutofit fontScale="92500" lnSpcReduction="10000"/>
          </a:bodyPr>
          <a:lstStyle/>
          <a:p>
            <a:pPr marL="0" indent="0">
              <a:buNone/>
            </a:pPr>
            <a:r>
              <a:rPr lang="en-US" b="1" dirty="0">
                <a:solidFill>
                  <a:schemeClr val="bg1"/>
                </a:solidFill>
              </a:rPr>
              <a:t>Write a program named </a:t>
            </a:r>
            <a:r>
              <a:rPr lang="en-US" b="1" dirty="0">
                <a:solidFill>
                  <a:srgbClr val="FF0000"/>
                </a:solidFill>
              </a:rPr>
              <a:t>mod8a.cpp</a:t>
            </a:r>
            <a:r>
              <a:rPr lang="en-US" dirty="0">
                <a:solidFill>
                  <a:schemeClr val="bg1"/>
                </a:solidFill>
              </a:rPr>
              <a:t>.</a:t>
            </a:r>
          </a:p>
          <a:p>
            <a:pPr marL="0" indent="0">
              <a:buNone/>
            </a:pPr>
            <a:r>
              <a:rPr lang="en-US" b="1" dirty="0">
                <a:solidFill>
                  <a:schemeClr val="bg1"/>
                </a:solidFill>
              </a:rPr>
              <a:t>In the program, ask the user to provide the name and price of ten things that is useful in life (Example: duct tape, $3.99).  </a:t>
            </a:r>
          </a:p>
          <a:p>
            <a:pPr marL="0" indent="0">
              <a:buNone/>
            </a:pPr>
            <a:r>
              <a:rPr lang="en-US" b="1" dirty="0">
                <a:solidFill>
                  <a:schemeClr val="bg1"/>
                </a:solidFill>
                <a:highlight>
                  <a:srgbClr val="00FF00"/>
                </a:highlight>
              </a:rPr>
              <a:t>Store the names of the useful items in a string array.  Store the prices in a separate double array.</a:t>
            </a:r>
          </a:p>
          <a:p>
            <a:pPr marL="0" indent="0">
              <a:buNone/>
            </a:pPr>
            <a:r>
              <a:rPr lang="en-US" b="1" dirty="0">
                <a:solidFill>
                  <a:schemeClr val="bg1"/>
                </a:solidFill>
              </a:rPr>
              <a:t>Then, iterate through both arrays to print out the ten items &amp; prices as you see in the sample output.</a:t>
            </a:r>
          </a:p>
        </p:txBody>
      </p:sp>
      <p:sp>
        <p:nvSpPr>
          <p:cNvPr id="4" name="TextBox 3">
            <a:extLst>
              <a:ext uri="{FF2B5EF4-FFF2-40B4-BE49-F238E27FC236}">
                <a16:creationId xmlns:a16="http://schemas.microsoft.com/office/drawing/2014/main" id="{AE2E6D34-55AA-485F-9D15-71D388C34F39}"/>
              </a:ext>
            </a:extLst>
          </p:cNvPr>
          <p:cNvSpPr txBox="1"/>
          <p:nvPr/>
        </p:nvSpPr>
        <p:spPr>
          <a:xfrm>
            <a:off x="2438400" y="796762"/>
            <a:ext cx="5811077" cy="5416868"/>
          </a:xfrm>
          <a:prstGeom prst="rect">
            <a:avLst/>
          </a:prstGeom>
          <a:solidFill>
            <a:schemeClr val="tx1">
              <a:lumMod val="95000"/>
            </a:schemeClr>
          </a:solidFill>
        </p:spPr>
        <p:txBody>
          <a:bodyPr wrap="square" rtlCol="0">
            <a:spAutoFit/>
          </a:bodyPr>
          <a:lstStyle/>
          <a:p>
            <a:r>
              <a:rPr lang="en-US" sz="1600" b="1" dirty="0">
                <a:solidFill>
                  <a:schemeClr val="bg1"/>
                </a:solidFill>
                <a:latin typeface="Courier New" panose="02070309020205020404" pitchFamily="49" charset="0"/>
                <a:cs typeface="Courier New" panose="02070309020205020404" pitchFamily="49" charset="0"/>
              </a:rPr>
              <a:t>Tell me 10 useful things and their price:</a:t>
            </a:r>
          </a:p>
          <a:p>
            <a:r>
              <a:rPr lang="en-US" sz="1600" b="1" dirty="0">
                <a:solidFill>
                  <a:schemeClr val="bg1"/>
                </a:solidFill>
                <a:latin typeface="Courier New" panose="02070309020205020404" pitchFamily="49" charset="0"/>
                <a:cs typeface="Courier New" panose="02070309020205020404" pitchFamily="49" charset="0"/>
              </a:rPr>
              <a:t>USEFUL THING 1: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Duct Tape</a:t>
            </a:r>
          </a:p>
          <a:p>
            <a:r>
              <a:rPr lang="en-US" sz="1600" b="1" dirty="0">
                <a:solidFill>
                  <a:schemeClr val="bg1"/>
                </a:solidFill>
                <a:latin typeface="Courier New" panose="02070309020205020404" pitchFamily="49" charset="0"/>
                <a:cs typeface="Courier New" panose="02070309020205020404" pitchFamily="49" charset="0"/>
              </a:rPr>
              <a:t>PRICE FOR THING 1: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3.99</a:t>
            </a:r>
          </a:p>
          <a:p>
            <a:r>
              <a:rPr lang="en-US" sz="1600" b="1" dirty="0">
                <a:solidFill>
                  <a:schemeClr val="bg1"/>
                </a:solidFill>
                <a:latin typeface="Courier New" panose="02070309020205020404" pitchFamily="49" charset="0"/>
                <a:cs typeface="Courier New" panose="02070309020205020404" pitchFamily="49" charset="0"/>
              </a:rPr>
              <a:t>USEFUL THING 2: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Super Glue</a:t>
            </a:r>
          </a:p>
          <a:p>
            <a:r>
              <a:rPr lang="en-US" sz="1600" b="1" dirty="0">
                <a:solidFill>
                  <a:schemeClr val="bg1"/>
                </a:solidFill>
                <a:latin typeface="Courier New" panose="02070309020205020404" pitchFamily="49" charset="0"/>
                <a:cs typeface="Courier New" panose="02070309020205020404" pitchFamily="49" charset="0"/>
              </a:rPr>
              <a:t>PRICE FOR THING 2: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4.99</a:t>
            </a:r>
          </a:p>
          <a:p>
            <a:r>
              <a:rPr lang="en-US" sz="1600" b="1" dirty="0">
                <a:solidFill>
                  <a:schemeClr val="bg1"/>
                </a:solidFill>
                <a:latin typeface="Courier New" panose="02070309020205020404" pitchFamily="49" charset="0"/>
                <a:cs typeface="Courier New" panose="02070309020205020404" pitchFamily="49" charset="0"/>
              </a:rPr>
              <a:t>USEFUL THING 3: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Sharpie</a:t>
            </a:r>
          </a:p>
          <a:p>
            <a:r>
              <a:rPr lang="en-US" sz="1600" b="1" dirty="0">
                <a:solidFill>
                  <a:schemeClr val="bg1"/>
                </a:solidFill>
                <a:latin typeface="Courier New" panose="02070309020205020404" pitchFamily="49" charset="0"/>
                <a:cs typeface="Courier New" panose="02070309020205020404" pitchFamily="49" charset="0"/>
              </a:rPr>
              <a:t>PRICE FOR THING 3: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2.99</a:t>
            </a:r>
          </a:p>
          <a:p>
            <a:r>
              <a:rPr lang="en-US" sz="1600" b="1" dirty="0">
                <a:solidFill>
                  <a:schemeClr val="bg1"/>
                </a:solidFill>
                <a:latin typeface="Courier New" panose="02070309020205020404" pitchFamily="49" charset="0"/>
                <a:cs typeface="Courier New" panose="02070309020205020404" pitchFamily="49" charset="0"/>
              </a:rPr>
              <a:t>USEFUL THING 4: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Band-Aid</a:t>
            </a:r>
          </a:p>
          <a:p>
            <a:r>
              <a:rPr lang="en-US" sz="1600" b="1" dirty="0">
                <a:solidFill>
                  <a:schemeClr val="bg1"/>
                </a:solidFill>
                <a:latin typeface="Courier New" panose="02070309020205020404" pitchFamily="49" charset="0"/>
                <a:cs typeface="Courier New" panose="02070309020205020404" pitchFamily="49" charset="0"/>
              </a:rPr>
              <a:t>PRICE FOR THING 4: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5</a:t>
            </a:r>
          </a:p>
          <a:p>
            <a:r>
              <a:rPr lang="en-US" sz="1600" b="1" dirty="0">
                <a:solidFill>
                  <a:schemeClr val="bg1"/>
                </a:solidFill>
                <a:latin typeface="Courier New" panose="02070309020205020404" pitchFamily="49" charset="0"/>
                <a:cs typeface="Courier New" panose="02070309020205020404" pitchFamily="49" charset="0"/>
              </a:rPr>
              <a:t>USEFUL THING 5: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Tylenol</a:t>
            </a:r>
          </a:p>
          <a:p>
            <a:r>
              <a:rPr lang="en-US" sz="1600" b="1" dirty="0">
                <a:solidFill>
                  <a:schemeClr val="bg1"/>
                </a:solidFill>
                <a:latin typeface="Courier New" panose="02070309020205020404" pitchFamily="49" charset="0"/>
                <a:cs typeface="Courier New" panose="02070309020205020404" pitchFamily="49" charset="0"/>
              </a:rPr>
              <a:t>PRICE FOR THING 5: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1.99</a:t>
            </a:r>
          </a:p>
          <a:p>
            <a:r>
              <a:rPr lang="en-US" sz="1600" b="1" dirty="0">
                <a:solidFill>
                  <a:schemeClr val="bg1"/>
                </a:solidFill>
                <a:latin typeface="Courier New" panose="02070309020205020404" pitchFamily="49" charset="0"/>
                <a:cs typeface="Courier New" panose="02070309020205020404" pitchFamily="49" charset="0"/>
              </a:rPr>
              <a:t>USEFUL THING 6: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Smart Phone</a:t>
            </a:r>
          </a:p>
          <a:p>
            <a:r>
              <a:rPr lang="en-US" sz="1600" b="1" dirty="0">
                <a:solidFill>
                  <a:schemeClr val="bg1"/>
                </a:solidFill>
                <a:latin typeface="Courier New" panose="02070309020205020404" pitchFamily="49" charset="0"/>
                <a:cs typeface="Courier New" panose="02070309020205020404" pitchFamily="49" charset="0"/>
              </a:rPr>
              <a:t>PRICE FOR THING 6: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1248.50</a:t>
            </a:r>
          </a:p>
          <a:p>
            <a:r>
              <a:rPr lang="en-US" sz="1600" b="1" dirty="0">
                <a:solidFill>
                  <a:schemeClr val="bg1"/>
                </a:solidFill>
                <a:latin typeface="Courier New" panose="02070309020205020404" pitchFamily="49" charset="0"/>
                <a:cs typeface="Courier New" panose="02070309020205020404" pitchFamily="49" charset="0"/>
              </a:rPr>
              <a:t>USEFUL THING 7: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Rain Boots</a:t>
            </a:r>
          </a:p>
          <a:p>
            <a:r>
              <a:rPr lang="en-US" sz="1600" b="1" dirty="0">
                <a:solidFill>
                  <a:schemeClr val="bg1"/>
                </a:solidFill>
                <a:latin typeface="Courier New" panose="02070309020205020404" pitchFamily="49" charset="0"/>
                <a:cs typeface="Courier New" panose="02070309020205020404" pitchFamily="49" charset="0"/>
              </a:rPr>
              <a:t>PRICE FOR THING 7: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39.99</a:t>
            </a:r>
          </a:p>
          <a:p>
            <a:r>
              <a:rPr lang="en-US" sz="1600" b="1" dirty="0">
                <a:solidFill>
                  <a:schemeClr val="bg1"/>
                </a:solidFill>
                <a:latin typeface="Courier New" panose="02070309020205020404" pitchFamily="49" charset="0"/>
                <a:cs typeface="Courier New" panose="02070309020205020404" pitchFamily="49" charset="0"/>
              </a:rPr>
              <a:t>USEFUL THING 8: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Paperclip</a:t>
            </a:r>
          </a:p>
          <a:p>
            <a:r>
              <a:rPr lang="en-US" sz="1600" b="1" dirty="0">
                <a:solidFill>
                  <a:schemeClr val="bg1"/>
                </a:solidFill>
                <a:latin typeface="Courier New" panose="02070309020205020404" pitchFamily="49" charset="0"/>
                <a:cs typeface="Courier New" panose="02070309020205020404" pitchFamily="49" charset="0"/>
              </a:rPr>
              <a:t>PRICE FOR THING 8: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.05</a:t>
            </a:r>
          </a:p>
          <a:p>
            <a:r>
              <a:rPr lang="en-US" sz="1600" b="1" dirty="0">
                <a:solidFill>
                  <a:schemeClr val="bg1"/>
                </a:solidFill>
                <a:latin typeface="Courier New" panose="02070309020205020404" pitchFamily="49" charset="0"/>
                <a:cs typeface="Courier New" panose="02070309020205020404" pitchFamily="49" charset="0"/>
              </a:rPr>
              <a:t>USEFUL THING 9: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Scissors</a:t>
            </a:r>
          </a:p>
          <a:p>
            <a:r>
              <a:rPr lang="en-US" sz="1600" b="1" dirty="0">
                <a:solidFill>
                  <a:schemeClr val="bg1"/>
                </a:solidFill>
                <a:latin typeface="Courier New" panose="02070309020205020404" pitchFamily="49" charset="0"/>
                <a:cs typeface="Courier New" panose="02070309020205020404" pitchFamily="49" charset="0"/>
              </a:rPr>
              <a:t>PRICE FOR THING 9: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7.99</a:t>
            </a:r>
          </a:p>
          <a:p>
            <a:r>
              <a:rPr lang="en-US" sz="1600" b="1" dirty="0">
                <a:solidFill>
                  <a:schemeClr val="bg1"/>
                </a:solidFill>
                <a:latin typeface="Courier New" panose="02070309020205020404" pitchFamily="49" charset="0"/>
                <a:cs typeface="Courier New" panose="02070309020205020404" pitchFamily="49" charset="0"/>
              </a:rPr>
              <a:t>USEFUL THING 10: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Swiss Army Knife</a:t>
            </a:r>
          </a:p>
          <a:p>
            <a:r>
              <a:rPr lang="en-US" sz="1600" b="1" dirty="0">
                <a:solidFill>
                  <a:schemeClr val="bg1"/>
                </a:solidFill>
                <a:latin typeface="Courier New" panose="02070309020205020404" pitchFamily="49" charset="0"/>
                <a:cs typeface="Courier New" panose="02070309020205020404" pitchFamily="49" charset="0"/>
              </a:rPr>
              <a:t>PRICE FOR THING 10: </a:t>
            </a:r>
            <a:r>
              <a:rPr lang="en-US" sz="1600" b="1" dirty="0">
                <a:solidFill>
                  <a:schemeClr val="bg1"/>
                </a:solidFill>
                <a:highlight>
                  <a:srgbClr val="FFFF00"/>
                </a:highlight>
                <a:latin typeface="Courier New" panose="02070309020205020404" pitchFamily="49" charset="0"/>
                <a:cs typeface="Courier New" panose="02070309020205020404" pitchFamily="49" charset="0"/>
              </a:rPr>
              <a:t>80</a:t>
            </a:r>
          </a:p>
        </p:txBody>
      </p:sp>
      <p:sp>
        <p:nvSpPr>
          <p:cNvPr id="5" name="TextBox 4">
            <a:extLst>
              <a:ext uri="{FF2B5EF4-FFF2-40B4-BE49-F238E27FC236}">
                <a16:creationId xmlns:a16="http://schemas.microsoft.com/office/drawing/2014/main" id="{85BD2D7D-7276-4708-A2F4-37B0E2CEE9C0}"/>
              </a:ext>
            </a:extLst>
          </p:cNvPr>
          <p:cNvSpPr txBox="1"/>
          <p:nvPr/>
        </p:nvSpPr>
        <p:spPr>
          <a:xfrm>
            <a:off x="8382000" y="1350760"/>
            <a:ext cx="3886200" cy="4924425"/>
          </a:xfrm>
          <a:prstGeom prst="rect">
            <a:avLst/>
          </a:prstGeom>
          <a:solidFill>
            <a:schemeClr val="tx1">
              <a:lumMod val="95000"/>
            </a:schemeClr>
          </a:solidFill>
        </p:spPr>
        <p:txBody>
          <a:bodyPr wrap="square" rtlCol="0">
            <a:spAutoFit/>
          </a:bodyPr>
          <a:lstStyle/>
          <a:p>
            <a:r>
              <a:rPr lang="en-US" sz="1600" b="1" dirty="0">
                <a:solidFill>
                  <a:schemeClr val="bg1"/>
                </a:solidFill>
                <a:latin typeface="Courier New" panose="02070309020205020404" pitchFamily="49" charset="0"/>
                <a:cs typeface="Courier New" panose="02070309020205020404" pitchFamily="49" charset="0"/>
              </a:rPr>
              <a:t>Your list of useful items include:</a:t>
            </a:r>
          </a:p>
          <a:p>
            <a:r>
              <a:rPr lang="en-US" sz="1600" b="1" dirty="0">
                <a:solidFill>
                  <a:schemeClr val="bg1"/>
                </a:solidFill>
                <a:latin typeface="Courier New" panose="02070309020205020404" pitchFamily="49" charset="0"/>
                <a:cs typeface="Courier New" panose="02070309020205020404" pitchFamily="49" charset="0"/>
              </a:rPr>
              <a:t>Duct Tape, $3.99</a:t>
            </a:r>
          </a:p>
          <a:p>
            <a:r>
              <a:rPr lang="en-US" sz="1600" b="1" dirty="0">
                <a:solidFill>
                  <a:schemeClr val="bg1"/>
                </a:solidFill>
                <a:latin typeface="Courier New" panose="02070309020205020404" pitchFamily="49" charset="0"/>
                <a:cs typeface="Courier New" panose="02070309020205020404" pitchFamily="49" charset="0"/>
              </a:rPr>
              <a:t>Super Glue, $4.99</a:t>
            </a:r>
          </a:p>
          <a:p>
            <a:r>
              <a:rPr lang="en-US" sz="1600" b="1" dirty="0">
                <a:solidFill>
                  <a:schemeClr val="bg1"/>
                </a:solidFill>
                <a:latin typeface="Courier New" panose="02070309020205020404" pitchFamily="49" charset="0"/>
                <a:cs typeface="Courier New" panose="02070309020205020404" pitchFamily="49" charset="0"/>
              </a:rPr>
              <a:t>Sharpie, $2.99</a:t>
            </a:r>
          </a:p>
          <a:p>
            <a:r>
              <a:rPr lang="en-US" sz="1600" b="1" dirty="0">
                <a:solidFill>
                  <a:schemeClr val="bg1"/>
                </a:solidFill>
                <a:latin typeface="Courier New" panose="02070309020205020404" pitchFamily="49" charset="0"/>
                <a:cs typeface="Courier New" panose="02070309020205020404" pitchFamily="49" charset="0"/>
              </a:rPr>
              <a:t>Band-Aid, $5.00</a:t>
            </a:r>
          </a:p>
          <a:p>
            <a:r>
              <a:rPr lang="en-US" sz="1600" b="1" dirty="0">
                <a:solidFill>
                  <a:schemeClr val="bg1"/>
                </a:solidFill>
                <a:latin typeface="Courier New" panose="02070309020205020404" pitchFamily="49" charset="0"/>
                <a:cs typeface="Courier New" panose="02070309020205020404" pitchFamily="49" charset="0"/>
              </a:rPr>
              <a:t>Tylenol, $1.99</a:t>
            </a:r>
          </a:p>
          <a:p>
            <a:r>
              <a:rPr lang="en-US" sz="1600" b="1" dirty="0">
                <a:solidFill>
                  <a:schemeClr val="bg1"/>
                </a:solidFill>
                <a:latin typeface="Courier New" panose="02070309020205020404" pitchFamily="49" charset="0"/>
                <a:cs typeface="Courier New" panose="02070309020205020404" pitchFamily="49" charset="0"/>
              </a:rPr>
              <a:t>Smart Phone, $1248.50</a:t>
            </a:r>
          </a:p>
          <a:p>
            <a:r>
              <a:rPr lang="en-US" sz="1600" b="1" dirty="0">
                <a:solidFill>
                  <a:schemeClr val="bg1"/>
                </a:solidFill>
                <a:latin typeface="Courier New" panose="02070309020205020404" pitchFamily="49" charset="0"/>
                <a:cs typeface="Courier New" panose="02070309020205020404" pitchFamily="49" charset="0"/>
              </a:rPr>
              <a:t>Rain Boots, $39.99</a:t>
            </a:r>
          </a:p>
          <a:p>
            <a:r>
              <a:rPr lang="en-US" sz="1600" b="1" dirty="0">
                <a:solidFill>
                  <a:schemeClr val="bg1"/>
                </a:solidFill>
                <a:latin typeface="Courier New" panose="02070309020205020404" pitchFamily="49" charset="0"/>
                <a:cs typeface="Courier New" panose="02070309020205020404" pitchFamily="49" charset="0"/>
              </a:rPr>
              <a:t>Paperclip, $0.05</a:t>
            </a:r>
          </a:p>
          <a:p>
            <a:r>
              <a:rPr lang="en-US" sz="1600" b="1" dirty="0">
                <a:solidFill>
                  <a:schemeClr val="bg1"/>
                </a:solidFill>
                <a:latin typeface="Courier New" panose="02070309020205020404" pitchFamily="49" charset="0"/>
                <a:cs typeface="Courier New" panose="02070309020205020404" pitchFamily="49" charset="0"/>
              </a:rPr>
              <a:t>Scissors, $7.99</a:t>
            </a:r>
          </a:p>
          <a:p>
            <a:r>
              <a:rPr lang="en-US" sz="1600" b="1" dirty="0">
                <a:solidFill>
                  <a:schemeClr val="bg1"/>
                </a:solidFill>
                <a:latin typeface="Courier New" panose="02070309020205020404" pitchFamily="49" charset="0"/>
                <a:cs typeface="Courier New" panose="02070309020205020404" pitchFamily="49" charset="0"/>
              </a:rPr>
              <a:t>Swiss Army Knife, $80.00</a:t>
            </a:r>
          </a:p>
          <a:p>
            <a:endParaRPr lang="en-US" sz="1600" dirty="0">
              <a:solidFill>
                <a:schemeClr val="bg1"/>
              </a:solidFill>
              <a:latin typeface="Courier New" panose="02070309020205020404" pitchFamily="49" charset="0"/>
              <a:cs typeface="Courier New" panose="02070309020205020404" pitchFamily="49" charset="0"/>
            </a:endParaRPr>
          </a:p>
          <a:p>
            <a:endParaRPr lang="en-US" sz="1600" dirty="0">
              <a:solidFill>
                <a:schemeClr val="bg1"/>
              </a:solidFill>
              <a:latin typeface="Courier New" panose="02070309020205020404" pitchFamily="49" charset="0"/>
              <a:cs typeface="Courier New" panose="02070309020205020404" pitchFamily="49" charset="0"/>
            </a:endParaRPr>
          </a:p>
          <a:p>
            <a:endParaRPr lang="en-US" dirty="0">
              <a:solidFill>
                <a:schemeClr val="bg1"/>
              </a:solidFill>
              <a:latin typeface="Courier New" panose="02070309020205020404" pitchFamily="49" charset="0"/>
              <a:cs typeface="Courier New" panose="02070309020205020404" pitchFamily="49" charset="0"/>
            </a:endParaRPr>
          </a:p>
          <a:p>
            <a:endParaRPr lang="en-US" dirty="0">
              <a:solidFill>
                <a:schemeClr val="bg1"/>
              </a:solidFill>
              <a:latin typeface="Courier New" panose="02070309020205020404" pitchFamily="49" charset="0"/>
              <a:cs typeface="Courier New" panose="02070309020205020404" pitchFamily="49" charset="0"/>
            </a:endParaRPr>
          </a:p>
          <a:p>
            <a:endParaRPr lang="en-US" dirty="0">
              <a:solidFill>
                <a:schemeClr val="bg1"/>
              </a:solidFill>
              <a:latin typeface="Courier New" panose="02070309020205020404" pitchFamily="49" charset="0"/>
              <a:cs typeface="Courier New" panose="02070309020205020404" pitchFamily="49" charset="0"/>
            </a:endParaRPr>
          </a:p>
          <a:p>
            <a:endParaRPr lang="en-US" dirty="0">
              <a:solidFill>
                <a:schemeClr val="bg1"/>
              </a:solidFill>
              <a:latin typeface="Courier New" panose="02070309020205020404" pitchFamily="49" charset="0"/>
              <a:cs typeface="Courier New" panose="02070309020205020404" pitchFamily="49" charset="0"/>
            </a:endParaRPr>
          </a:p>
          <a:p>
            <a:endParaRPr lang="en-US" dirty="0">
              <a:solidFill>
                <a:schemeClr val="bg1"/>
              </a:solidFill>
              <a:latin typeface="Courier New" panose="02070309020205020404" pitchFamily="49" charset="0"/>
              <a:cs typeface="Courier New" panose="02070309020205020404" pitchFamily="49" charset="0"/>
            </a:endParaRPr>
          </a:p>
        </p:txBody>
      </p:sp>
      <p:cxnSp>
        <p:nvCxnSpPr>
          <p:cNvPr id="9" name="Connector: Elbow 8">
            <a:extLst>
              <a:ext uri="{FF2B5EF4-FFF2-40B4-BE49-F238E27FC236}">
                <a16:creationId xmlns:a16="http://schemas.microsoft.com/office/drawing/2014/main" id="{2DA36AEB-540B-E629-084E-C91D59BD9F79}"/>
              </a:ext>
              <a:ext uri="{C183D7F6-B498-43B3-948B-1728B52AA6E4}">
                <adec:decorative xmlns:adec="http://schemas.microsoft.com/office/drawing/2017/decorative" val="1"/>
              </a:ext>
            </a:extLst>
          </p:cNvPr>
          <p:cNvCxnSpPr>
            <a:cxnSpLocks/>
            <a:stCxn id="4" idx="2"/>
            <a:endCxn id="5" idx="0"/>
          </p:cNvCxnSpPr>
          <p:nvPr/>
        </p:nvCxnSpPr>
        <p:spPr>
          <a:xfrm rot="5400000" flipH="1" flipV="1">
            <a:off x="5403084" y="1291614"/>
            <a:ext cx="4862870" cy="4981161"/>
          </a:xfrm>
          <a:prstGeom prst="bentConnector5">
            <a:avLst>
              <a:gd name="adj1" fmla="val -4701"/>
              <a:gd name="adj2" fmla="val 45562"/>
              <a:gd name="adj3" fmla="val 108675"/>
            </a:avLst>
          </a:prstGeom>
          <a:ln w="762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42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Foreach Loop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a:lnSpc>
                <a:spcPct val="90000"/>
              </a:lnSpc>
            </a:pPr>
            <a:r>
              <a:rPr lang="en-US" altLang="en-US" sz="2800" b="1" dirty="0">
                <a:solidFill>
                  <a:schemeClr val="bg1"/>
                </a:solidFill>
                <a:highlight>
                  <a:srgbClr val="FFFF00"/>
                </a:highlight>
              </a:rPr>
              <a:t>foreach</a:t>
            </a:r>
            <a:r>
              <a:rPr lang="en-US" altLang="en-US" sz="2800" b="1" dirty="0">
                <a:solidFill>
                  <a:srgbClr val="FF0000"/>
                </a:solidFill>
              </a:rPr>
              <a:t> </a:t>
            </a:r>
            <a:r>
              <a:rPr lang="en-US" altLang="en-US" sz="2800" b="1" dirty="0">
                <a:solidFill>
                  <a:schemeClr val="bg1"/>
                </a:solidFill>
                <a:highlight>
                  <a:srgbClr val="FFFF00"/>
                </a:highlight>
              </a:rPr>
              <a:t>loop</a:t>
            </a:r>
            <a:r>
              <a:rPr lang="en-US" altLang="en-US" sz="2800" dirty="0">
                <a:solidFill>
                  <a:schemeClr val="bg1"/>
                </a:solidFill>
              </a:rPr>
              <a:t> (also called range-based for loop) is used to iterate over the elements in an array quickly without performing initialization, testing, and updating.  </a:t>
            </a:r>
          </a:p>
          <a:p>
            <a:pPr>
              <a:lnSpc>
                <a:spcPct val="90000"/>
              </a:lnSpc>
            </a:pPr>
            <a:r>
              <a:rPr lang="en-US" altLang="en-US" sz="2800" dirty="0">
                <a:solidFill>
                  <a:schemeClr val="bg1"/>
                </a:solidFill>
              </a:rPr>
              <a:t>Use the keyword </a:t>
            </a:r>
            <a:r>
              <a:rPr lang="en-US" altLang="en-US" sz="2800" b="1" dirty="0">
                <a:solidFill>
                  <a:srgbClr val="0070C0"/>
                </a:solidFill>
                <a:latin typeface="Courier New" panose="02070309020205020404" pitchFamily="49" charset="0"/>
                <a:cs typeface="Courier New" panose="02070309020205020404" pitchFamily="49" charset="0"/>
              </a:rPr>
              <a:t>for</a:t>
            </a:r>
            <a:r>
              <a:rPr lang="en-US" altLang="en-US" sz="2800" dirty="0">
                <a:solidFill>
                  <a:schemeClr val="bg1"/>
                </a:solidFill>
              </a:rPr>
              <a:t>, rest of the syntax is different from the C++ for loop.</a:t>
            </a:r>
          </a:p>
          <a:p>
            <a:pPr>
              <a:lnSpc>
                <a:spcPct val="90000"/>
              </a:lnSpc>
            </a:pPr>
            <a:r>
              <a:rPr lang="en-US" altLang="en-US" sz="2800" dirty="0">
                <a:solidFill>
                  <a:schemeClr val="bg1"/>
                </a:solidFill>
              </a:rPr>
              <a:t>The working of foreach loops is to </a:t>
            </a:r>
            <a:r>
              <a:rPr lang="en-US" altLang="en-US" sz="2800" b="1" dirty="0">
                <a:solidFill>
                  <a:schemeClr val="bg1"/>
                </a:solidFill>
              </a:rPr>
              <a:t>do something for every element </a:t>
            </a:r>
            <a:r>
              <a:rPr lang="en-US" altLang="en-US" sz="2800" dirty="0">
                <a:solidFill>
                  <a:schemeClr val="bg1"/>
                </a:solidFill>
              </a:rPr>
              <a:t>rather than doing something n times.</a:t>
            </a:r>
          </a:p>
        </p:txBody>
      </p:sp>
      <p:sp>
        <p:nvSpPr>
          <p:cNvPr id="2" name="Text Box 4">
            <a:extLst>
              <a:ext uri="{FF2B5EF4-FFF2-40B4-BE49-F238E27FC236}">
                <a16:creationId xmlns:a16="http://schemas.microsoft.com/office/drawing/2014/main" id="{6FD1A795-3BAC-D71A-1357-DF2951BEE81C}"/>
              </a:ext>
            </a:extLst>
          </p:cNvPr>
          <p:cNvSpPr txBox="1">
            <a:spLocks noChangeArrowheads="1"/>
          </p:cNvSpPr>
          <p:nvPr/>
        </p:nvSpPr>
        <p:spPr bwMode="auto">
          <a:xfrm>
            <a:off x="685800" y="4306431"/>
            <a:ext cx="115062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b="1" dirty="0">
                <a:solidFill>
                  <a:srgbClr val="0070C0"/>
                </a:solidFill>
                <a:latin typeface="Courier New" panose="02070309020205020404" pitchFamily="49" charset="0"/>
              </a:rPr>
              <a:t>double </a:t>
            </a:r>
            <a:r>
              <a:rPr lang="en-US" altLang="en-US" sz="2800" b="1" dirty="0">
                <a:solidFill>
                  <a:schemeClr val="bg1"/>
                </a:solidFill>
                <a:latin typeface="Courier New" panose="02070309020205020404" pitchFamily="49" charset="0"/>
              </a:rPr>
              <a:t>numbers[</a:t>
            </a:r>
            <a:r>
              <a:rPr lang="en-US" altLang="en-US" sz="2800" b="1" dirty="0">
                <a:solidFill>
                  <a:schemeClr val="accent6"/>
                </a:solidFill>
                <a:latin typeface="Courier New" panose="02070309020205020404" pitchFamily="49" charset="0"/>
              </a:rPr>
              <a:t>100</a:t>
            </a:r>
            <a:r>
              <a:rPr lang="en-US" altLang="en-US" sz="2800" b="1" dirty="0">
                <a:solidFill>
                  <a:schemeClr val="bg1"/>
                </a:solidFill>
                <a:latin typeface="Courier New" panose="02070309020205020404" pitchFamily="49" charset="0"/>
              </a:rPr>
              <a:t>];</a:t>
            </a:r>
          </a:p>
          <a:p>
            <a:pPr eaLnBrk="1" hangingPunct="1">
              <a:spcBef>
                <a:spcPct val="0"/>
              </a:spcBef>
              <a:buFontTx/>
              <a:buNone/>
            </a:pPr>
            <a:br>
              <a:rPr lang="en-US" altLang="en-US" sz="2800" b="1" dirty="0">
                <a:solidFill>
                  <a:srgbClr val="0070C0"/>
                </a:solidFill>
                <a:latin typeface="Courier New" panose="02070309020205020404" pitchFamily="49" charset="0"/>
              </a:rPr>
            </a:br>
            <a:endParaRPr lang="en-US" altLang="en-US" sz="2800" b="1" dirty="0">
              <a:solidFill>
                <a:srgbClr val="0070C0"/>
              </a:solidFill>
              <a:latin typeface="Courier New" panose="02070309020205020404" pitchFamily="49" charset="0"/>
            </a:endParaRPr>
          </a:p>
          <a:p>
            <a:pPr eaLnBrk="1" hangingPunct="1">
              <a:spcBef>
                <a:spcPct val="0"/>
              </a:spcBef>
              <a:buFontTx/>
              <a:buNone/>
            </a:pPr>
            <a:r>
              <a:rPr lang="en-US" altLang="en-US" sz="2800" b="1" dirty="0">
                <a:solidFill>
                  <a:srgbClr val="0070C0"/>
                </a:solidFill>
                <a:latin typeface="Courier New" panose="02070309020205020404" pitchFamily="49" charset="0"/>
              </a:rPr>
              <a:t>for </a:t>
            </a:r>
            <a:r>
              <a:rPr lang="en-US" altLang="en-US" sz="2800" b="1" dirty="0">
                <a:solidFill>
                  <a:schemeClr val="bg1"/>
                </a:solidFill>
                <a:latin typeface="Courier New" panose="02070309020205020404" pitchFamily="49" charset="0"/>
              </a:rPr>
              <a:t>(</a:t>
            </a:r>
            <a:r>
              <a:rPr lang="en-US" altLang="en-US" sz="2800" b="1" dirty="0">
                <a:solidFill>
                  <a:srgbClr val="0070C0"/>
                </a:solidFill>
                <a:latin typeface="Courier New" panose="02070309020205020404" pitchFamily="49" charset="0"/>
              </a:rPr>
              <a:t>double </a:t>
            </a:r>
            <a:r>
              <a:rPr lang="en-US" altLang="en-US" sz="2800" b="1" dirty="0">
                <a:solidFill>
                  <a:schemeClr val="bg1"/>
                </a:solidFill>
                <a:latin typeface="Courier New" panose="02070309020205020404" pitchFamily="49" charset="0"/>
              </a:rPr>
              <a:t>num : numbers)</a:t>
            </a:r>
          </a:p>
          <a:p>
            <a:pPr eaLnBrk="1" hangingPunct="1">
              <a:spcBef>
                <a:spcPct val="0"/>
              </a:spcBef>
              <a:buFontTx/>
              <a:buNone/>
            </a:pPr>
            <a:r>
              <a:rPr lang="en-US" altLang="en-US" sz="2800" b="1" dirty="0">
                <a:solidFill>
                  <a:srgbClr val="0070C0"/>
                </a:solidFill>
                <a:latin typeface="Courier New" panose="02070309020205020404" pitchFamily="49" charset="0"/>
              </a:rPr>
              <a:t>     </a:t>
            </a:r>
            <a:r>
              <a:rPr lang="en-US" altLang="en-US" sz="2800" b="1" dirty="0">
                <a:solidFill>
                  <a:schemeClr val="bg1"/>
                </a:solidFill>
                <a:latin typeface="Courier New" panose="02070309020205020404" pitchFamily="49" charset="0"/>
              </a:rPr>
              <a:t>cout &lt;&lt; num &lt;&lt; endl</a:t>
            </a:r>
            <a:r>
              <a:rPr lang="en-US" altLang="en-US" sz="2800" b="1" dirty="0">
                <a:solidFill>
                  <a:srgbClr val="0070C0"/>
                </a:solidFill>
                <a:latin typeface="Courier New" panose="02070309020205020404" pitchFamily="49" charset="0"/>
              </a:rPr>
              <a:t>; </a:t>
            </a:r>
            <a:r>
              <a:rPr lang="en-US" altLang="en-US" sz="2800" b="1" dirty="0">
                <a:solidFill>
                  <a:srgbClr val="00B050"/>
                </a:solidFill>
                <a:latin typeface="Courier New" panose="02070309020205020404" pitchFamily="49" charset="0"/>
              </a:rPr>
              <a:t>//prints each element</a:t>
            </a:r>
          </a:p>
        </p:txBody>
      </p:sp>
      <p:sp>
        <p:nvSpPr>
          <p:cNvPr id="3" name="Callout: Down Arrow 2">
            <a:extLst>
              <a:ext uri="{FF2B5EF4-FFF2-40B4-BE49-F238E27FC236}">
                <a16:creationId xmlns:a16="http://schemas.microsoft.com/office/drawing/2014/main" id="{A3B19D2F-7E64-0FA0-421A-318E9A04031F}"/>
              </a:ext>
            </a:extLst>
          </p:cNvPr>
          <p:cNvSpPr/>
          <p:nvPr/>
        </p:nvSpPr>
        <p:spPr>
          <a:xfrm>
            <a:off x="1170424" y="4766310"/>
            <a:ext cx="2514600" cy="914400"/>
          </a:xfrm>
          <a:prstGeom prst="downArrowCallout">
            <a:avLst>
              <a:gd name="adj1" fmla="val 25000"/>
              <a:gd name="adj2" fmla="val 26500"/>
              <a:gd name="adj3" fmla="val 25000"/>
              <a:gd name="adj4" fmla="val 6497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000" b="1" dirty="0"/>
              <a:t>data type of elements in the array</a:t>
            </a:r>
          </a:p>
        </p:txBody>
      </p:sp>
      <p:sp>
        <p:nvSpPr>
          <p:cNvPr id="5" name="Callout: Down Arrow 4">
            <a:extLst>
              <a:ext uri="{FF2B5EF4-FFF2-40B4-BE49-F238E27FC236}">
                <a16:creationId xmlns:a16="http://schemas.microsoft.com/office/drawing/2014/main" id="{051B1F48-D0D0-EE65-B755-91F412A5A885}"/>
              </a:ext>
            </a:extLst>
          </p:cNvPr>
          <p:cNvSpPr/>
          <p:nvPr/>
        </p:nvSpPr>
        <p:spPr>
          <a:xfrm>
            <a:off x="3810000" y="4777740"/>
            <a:ext cx="1033302" cy="914400"/>
          </a:xfrm>
          <a:prstGeom prst="downArrowCallout">
            <a:avLst>
              <a:gd name="adj1" fmla="val 25000"/>
              <a:gd name="adj2" fmla="val 26500"/>
              <a:gd name="adj3" fmla="val 25000"/>
              <a:gd name="adj4" fmla="val 6497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000" b="1" dirty="0"/>
              <a:t>colon</a:t>
            </a:r>
          </a:p>
        </p:txBody>
      </p:sp>
      <p:sp>
        <p:nvSpPr>
          <p:cNvPr id="6" name="Callout: Down Arrow 5">
            <a:extLst>
              <a:ext uri="{FF2B5EF4-FFF2-40B4-BE49-F238E27FC236}">
                <a16:creationId xmlns:a16="http://schemas.microsoft.com/office/drawing/2014/main" id="{88842E04-9621-BABA-3839-DB1A09B0942D}"/>
              </a:ext>
            </a:extLst>
          </p:cNvPr>
          <p:cNvSpPr/>
          <p:nvPr/>
        </p:nvSpPr>
        <p:spPr>
          <a:xfrm>
            <a:off x="4942324" y="4800600"/>
            <a:ext cx="1524000" cy="914400"/>
          </a:xfrm>
          <a:prstGeom prst="downArrowCallout">
            <a:avLst>
              <a:gd name="adj1" fmla="val 25000"/>
              <a:gd name="adj2" fmla="val 26500"/>
              <a:gd name="adj3" fmla="val 25000"/>
              <a:gd name="adj4" fmla="val 6497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000" b="1" dirty="0"/>
              <a:t>array name</a:t>
            </a:r>
          </a:p>
        </p:txBody>
      </p:sp>
    </p:spTree>
    <p:extLst>
      <p:ext uri="{BB962C8B-B14F-4D97-AF65-F5344CB8AC3E}">
        <p14:creationId xmlns:p14="http://schemas.microsoft.com/office/powerpoint/2010/main" val="548698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Using auto with Foreach Loop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pPr>
              <a:lnSpc>
                <a:spcPct val="90000"/>
              </a:lnSpc>
            </a:pPr>
            <a:r>
              <a:rPr lang="en-US" altLang="en-US" sz="2800" dirty="0">
                <a:solidFill>
                  <a:schemeClr val="bg1"/>
                </a:solidFill>
              </a:rPr>
              <a:t>The </a:t>
            </a:r>
            <a:r>
              <a:rPr lang="en-US" altLang="en-US" sz="2800" b="1" dirty="0">
                <a:solidFill>
                  <a:srgbClr val="0070C0"/>
                </a:solidFill>
              </a:rPr>
              <a:t>auto</a:t>
            </a:r>
            <a:r>
              <a:rPr lang="en-US" altLang="en-US" sz="2800" dirty="0">
                <a:solidFill>
                  <a:schemeClr val="bg1"/>
                </a:solidFill>
              </a:rPr>
              <a:t> keyword (introduced in C++ 11) allows for type inference and is commonly used in the foreach loop.</a:t>
            </a:r>
          </a:p>
          <a:p>
            <a:pPr>
              <a:lnSpc>
                <a:spcPct val="90000"/>
              </a:lnSpc>
            </a:pPr>
            <a:r>
              <a:rPr lang="en-US" altLang="en-US" sz="2800" b="1" dirty="0">
                <a:solidFill>
                  <a:schemeClr val="bg1"/>
                </a:solidFill>
                <a:highlight>
                  <a:srgbClr val="FFFF00"/>
                </a:highlight>
              </a:rPr>
              <a:t>Type inference </a:t>
            </a:r>
            <a:r>
              <a:rPr lang="en-US" altLang="en-US" sz="2800" dirty="0">
                <a:solidFill>
                  <a:schemeClr val="bg1"/>
                </a:solidFill>
              </a:rPr>
              <a:t>refers to automatic determination of the data type.</a:t>
            </a:r>
          </a:p>
        </p:txBody>
      </p:sp>
      <p:sp>
        <p:nvSpPr>
          <p:cNvPr id="2" name="Text Box 4">
            <a:extLst>
              <a:ext uri="{FF2B5EF4-FFF2-40B4-BE49-F238E27FC236}">
                <a16:creationId xmlns:a16="http://schemas.microsoft.com/office/drawing/2014/main" id="{6FD1A795-3BAC-D71A-1357-DF2951BEE81C}"/>
              </a:ext>
            </a:extLst>
          </p:cNvPr>
          <p:cNvSpPr txBox="1">
            <a:spLocks noChangeArrowheads="1"/>
          </p:cNvSpPr>
          <p:nvPr/>
        </p:nvSpPr>
        <p:spPr bwMode="auto">
          <a:xfrm>
            <a:off x="636270" y="3505200"/>
            <a:ext cx="113538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b="1" dirty="0">
                <a:solidFill>
                  <a:srgbClr val="0070C0"/>
                </a:solidFill>
                <a:latin typeface="Courier New" panose="02070309020205020404" pitchFamily="49" charset="0"/>
              </a:rPr>
              <a:t>double numbers[100];</a:t>
            </a:r>
          </a:p>
          <a:p>
            <a:pPr eaLnBrk="1" hangingPunct="1">
              <a:spcBef>
                <a:spcPct val="0"/>
              </a:spcBef>
              <a:buFontTx/>
              <a:buNone/>
            </a:pPr>
            <a:endParaRPr lang="en-US" altLang="en-US" sz="2800" b="1" dirty="0">
              <a:solidFill>
                <a:srgbClr val="0070C0"/>
              </a:solidFill>
              <a:latin typeface="Courier New" panose="02070309020205020404" pitchFamily="49" charset="0"/>
            </a:endParaRPr>
          </a:p>
          <a:p>
            <a:pPr eaLnBrk="1" hangingPunct="1">
              <a:spcBef>
                <a:spcPct val="0"/>
              </a:spcBef>
              <a:buFontTx/>
              <a:buNone/>
            </a:pPr>
            <a:r>
              <a:rPr lang="en-US" altLang="en-US" sz="2800" b="1" dirty="0">
                <a:solidFill>
                  <a:srgbClr val="0070C0"/>
                </a:solidFill>
                <a:latin typeface="Courier New" panose="02070309020205020404" pitchFamily="49" charset="0"/>
              </a:rPr>
              <a:t>for </a:t>
            </a:r>
            <a:r>
              <a:rPr lang="en-US" altLang="en-US" sz="2800" b="1" dirty="0">
                <a:solidFill>
                  <a:schemeClr val="bg1"/>
                </a:solidFill>
                <a:latin typeface="Courier New" panose="02070309020205020404" pitchFamily="49" charset="0"/>
              </a:rPr>
              <a:t>(</a:t>
            </a:r>
            <a:r>
              <a:rPr lang="en-US" altLang="en-US" sz="2800" b="1" dirty="0">
                <a:solidFill>
                  <a:schemeClr val="bg1"/>
                </a:solidFill>
                <a:highlight>
                  <a:srgbClr val="FFFF00"/>
                </a:highlight>
                <a:latin typeface="Courier New" panose="02070309020205020404" pitchFamily="49" charset="0"/>
              </a:rPr>
              <a:t>auto</a:t>
            </a:r>
            <a:r>
              <a:rPr lang="en-US" altLang="en-US" sz="2800" b="1" dirty="0">
                <a:solidFill>
                  <a:srgbClr val="0070C0"/>
                </a:solidFill>
                <a:latin typeface="Courier New" panose="02070309020205020404" pitchFamily="49" charset="0"/>
              </a:rPr>
              <a:t> </a:t>
            </a:r>
            <a:r>
              <a:rPr lang="en-US" altLang="en-US" sz="2800" b="1" dirty="0">
                <a:solidFill>
                  <a:schemeClr val="bg1"/>
                </a:solidFill>
                <a:latin typeface="Courier New" panose="02070309020205020404" pitchFamily="49" charset="0"/>
              </a:rPr>
              <a:t>num : numbers)</a:t>
            </a:r>
          </a:p>
          <a:p>
            <a:pPr eaLnBrk="1" hangingPunct="1">
              <a:spcBef>
                <a:spcPct val="0"/>
              </a:spcBef>
              <a:buFontTx/>
              <a:buNone/>
            </a:pPr>
            <a:r>
              <a:rPr lang="en-US" altLang="en-US" sz="2800" b="1" dirty="0">
                <a:solidFill>
                  <a:srgbClr val="0070C0"/>
                </a:solidFill>
                <a:latin typeface="Courier New" panose="02070309020205020404" pitchFamily="49" charset="0"/>
              </a:rPr>
              <a:t>     </a:t>
            </a:r>
            <a:r>
              <a:rPr lang="en-US" altLang="en-US" sz="2800" b="1" dirty="0">
                <a:solidFill>
                  <a:schemeClr val="bg1"/>
                </a:solidFill>
                <a:latin typeface="Courier New" panose="02070309020205020404" pitchFamily="49" charset="0"/>
              </a:rPr>
              <a:t>cout &lt;&lt; num &lt;&lt; endl; </a:t>
            </a:r>
          </a:p>
        </p:txBody>
      </p:sp>
    </p:spTree>
    <p:extLst>
      <p:ext uri="{BB962C8B-B14F-4D97-AF65-F5344CB8AC3E}">
        <p14:creationId xmlns:p14="http://schemas.microsoft.com/office/powerpoint/2010/main" val="658276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Assignment in a Foreach Loop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pPr>
              <a:lnSpc>
                <a:spcPct val="90000"/>
              </a:lnSpc>
            </a:pPr>
            <a:r>
              <a:rPr lang="en-US" altLang="en-US" sz="2800" dirty="0">
                <a:solidFill>
                  <a:schemeClr val="bg1"/>
                </a:solidFill>
              </a:rPr>
              <a:t>When doing assignment with a foreach loop, you must use a reference to the element so that you are changing the contents of the element and not just accessing it.  </a:t>
            </a:r>
          </a:p>
          <a:p>
            <a:pPr>
              <a:lnSpc>
                <a:spcPct val="90000"/>
              </a:lnSpc>
            </a:pPr>
            <a:r>
              <a:rPr lang="en-US" altLang="en-US" sz="2800" dirty="0">
                <a:solidFill>
                  <a:schemeClr val="bg1"/>
                </a:solidFill>
              </a:rPr>
              <a:t>Use an ampersand </a:t>
            </a:r>
            <a:r>
              <a:rPr lang="en-US" altLang="en-US" sz="2800" b="1" dirty="0">
                <a:solidFill>
                  <a:schemeClr val="bg1"/>
                </a:solidFill>
                <a:highlight>
                  <a:srgbClr val="FFFF00"/>
                </a:highlight>
              </a:rPr>
              <a:t>&amp;</a:t>
            </a:r>
            <a:r>
              <a:rPr lang="en-US" altLang="en-US" sz="2800" dirty="0">
                <a:solidFill>
                  <a:schemeClr val="bg1"/>
                </a:solidFill>
              </a:rPr>
              <a:t> to reference the variable.</a:t>
            </a:r>
          </a:p>
        </p:txBody>
      </p:sp>
      <p:sp>
        <p:nvSpPr>
          <p:cNvPr id="2" name="Text Box 4">
            <a:extLst>
              <a:ext uri="{FF2B5EF4-FFF2-40B4-BE49-F238E27FC236}">
                <a16:creationId xmlns:a16="http://schemas.microsoft.com/office/drawing/2014/main" id="{6FD1A795-3BAC-D71A-1357-DF2951BEE81C}"/>
              </a:ext>
            </a:extLst>
          </p:cNvPr>
          <p:cNvSpPr txBox="1">
            <a:spLocks noChangeArrowheads="1"/>
          </p:cNvSpPr>
          <p:nvPr/>
        </p:nvSpPr>
        <p:spPr bwMode="auto">
          <a:xfrm>
            <a:off x="636270" y="3505200"/>
            <a:ext cx="113538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b="1" dirty="0">
                <a:solidFill>
                  <a:srgbClr val="0070C0"/>
                </a:solidFill>
                <a:latin typeface="Courier New" panose="02070309020205020404" pitchFamily="49" charset="0"/>
              </a:rPr>
              <a:t>double </a:t>
            </a:r>
            <a:r>
              <a:rPr lang="en-US" altLang="en-US" sz="2800" b="1" dirty="0">
                <a:solidFill>
                  <a:schemeClr val="bg1"/>
                </a:solidFill>
                <a:latin typeface="Courier New" panose="02070309020205020404" pitchFamily="49" charset="0"/>
              </a:rPr>
              <a:t>numbers[100];</a:t>
            </a:r>
          </a:p>
          <a:p>
            <a:pPr eaLnBrk="1" hangingPunct="1">
              <a:spcBef>
                <a:spcPct val="0"/>
              </a:spcBef>
              <a:buFontTx/>
              <a:buNone/>
            </a:pPr>
            <a:endParaRPr lang="en-US" altLang="en-US" sz="2800" b="1" dirty="0">
              <a:solidFill>
                <a:srgbClr val="0070C0"/>
              </a:solidFill>
              <a:latin typeface="Courier New" panose="02070309020205020404" pitchFamily="49" charset="0"/>
            </a:endParaRPr>
          </a:p>
          <a:p>
            <a:pPr eaLnBrk="1" hangingPunct="1">
              <a:spcBef>
                <a:spcPct val="0"/>
              </a:spcBef>
              <a:buFontTx/>
              <a:buNone/>
            </a:pPr>
            <a:r>
              <a:rPr lang="en-US" altLang="en-US" sz="2800" b="1" dirty="0">
                <a:solidFill>
                  <a:srgbClr val="0070C0"/>
                </a:solidFill>
                <a:latin typeface="Courier New" panose="02070309020205020404" pitchFamily="49" charset="0"/>
              </a:rPr>
              <a:t>for </a:t>
            </a:r>
            <a:r>
              <a:rPr lang="en-US" altLang="en-US" sz="2800" b="1" dirty="0">
                <a:solidFill>
                  <a:schemeClr val="bg1"/>
                </a:solidFill>
                <a:latin typeface="Courier New" panose="02070309020205020404" pitchFamily="49" charset="0"/>
              </a:rPr>
              <a:t>(</a:t>
            </a:r>
            <a:r>
              <a:rPr lang="en-US" altLang="en-US" sz="2800" b="1" dirty="0">
                <a:solidFill>
                  <a:srgbClr val="0070C0"/>
                </a:solidFill>
                <a:latin typeface="Courier New" panose="02070309020205020404" pitchFamily="49" charset="0"/>
              </a:rPr>
              <a:t>auto </a:t>
            </a:r>
            <a:r>
              <a:rPr lang="en-US" altLang="en-US" sz="2800" b="1" dirty="0">
                <a:solidFill>
                  <a:schemeClr val="bg1"/>
                </a:solidFill>
                <a:highlight>
                  <a:srgbClr val="FFFF00"/>
                </a:highlight>
                <a:latin typeface="Courier New" panose="02070309020205020404" pitchFamily="49" charset="0"/>
              </a:rPr>
              <a:t>&amp;</a:t>
            </a:r>
            <a:r>
              <a:rPr lang="en-US" altLang="en-US" sz="2800" b="1" dirty="0">
                <a:solidFill>
                  <a:srgbClr val="0070C0"/>
                </a:solidFill>
                <a:latin typeface="Courier New" panose="02070309020205020404" pitchFamily="49" charset="0"/>
              </a:rPr>
              <a:t> </a:t>
            </a:r>
            <a:r>
              <a:rPr lang="en-US" altLang="en-US" sz="2800" b="1" dirty="0">
                <a:solidFill>
                  <a:schemeClr val="bg1"/>
                </a:solidFill>
                <a:latin typeface="Courier New" panose="02070309020205020404" pitchFamily="49" charset="0"/>
              </a:rPr>
              <a:t>num : numbers)</a:t>
            </a:r>
          </a:p>
          <a:p>
            <a:pPr eaLnBrk="1" hangingPunct="1">
              <a:spcBef>
                <a:spcPct val="0"/>
              </a:spcBef>
              <a:buFontTx/>
              <a:buNone/>
            </a:pPr>
            <a:r>
              <a:rPr lang="en-US" altLang="en-US" sz="2800" b="1" dirty="0">
                <a:solidFill>
                  <a:srgbClr val="0070C0"/>
                </a:solidFill>
                <a:latin typeface="Courier New" panose="02070309020205020404" pitchFamily="49" charset="0"/>
              </a:rPr>
              <a:t>     </a:t>
            </a:r>
            <a:r>
              <a:rPr lang="en-US" altLang="en-US" sz="2800" b="1" dirty="0">
                <a:solidFill>
                  <a:schemeClr val="bg1"/>
                </a:solidFill>
                <a:latin typeface="Courier New" panose="02070309020205020404" pitchFamily="49" charset="0"/>
              </a:rPr>
              <a:t>num = </a:t>
            </a:r>
            <a:r>
              <a:rPr lang="en-US" altLang="en-US" sz="2800" b="1" dirty="0">
                <a:solidFill>
                  <a:schemeClr val="accent6"/>
                </a:solidFill>
                <a:latin typeface="Courier New" panose="02070309020205020404" pitchFamily="49" charset="0"/>
              </a:rPr>
              <a:t>99.9</a:t>
            </a:r>
            <a:r>
              <a:rPr lang="en-US" altLang="en-US" sz="2800" b="1" dirty="0">
                <a:solidFill>
                  <a:schemeClr val="bg1"/>
                </a:solidFill>
                <a:latin typeface="Courier New" panose="02070309020205020404" pitchFamily="49" charset="0"/>
              </a:rPr>
              <a:t>; </a:t>
            </a:r>
            <a:r>
              <a:rPr lang="en-US" altLang="en-US" sz="2800" b="1" dirty="0">
                <a:solidFill>
                  <a:srgbClr val="00B050"/>
                </a:solidFill>
                <a:latin typeface="Courier New" panose="02070309020205020404" pitchFamily="49" charset="0"/>
              </a:rPr>
              <a:t>//assign 99.9 to each element</a:t>
            </a:r>
          </a:p>
        </p:txBody>
      </p:sp>
    </p:spTree>
    <p:extLst>
      <p:ext uri="{BB962C8B-B14F-4D97-AF65-F5344CB8AC3E}">
        <p14:creationId xmlns:p14="http://schemas.microsoft.com/office/powerpoint/2010/main" val="3121895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Foreach Example</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foreach_1.cpp</a:t>
            </a:r>
            <a:br>
              <a:rPr lang="en-US" sz="2800" dirty="0">
                <a:solidFill>
                  <a:schemeClr val="bg1"/>
                </a:solidFill>
              </a:rPr>
            </a:br>
            <a:r>
              <a:rPr lang="en-US" sz="2800" dirty="0">
                <a:solidFill>
                  <a:schemeClr val="bg1"/>
                </a:solidFill>
              </a:rPr>
              <a:t>Uses a foreach loop to assign a value to each element of the array and then uses another foreach loop to print the array contents to the screen.</a:t>
            </a:r>
          </a:p>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foreach_2.cpp</a:t>
            </a:r>
            <a:br>
              <a:rPr lang="en-US" sz="2800" dirty="0">
                <a:solidFill>
                  <a:schemeClr val="bg1"/>
                </a:solidFill>
              </a:rPr>
            </a:br>
            <a:r>
              <a:rPr lang="en-US" sz="2800" dirty="0">
                <a:solidFill>
                  <a:schemeClr val="bg1"/>
                </a:solidFill>
              </a:rPr>
              <a:t>Uses a foreach loop with a  string array.</a:t>
            </a: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51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381000" y="2065020"/>
            <a:ext cx="4495800" cy="27432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Common Array Algorithms</a:t>
            </a:r>
          </a:p>
        </p:txBody>
      </p:sp>
      <p:pic>
        <p:nvPicPr>
          <p:cNvPr id="4" name="Picture 3" descr="A squirrel and an eagle sitting at a computer">
            <a:extLst>
              <a:ext uri="{FF2B5EF4-FFF2-40B4-BE49-F238E27FC236}">
                <a16:creationId xmlns:a16="http://schemas.microsoft.com/office/drawing/2014/main" id="{A8BB3C09-A450-BE4B-3CEE-CEE69FBA7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7620"/>
            <a:ext cx="6858000" cy="6858000"/>
          </a:xfrm>
          <a:prstGeom prst="rect">
            <a:avLst/>
          </a:prstGeom>
        </p:spPr>
      </p:pic>
    </p:spTree>
    <p:extLst>
      <p:ext uri="{BB962C8B-B14F-4D97-AF65-F5344CB8AC3E}">
        <p14:creationId xmlns:p14="http://schemas.microsoft.com/office/powerpoint/2010/main" val="3901538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Find Maximum Value Algorithm</a:t>
            </a:r>
            <a:endParaRPr b="1" dirty="0">
              <a:solidFill>
                <a:srgbClr val="4F2984"/>
              </a:solidFill>
              <a:latin typeface="Amasis MT Pro Black" panose="02040A04050005020304" pitchFamily="18" charset="0"/>
            </a:endParaRPr>
          </a:p>
        </p:txBody>
      </p:sp>
      <p:pic>
        <p:nvPicPr>
          <p:cNvPr id="9" name="Picture 8" descr="code">
            <a:extLst>
              <a:ext uri="{FF2B5EF4-FFF2-40B4-BE49-F238E27FC236}">
                <a16:creationId xmlns:a16="http://schemas.microsoft.com/office/drawing/2014/main" id="{8B7D3EDA-1466-4E9A-41E7-C70BEB6C9FD7}"/>
              </a:ext>
            </a:extLst>
          </p:cNvPr>
          <p:cNvPicPr>
            <a:picLocks noChangeAspect="1"/>
          </p:cNvPicPr>
          <p:nvPr/>
        </p:nvPicPr>
        <p:blipFill>
          <a:blip r:embed="rId3"/>
          <a:stretch>
            <a:fillRect/>
          </a:stretch>
        </p:blipFill>
        <p:spPr>
          <a:xfrm>
            <a:off x="304800" y="1828800"/>
            <a:ext cx="11814274" cy="2971800"/>
          </a:xfrm>
          <a:prstGeom prst="rect">
            <a:avLst/>
          </a:prstGeom>
        </p:spPr>
      </p:pic>
    </p:spTree>
    <p:extLst>
      <p:ext uri="{BB962C8B-B14F-4D97-AF65-F5344CB8AC3E}">
        <p14:creationId xmlns:p14="http://schemas.microsoft.com/office/powerpoint/2010/main" val="1977827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Find Minimum Value Algorithm</a:t>
            </a:r>
            <a:endParaRPr b="1" dirty="0">
              <a:solidFill>
                <a:srgbClr val="4F2984"/>
              </a:solidFill>
              <a:latin typeface="Amasis MT Pro Black" panose="02040A04050005020304" pitchFamily="18" charset="0"/>
            </a:endParaRPr>
          </a:p>
        </p:txBody>
      </p:sp>
      <p:pic>
        <p:nvPicPr>
          <p:cNvPr id="3" name="Picture 2" descr="code">
            <a:extLst>
              <a:ext uri="{FF2B5EF4-FFF2-40B4-BE49-F238E27FC236}">
                <a16:creationId xmlns:a16="http://schemas.microsoft.com/office/drawing/2014/main" id="{59BFD7C7-D6B7-3560-950E-56E2D135D298}"/>
              </a:ext>
            </a:extLst>
          </p:cNvPr>
          <p:cNvPicPr>
            <a:picLocks noChangeAspect="1"/>
          </p:cNvPicPr>
          <p:nvPr/>
        </p:nvPicPr>
        <p:blipFill>
          <a:blip r:embed="rId3"/>
          <a:stretch>
            <a:fillRect/>
          </a:stretch>
        </p:blipFill>
        <p:spPr>
          <a:xfrm>
            <a:off x="304800" y="1905000"/>
            <a:ext cx="11741998" cy="2895600"/>
          </a:xfrm>
          <a:prstGeom prst="rect">
            <a:avLst/>
          </a:prstGeom>
        </p:spPr>
      </p:pic>
    </p:spTree>
    <p:extLst>
      <p:ext uri="{BB962C8B-B14F-4D97-AF65-F5344CB8AC3E}">
        <p14:creationId xmlns:p14="http://schemas.microsoft.com/office/powerpoint/2010/main" val="795675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Find Sum of All Elements Algorithm</a:t>
            </a:r>
            <a:endParaRPr b="1" dirty="0">
              <a:solidFill>
                <a:srgbClr val="4F2984"/>
              </a:solidFill>
              <a:latin typeface="Amasis MT Pro Black" panose="02040A04050005020304" pitchFamily="18" charset="0"/>
            </a:endParaRPr>
          </a:p>
        </p:txBody>
      </p:sp>
      <p:pic>
        <p:nvPicPr>
          <p:cNvPr id="4" name="Picture 3" descr="code">
            <a:extLst>
              <a:ext uri="{FF2B5EF4-FFF2-40B4-BE49-F238E27FC236}">
                <a16:creationId xmlns:a16="http://schemas.microsoft.com/office/drawing/2014/main" id="{1B9F229B-9858-02D2-721C-718F29CD478F}"/>
              </a:ext>
            </a:extLst>
          </p:cNvPr>
          <p:cNvPicPr>
            <a:picLocks noChangeAspect="1"/>
          </p:cNvPicPr>
          <p:nvPr/>
        </p:nvPicPr>
        <p:blipFill>
          <a:blip r:embed="rId3"/>
          <a:stretch>
            <a:fillRect/>
          </a:stretch>
        </p:blipFill>
        <p:spPr>
          <a:xfrm>
            <a:off x="380999" y="2209800"/>
            <a:ext cx="11577219" cy="2514600"/>
          </a:xfrm>
          <a:prstGeom prst="rect">
            <a:avLst/>
          </a:prstGeom>
        </p:spPr>
      </p:pic>
    </p:spTree>
    <p:extLst>
      <p:ext uri="{BB962C8B-B14F-4D97-AF65-F5344CB8AC3E}">
        <p14:creationId xmlns:p14="http://schemas.microsoft.com/office/powerpoint/2010/main" val="3425761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Examples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arrayExample_5.cpp</a:t>
            </a:r>
            <a:br>
              <a:rPr lang="en-US" sz="2800" dirty="0">
                <a:solidFill>
                  <a:schemeClr val="bg1"/>
                </a:solidFill>
              </a:rPr>
            </a:br>
            <a:r>
              <a:rPr lang="en-US" sz="2800" dirty="0">
                <a:solidFill>
                  <a:schemeClr val="bg1"/>
                </a:solidFill>
              </a:rPr>
              <a:t>stores (in an array) hours worked by employees</a:t>
            </a:r>
          </a:p>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arrayExample_6.cpp</a:t>
            </a:r>
            <a:br>
              <a:rPr lang="en-US" sz="2800" dirty="0">
                <a:solidFill>
                  <a:schemeClr val="bg1"/>
                </a:solidFill>
              </a:rPr>
            </a:br>
            <a:r>
              <a:rPr lang="en-US" sz="2800" dirty="0">
                <a:solidFill>
                  <a:schemeClr val="bg1"/>
                </a:solidFill>
              </a:rPr>
              <a:t>gets a series of test scores and calculates average with the lowest score dropped.  Also finds the highest score.</a:t>
            </a: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218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7315200" y="2057400"/>
            <a:ext cx="4495800" cy="27432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Array Initialization</a:t>
            </a:r>
          </a:p>
        </p:txBody>
      </p:sp>
      <p:pic>
        <p:nvPicPr>
          <p:cNvPr id="4" name="Picture 3" descr="A squirrel wearing a purple shirt and cap sitting at a table with a computer">
            <a:extLst>
              <a:ext uri="{FF2B5EF4-FFF2-40B4-BE49-F238E27FC236}">
                <a16:creationId xmlns:a16="http://schemas.microsoft.com/office/drawing/2014/main" id="{28A5AFBA-053F-D90B-2E28-30A2DB1D25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617961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Initialization with an Initialization List</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r>
              <a:rPr lang="en-US" altLang="en-US" sz="2800" dirty="0">
                <a:solidFill>
                  <a:schemeClr val="bg1"/>
                </a:solidFill>
              </a:rPr>
              <a:t>Arrays can be initialized with an </a:t>
            </a:r>
            <a:r>
              <a:rPr lang="en-US" altLang="en-US" sz="2800" b="1" dirty="0">
                <a:solidFill>
                  <a:schemeClr val="bg1"/>
                </a:solidFill>
                <a:highlight>
                  <a:srgbClr val="FFFF00"/>
                </a:highlight>
              </a:rPr>
              <a:t>initialization list</a:t>
            </a:r>
            <a:r>
              <a:rPr lang="en-US" altLang="en-US" sz="2800" dirty="0">
                <a:solidFill>
                  <a:schemeClr val="bg1"/>
                </a:solidFill>
              </a:rPr>
              <a:t>:</a:t>
            </a:r>
            <a:br>
              <a:rPr lang="en-US" altLang="en-US" sz="2800" dirty="0">
                <a:solidFill>
                  <a:schemeClr val="bg1"/>
                </a:solidFill>
              </a:rPr>
            </a:br>
            <a:br>
              <a:rPr lang="en-US" altLang="en-US" sz="2800" dirty="0">
                <a:solidFill>
                  <a:schemeClr val="bg1"/>
                </a:solidFill>
              </a:rPr>
            </a:br>
            <a:r>
              <a:rPr lang="en-US" altLang="en-US" sz="2800" b="1" dirty="0">
                <a:solidFill>
                  <a:srgbClr val="0070C0"/>
                </a:solidFill>
                <a:latin typeface="Courier New" panose="02070309020205020404" pitchFamily="49" charset="0"/>
              </a:rPr>
              <a:t>const int </a:t>
            </a:r>
            <a:r>
              <a:rPr lang="en-US" altLang="en-US" sz="2800" b="1" dirty="0">
                <a:solidFill>
                  <a:schemeClr val="bg1"/>
                </a:solidFill>
                <a:latin typeface="Courier New" panose="02070309020205020404" pitchFamily="49" charset="0"/>
              </a:rPr>
              <a:t>SIZE</a:t>
            </a:r>
            <a:r>
              <a:rPr lang="en-US" altLang="en-US" sz="2800" b="1" dirty="0">
                <a:solidFill>
                  <a:srgbClr val="0070C0"/>
                </a:solidFill>
                <a:latin typeface="Courier New" panose="02070309020205020404" pitchFamily="49" charset="0"/>
              </a:rPr>
              <a:t> </a:t>
            </a:r>
            <a:r>
              <a:rPr lang="en-US" altLang="en-US" sz="2800" b="1" dirty="0">
                <a:solidFill>
                  <a:srgbClr val="003399"/>
                </a:solidFill>
                <a:latin typeface="Courier New" panose="02070309020205020404" pitchFamily="49" charset="0"/>
              </a:rPr>
              <a:t>=</a:t>
            </a:r>
            <a:r>
              <a:rPr lang="en-US" altLang="en-US" sz="2800" b="1" dirty="0">
                <a:solidFill>
                  <a:srgbClr val="0070C0"/>
                </a:solidFill>
                <a:latin typeface="Courier New" panose="02070309020205020404" pitchFamily="49" charset="0"/>
              </a:rPr>
              <a:t> </a:t>
            </a:r>
            <a:r>
              <a:rPr lang="en-US" altLang="en-US" sz="2800" b="1" dirty="0">
                <a:solidFill>
                  <a:schemeClr val="accent6"/>
                </a:solidFill>
                <a:latin typeface="Courier New" panose="02070309020205020404" pitchFamily="49" charset="0"/>
              </a:rPr>
              <a:t>5</a:t>
            </a:r>
            <a:r>
              <a:rPr lang="en-US" altLang="en-US" sz="2800" b="1" dirty="0">
                <a:solidFill>
                  <a:srgbClr val="0070C0"/>
                </a:solidFill>
                <a:latin typeface="Courier New" panose="02070309020205020404" pitchFamily="49" charset="0"/>
              </a:rPr>
              <a:t>;</a:t>
            </a:r>
            <a:br>
              <a:rPr lang="en-US" altLang="en-US" sz="2800" b="1" dirty="0">
                <a:solidFill>
                  <a:srgbClr val="0070C0"/>
                </a:solidFill>
                <a:latin typeface="Courier New" panose="02070309020205020404" pitchFamily="49" charset="0"/>
              </a:rPr>
            </a:br>
            <a:r>
              <a:rPr lang="en-US" altLang="en-US" sz="2800" b="1" dirty="0">
                <a:solidFill>
                  <a:srgbClr val="0070C0"/>
                </a:solidFill>
                <a:latin typeface="Courier New" panose="02070309020205020404" pitchFamily="49" charset="0"/>
              </a:rPr>
              <a:t>int </a:t>
            </a:r>
            <a:r>
              <a:rPr lang="en-US" altLang="en-US" sz="2800" b="1" dirty="0">
                <a:solidFill>
                  <a:schemeClr val="bg1"/>
                </a:solidFill>
                <a:latin typeface="Courier New" panose="02070309020205020404" pitchFamily="49" charset="0"/>
              </a:rPr>
              <a:t>tests</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SIZE</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 </a:t>
            </a:r>
            <a:r>
              <a:rPr lang="en-US" altLang="en-US" sz="2800" b="1" dirty="0">
                <a:solidFill>
                  <a:srgbClr val="003399"/>
                </a:solidFill>
                <a:latin typeface="Courier New" panose="02070309020205020404" pitchFamily="49" charset="0"/>
              </a:rPr>
              <a:t>= {</a:t>
            </a:r>
            <a:r>
              <a:rPr lang="en-US" altLang="en-US" sz="2800" b="1" dirty="0">
                <a:solidFill>
                  <a:schemeClr val="accent6"/>
                </a:solidFill>
                <a:latin typeface="Courier New" panose="02070309020205020404" pitchFamily="49" charset="0"/>
              </a:rPr>
              <a:t>79</a:t>
            </a:r>
            <a:r>
              <a:rPr lang="en-US" altLang="en-US" sz="2800" b="1" dirty="0">
                <a:solidFill>
                  <a:schemeClr val="bg1"/>
                </a:solidFill>
                <a:latin typeface="Courier New" panose="02070309020205020404" pitchFamily="49" charset="0"/>
              </a:rPr>
              <a:t>,</a:t>
            </a:r>
            <a:r>
              <a:rPr lang="en-US" altLang="en-US" sz="2800" b="1" dirty="0">
                <a:solidFill>
                  <a:schemeClr val="accent6"/>
                </a:solidFill>
                <a:latin typeface="Courier New" panose="02070309020205020404" pitchFamily="49" charset="0"/>
              </a:rPr>
              <a:t>82</a:t>
            </a:r>
            <a:r>
              <a:rPr lang="en-US" altLang="en-US" sz="2800" b="1" dirty="0">
                <a:solidFill>
                  <a:schemeClr val="bg1"/>
                </a:solidFill>
                <a:latin typeface="Courier New" panose="02070309020205020404" pitchFamily="49" charset="0"/>
              </a:rPr>
              <a:t>,</a:t>
            </a:r>
            <a:r>
              <a:rPr lang="en-US" altLang="en-US" sz="2800" b="1" dirty="0">
                <a:solidFill>
                  <a:schemeClr val="accent6"/>
                </a:solidFill>
                <a:latin typeface="Courier New" panose="02070309020205020404" pitchFamily="49" charset="0"/>
              </a:rPr>
              <a:t>91</a:t>
            </a:r>
            <a:r>
              <a:rPr lang="en-US" altLang="en-US" sz="2800" b="1" dirty="0">
                <a:solidFill>
                  <a:schemeClr val="bg1"/>
                </a:solidFill>
                <a:latin typeface="Courier New" panose="02070309020205020404" pitchFamily="49" charset="0"/>
              </a:rPr>
              <a:t>,</a:t>
            </a:r>
            <a:r>
              <a:rPr lang="en-US" altLang="en-US" sz="2800" b="1" dirty="0">
                <a:solidFill>
                  <a:schemeClr val="accent6"/>
                </a:solidFill>
                <a:latin typeface="Courier New" panose="02070309020205020404" pitchFamily="49" charset="0"/>
              </a:rPr>
              <a:t>77</a:t>
            </a:r>
            <a:r>
              <a:rPr lang="en-US" altLang="en-US" sz="2800" b="1" dirty="0">
                <a:solidFill>
                  <a:schemeClr val="bg1"/>
                </a:solidFill>
                <a:latin typeface="Courier New" panose="02070309020205020404" pitchFamily="49" charset="0"/>
              </a:rPr>
              <a:t>,</a:t>
            </a:r>
            <a:r>
              <a:rPr lang="en-US" altLang="en-US" sz="2800" b="1" dirty="0">
                <a:solidFill>
                  <a:schemeClr val="accent6"/>
                </a:solidFill>
                <a:latin typeface="Courier New" panose="02070309020205020404" pitchFamily="49" charset="0"/>
              </a:rPr>
              <a:t>84</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a:t>
            </a:r>
            <a:br>
              <a:rPr lang="en-US" altLang="en-US" sz="2800" dirty="0">
                <a:solidFill>
                  <a:srgbClr val="0070C0"/>
                </a:solidFill>
                <a:latin typeface="Courier New" panose="02070309020205020404" pitchFamily="49" charset="0"/>
              </a:rPr>
            </a:br>
            <a:endParaRPr lang="en-US" altLang="en-US" sz="2800" dirty="0">
              <a:solidFill>
                <a:srgbClr val="0070C0"/>
              </a:solidFill>
            </a:endParaRPr>
          </a:p>
          <a:p>
            <a:r>
              <a:rPr lang="en-US" altLang="en-US" sz="2800" dirty="0">
                <a:solidFill>
                  <a:schemeClr val="bg1"/>
                </a:solidFill>
              </a:rPr>
              <a:t>The values are stored in the array in the order in which they appear in the list.</a:t>
            </a:r>
          </a:p>
          <a:p>
            <a:r>
              <a:rPr lang="en-US" altLang="en-US" sz="2800" dirty="0">
                <a:solidFill>
                  <a:schemeClr val="bg1"/>
                </a:solidFill>
              </a:rPr>
              <a:t>The initialization list cannot exceed the array size.</a:t>
            </a:r>
          </a:p>
        </p:txBody>
      </p:sp>
      <p:graphicFrame>
        <p:nvGraphicFramePr>
          <p:cNvPr id="3" name="Table 2">
            <a:extLst>
              <a:ext uri="{FF2B5EF4-FFF2-40B4-BE49-F238E27FC236}">
                <a16:creationId xmlns:a16="http://schemas.microsoft.com/office/drawing/2014/main" id="{E0CCDAB6-8E65-C6DC-E50D-EE162EAC799E}"/>
              </a:ext>
            </a:extLst>
          </p:cNvPr>
          <p:cNvGraphicFramePr>
            <a:graphicFrameLocks noGrp="1"/>
          </p:cNvGraphicFramePr>
          <p:nvPr>
            <p:extLst>
              <p:ext uri="{D42A27DB-BD31-4B8C-83A1-F6EECF244321}">
                <p14:modId xmlns:p14="http://schemas.microsoft.com/office/powerpoint/2010/main" val="591059244"/>
              </p:ext>
            </p:extLst>
          </p:nvPr>
        </p:nvGraphicFramePr>
        <p:xfrm>
          <a:off x="1739216" y="5428087"/>
          <a:ext cx="8128000" cy="51816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57897529"/>
                    </a:ext>
                  </a:extLst>
                </a:gridCol>
                <a:gridCol w="1625600">
                  <a:extLst>
                    <a:ext uri="{9D8B030D-6E8A-4147-A177-3AD203B41FA5}">
                      <a16:colId xmlns:a16="http://schemas.microsoft.com/office/drawing/2014/main" val="1929784018"/>
                    </a:ext>
                  </a:extLst>
                </a:gridCol>
                <a:gridCol w="1625600">
                  <a:extLst>
                    <a:ext uri="{9D8B030D-6E8A-4147-A177-3AD203B41FA5}">
                      <a16:colId xmlns:a16="http://schemas.microsoft.com/office/drawing/2014/main" val="3168134310"/>
                    </a:ext>
                  </a:extLst>
                </a:gridCol>
                <a:gridCol w="1625600">
                  <a:extLst>
                    <a:ext uri="{9D8B030D-6E8A-4147-A177-3AD203B41FA5}">
                      <a16:colId xmlns:a16="http://schemas.microsoft.com/office/drawing/2014/main" val="342406042"/>
                    </a:ext>
                  </a:extLst>
                </a:gridCol>
                <a:gridCol w="1625600">
                  <a:extLst>
                    <a:ext uri="{9D8B030D-6E8A-4147-A177-3AD203B41FA5}">
                      <a16:colId xmlns:a16="http://schemas.microsoft.com/office/drawing/2014/main" val="1633459087"/>
                    </a:ext>
                  </a:extLst>
                </a:gridCol>
              </a:tblGrid>
              <a:tr h="370840">
                <a:tc>
                  <a:txBody>
                    <a:bodyPr/>
                    <a:lstStyle/>
                    <a:p>
                      <a:pPr algn="ctr"/>
                      <a:r>
                        <a:rPr lang="en-US" sz="2800" dirty="0">
                          <a:solidFill>
                            <a:schemeClr val="tx1"/>
                          </a:solidFill>
                        </a:rPr>
                        <a:t>79</a:t>
                      </a:r>
                    </a:p>
                  </a:txBody>
                  <a:tcPr/>
                </a:tc>
                <a:tc>
                  <a:txBody>
                    <a:bodyPr/>
                    <a:lstStyle/>
                    <a:p>
                      <a:pPr algn="ctr"/>
                      <a:r>
                        <a:rPr lang="en-US" sz="2800" dirty="0">
                          <a:solidFill>
                            <a:schemeClr val="tx1"/>
                          </a:solidFill>
                        </a:rPr>
                        <a:t>82</a:t>
                      </a:r>
                    </a:p>
                  </a:txBody>
                  <a:tcPr/>
                </a:tc>
                <a:tc>
                  <a:txBody>
                    <a:bodyPr/>
                    <a:lstStyle/>
                    <a:p>
                      <a:pPr algn="ctr"/>
                      <a:r>
                        <a:rPr lang="en-US" sz="2800" dirty="0">
                          <a:solidFill>
                            <a:schemeClr val="tx1"/>
                          </a:solidFill>
                        </a:rPr>
                        <a:t>91</a:t>
                      </a:r>
                    </a:p>
                  </a:txBody>
                  <a:tcPr/>
                </a:tc>
                <a:tc>
                  <a:txBody>
                    <a:bodyPr/>
                    <a:lstStyle/>
                    <a:p>
                      <a:pPr algn="ctr"/>
                      <a:r>
                        <a:rPr lang="en-US" sz="2800" dirty="0">
                          <a:solidFill>
                            <a:schemeClr val="tx1"/>
                          </a:solidFill>
                        </a:rPr>
                        <a:t>77</a:t>
                      </a:r>
                    </a:p>
                  </a:txBody>
                  <a:tcPr/>
                </a:tc>
                <a:tc>
                  <a:txBody>
                    <a:bodyPr/>
                    <a:lstStyle/>
                    <a:p>
                      <a:pPr algn="ctr"/>
                      <a:r>
                        <a:rPr lang="en-US" sz="2800" dirty="0">
                          <a:solidFill>
                            <a:schemeClr val="tx1"/>
                          </a:solidFill>
                        </a:rPr>
                        <a:t>84</a:t>
                      </a:r>
                    </a:p>
                  </a:txBody>
                  <a:tcPr/>
                </a:tc>
                <a:extLst>
                  <a:ext uri="{0D108BD9-81ED-4DB2-BD59-A6C34878D82A}">
                    <a16:rowId xmlns:a16="http://schemas.microsoft.com/office/drawing/2014/main" val="1540377543"/>
                  </a:ext>
                </a:extLst>
              </a:tr>
            </a:tbl>
          </a:graphicData>
        </a:graphic>
      </p:graphicFrame>
    </p:spTree>
    <p:extLst>
      <p:ext uri="{BB962C8B-B14F-4D97-AF65-F5344CB8AC3E}">
        <p14:creationId xmlns:p14="http://schemas.microsoft.com/office/powerpoint/2010/main" val="1933670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Partial Array Initialization</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r>
              <a:rPr lang="en-US" altLang="en-US" sz="2800" dirty="0">
                <a:solidFill>
                  <a:schemeClr val="bg1"/>
                </a:solidFill>
              </a:rPr>
              <a:t>Arrays can be </a:t>
            </a:r>
            <a:r>
              <a:rPr lang="en-US" altLang="en-US" sz="2800" b="1" dirty="0">
                <a:solidFill>
                  <a:schemeClr val="bg1"/>
                </a:solidFill>
                <a:highlight>
                  <a:srgbClr val="FFFF00"/>
                </a:highlight>
              </a:rPr>
              <a:t>partially initialized</a:t>
            </a:r>
            <a:r>
              <a:rPr lang="en-US" altLang="en-US" sz="2800" dirty="0">
                <a:solidFill>
                  <a:schemeClr val="bg1"/>
                </a:solidFill>
              </a:rPr>
              <a:t>:</a:t>
            </a:r>
            <a:br>
              <a:rPr lang="en-US" altLang="en-US" sz="2800" dirty="0">
                <a:solidFill>
                  <a:schemeClr val="bg1"/>
                </a:solidFill>
              </a:rPr>
            </a:br>
            <a:br>
              <a:rPr lang="en-US" altLang="en-US" sz="2800" dirty="0">
                <a:solidFill>
                  <a:schemeClr val="bg1"/>
                </a:solidFill>
              </a:rPr>
            </a:br>
            <a:r>
              <a:rPr lang="en-US" altLang="en-US" sz="2800" b="1" dirty="0">
                <a:solidFill>
                  <a:srgbClr val="0070C0"/>
                </a:solidFill>
                <a:latin typeface="Courier New" panose="02070309020205020404" pitchFamily="49" charset="0"/>
              </a:rPr>
              <a:t>const int </a:t>
            </a:r>
            <a:r>
              <a:rPr lang="en-US" altLang="en-US" sz="2800" b="1" dirty="0">
                <a:solidFill>
                  <a:schemeClr val="bg1"/>
                </a:solidFill>
                <a:latin typeface="Courier New" panose="02070309020205020404" pitchFamily="49" charset="0"/>
              </a:rPr>
              <a:t>SIZE</a:t>
            </a:r>
            <a:r>
              <a:rPr lang="en-US" altLang="en-US" sz="2800" b="1" dirty="0">
                <a:solidFill>
                  <a:srgbClr val="0070C0"/>
                </a:solidFill>
                <a:latin typeface="Courier New" panose="02070309020205020404" pitchFamily="49" charset="0"/>
              </a:rPr>
              <a:t> </a:t>
            </a:r>
            <a:r>
              <a:rPr lang="en-US" altLang="en-US" sz="2800" b="1" dirty="0">
                <a:solidFill>
                  <a:srgbClr val="003399"/>
                </a:solidFill>
                <a:latin typeface="Courier New" panose="02070309020205020404" pitchFamily="49" charset="0"/>
              </a:rPr>
              <a:t>=</a:t>
            </a:r>
            <a:r>
              <a:rPr lang="en-US" altLang="en-US" sz="2800" b="1" dirty="0">
                <a:solidFill>
                  <a:srgbClr val="0070C0"/>
                </a:solidFill>
                <a:latin typeface="Courier New" panose="02070309020205020404" pitchFamily="49" charset="0"/>
              </a:rPr>
              <a:t> </a:t>
            </a:r>
            <a:r>
              <a:rPr lang="en-US" altLang="en-US" sz="2800" b="1" dirty="0">
                <a:solidFill>
                  <a:schemeClr val="accent6"/>
                </a:solidFill>
                <a:latin typeface="Courier New" panose="02070309020205020404" pitchFamily="49" charset="0"/>
              </a:rPr>
              <a:t>5</a:t>
            </a:r>
            <a:r>
              <a:rPr lang="en-US" altLang="en-US" sz="2800" b="1" dirty="0">
                <a:solidFill>
                  <a:srgbClr val="0070C0"/>
                </a:solidFill>
                <a:latin typeface="Courier New" panose="02070309020205020404" pitchFamily="49" charset="0"/>
              </a:rPr>
              <a:t>;</a:t>
            </a:r>
            <a:br>
              <a:rPr lang="en-US" altLang="en-US" sz="2800" b="1" dirty="0">
                <a:solidFill>
                  <a:srgbClr val="0070C0"/>
                </a:solidFill>
                <a:latin typeface="Courier New" panose="02070309020205020404" pitchFamily="49" charset="0"/>
              </a:rPr>
            </a:br>
            <a:r>
              <a:rPr lang="en-US" altLang="en-US" sz="2800" b="1" dirty="0">
                <a:solidFill>
                  <a:srgbClr val="0070C0"/>
                </a:solidFill>
                <a:latin typeface="Courier New" panose="02070309020205020404" pitchFamily="49" charset="0"/>
              </a:rPr>
              <a:t>int </a:t>
            </a:r>
            <a:r>
              <a:rPr lang="en-US" altLang="en-US" sz="2800" b="1" dirty="0">
                <a:solidFill>
                  <a:schemeClr val="bg1"/>
                </a:solidFill>
                <a:latin typeface="Courier New" panose="02070309020205020404" pitchFamily="49" charset="0"/>
              </a:rPr>
              <a:t>tests</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SIZE</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 </a:t>
            </a:r>
            <a:r>
              <a:rPr lang="en-US" altLang="en-US" sz="2800" b="1" dirty="0">
                <a:solidFill>
                  <a:srgbClr val="003399"/>
                </a:solidFill>
                <a:latin typeface="Courier New" panose="02070309020205020404" pitchFamily="49" charset="0"/>
              </a:rPr>
              <a:t>= {</a:t>
            </a:r>
            <a:r>
              <a:rPr lang="en-US" altLang="en-US" sz="2800" b="1" dirty="0">
                <a:solidFill>
                  <a:schemeClr val="accent6"/>
                </a:solidFill>
                <a:latin typeface="Courier New" panose="02070309020205020404" pitchFamily="49" charset="0"/>
              </a:rPr>
              <a:t>79</a:t>
            </a:r>
            <a:r>
              <a:rPr lang="en-US" altLang="en-US" sz="2800" b="1" dirty="0">
                <a:solidFill>
                  <a:schemeClr val="bg1"/>
                </a:solidFill>
                <a:latin typeface="Courier New" panose="02070309020205020404" pitchFamily="49" charset="0"/>
              </a:rPr>
              <a:t>,</a:t>
            </a:r>
            <a:r>
              <a:rPr lang="en-US" altLang="en-US" sz="2800" b="1" dirty="0">
                <a:solidFill>
                  <a:schemeClr val="accent6"/>
                </a:solidFill>
                <a:latin typeface="Courier New" panose="02070309020205020404" pitchFamily="49" charset="0"/>
              </a:rPr>
              <a:t>82</a:t>
            </a:r>
            <a:r>
              <a:rPr lang="en-US" altLang="en-US" sz="2800" b="1" dirty="0">
                <a:solidFill>
                  <a:schemeClr val="bg1"/>
                </a:solidFill>
                <a:latin typeface="Courier New" panose="02070309020205020404" pitchFamily="49" charset="0"/>
              </a:rPr>
              <a:t>,</a:t>
            </a:r>
            <a:r>
              <a:rPr lang="en-US" altLang="en-US" sz="2800" b="1" dirty="0">
                <a:solidFill>
                  <a:schemeClr val="accent6"/>
                </a:solidFill>
                <a:latin typeface="Courier New" panose="02070309020205020404" pitchFamily="49" charset="0"/>
              </a:rPr>
              <a:t>91</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a:t>
            </a:r>
            <a:br>
              <a:rPr lang="en-US" altLang="en-US" sz="2800" b="1" dirty="0">
                <a:solidFill>
                  <a:schemeClr val="bg1"/>
                </a:solidFill>
                <a:latin typeface="Courier New" panose="02070309020205020404" pitchFamily="49" charset="0"/>
              </a:rPr>
            </a:br>
            <a:r>
              <a:rPr lang="en-US" altLang="en-US" sz="2800" b="1" dirty="0">
                <a:solidFill>
                  <a:srgbClr val="0070C0"/>
                </a:solidFill>
                <a:latin typeface="Courier New" panose="02070309020205020404" pitchFamily="49" charset="0"/>
              </a:rPr>
              <a:t>int</a:t>
            </a:r>
            <a:r>
              <a:rPr lang="en-US" altLang="en-US" sz="2800" b="1" dirty="0">
                <a:solidFill>
                  <a:schemeClr val="bg1"/>
                </a:solidFill>
                <a:latin typeface="Courier New" panose="02070309020205020404" pitchFamily="49" charset="0"/>
              </a:rPr>
              <a:t> other[SIZE] = {</a:t>
            </a:r>
            <a:r>
              <a:rPr lang="en-US" altLang="en-US" sz="2800" b="1" dirty="0">
                <a:solidFill>
                  <a:schemeClr val="accent6">
                    <a:lumMod val="50000"/>
                  </a:schemeClr>
                </a:solidFill>
                <a:latin typeface="Courier New" panose="02070309020205020404" pitchFamily="49" charset="0"/>
              </a:rPr>
              <a:t>0</a:t>
            </a:r>
            <a:r>
              <a:rPr lang="en-US" altLang="en-US" sz="2800" b="1" dirty="0">
                <a:solidFill>
                  <a:schemeClr val="bg1"/>
                </a:solidFill>
                <a:latin typeface="Courier New" panose="02070309020205020404" pitchFamily="49" charset="0"/>
              </a:rPr>
              <a:t>};</a:t>
            </a:r>
            <a:br>
              <a:rPr lang="en-US" altLang="en-US" sz="2800" dirty="0">
                <a:solidFill>
                  <a:srgbClr val="0070C0"/>
                </a:solidFill>
                <a:latin typeface="Courier New" panose="02070309020205020404" pitchFamily="49" charset="0"/>
              </a:rPr>
            </a:br>
            <a:endParaRPr lang="en-US" altLang="en-US" sz="2800" dirty="0">
              <a:solidFill>
                <a:srgbClr val="0070C0"/>
              </a:solidFill>
            </a:endParaRPr>
          </a:p>
          <a:p>
            <a:r>
              <a:rPr lang="en-US" altLang="en-US" sz="2800" dirty="0">
                <a:solidFill>
                  <a:schemeClr val="bg1"/>
                </a:solidFill>
              </a:rPr>
              <a:t>The values are stored in the array in the order in which they appear in the list.</a:t>
            </a:r>
          </a:p>
          <a:p>
            <a:r>
              <a:rPr lang="en-US" altLang="en-US" sz="2800" dirty="0">
                <a:solidFill>
                  <a:schemeClr val="bg1"/>
                </a:solidFill>
              </a:rPr>
              <a:t>The fourth and fifth elements are </a:t>
            </a:r>
            <a:r>
              <a:rPr lang="en-US" altLang="en-US" sz="2800" b="1" dirty="0">
                <a:solidFill>
                  <a:schemeClr val="bg1"/>
                </a:solidFill>
              </a:rPr>
              <a:t>automatically</a:t>
            </a:r>
            <a:r>
              <a:rPr lang="en-US" altLang="en-US" sz="2800" dirty="0">
                <a:solidFill>
                  <a:schemeClr val="bg1"/>
                </a:solidFill>
              </a:rPr>
              <a:t> </a:t>
            </a:r>
            <a:r>
              <a:rPr lang="en-US" altLang="en-US" sz="2800" b="1" dirty="0">
                <a:solidFill>
                  <a:schemeClr val="bg1"/>
                </a:solidFill>
              </a:rPr>
              <a:t>initialized to zero</a:t>
            </a:r>
            <a:r>
              <a:rPr lang="en-US" altLang="en-US" sz="2800" dirty="0">
                <a:solidFill>
                  <a:schemeClr val="bg1"/>
                </a:solidFill>
              </a:rPr>
              <a:t>.</a:t>
            </a:r>
          </a:p>
        </p:txBody>
      </p:sp>
      <p:graphicFrame>
        <p:nvGraphicFramePr>
          <p:cNvPr id="2" name="Table 1">
            <a:extLst>
              <a:ext uri="{FF2B5EF4-FFF2-40B4-BE49-F238E27FC236}">
                <a16:creationId xmlns:a16="http://schemas.microsoft.com/office/drawing/2014/main" id="{1E30C2F4-D002-04D1-2CCD-B8B4466E7893}"/>
              </a:ext>
            </a:extLst>
          </p:cNvPr>
          <p:cNvGraphicFramePr>
            <a:graphicFrameLocks noGrp="1"/>
          </p:cNvGraphicFramePr>
          <p:nvPr>
            <p:extLst>
              <p:ext uri="{D42A27DB-BD31-4B8C-83A1-F6EECF244321}">
                <p14:modId xmlns:p14="http://schemas.microsoft.com/office/powerpoint/2010/main" val="3412113862"/>
              </p:ext>
            </p:extLst>
          </p:nvPr>
        </p:nvGraphicFramePr>
        <p:xfrm>
          <a:off x="1828800" y="5715000"/>
          <a:ext cx="8128000" cy="51816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57897529"/>
                    </a:ext>
                  </a:extLst>
                </a:gridCol>
                <a:gridCol w="1625600">
                  <a:extLst>
                    <a:ext uri="{9D8B030D-6E8A-4147-A177-3AD203B41FA5}">
                      <a16:colId xmlns:a16="http://schemas.microsoft.com/office/drawing/2014/main" val="1929784018"/>
                    </a:ext>
                  </a:extLst>
                </a:gridCol>
                <a:gridCol w="1625600">
                  <a:extLst>
                    <a:ext uri="{9D8B030D-6E8A-4147-A177-3AD203B41FA5}">
                      <a16:colId xmlns:a16="http://schemas.microsoft.com/office/drawing/2014/main" val="3168134310"/>
                    </a:ext>
                  </a:extLst>
                </a:gridCol>
                <a:gridCol w="1625600">
                  <a:extLst>
                    <a:ext uri="{9D8B030D-6E8A-4147-A177-3AD203B41FA5}">
                      <a16:colId xmlns:a16="http://schemas.microsoft.com/office/drawing/2014/main" val="342406042"/>
                    </a:ext>
                  </a:extLst>
                </a:gridCol>
                <a:gridCol w="1625600">
                  <a:extLst>
                    <a:ext uri="{9D8B030D-6E8A-4147-A177-3AD203B41FA5}">
                      <a16:colId xmlns:a16="http://schemas.microsoft.com/office/drawing/2014/main" val="1633459087"/>
                    </a:ext>
                  </a:extLst>
                </a:gridCol>
              </a:tblGrid>
              <a:tr h="370840">
                <a:tc>
                  <a:txBody>
                    <a:bodyPr/>
                    <a:lstStyle/>
                    <a:p>
                      <a:pPr algn="ctr"/>
                      <a:r>
                        <a:rPr lang="en-US" sz="2800" dirty="0">
                          <a:solidFill>
                            <a:schemeClr val="tx1"/>
                          </a:solidFill>
                        </a:rPr>
                        <a:t>79</a:t>
                      </a:r>
                    </a:p>
                  </a:txBody>
                  <a:tcPr/>
                </a:tc>
                <a:tc>
                  <a:txBody>
                    <a:bodyPr/>
                    <a:lstStyle/>
                    <a:p>
                      <a:pPr algn="ctr"/>
                      <a:r>
                        <a:rPr lang="en-US" sz="2800" dirty="0">
                          <a:solidFill>
                            <a:schemeClr val="tx1"/>
                          </a:solidFill>
                        </a:rPr>
                        <a:t>82</a:t>
                      </a:r>
                    </a:p>
                  </a:txBody>
                  <a:tcPr/>
                </a:tc>
                <a:tc>
                  <a:txBody>
                    <a:bodyPr/>
                    <a:lstStyle/>
                    <a:p>
                      <a:pPr algn="ctr"/>
                      <a:r>
                        <a:rPr lang="en-US" sz="2800" dirty="0">
                          <a:solidFill>
                            <a:schemeClr val="tx1"/>
                          </a:solidFill>
                        </a:rPr>
                        <a:t>91</a:t>
                      </a:r>
                    </a:p>
                  </a:txBody>
                  <a:tcPr/>
                </a:tc>
                <a:tc>
                  <a:txBody>
                    <a:bodyPr/>
                    <a:lstStyle/>
                    <a:p>
                      <a:pPr algn="ctr"/>
                      <a:r>
                        <a:rPr lang="en-US" sz="2800" dirty="0">
                          <a:solidFill>
                            <a:schemeClr val="tx1"/>
                          </a:solidFill>
                        </a:rPr>
                        <a:t>0</a:t>
                      </a:r>
                    </a:p>
                  </a:txBody>
                  <a:tcPr/>
                </a:tc>
                <a:tc>
                  <a:txBody>
                    <a:bodyPr/>
                    <a:lstStyle/>
                    <a:p>
                      <a:pPr algn="ctr"/>
                      <a:r>
                        <a:rPr lang="en-US" sz="2800" dirty="0">
                          <a:solidFill>
                            <a:schemeClr val="tx1"/>
                          </a:solidFill>
                        </a:rPr>
                        <a:t>0</a:t>
                      </a:r>
                    </a:p>
                  </a:txBody>
                  <a:tcPr/>
                </a:tc>
                <a:extLst>
                  <a:ext uri="{0D108BD9-81ED-4DB2-BD59-A6C34878D82A}">
                    <a16:rowId xmlns:a16="http://schemas.microsoft.com/office/drawing/2014/main" val="1540377543"/>
                  </a:ext>
                </a:extLst>
              </a:tr>
            </a:tbl>
          </a:graphicData>
        </a:graphic>
      </p:graphicFrame>
    </p:spTree>
    <p:extLst>
      <p:ext uri="{BB962C8B-B14F-4D97-AF65-F5344CB8AC3E}">
        <p14:creationId xmlns:p14="http://schemas.microsoft.com/office/powerpoint/2010/main" val="957547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Implicit Array Sizing</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r>
              <a:rPr lang="en-US" altLang="en-US" sz="2800" dirty="0">
                <a:solidFill>
                  <a:schemeClr val="bg1"/>
                </a:solidFill>
              </a:rPr>
              <a:t>The compiler can determine the array size by the size of the initialization list instead of the size declarator.  </a:t>
            </a:r>
          </a:p>
          <a:p>
            <a:r>
              <a:rPr lang="en-US" altLang="en-US" sz="2800" dirty="0">
                <a:solidFill>
                  <a:schemeClr val="bg1"/>
                </a:solidFill>
              </a:rPr>
              <a:t>This is called </a:t>
            </a:r>
            <a:r>
              <a:rPr lang="en-US" altLang="en-US" sz="2800" b="1" dirty="0">
                <a:solidFill>
                  <a:srgbClr val="FF0000"/>
                </a:solidFill>
              </a:rPr>
              <a:t>implicit array sizing</a:t>
            </a:r>
            <a:r>
              <a:rPr lang="en-US" altLang="en-US" sz="2800" dirty="0">
                <a:solidFill>
                  <a:schemeClr val="bg1"/>
                </a:solidFill>
              </a:rPr>
              <a:t>.  </a:t>
            </a:r>
          </a:p>
          <a:p>
            <a:r>
              <a:rPr lang="en-US" altLang="en-US" sz="2800" dirty="0">
                <a:solidFill>
                  <a:schemeClr val="bg1"/>
                </a:solidFill>
              </a:rPr>
              <a:t>Below, quizzes is a 4-element array.</a:t>
            </a:r>
            <a:br>
              <a:rPr lang="en-US" altLang="en-US" sz="2800" dirty="0">
                <a:solidFill>
                  <a:schemeClr val="bg1"/>
                </a:solidFill>
              </a:rPr>
            </a:br>
            <a:r>
              <a:rPr lang="en-US" altLang="en-US" sz="2800" b="1" dirty="0">
                <a:solidFill>
                  <a:srgbClr val="0070C0"/>
                </a:solidFill>
                <a:latin typeface="Courier New" panose="02070309020205020404" pitchFamily="49" charset="0"/>
              </a:rPr>
              <a:t>int </a:t>
            </a:r>
            <a:r>
              <a:rPr lang="en-US" altLang="en-US" sz="2800" b="1" dirty="0">
                <a:solidFill>
                  <a:schemeClr val="bg1"/>
                </a:solidFill>
                <a:latin typeface="Courier New" panose="02070309020205020404" pitchFamily="49" charset="0"/>
              </a:rPr>
              <a:t>quizzes</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 </a:t>
            </a:r>
            <a:r>
              <a:rPr lang="en-US" altLang="en-US" sz="2800" b="1" dirty="0">
                <a:solidFill>
                  <a:srgbClr val="003399"/>
                </a:solidFill>
                <a:latin typeface="Courier New" panose="02070309020205020404" pitchFamily="49" charset="0"/>
              </a:rPr>
              <a:t>= {</a:t>
            </a:r>
            <a:r>
              <a:rPr lang="en-US" altLang="en-US" sz="2800" b="1" dirty="0">
                <a:solidFill>
                  <a:schemeClr val="accent6"/>
                </a:solidFill>
                <a:latin typeface="Courier New" panose="02070309020205020404" pitchFamily="49" charset="0"/>
              </a:rPr>
              <a:t>12, 17, 15, 11</a:t>
            </a:r>
            <a:r>
              <a:rPr lang="en-US" altLang="en-US" sz="2800" b="1" dirty="0">
                <a:solidFill>
                  <a:srgbClr val="003399"/>
                </a:solidFill>
                <a:latin typeface="Courier New" panose="02070309020205020404" pitchFamily="49" charset="0"/>
              </a:rPr>
              <a:t>}</a:t>
            </a:r>
            <a:r>
              <a:rPr lang="en-US" altLang="en-US" sz="2800" b="1" dirty="0">
                <a:solidFill>
                  <a:schemeClr val="bg1"/>
                </a:solidFill>
                <a:latin typeface="Courier New" panose="02070309020205020404" pitchFamily="49" charset="0"/>
              </a:rPr>
              <a:t>;</a:t>
            </a:r>
            <a:endParaRPr lang="en-US" altLang="en-US" sz="2800" dirty="0">
              <a:solidFill>
                <a:srgbClr val="0070C0"/>
              </a:solidFill>
            </a:endParaRPr>
          </a:p>
          <a:p>
            <a:r>
              <a:rPr lang="en-US" altLang="en-US" sz="2800" dirty="0">
                <a:solidFill>
                  <a:schemeClr val="bg1"/>
                </a:solidFill>
              </a:rPr>
              <a:t>A FULL initialization list is required.</a:t>
            </a:r>
          </a:p>
        </p:txBody>
      </p:sp>
      <p:graphicFrame>
        <p:nvGraphicFramePr>
          <p:cNvPr id="3" name="Group 4">
            <a:extLst>
              <a:ext uri="{FF2B5EF4-FFF2-40B4-BE49-F238E27FC236}">
                <a16:creationId xmlns:a16="http://schemas.microsoft.com/office/drawing/2014/main" id="{5C5DE03B-96BD-0968-0A20-E71E79AC92BD}"/>
              </a:ext>
            </a:extLst>
          </p:cNvPr>
          <p:cNvGraphicFramePr>
            <a:graphicFrameLocks noGrp="1"/>
          </p:cNvGraphicFramePr>
          <p:nvPr>
            <p:extLst>
              <p:ext uri="{D42A27DB-BD31-4B8C-83A1-F6EECF244321}">
                <p14:modId xmlns:p14="http://schemas.microsoft.com/office/powerpoint/2010/main" val="4065991413"/>
              </p:ext>
            </p:extLst>
          </p:nvPr>
        </p:nvGraphicFramePr>
        <p:xfrm>
          <a:off x="2433145" y="5234151"/>
          <a:ext cx="6852744" cy="725214"/>
        </p:xfrm>
        <a:graphic>
          <a:graphicData uri="http://schemas.openxmlformats.org/drawingml/2006/table">
            <a:tbl>
              <a:tblPr firstRow="1">
                <a:tableStyleId>{D7AC3CCA-C797-4891-BE02-D94E43425B78}</a:tableStyleId>
              </a:tblPr>
              <a:tblGrid>
                <a:gridCol w="1713186">
                  <a:extLst>
                    <a:ext uri="{9D8B030D-6E8A-4147-A177-3AD203B41FA5}">
                      <a16:colId xmlns:a16="http://schemas.microsoft.com/office/drawing/2014/main" val="20000"/>
                    </a:ext>
                  </a:extLst>
                </a:gridCol>
                <a:gridCol w="1713186">
                  <a:extLst>
                    <a:ext uri="{9D8B030D-6E8A-4147-A177-3AD203B41FA5}">
                      <a16:colId xmlns:a16="http://schemas.microsoft.com/office/drawing/2014/main" val="20001"/>
                    </a:ext>
                  </a:extLst>
                </a:gridCol>
                <a:gridCol w="1713186">
                  <a:extLst>
                    <a:ext uri="{9D8B030D-6E8A-4147-A177-3AD203B41FA5}">
                      <a16:colId xmlns:a16="http://schemas.microsoft.com/office/drawing/2014/main" val="20002"/>
                    </a:ext>
                  </a:extLst>
                </a:gridCol>
                <a:gridCol w="1713186">
                  <a:extLst>
                    <a:ext uri="{9D8B030D-6E8A-4147-A177-3AD203B41FA5}">
                      <a16:colId xmlns:a16="http://schemas.microsoft.com/office/drawing/2014/main" val="20003"/>
                    </a:ext>
                  </a:extLst>
                </a:gridCol>
              </a:tblGrid>
              <a:tr h="72521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0" u="none" strike="noStrike" cap="none" normalizeH="0" baseline="0" dirty="0">
                          <a:ln>
                            <a:noFill/>
                          </a:ln>
                          <a:solidFill>
                            <a:schemeClr val="bg1"/>
                          </a:solidFill>
                          <a:effectLst/>
                        </a:rPr>
                        <a:t>12</a:t>
                      </a:r>
                      <a:endParaRPr kumimoji="0" lang="en-US" sz="3600" b="0" i="0" u="none" strike="noStrike" cap="none" normalizeH="0" baseline="0" dirty="0">
                        <a:ln>
                          <a:noFill/>
                        </a:ln>
                        <a:solidFill>
                          <a:schemeClr val="bg1"/>
                        </a:solidFill>
                        <a:effectLst/>
                        <a:latin typeface="Courier New" pitchFamily="-16" charset="0"/>
                        <a:ea typeface="ヒラギノ角ゴ Pro W3" pitchFamily="-16" charset="-128"/>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0" u="none" strike="noStrike" cap="none" normalizeH="0" baseline="0" dirty="0">
                          <a:ln>
                            <a:noFill/>
                          </a:ln>
                          <a:solidFill>
                            <a:schemeClr val="bg1"/>
                          </a:solidFill>
                          <a:effectLst/>
                        </a:rPr>
                        <a:t>17</a:t>
                      </a:r>
                      <a:endParaRPr kumimoji="0" lang="en-US" sz="3600" b="0" i="0" u="none" strike="noStrike" cap="none" normalizeH="0" baseline="0" dirty="0">
                        <a:ln>
                          <a:noFill/>
                        </a:ln>
                        <a:solidFill>
                          <a:schemeClr val="bg1"/>
                        </a:solidFill>
                        <a:effectLst/>
                        <a:latin typeface="Courier New" pitchFamily="-16" charset="0"/>
                        <a:ea typeface="ヒラギノ角ゴ Pro W3" pitchFamily="-16" charset="-128"/>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0" u="none" strike="noStrike" cap="none" normalizeH="0" baseline="0" dirty="0">
                          <a:ln>
                            <a:noFill/>
                          </a:ln>
                          <a:solidFill>
                            <a:schemeClr val="bg1"/>
                          </a:solidFill>
                          <a:effectLst/>
                        </a:rPr>
                        <a:t>15</a:t>
                      </a:r>
                      <a:endParaRPr kumimoji="0" lang="en-US" sz="3600" b="0" i="0" u="none" strike="noStrike" cap="none" normalizeH="0" baseline="0" dirty="0">
                        <a:ln>
                          <a:noFill/>
                        </a:ln>
                        <a:solidFill>
                          <a:schemeClr val="bg1"/>
                        </a:solidFill>
                        <a:effectLst/>
                        <a:latin typeface="Courier New" pitchFamily="-16" charset="0"/>
                        <a:ea typeface="ヒラギノ角ゴ Pro W3" pitchFamily="-16" charset="-128"/>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0" u="none" strike="noStrike" cap="none" normalizeH="0" baseline="0" dirty="0">
                          <a:ln>
                            <a:noFill/>
                          </a:ln>
                          <a:solidFill>
                            <a:schemeClr val="bg1"/>
                          </a:solidFill>
                          <a:effectLst/>
                        </a:rPr>
                        <a:t>11</a:t>
                      </a:r>
                      <a:endParaRPr kumimoji="0" lang="en-US" sz="3600" b="0" i="0" u="none" strike="noStrike" cap="none" normalizeH="0" baseline="0" dirty="0">
                        <a:ln>
                          <a:noFill/>
                        </a:ln>
                        <a:solidFill>
                          <a:schemeClr val="bg1"/>
                        </a:solidFill>
                        <a:effectLst/>
                        <a:latin typeface="Courier New" pitchFamily="-16" charset="0"/>
                        <a:ea typeface="ヒラギノ角ゴ Pro W3" pitchFamily="-16" charset="-128"/>
                      </a:endParaRPr>
                    </a:p>
                  </a:txBody>
                  <a:tcPr horzOverflow="overflow"/>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95892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 Initialization Examples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arrayInitialize_1.cpp</a:t>
            </a:r>
            <a:br>
              <a:rPr lang="en-US" sz="2800" dirty="0">
                <a:solidFill>
                  <a:schemeClr val="bg1"/>
                </a:solidFill>
              </a:rPr>
            </a:br>
            <a:r>
              <a:rPr lang="en-US" sz="2800" dirty="0">
                <a:solidFill>
                  <a:schemeClr val="bg1"/>
                </a:solidFill>
              </a:rPr>
              <a:t>contains an integer array and a double array with a full initialization list</a:t>
            </a:r>
          </a:p>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arrayInitialize_2.cpp</a:t>
            </a:r>
            <a:br>
              <a:rPr lang="en-US" sz="2800" dirty="0">
                <a:solidFill>
                  <a:schemeClr val="bg1"/>
                </a:solidFill>
              </a:rPr>
            </a:br>
            <a:r>
              <a:rPr lang="en-US" sz="2800" dirty="0">
                <a:solidFill>
                  <a:schemeClr val="bg1"/>
                </a:solidFill>
              </a:rPr>
              <a:t>contains a string array with a full initialization list and a Boolean array with a full initialization list using implicit array sizing</a:t>
            </a: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969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381000" y="2057400"/>
            <a:ext cx="4495800" cy="27432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Passing Arrays to Functions</a:t>
            </a:r>
          </a:p>
        </p:txBody>
      </p:sp>
      <p:pic>
        <p:nvPicPr>
          <p:cNvPr id="4" name="Picture 3" descr="A squirrel wearing glasses and a sweater sitting on a table with a computer">
            <a:extLst>
              <a:ext uri="{FF2B5EF4-FFF2-40B4-BE49-F238E27FC236}">
                <a16:creationId xmlns:a16="http://schemas.microsoft.com/office/drawing/2014/main" id="{8E935E6C-818F-C2CA-0EED-C86E52646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0670" y="0"/>
            <a:ext cx="6858000" cy="6858000"/>
          </a:xfrm>
          <a:prstGeom prst="rect">
            <a:avLst/>
          </a:prstGeom>
        </p:spPr>
      </p:pic>
    </p:spTree>
    <p:extLst>
      <p:ext uri="{BB962C8B-B14F-4D97-AF65-F5344CB8AC3E}">
        <p14:creationId xmlns:p14="http://schemas.microsoft.com/office/powerpoint/2010/main" val="1410562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Arrays are Passed by Reference to Functions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When you pass an array to a function, it is passed by reference instead of by value because the array name is the memory address of the array.</a:t>
            </a:r>
          </a:p>
          <a:p>
            <a:r>
              <a:rPr lang="en-US" altLang="en-US" sz="2800" dirty="0">
                <a:solidFill>
                  <a:schemeClr val="bg1"/>
                </a:solidFill>
              </a:rPr>
              <a:t>Usually, the size of the array is passed as an additional argument unless the array size is defined as a global constant.</a:t>
            </a:r>
          </a:p>
          <a:p>
            <a:endParaRPr lang="en-US" altLang="en-US" sz="2800" dirty="0">
              <a:solidFill>
                <a:schemeClr val="bg1"/>
              </a:solidFill>
            </a:endParaRPr>
          </a:p>
        </p:txBody>
      </p:sp>
    </p:spTree>
    <p:extLst>
      <p:ext uri="{BB962C8B-B14F-4D97-AF65-F5344CB8AC3E}">
        <p14:creationId xmlns:p14="http://schemas.microsoft.com/office/powerpoint/2010/main" val="2422688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Array to Function Example, Slide 1 of 3</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800600" cy="5079374"/>
          </a:xfrm>
        </p:spPr>
        <p:txBody>
          <a:bodyPr>
            <a:normAutofit fontScale="92500"/>
          </a:bodyPr>
          <a:lstStyle/>
          <a:p>
            <a:r>
              <a:rPr lang="en-US" altLang="en-US" sz="2800" dirty="0">
                <a:solidFill>
                  <a:schemeClr val="bg1"/>
                </a:solidFill>
                <a:highlight>
                  <a:srgbClr val="FFFF00"/>
                </a:highlight>
              </a:rPr>
              <a:t>In the function prototype, you put the data type of the array and empty square brackets. </a:t>
            </a:r>
          </a:p>
          <a:p>
            <a:r>
              <a:rPr lang="en-US" altLang="en-US" sz="2800" dirty="0"/>
              <a:t>In the function call statement, you only put the name of the array. Do not put the data type or square brackets.</a:t>
            </a:r>
          </a:p>
          <a:p>
            <a:r>
              <a:rPr lang="en-US" altLang="en-US" sz="2800" dirty="0"/>
              <a:t>In the function header, you put the data type, name of the array, and empty square brackets for the array parameter.</a:t>
            </a:r>
          </a:p>
          <a:p>
            <a:endParaRPr lang="en-US" altLang="en-US" sz="2800" dirty="0">
              <a:solidFill>
                <a:schemeClr val="bg1"/>
              </a:solidFill>
            </a:endParaRPr>
          </a:p>
          <a:p>
            <a:endParaRPr lang="en-US" altLang="en-US" sz="2800" dirty="0">
              <a:solidFill>
                <a:schemeClr val="bg1"/>
              </a:solidFill>
            </a:endParaRPr>
          </a:p>
        </p:txBody>
      </p:sp>
      <p:sp>
        <p:nvSpPr>
          <p:cNvPr id="2" name="Content Placeholder 3">
            <a:extLst>
              <a:ext uri="{FF2B5EF4-FFF2-40B4-BE49-F238E27FC236}">
                <a16:creationId xmlns:a16="http://schemas.microsoft.com/office/drawing/2014/main" id="{6C689D74-E858-B7F1-95E6-02E184A6415C}"/>
              </a:ext>
            </a:extLst>
          </p:cNvPr>
          <p:cNvSpPr txBox="1">
            <a:spLocks/>
          </p:cNvSpPr>
          <p:nvPr/>
        </p:nvSpPr>
        <p:spPr>
          <a:xfrm>
            <a:off x="5334000" y="1598295"/>
            <a:ext cx="6781800" cy="5079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lnSpc>
                <a:spcPct val="100000"/>
              </a:lnSpc>
              <a:buNone/>
            </a:pP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void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printArr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(short[], int);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int main()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short dice[6] = {1,2,3,4,5,6};</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(dice, 6);</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return 0;</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 dice[], int size)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for(auto d : dice)</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cout &lt;&lt; d &lt;&lt; endl;</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667931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Array to Function Example, Slide 2 of 3</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800600" cy="5079374"/>
          </a:xfrm>
        </p:spPr>
        <p:txBody>
          <a:bodyPr>
            <a:normAutofit fontScale="92500"/>
          </a:bodyPr>
          <a:lstStyle/>
          <a:p>
            <a:r>
              <a:rPr lang="en-US" altLang="en-US" sz="2800" dirty="0"/>
              <a:t>In the function prototype, you put the data type of the array and empty square brackets. </a:t>
            </a:r>
          </a:p>
          <a:p>
            <a:r>
              <a:rPr lang="en-US" altLang="en-US" sz="2800" dirty="0">
                <a:solidFill>
                  <a:schemeClr val="bg1"/>
                </a:solidFill>
                <a:highlight>
                  <a:srgbClr val="FFFF00"/>
                </a:highlight>
              </a:rPr>
              <a:t>In the function call statement, you only put the name of the array. Do not put the data type or square brackets.</a:t>
            </a:r>
          </a:p>
          <a:p>
            <a:r>
              <a:rPr lang="en-US" altLang="en-US" sz="2800" dirty="0"/>
              <a:t>In the function header, you put the data type, name of the array, and empty square brackets for the array parameter.</a:t>
            </a:r>
          </a:p>
          <a:p>
            <a:endParaRPr lang="en-US" altLang="en-US" sz="2800" dirty="0">
              <a:solidFill>
                <a:schemeClr val="bg1"/>
              </a:solidFill>
            </a:endParaRPr>
          </a:p>
          <a:p>
            <a:endParaRPr lang="en-US" altLang="en-US" sz="2800" dirty="0">
              <a:solidFill>
                <a:schemeClr val="bg1"/>
              </a:solidFill>
            </a:endParaRPr>
          </a:p>
        </p:txBody>
      </p:sp>
      <p:sp>
        <p:nvSpPr>
          <p:cNvPr id="2" name="Content Placeholder 3">
            <a:extLst>
              <a:ext uri="{FF2B5EF4-FFF2-40B4-BE49-F238E27FC236}">
                <a16:creationId xmlns:a16="http://schemas.microsoft.com/office/drawing/2014/main" id="{6C689D74-E858-B7F1-95E6-02E184A6415C}"/>
              </a:ext>
            </a:extLst>
          </p:cNvPr>
          <p:cNvSpPr txBox="1">
            <a:spLocks/>
          </p:cNvSpPr>
          <p:nvPr/>
        </p:nvSpPr>
        <p:spPr>
          <a:xfrm>
            <a:off x="5334000" y="1598295"/>
            <a:ext cx="6781800" cy="5079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 int);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int main()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short dice[6] = {1,2,3,4,5,6};</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printArr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(dice, 6);</a:t>
            </a:r>
            <a:br>
              <a:rPr lang="en-US" altLang="en-US" b="1" dirty="0">
                <a:solidFill>
                  <a:schemeClr val="bg1"/>
                </a:solidFill>
                <a:highlight>
                  <a:srgbClr val="FFFF00"/>
                </a:highlight>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return 0;</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 dice[], int size)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for(auto d : dice)</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cout &lt;&lt; d &lt;&lt; endl;</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650334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Array to Function Example, Slide 3 of 3</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800600" cy="5079374"/>
          </a:xfrm>
        </p:spPr>
        <p:txBody>
          <a:bodyPr>
            <a:normAutofit fontScale="92500"/>
          </a:bodyPr>
          <a:lstStyle/>
          <a:p>
            <a:r>
              <a:rPr lang="en-US" altLang="en-US" sz="2800" dirty="0"/>
              <a:t>In the function prototype, you put the data type of the array and empty square brackets. </a:t>
            </a:r>
          </a:p>
          <a:p>
            <a:r>
              <a:rPr lang="en-US" altLang="en-US" sz="2800" dirty="0"/>
              <a:t>In the function call statement, you only put the name of the array. Do not put the data type or square brackets.</a:t>
            </a:r>
          </a:p>
          <a:p>
            <a:r>
              <a:rPr lang="en-US" altLang="en-US" sz="2800" dirty="0">
                <a:solidFill>
                  <a:schemeClr val="bg1"/>
                </a:solidFill>
                <a:highlight>
                  <a:srgbClr val="FFFF00"/>
                </a:highlight>
              </a:rPr>
              <a:t>In the function header, you put the data type, name of the array, and empty square brackets for the array parameter.</a:t>
            </a:r>
          </a:p>
          <a:p>
            <a:endParaRPr lang="en-US" altLang="en-US" sz="2800" dirty="0">
              <a:solidFill>
                <a:schemeClr val="bg1"/>
              </a:solidFill>
            </a:endParaRPr>
          </a:p>
          <a:p>
            <a:endParaRPr lang="en-US" altLang="en-US" sz="2800" dirty="0">
              <a:solidFill>
                <a:schemeClr val="bg1"/>
              </a:solidFill>
            </a:endParaRPr>
          </a:p>
        </p:txBody>
      </p:sp>
      <p:sp>
        <p:nvSpPr>
          <p:cNvPr id="2" name="Content Placeholder 3">
            <a:extLst>
              <a:ext uri="{FF2B5EF4-FFF2-40B4-BE49-F238E27FC236}">
                <a16:creationId xmlns:a16="http://schemas.microsoft.com/office/drawing/2014/main" id="{6C689D74-E858-B7F1-95E6-02E184A6415C}"/>
              </a:ext>
            </a:extLst>
          </p:cNvPr>
          <p:cNvSpPr txBox="1">
            <a:spLocks/>
          </p:cNvSpPr>
          <p:nvPr/>
        </p:nvSpPr>
        <p:spPr>
          <a:xfrm>
            <a:off x="5334000" y="1598295"/>
            <a:ext cx="6781800" cy="5079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 int);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int main()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short dice[6] = {1,2,3,4,5,6};</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(dice, 6);</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return 0;</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a:t>
            </a:r>
          </a:p>
          <a:p>
            <a:pPr marL="0" indent="0">
              <a:lnSpc>
                <a:spcPct val="100000"/>
              </a:lnSpc>
              <a:buNone/>
            </a:pP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void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printArr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(short dice[], int size) </a:t>
            </a:r>
            <a:r>
              <a:rPr lang="en-US" altLang="en-US" b="1" dirty="0">
                <a:solidFill>
                  <a:schemeClr val="bg1"/>
                </a:solidFill>
                <a:latin typeface="Courier New" panose="02070309020205020404" pitchFamily="49" charset="0"/>
                <a:cs typeface="Courier New" panose="02070309020205020404" pitchFamily="49" charset="0"/>
              </a:rPr>
              <a:t>{</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for(auto d : dice)</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cout &lt;&lt; d &lt;&lt; endl;</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692112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Arrays to Function Code Example</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b="1" dirty="0">
                <a:solidFill>
                  <a:schemeClr val="bg1"/>
                </a:solidFill>
                <a:latin typeface="Courier New" panose="02070309020205020404" pitchFamily="49" charset="0"/>
                <a:cs typeface="Courier New" panose="02070309020205020404" pitchFamily="49" charset="0"/>
              </a:rPr>
              <a:t>arrayFunc_1.cpp</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dirty="0">
                <a:solidFill>
                  <a:schemeClr val="bg1"/>
                </a:solidFill>
              </a:rPr>
              <a:t>passing an array to two different functions</a:t>
            </a:r>
          </a:p>
        </p:txBody>
      </p:sp>
      <p:pic>
        <p:nvPicPr>
          <p:cNvPr id="2" name="Picture 2" descr="C++ Logo Icon, Transparent C++ Logo.PNG Images &amp; Vector - FreeIconsPNG">
            <a:extLst>
              <a:ext uri="{FF2B5EF4-FFF2-40B4-BE49-F238E27FC236}">
                <a16:creationId xmlns:a16="http://schemas.microsoft.com/office/drawing/2014/main" id="{D1C19398-63E5-433D-EFF5-336E2E3EC8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94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13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364"/>
            <a:ext cx="12192000" cy="796762"/>
          </a:xfrm>
          <a:solidFill>
            <a:schemeClr val="accent1"/>
          </a:solidFill>
        </p:spPr>
        <p:txBody>
          <a:bodyPr>
            <a:normAutofit/>
          </a:bodyPr>
          <a:lstStyle/>
          <a:p>
            <a:r>
              <a:rPr lang="en-US" sz="3600" b="1" dirty="0">
                <a:solidFill>
                  <a:schemeClr val="bg1"/>
                </a:solidFill>
                <a:latin typeface="Berlin Sans FB Demi" panose="020E0802020502020306" pitchFamily="34" charset="0"/>
              </a:rPr>
              <a:t>Module 8 In-Class Practice 2</a:t>
            </a:r>
          </a:p>
        </p:txBody>
      </p:sp>
      <p:sp>
        <p:nvSpPr>
          <p:cNvPr id="3" name="Content Placeholder 2"/>
          <p:cNvSpPr>
            <a:spLocks noGrp="1"/>
          </p:cNvSpPr>
          <p:nvPr>
            <p:ph idx="1"/>
          </p:nvPr>
        </p:nvSpPr>
        <p:spPr>
          <a:xfrm>
            <a:off x="34565" y="796010"/>
            <a:ext cx="9524999" cy="4461790"/>
          </a:xfrm>
          <a:solidFill>
            <a:schemeClr val="tx1"/>
          </a:solidFill>
        </p:spPr>
        <p:txBody>
          <a:bodyPr>
            <a:normAutofit/>
          </a:bodyPr>
          <a:lstStyle/>
          <a:p>
            <a:pPr marL="228600" indent="0">
              <a:buNone/>
            </a:pPr>
            <a:r>
              <a:rPr lang="en-US" b="1" dirty="0">
                <a:solidFill>
                  <a:schemeClr val="bg1"/>
                </a:solidFill>
              </a:rPr>
              <a:t>Take your mod8a.cpp and rename it to mod8b.cpp. </a:t>
            </a:r>
          </a:p>
          <a:p>
            <a:pPr marL="228600" indent="0">
              <a:buNone/>
            </a:pPr>
            <a:r>
              <a:rPr lang="en-US" b="1" dirty="0">
                <a:solidFill>
                  <a:schemeClr val="bg1"/>
                </a:solidFill>
              </a:rPr>
              <a:t>Add the following to the program:</a:t>
            </a:r>
          </a:p>
          <a:p>
            <a:pPr marL="854075" indent="-457200">
              <a:lnSpc>
                <a:spcPct val="120000"/>
              </a:lnSpc>
              <a:spcBef>
                <a:spcPts val="0"/>
              </a:spcBef>
              <a:buClr>
                <a:srgbClr val="00B050"/>
              </a:buClr>
              <a:buAutoNum type="arabicPeriod"/>
            </a:pPr>
            <a:r>
              <a:rPr lang="en-US" b="1" dirty="0">
                <a:solidFill>
                  <a:schemeClr val="bg1"/>
                </a:solidFill>
                <a:highlight>
                  <a:srgbClr val="FFFF00"/>
                </a:highlight>
              </a:rPr>
              <a:t>Create a function </a:t>
            </a:r>
            <a:r>
              <a:rPr lang="en-US" b="1" dirty="0">
                <a:solidFill>
                  <a:schemeClr val="bg1"/>
                </a:solidFill>
              </a:rPr>
              <a:t>called </a:t>
            </a:r>
            <a:r>
              <a:rPr lang="en-US" b="1" dirty="0" err="1">
                <a:solidFill>
                  <a:schemeClr val="bg1"/>
                </a:solidFill>
                <a:latin typeface="Courier New" panose="02070309020205020404" pitchFamily="49" charset="0"/>
                <a:cs typeface="Courier New" panose="02070309020205020404" pitchFamily="49" charset="0"/>
              </a:rPr>
              <a:t>findHighest</a:t>
            </a:r>
            <a:r>
              <a:rPr lang="en-US" b="1" dirty="0">
                <a:solidFill>
                  <a:schemeClr val="bg1"/>
                </a:solidFill>
                <a:latin typeface="Courier New" panose="02070309020205020404" pitchFamily="49" charset="0"/>
                <a:cs typeface="Courier New" panose="02070309020205020404" pitchFamily="49" charset="0"/>
              </a:rPr>
              <a:t>()</a:t>
            </a:r>
            <a:r>
              <a:rPr lang="en-US" b="1" dirty="0">
                <a:solidFill>
                  <a:schemeClr val="bg1"/>
                </a:solidFill>
              </a:rPr>
              <a:t>.  Send the price array to this function and find the largest amount in the array.  Return the index of the element with the  largest price.</a:t>
            </a:r>
          </a:p>
          <a:p>
            <a:pPr marL="854075" indent="-457200">
              <a:lnSpc>
                <a:spcPct val="120000"/>
              </a:lnSpc>
              <a:spcBef>
                <a:spcPts val="0"/>
              </a:spcBef>
              <a:buClr>
                <a:srgbClr val="00B050"/>
              </a:buClr>
              <a:buAutoNum type="arabicPeriod"/>
            </a:pPr>
            <a:r>
              <a:rPr lang="en-US" b="1" dirty="0">
                <a:solidFill>
                  <a:schemeClr val="bg1"/>
                </a:solidFill>
                <a:highlight>
                  <a:srgbClr val="FFFF00"/>
                </a:highlight>
              </a:rPr>
              <a:t>Create a function </a:t>
            </a:r>
            <a:r>
              <a:rPr lang="en-US" b="1" dirty="0">
                <a:solidFill>
                  <a:schemeClr val="bg1"/>
                </a:solidFill>
              </a:rPr>
              <a:t>called </a:t>
            </a:r>
            <a:r>
              <a:rPr lang="en-US" b="1" dirty="0" err="1">
                <a:solidFill>
                  <a:schemeClr val="bg1"/>
                </a:solidFill>
                <a:latin typeface="Courier New" panose="02070309020205020404" pitchFamily="49" charset="0"/>
                <a:cs typeface="Courier New" panose="02070309020205020404" pitchFamily="49" charset="0"/>
              </a:rPr>
              <a:t>findAverage</a:t>
            </a:r>
            <a:r>
              <a:rPr lang="en-US" b="1" dirty="0">
                <a:solidFill>
                  <a:schemeClr val="bg1"/>
                </a:solidFill>
                <a:latin typeface="Courier New" panose="02070309020205020404" pitchFamily="49" charset="0"/>
                <a:cs typeface="Courier New" panose="02070309020205020404" pitchFamily="49" charset="0"/>
              </a:rPr>
              <a:t>()</a:t>
            </a:r>
            <a:r>
              <a:rPr lang="en-US" b="1" dirty="0">
                <a:solidFill>
                  <a:schemeClr val="bg1"/>
                </a:solidFill>
              </a:rPr>
              <a:t>.  Send the price array to this function and find the average of all prices.  Return the average price.</a:t>
            </a:r>
          </a:p>
          <a:p>
            <a:pPr marL="854075" indent="-457200">
              <a:lnSpc>
                <a:spcPct val="120000"/>
              </a:lnSpc>
              <a:spcBef>
                <a:spcPts val="0"/>
              </a:spcBef>
              <a:buClr>
                <a:srgbClr val="00B050"/>
              </a:buClr>
              <a:buAutoNum type="arabicPeriod"/>
            </a:pPr>
            <a:r>
              <a:rPr lang="en-US" b="1" dirty="0">
                <a:solidFill>
                  <a:schemeClr val="bg1"/>
                </a:solidFill>
                <a:highlight>
                  <a:srgbClr val="FFFF00"/>
                </a:highlight>
              </a:rPr>
              <a:t>In the main function</a:t>
            </a:r>
            <a:r>
              <a:rPr lang="en-US" b="1" dirty="0">
                <a:solidFill>
                  <a:schemeClr val="bg1"/>
                </a:solidFill>
              </a:rPr>
              <a:t>, add to the end of the function to call </a:t>
            </a:r>
            <a:r>
              <a:rPr lang="en-US" b="1" dirty="0" err="1">
                <a:solidFill>
                  <a:schemeClr val="bg1"/>
                </a:solidFill>
                <a:latin typeface="Courier New" panose="02070309020205020404" pitchFamily="49" charset="0"/>
                <a:cs typeface="Courier New" panose="02070309020205020404" pitchFamily="49" charset="0"/>
              </a:rPr>
              <a:t>findHighest</a:t>
            </a:r>
            <a:r>
              <a:rPr lang="en-US" b="1" dirty="0">
                <a:solidFill>
                  <a:schemeClr val="bg1"/>
                </a:solidFill>
                <a:latin typeface="Courier New" panose="02070309020205020404" pitchFamily="49" charset="0"/>
                <a:cs typeface="Courier New" panose="02070309020205020404" pitchFamily="49" charset="0"/>
              </a:rPr>
              <a:t>()</a:t>
            </a:r>
            <a:r>
              <a:rPr lang="en-US" b="1" dirty="0">
                <a:solidFill>
                  <a:schemeClr val="bg1"/>
                </a:solidFill>
              </a:rPr>
              <a:t>, </a:t>
            </a:r>
            <a:r>
              <a:rPr lang="en-US" b="1" dirty="0" err="1">
                <a:solidFill>
                  <a:schemeClr val="bg1"/>
                </a:solidFill>
                <a:latin typeface="Courier New" panose="02070309020205020404" pitchFamily="49" charset="0"/>
                <a:cs typeface="Courier New" panose="02070309020205020404" pitchFamily="49" charset="0"/>
              </a:rPr>
              <a:t>findAverage</a:t>
            </a:r>
            <a:r>
              <a:rPr lang="en-US" b="1" dirty="0">
                <a:solidFill>
                  <a:schemeClr val="bg1"/>
                </a:solidFill>
                <a:latin typeface="Courier New" panose="02070309020205020404" pitchFamily="49" charset="0"/>
                <a:cs typeface="Courier New" panose="02070309020205020404" pitchFamily="49" charset="0"/>
              </a:rPr>
              <a:t>()</a:t>
            </a:r>
            <a:r>
              <a:rPr lang="en-US" b="1" dirty="0">
                <a:solidFill>
                  <a:schemeClr val="bg1"/>
                </a:solidFill>
              </a:rPr>
              <a:t>, and then </a:t>
            </a:r>
            <a:r>
              <a:rPr lang="en-US" b="1" dirty="0">
                <a:solidFill>
                  <a:schemeClr val="bg1"/>
                </a:solidFill>
                <a:highlight>
                  <a:srgbClr val="FF00FF"/>
                </a:highlight>
              </a:rPr>
              <a:t>print the results</a:t>
            </a:r>
            <a:r>
              <a:rPr lang="en-US" b="1" dirty="0">
                <a:solidFill>
                  <a:schemeClr val="bg1"/>
                </a:solidFill>
              </a:rPr>
              <a:t> as you see in the output below.</a:t>
            </a:r>
          </a:p>
        </p:txBody>
      </p:sp>
      <p:sp>
        <p:nvSpPr>
          <p:cNvPr id="4" name="TextBox 3">
            <a:extLst>
              <a:ext uri="{FF2B5EF4-FFF2-40B4-BE49-F238E27FC236}">
                <a16:creationId xmlns:a16="http://schemas.microsoft.com/office/drawing/2014/main" id="{AE2E6D34-55AA-485F-9D15-71D388C34F39}"/>
              </a:ext>
            </a:extLst>
          </p:cNvPr>
          <p:cNvSpPr txBox="1"/>
          <p:nvPr/>
        </p:nvSpPr>
        <p:spPr>
          <a:xfrm>
            <a:off x="152400" y="5400270"/>
            <a:ext cx="9407164" cy="1015663"/>
          </a:xfrm>
          <a:prstGeom prst="rect">
            <a:avLst/>
          </a:prstGeom>
          <a:solidFill>
            <a:schemeClr val="tx1">
              <a:lumMod val="95000"/>
            </a:schemeClr>
          </a:solidFill>
          <a:ln w="28575">
            <a:solidFill>
              <a:srgbClr val="FF00FF"/>
            </a:solidFill>
          </a:ln>
        </p:spPr>
        <p:txBody>
          <a:bodyPr wrap="square" rtlCol="0">
            <a:spAutoFit/>
          </a:bodyPr>
          <a:lstStyle/>
          <a:p>
            <a:r>
              <a:rPr lang="en-US" sz="2000" b="1" dirty="0">
                <a:solidFill>
                  <a:schemeClr val="bg1"/>
                </a:solidFill>
                <a:latin typeface="Courier New" panose="02070309020205020404" pitchFamily="49" charset="0"/>
                <a:cs typeface="Courier New" panose="02070309020205020404" pitchFamily="49" charset="0"/>
              </a:rPr>
              <a:t>****RESULTS****</a:t>
            </a:r>
          </a:p>
          <a:p>
            <a:r>
              <a:rPr lang="en-US" sz="2000" b="1" dirty="0">
                <a:solidFill>
                  <a:schemeClr val="bg1"/>
                </a:solidFill>
                <a:latin typeface="Courier New" panose="02070309020205020404" pitchFamily="49" charset="0"/>
                <a:cs typeface="Courier New" panose="02070309020205020404" pitchFamily="49" charset="0"/>
              </a:rPr>
              <a:t>HIGHEST PRICE: Smart Phone with price $1240.50</a:t>
            </a:r>
          </a:p>
          <a:p>
            <a:r>
              <a:rPr lang="en-US" sz="2000" b="1" dirty="0">
                <a:solidFill>
                  <a:schemeClr val="bg1"/>
                </a:solidFill>
                <a:latin typeface="Courier New" panose="02070309020205020404" pitchFamily="49" charset="0"/>
                <a:cs typeface="Courier New" panose="02070309020205020404" pitchFamily="49" charset="0"/>
              </a:rPr>
              <a:t>AVERAGE PRICE: $139.10</a:t>
            </a:r>
          </a:p>
        </p:txBody>
      </p:sp>
      <p:sp>
        <p:nvSpPr>
          <p:cNvPr id="5" name="TextBox 4">
            <a:extLst>
              <a:ext uri="{FF2B5EF4-FFF2-40B4-BE49-F238E27FC236}">
                <a16:creationId xmlns:a16="http://schemas.microsoft.com/office/drawing/2014/main" id="{48A90C54-B225-4E2A-CEC2-111DF23F4D5A}"/>
              </a:ext>
            </a:extLst>
          </p:cNvPr>
          <p:cNvSpPr txBox="1"/>
          <p:nvPr/>
        </p:nvSpPr>
        <p:spPr>
          <a:xfrm>
            <a:off x="9601201" y="796796"/>
            <a:ext cx="2556234" cy="4662815"/>
          </a:xfrm>
          <a:prstGeom prst="rect">
            <a:avLst/>
          </a:prstGeom>
          <a:solidFill>
            <a:schemeClr val="tx1">
              <a:lumMod val="95000"/>
            </a:schemeClr>
          </a:solidFill>
        </p:spPr>
        <p:txBody>
          <a:bodyPr wrap="square" rtlCol="0">
            <a:spAutoFit/>
          </a:bodyPr>
          <a:lstStyle/>
          <a:p>
            <a:r>
              <a:rPr lang="en-US" sz="700" b="1" dirty="0">
                <a:solidFill>
                  <a:schemeClr val="bg1"/>
                </a:solidFill>
                <a:latin typeface="Courier New" panose="02070309020205020404" pitchFamily="49" charset="0"/>
                <a:cs typeface="Courier New" panose="02070309020205020404" pitchFamily="49" charset="0"/>
              </a:rPr>
              <a:t>Tell me 10 useful things and their price:</a:t>
            </a:r>
          </a:p>
          <a:p>
            <a:r>
              <a:rPr lang="en-US" sz="700" b="1" dirty="0">
                <a:solidFill>
                  <a:schemeClr val="bg1"/>
                </a:solidFill>
                <a:latin typeface="Courier New" panose="02070309020205020404" pitchFamily="49" charset="0"/>
                <a:cs typeface="Courier New" panose="02070309020205020404" pitchFamily="49" charset="0"/>
              </a:rPr>
              <a:t>USEFUL THING 1: </a:t>
            </a:r>
            <a:r>
              <a:rPr lang="en-US" sz="700" b="1" dirty="0">
                <a:solidFill>
                  <a:schemeClr val="bg1"/>
                </a:solidFill>
                <a:highlight>
                  <a:srgbClr val="FFFF00"/>
                </a:highlight>
                <a:latin typeface="Courier New" panose="02070309020205020404" pitchFamily="49" charset="0"/>
                <a:cs typeface="Courier New" panose="02070309020205020404" pitchFamily="49" charset="0"/>
              </a:rPr>
              <a:t>Duct Tape</a:t>
            </a:r>
          </a:p>
          <a:p>
            <a:r>
              <a:rPr lang="en-US" sz="700" b="1" dirty="0">
                <a:solidFill>
                  <a:schemeClr val="bg1"/>
                </a:solidFill>
                <a:latin typeface="Courier New" panose="02070309020205020404" pitchFamily="49" charset="0"/>
                <a:cs typeface="Courier New" panose="02070309020205020404" pitchFamily="49" charset="0"/>
              </a:rPr>
              <a:t>PRICE FOR THING 1: </a:t>
            </a:r>
            <a:r>
              <a:rPr lang="en-US" sz="700" b="1" dirty="0">
                <a:solidFill>
                  <a:schemeClr val="bg1"/>
                </a:solidFill>
                <a:highlight>
                  <a:srgbClr val="FFFF00"/>
                </a:highlight>
                <a:latin typeface="Courier New" panose="02070309020205020404" pitchFamily="49" charset="0"/>
                <a:cs typeface="Courier New" panose="02070309020205020404" pitchFamily="49" charset="0"/>
              </a:rPr>
              <a:t>3.99</a:t>
            </a:r>
          </a:p>
          <a:p>
            <a:r>
              <a:rPr lang="en-US" sz="700" b="1" dirty="0">
                <a:solidFill>
                  <a:schemeClr val="bg1"/>
                </a:solidFill>
                <a:latin typeface="Courier New" panose="02070309020205020404" pitchFamily="49" charset="0"/>
                <a:cs typeface="Courier New" panose="02070309020205020404" pitchFamily="49" charset="0"/>
              </a:rPr>
              <a:t>USEFUL THING 2: </a:t>
            </a:r>
            <a:r>
              <a:rPr lang="en-US" sz="700" b="1" dirty="0">
                <a:solidFill>
                  <a:schemeClr val="bg1"/>
                </a:solidFill>
                <a:highlight>
                  <a:srgbClr val="FFFF00"/>
                </a:highlight>
                <a:latin typeface="Courier New" panose="02070309020205020404" pitchFamily="49" charset="0"/>
                <a:cs typeface="Courier New" panose="02070309020205020404" pitchFamily="49" charset="0"/>
              </a:rPr>
              <a:t>Super Glue</a:t>
            </a:r>
          </a:p>
          <a:p>
            <a:r>
              <a:rPr lang="en-US" sz="700" b="1" dirty="0">
                <a:solidFill>
                  <a:schemeClr val="bg1"/>
                </a:solidFill>
                <a:latin typeface="Courier New" panose="02070309020205020404" pitchFamily="49" charset="0"/>
                <a:cs typeface="Courier New" panose="02070309020205020404" pitchFamily="49" charset="0"/>
              </a:rPr>
              <a:t>PRICE FOR THING 2: </a:t>
            </a:r>
            <a:r>
              <a:rPr lang="en-US" sz="700" b="1" dirty="0">
                <a:solidFill>
                  <a:schemeClr val="bg1"/>
                </a:solidFill>
                <a:highlight>
                  <a:srgbClr val="FFFF00"/>
                </a:highlight>
                <a:latin typeface="Courier New" panose="02070309020205020404" pitchFamily="49" charset="0"/>
                <a:cs typeface="Courier New" panose="02070309020205020404" pitchFamily="49" charset="0"/>
              </a:rPr>
              <a:t>4.99</a:t>
            </a:r>
          </a:p>
          <a:p>
            <a:r>
              <a:rPr lang="en-US" sz="700" b="1" dirty="0">
                <a:solidFill>
                  <a:schemeClr val="bg1"/>
                </a:solidFill>
                <a:latin typeface="Courier New" panose="02070309020205020404" pitchFamily="49" charset="0"/>
                <a:cs typeface="Courier New" panose="02070309020205020404" pitchFamily="49" charset="0"/>
              </a:rPr>
              <a:t>USEFUL THING 3: </a:t>
            </a:r>
            <a:r>
              <a:rPr lang="en-US" sz="700" b="1" dirty="0">
                <a:solidFill>
                  <a:schemeClr val="bg1"/>
                </a:solidFill>
                <a:highlight>
                  <a:srgbClr val="FFFF00"/>
                </a:highlight>
                <a:latin typeface="Courier New" panose="02070309020205020404" pitchFamily="49" charset="0"/>
                <a:cs typeface="Courier New" panose="02070309020205020404" pitchFamily="49" charset="0"/>
              </a:rPr>
              <a:t>Sharpie</a:t>
            </a:r>
          </a:p>
          <a:p>
            <a:r>
              <a:rPr lang="en-US" sz="700" b="1" dirty="0">
                <a:solidFill>
                  <a:schemeClr val="bg1"/>
                </a:solidFill>
                <a:latin typeface="Courier New" panose="02070309020205020404" pitchFamily="49" charset="0"/>
                <a:cs typeface="Courier New" panose="02070309020205020404" pitchFamily="49" charset="0"/>
              </a:rPr>
              <a:t>PRICE FOR THING 3: </a:t>
            </a:r>
            <a:r>
              <a:rPr lang="en-US" sz="700" b="1" dirty="0">
                <a:solidFill>
                  <a:schemeClr val="bg1"/>
                </a:solidFill>
                <a:highlight>
                  <a:srgbClr val="FFFF00"/>
                </a:highlight>
                <a:latin typeface="Courier New" panose="02070309020205020404" pitchFamily="49" charset="0"/>
                <a:cs typeface="Courier New" panose="02070309020205020404" pitchFamily="49" charset="0"/>
              </a:rPr>
              <a:t>2.99</a:t>
            </a:r>
          </a:p>
          <a:p>
            <a:r>
              <a:rPr lang="en-US" sz="700" b="1" dirty="0">
                <a:solidFill>
                  <a:schemeClr val="bg1"/>
                </a:solidFill>
                <a:latin typeface="Courier New" panose="02070309020205020404" pitchFamily="49" charset="0"/>
                <a:cs typeface="Courier New" panose="02070309020205020404" pitchFamily="49" charset="0"/>
              </a:rPr>
              <a:t>USEFUL THING 4: </a:t>
            </a:r>
            <a:r>
              <a:rPr lang="en-US" sz="700" b="1" dirty="0">
                <a:solidFill>
                  <a:schemeClr val="bg1"/>
                </a:solidFill>
                <a:highlight>
                  <a:srgbClr val="FFFF00"/>
                </a:highlight>
                <a:latin typeface="Courier New" panose="02070309020205020404" pitchFamily="49" charset="0"/>
                <a:cs typeface="Courier New" panose="02070309020205020404" pitchFamily="49" charset="0"/>
              </a:rPr>
              <a:t>Band-Aid</a:t>
            </a:r>
          </a:p>
          <a:p>
            <a:r>
              <a:rPr lang="en-US" sz="700" b="1" dirty="0">
                <a:solidFill>
                  <a:schemeClr val="bg1"/>
                </a:solidFill>
                <a:latin typeface="Courier New" panose="02070309020205020404" pitchFamily="49" charset="0"/>
                <a:cs typeface="Courier New" panose="02070309020205020404" pitchFamily="49" charset="0"/>
              </a:rPr>
              <a:t>PRICE FOR THING 4: </a:t>
            </a:r>
            <a:r>
              <a:rPr lang="en-US" sz="700" b="1" dirty="0">
                <a:solidFill>
                  <a:schemeClr val="bg1"/>
                </a:solidFill>
                <a:highlight>
                  <a:srgbClr val="FFFF00"/>
                </a:highlight>
                <a:latin typeface="Courier New" panose="02070309020205020404" pitchFamily="49" charset="0"/>
                <a:cs typeface="Courier New" panose="02070309020205020404" pitchFamily="49" charset="0"/>
              </a:rPr>
              <a:t>5</a:t>
            </a:r>
          </a:p>
          <a:p>
            <a:r>
              <a:rPr lang="en-US" sz="700" b="1" dirty="0">
                <a:solidFill>
                  <a:schemeClr val="bg1"/>
                </a:solidFill>
                <a:latin typeface="Courier New" panose="02070309020205020404" pitchFamily="49" charset="0"/>
                <a:cs typeface="Courier New" panose="02070309020205020404" pitchFamily="49" charset="0"/>
              </a:rPr>
              <a:t>USEFUL THING 5: </a:t>
            </a:r>
            <a:r>
              <a:rPr lang="en-US" sz="700" b="1" dirty="0">
                <a:solidFill>
                  <a:schemeClr val="bg1"/>
                </a:solidFill>
                <a:highlight>
                  <a:srgbClr val="FFFF00"/>
                </a:highlight>
                <a:latin typeface="Courier New" panose="02070309020205020404" pitchFamily="49" charset="0"/>
                <a:cs typeface="Courier New" panose="02070309020205020404" pitchFamily="49" charset="0"/>
              </a:rPr>
              <a:t>Tylenol</a:t>
            </a:r>
          </a:p>
          <a:p>
            <a:r>
              <a:rPr lang="en-US" sz="700" b="1" dirty="0">
                <a:solidFill>
                  <a:schemeClr val="bg1"/>
                </a:solidFill>
                <a:latin typeface="Courier New" panose="02070309020205020404" pitchFamily="49" charset="0"/>
                <a:cs typeface="Courier New" panose="02070309020205020404" pitchFamily="49" charset="0"/>
              </a:rPr>
              <a:t>PRICE FOR THING 5: </a:t>
            </a:r>
            <a:r>
              <a:rPr lang="en-US" sz="700" b="1" dirty="0">
                <a:solidFill>
                  <a:schemeClr val="bg1"/>
                </a:solidFill>
                <a:highlight>
                  <a:srgbClr val="FFFF00"/>
                </a:highlight>
                <a:latin typeface="Courier New" panose="02070309020205020404" pitchFamily="49" charset="0"/>
                <a:cs typeface="Courier New" panose="02070309020205020404" pitchFamily="49" charset="0"/>
              </a:rPr>
              <a:t>1.99</a:t>
            </a:r>
          </a:p>
          <a:p>
            <a:r>
              <a:rPr lang="en-US" sz="700" b="1" dirty="0">
                <a:solidFill>
                  <a:schemeClr val="bg1"/>
                </a:solidFill>
                <a:latin typeface="Courier New" panose="02070309020205020404" pitchFamily="49" charset="0"/>
                <a:cs typeface="Courier New" panose="02070309020205020404" pitchFamily="49" charset="0"/>
              </a:rPr>
              <a:t>USEFUL THING 6: </a:t>
            </a:r>
            <a:r>
              <a:rPr lang="en-US" sz="700" b="1" dirty="0">
                <a:solidFill>
                  <a:schemeClr val="bg1"/>
                </a:solidFill>
                <a:highlight>
                  <a:srgbClr val="FFFF00"/>
                </a:highlight>
                <a:latin typeface="Courier New" panose="02070309020205020404" pitchFamily="49" charset="0"/>
                <a:cs typeface="Courier New" panose="02070309020205020404" pitchFamily="49" charset="0"/>
              </a:rPr>
              <a:t>Smart Phone</a:t>
            </a:r>
          </a:p>
          <a:p>
            <a:r>
              <a:rPr lang="en-US" sz="700" b="1" dirty="0">
                <a:solidFill>
                  <a:schemeClr val="bg1"/>
                </a:solidFill>
                <a:latin typeface="Courier New" panose="02070309020205020404" pitchFamily="49" charset="0"/>
                <a:cs typeface="Courier New" panose="02070309020205020404" pitchFamily="49" charset="0"/>
              </a:rPr>
              <a:t>PRICE FOR THING 6: </a:t>
            </a:r>
            <a:r>
              <a:rPr lang="en-US" sz="700" b="1" dirty="0">
                <a:solidFill>
                  <a:schemeClr val="bg1"/>
                </a:solidFill>
                <a:highlight>
                  <a:srgbClr val="FFFF00"/>
                </a:highlight>
                <a:latin typeface="Courier New" panose="02070309020205020404" pitchFamily="49" charset="0"/>
                <a:cs typeface="Courier New" panose="02070309020205020404" pitchFamily="49" charset="0"/>
              </a:rPr>
              <a:t>1248.50</a:t>
            </a:r>
          </a:p>
          <a:p>
            <a:r>
              <a:rPr lang="en-US" sz="700" b="1" dirty="0">
                <a:solidFill>
                  <a:schemeClr val="bg1"/>
                </a:solidFill>
                <a:latin typeface="Courier New" panose="02070309020205020404" pitchFamily="49" charset="0"/>
                <a:cs typeface="Courier New" panose="02070309020205020404" pitchFamily="49" charset="0"/>
              </a:rPr>
              <a:t>USEFUL THING 7: </a:t>
            </a:r>
            <a:r>
              <a:rPr lang="en-US" sz="700" b="1" dirty="0">
                <a:solidFill>
                  <a:schemeClr val="bg1"/>
                </a:solidFill>
                <a:highlight>
                  <a:srgbClr val="FFFF00"/>
                </a:highlight>
                <a:latin typeface="Courier New" panose="02070309020205020404" pitchFamily="49" charset="0"/>
                <a:cs typeface="Courier New" panose="02070309020205020404" pitchFamily="49" charset="0"/>
              </a:rPr>
              <a:t>Rain Boots</a:t>
            </a:r>
          </a:p>
          <a:p>
            <a:r>
              <a:rPr lang="en-US" sz="700" b="1" dirty="0">
                <a:solidFill>
                  <a:schemeClr val="bg1"/>
                </a:solidFill>
                <a:latin typeface="Courier New" panose="02070309020205020404" pitchFamily="49" charset="0"/>
                <a:cs typeface="Courier New" panose="02070309020205020404" pitchFamily="49" charset="0"/>
              </a:rPr>
              <a:t>PRICE FOR THING 7: </a:t>
            </a:r>
            <a:r>
              <a:rPr lang="en-US" sz="700" b="1" dirty="0">
                <a:solidFill>
                  <a:schemeClr val="bg1"/>
                </a:solidFill>
                <a:highlight>
                  <a:srgbClr val="FFFF00"/>
                </a:highlight>
                <a:latin typeface="Courier New" panose="02070309020205020404" pitchFamily="49" charset="0"/>
                <a:cs typeface="Courier New" panose="02070309020205020404" pitchFamily="49" charset="0"/>
              </a:rPr>
              <a:t>39.99</a:t>
            </a:r>
          </a:p>
          <a:p>
            <a:r>
              <a:rPr lang="en-US" sz="700" b="1" dirty="0">
                <a:solidFill>
                  <a:schemeClr val="bg1"/>
                </a:solidFill>
                <a:latin typeface="Courier New" panose="02070309020205020404" pitchFamily="49" charset="0"/>
                <a:cs typeface="Courier New" panose="02070309020205020404" pitchFamily="49" charset="0"/>
              </a:rPr>
              <a:t>USEFUL THING 8: </a:t>
            </a:r>
            <a:r>
              <a:rPr lang="en-US" sz="700" b="1" dirty="0">
                <a:solidFill>
                  <a:schemeClr val="bg1"/>
                </a:solidFill>
                <a:highlight>
                  <a:srgbClr val="FFFF00"/>
                </a:highlight>
                <a:latin typeface="Courier New" panose="02070309020205020404" pitchFamily="49" charset="0"/>
                <a:cs typeface="Courier New" panose="02070309020205020404" pitchFamily="49" charset="0"/>
              </a:rPr>
              <a:t>Paperclip</a:t>
            </a:r>
          </a:p>
          <a:p>
            <a:r>
              <a:rPr lang="en-US" sz="700" b="1" dirty="0">
                <a:solidFill>
                  <a:schemeClr val="bg1"/>
                </a:solidFill>
                <a:latin typeface="Courier New" panose="02070309020205020404" pitchFamily="49" charset="0"/>
                <a:cs typeface="Courier New" panose="02070309020205020404" pitchFamily="49" charset="0"/>
              </a:rPr>
              <a:t>PRICE FOR THING 8: </a:t>
            </a:r>
            <a:r>
              <a:rPr lang="en-US" sz="700" b="1" dirty="0">
                <a:solidFill>
                  <a:schemeClr val="bg1"/>
                </a:solidFill>
                <a:highlight>
                  <a:srgbClr val="FFFF00"/>
                </a:highlight>
                <a:latin typeface="Courier New" panose="02070309020205020404" pitchFamily="49" charset="0"/>
                <a:cs typeface="Courier New" panose="02070309020205020404" pitchFamily="49" charset="0"/>
              </a:rPr>
              <a:t>.05</a:t>
            </a:r>
          </a:p>
          <a:p>
            <a:r>
              <a:rPr lang="en-US" sz="700" b="1" dirty="0">
                <a:solidFill>
                  <a:schemeClr val="bg1"/>
                </a:solidFill>
                <a:latin typeface="Courier New" panose="02070309020205020404" pitchFamily="49" charset="0"/>
                <a:cs typeface="Courier New" panose="02070309020205020404" pitchFamily="49" charset="0"/>
              </a:rPr>
              <a:t>USEFUL THING 9: </a:t>
            </a:r>
            <a:r>
              <a:rPr lang="en-US" sz="700" b="1" dirty="0">
                <a:solidFill>
                  <a:schemeClr val="bg1"/>
                </a:solidFill>
                <a:highlight>
                  <a:srgbClr val="FFFF00"/>
                </a:highlight>
                <a:latin typeface="Courier New" panose="02070309020205020404" pitchFamily="49" charset="0"/>
                <a:cs typeface="Courier New" panose="02070309020205020404" pitchFamily="49" charset="0"/>
              </a:rPr>
              <a:t>Scissors</a:t>
            </a:r>
          </a:p>
          <a:p>
            <a:r>
              <a:rPr lang="en-US" sz="700" b="1" dirty="0">
                <a:solidFill>
                  <a:schemeClr val="bg1"/>
                </a:solidFill>
                <a:latin typeface="Courier New" panose="02070309020205020404" pitchFamily="49" charset="0"/>
                <a:cs typeface="Courier New" panose="02070309020205020404" pitchFamily="49" charset="0"/>
              </a:rPr>
              <a:t>PRICE FOR THING 9: </a:t>
            </a:r>
            <a:r>
              <a:rPr lang="en-US" sz="700" b="1" dirty="0">
                <a:solidFill>
                  <a:schemeClr val="bg1"/>
                </a:solidFill>
                <a:highlight>
                  <a:srgbClr val="FFFF00"/>
                </a:highlight>
                <a:latin typeface="Courier New" panose="02070309020205020404" pitchFamily="49" charset="0"/>
                <a:cs typeface="Courier New" panose="02070309020205020404" pitchFamily="49" charset="0"/>
              </a:rPr>
              <a:t>7.99</a:t>
            </a:r>
          </a:p>
          <a:p>
            <a:r>
              <a:rPr lang="en-US" sz="700" b="1" dirty="0">
                <a:solidFill>
                  <a:schemeClr val="bg1"/>
                </a:solidFill>
                <a:latin typeface="Courier New" panose="02070309020205020404" pitchFamily="49" charset="0"/>
                <a:cs typeface="Courier New" panose="02070309020205020404" pitchFamily="49" charset="0"/>
              </a:rPr>
              <a:t>USEFUL THING 10: </a:t>
            </a:r>
            <a:r>
              <a:rPr lang="en-US" sz="700" b="1" dirty="0">
                <a:solidFill>
                  <a:schemeClr val="bg1"/>
                </a:solidFill>
                <a:highlight>
                  <a:srgbClr val="FFFF00"/>
                </a:highlight>
                <a:latin typeface="Courier New" panose="02070309020205020404" pitchFamily="49" charset="0"/>
                <a:cs typeface="Courier New" panose="02070309020205020404" pitchFamily="49" charset="0"/>
              </a:rPr>
              <a:t>Swiss Army Knife</a:t>
            </a:r>
          </a:p>
          <a:p>
            <a:r>
              <a:rPr lang="en-US" sz="700" b="1" dirty="0">
                <a:solidFill>
                  <a:schemeClr val="bg1"/>
                </a:solidFill>
                <a:latin typeface="Courier New" panose="02070309020205020404" pitchFamily="49" charset="0"/>
                <a:cs typeface="Courier New" panose="02070309020205020404" pitchFamily="49" charset="0"/>
              </a:rPr>
              <a:t>PRICE FOR THING 10: </a:t>
            </a:r>
            <a:r>
              <a:rPr lang="en-US" sz="700" b="1" dirty="0">
                <a:solidFill>
                  <a:schemeClr val="bg1"/>
                </a:solidFill>
                <a:highlight>
                  <a:srgbClr val="FFFF00"/>
                </a:highlight>
                <a:latin typeface="Courier New" panose="02070309020205020404" pitchFamily="49" charset="0"/>
                <a:cs typeface="Courier New" panose="02070309020205020404" pitchFamily="49" charset="0"/>
              </a:rPr>
              <a:t>80</a:t>
            </a:r>
          </a:p>
          <a:p>
            <a:endParaRPr lang="en-US" sz="700" b="1" dirty="0">
              <a:solidFill>
                <a:schemeClr val="bg1"/>
              </a:solidFill>
              <a:highlight>
                <a:srgbClr val="FFFF00"/>
              </a:highlight>
              <a:latin typeface="Courier New" panose="02070309020205020404" pitchFamily="49" charset="0"/>
              <a:cs typeface="Courier New" panose="02070309020205020404" pitchFamily="49" charset="0"/>
            </a:endParaRPr>
          </a:p>
          <a:p>
            <a:r>
              <a:rPr lang="en-US" sz="800" b="1" dirty="0">
                <a:solidFill>
                  <a:schemeClr val="bg1"/>
                </a:solidFill>
                <a:latin typeface="Courier New" panose="02070309020205020404" pitchFamily="49" charset="0"/>
                <a:cs typeface="Courier New" panose="02070309020205020404" pitchFamily="49" charset="0"/>
              </a:rPr>
              <a:t>Your list of useful items include:</a:t>
            </a:r>
          </a:p>
          <a:p>
            <a:r>
              <a:rPr lang="en-US" sz="800" b="1" dirty="0">
                <a:solidFill>
                  <a:schemeClr val="bg1"/>
                </a:solidFill>
                <a:latin typeface="Courier New" panose="02070309020205020404" pitchFamily="49" charset="0"/>
                <a:cs typeface="Courier New" panose="02070309020205020404" pitchFamily="49" charset="0"/>
              </a:rPr>
              <a:t>Duct Tape, $3.99</a:t>
            </a:r>
          </a:p>
          <a:p>
            <a:r>
              <a:rPr lang="en-US" sz="800" b="1" dirty="0">
                <a:solidFill>
                  <a:schemeClr val="bg1"/>
                </a:solidFill>
                <a:latin typeface="Courier New" panose="02070309020205020404" pitchFamily="49" charset="0"/>
                <a:cs typeface="Courier New" panose="02070309020205020404" pitchFamily="49" charset="0"/>
              </a:rPr>
              <a:t>Super Glue, $4.99</a:t>
            </a:r>
          </a:p>
          <a:p>
            <a:r>
              <a:rPr lang="en-US" sz="800" b="1" dirty="0">
                <a:solidFill>
                  <a:schemeClr val="bg1"/>
                </a:solidFill>
                <a:latin typeface="Courier New" panose="02070309020205020404" pitchFamily="49" charset="0"/>
                <a:cs typeface="Courier New" panose="02070309020205020404" pitchFamily="49" charset="0"/>
              </a:rPr>
              <a:t>Sharpie, $2.99</a:t>
            </a:r>
          </a:p>
          <a:p>
            <a:r>
              <a:rPr lang="en-US" sz="800" b="1" dirty="0">
                <a:solidFill>
                  <a:schemeClr val="bg1"/>
                </a:solidFill>
                <a:latin typeface="Courier New" panose="02070309020205020404" pitchFamily="49" charset="0"/>
                <a:cs typeface="Courier New" panose="02070309020205020404" pitchFamily="49" charset="0"/>
              </a:rPr>
              <a:t>Band-Aid, $5.00</a:t>
            </a:r>
          </a:p>
          <a:p>
            <a:r>
              <a:rPr lang="en-US" sz="800" b="1" dirty="0">
                <a:solidFill>
                  <a:schemeClr val="bg1"/>
                </a:solidFill>
                <a:latin typeface="Courier New" panose="02070309020205020404" pitchFamily="49" charset="0"/>
                <a:cs typeface="Courier New" panose="02070309020205020404" pitchFamily="49" charset="0"/>
              </a:rPr>
              <a:t>Tylenol, $1.99</a:t>
            </a:r>
          </a:p>
          <a:p>
            <a:r>
              <a:rPr lang="en-US" sz="800" b="1" dirty="0">
                <a:solidFill>
                  <a:schemeClr val="bg1"/>
                </a:solidFill>
                <a:latin typeface="Courier New" panose="02070309020205020404" pitchFamily="49" charset="0"/>
                <a:cs typeface="Courier New" panose="02070309020205020404" pitchFamily="49" charset="0"/>
              </a:rPr>
              <a:t>Smart Phone, $1248.50</a:t>
            </a:r>
          </a:p>
          <a:p>
            <a:r>
              <a:rPr lang="en-US" sz="800" b="1" dirty="0">
                <a:solidFill>
                  <a:schemeClr val="bg1"/>
                </a:solidFill>
                <a:latin typeface="Courier New" panose="02070309020205020404" pitchFamily="49" charset="0"/>
                <a:cs typeface="Courier New" panose="02070309020205020404" pitchFamily="49" charset="0"/>
              </a:rPr>
              <a:t>Rain Boots, $39.99</a:t>
            </a:r>
          </a:p>
          <a:p>
            <a:r>
              <a:rPr lang="en-US" sz="800" b="1" dirty="0">
                <a:solidFill>
                  <a:schemeClr val="bg1"/>
                </a:solidFill>
                <a:latin typeface="Courier New" panose="02070309020205020404" pitchFamily="49" charset="0"/>
                <a:cs typeface="Courier New" panose="02070309020205020404" pitchFamily="49" charset="0"/>
              </a:rPr>
              <a:t>Paperclip, $0.05</a:t>
            </a:r>
          </a:p>
          <a:p>
            <a:r>
              <a:rPr lang="en-US" sz="800" b="1" dirty="0">
                <a:solidFill>
                  <a:schemeClr val="bg1"/>
                </a:solidFill>
                <a:latin typeface="Courier New" panose="02070309020205020404" pitchFamily="49" charset="0"/>
                <a:cs typeface="Courier New" panose="02070309020205020404" pitchFamily="49" charset="0"/>
              </a:rPr>
              <a:t>Scissors, $7.99</a:t>
            </a:r>
          </a:p>
          <a:p>
            <a:r>
              <a:rPr lang="en-US" sz="800" b="1" dirty="0">
                <a:solidFill>
                  <a:schemeClr val="bg1"/>
                </a:solidFill>
                <a:latin typeface="Courier New" panose="02070309020205020404" pitchFamily="49" charset="0"/>
                <a:cs typeface="Courier New" panose="02070309020205020404" pitchFamily="49" charset="0"/>
              </a:rPr>
              <a:t>Swiss Army Knife, $80.00</a:t>
            </a:r>
          </a:p>
          <a:p>
            <a:endParaRPr lang="en-US" sz="800" b="1" dirty="0">
              <a:solidFill>
                <a:schemeClr val="bg1"/>
              </a:solidFill>
              <a:latin typeface="Courier New" panose="02070309020205020404" pitchFamily="49" charset="0"/>
              <a:cs typeface="Courier New" panose="02070309020205020404" pitchFamily="49" charset="0"/>
            </a:endParaRPr>
          </a:p>
          <a:p>
            <a:r>
              <a:rPr lang="en-US" sz="800" b="1" dirty="0">
                <a:solidFill>
                  <a:schemeClr val="bg1"/>
                </a:solidFill>
                <a:latin typeface="Courier New" panose="02070309020205020404" pitchFamily="49" charset="0"/>
                <a:cs typeface="Courier New" panose="02070309020205020404" pitchFamily="49" charset="0"/>
              </a:rPr>
              <a:t>****RESULTS****</a:t>
            </a:r>
          </a:p>
          <a:p>
            <a:r>
              <a:rPr lang="en-US" sz="800" b="1" dirty="0">
                <a:solidFill>
                  <a:schemeClr val="bg1"/>
                </a:solidFill>
                <a:latin typeface="Courier New" panose="02070309020205020404" pitchFamily="49" charset="0"/>
                <a:cs typeface="Courier New" panose="02070309020205020404" pitchFamily="49" charset="0"/>
              </a:rPr>
              <a:t>HIGHEST PRICE: Smart Phone with price $1240.50</a:t>
            </a:r>
          </a:p>
          <a:p>
            <a:r>
              <a:rPr lang="en-US" sz="800" b="1" dirty="0">
                <a:solidFill>
                  <a:schemeClr val="bg1"/>
                </a:solidFill>
                <a:latin typeface="Courier New" panose="02070309020205020404" pitchFamily="49" charset="0"/>
                <a:cs typeface="Courier New" panose="02070309020205020404" pitchFamily="49" charset="0"/>
              </a:rPr>
              <a:t>AVERAGE PRICE: $139.10</a:t>
            </a:r>
          </a:p>
          <a:p>
            <a:endParaRPr lang="en-US" sz="800" b="1" dirty="0">
              <a:solidFill>
                <a:schemeClr val="bg1"/>
              </a:solidFill>
              <a:latin typeface="Courier New" panose="02070309020205020404" pitchFamily="49" charset="0"/>
              <a:cs typeface="Courier New" panose="02070309020205020404" pitchFamily="49" charset="0"/>
            </a:endParaRPr>
          </a:p>
          <a:p>
            <a:endParaRPr lang="en-US" sz="700" b="1" dirty="0">
              <a:solidFill>
                <a:schemeClr val="bg1"/>
              </a:solidFill>
              <a:highlight>
                <a:srgbClr val="FFFF00"/>
              </a:highlight>
              <a:latin typeface="Courier New" panose="02070309020205020404" pitchFamily="49" charset="0"/>
              <a:cs typeface="Courier New" panose="02070309020205020404" pitchFamily="49" charset="0"/>
            </a:endParaRPr>
          </a:p>
        </p:txBody>
      </p:sp>
      <p:cxnSp>
        <p:nvCxnSpPr>
          <p:cNvPr id="7" name="Straight Arrow Connector 6">
            <a:extLst>
              <a:ext uri="{FF2B5EF4-FFF2-40B4-BE49-F238E27FC236}">
                <a16:creationId xmlns:a16="http://schemas.microsoft.com/office/drawing/2014/main" id="{126CEB66-A9D6-AD79-975D-8C693B19B4E5}"/>
              </a:ext>
              <a:ext uri="{C183D7F6-B498-43B3-948B-1728B52AA6E4}">
                <adec:decorative xmlns:adec="http://schemas.microsoft.com/office/drawing/2017/decorative" val="1"/>
              </a:ext>
            </a:extLst>
          </p:cNvPr>
          <p:cNvCxnSpPr>
            <a:cxnSpLocks/>
          </p:cNvCxnSpPr>
          <p:nvPr/>
        </p:nvCxnSpPr>
        <p:spPr>
          <a:xfrm flipH="1">
            <a:off x="2632436" y="4724400"/>
            <a:ext cx="7044964" cy="981432"/>
          </a:xfrm>
          <a:prstGeom prst="straightConnector1">
            <a:avLst/>
          </a:prstGeom>
          <a:ln w="762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0253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609600" y="2095500"/>
            <a:ext cx="3962400" cy="26670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Parallel Arrays</a:t>
            </a:r>
          </a:p>
        </p:txBody>
      </p:sp>
      <p:pic>
        <p:nvPicPr>
          <p:cNvPr id="6" name="Picture 5" descr="A squirrel wearing a uniform using a computer">
            <a:extLst>
              <a:ext uri="{FF2B5EF4-FFF2-40B4-BE49-F238E27FC236}">
                <a16:creationId xmlns:a16="http://schemas.microsoft.com/office/drawing/2014/main" id="{33097244-0A64-B874-6DBB-72FF16FCC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4699599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What are Parallel Arrays?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2438400"/>
          </a:xfrm>
        </p:spPr>
        <p:txBody>
          <a:bodyPr>
            <a:normAutofit/>
          </a:bodyPr>
          <a:lstStyle/>
          <a:p>
            <a:r>
              <a:rPr lang="en-US" altLang="en-US" sz="2800" b="1" dirty="0">
                <a:solidFill>
                  <a:schemeClr val="bg1"/>
                </a:solidFill>
                <a:highlight>
                  <a:srgbClr val="FFFF00"/>
                </a:highlight>
              </a:rPr>
              <a:t>Parallel arrays </a:t>
            </a:r>
            <a:r>
              <a:rPr lang="en-US" altLang="en-US" sz="2800" dirty="0">
                <a:solidFill>
                  <a:schemeClr val="bg1"/>
                </a:solidFill>
              </a:rPr>
              <a:t>are two or more arrays that </a:t>
            </a:r>
            <a:r>
              <a:rPr lang="en-US" altLang="en-US" sz="2800" b="1" dirty="0">
                <a:solidFill>
                  <a:schemeClr val="bg1"/>
                </a:solidFill>
              </a:rPr>
              <a:t>contain related data</a:t>
            </a:r>
            <a:r>
              <a:rPr lang="en-US" altLang="en-US" sz="2800" dirty="0">
                <a:solidFill>
                  <a:schemeClr val="bg1"/>
                </a:solidFill>
              </a:rPr>
              <a:t>.</a:t>
            </a:r>
          </a:p>
          <a:p>
            <a:r>
              <a:rPr lang="en-US" altLang="en-US" sz="2800" dirty="0">
                <a:solidFill>
                  <a:schemeClr val="bg1"/>
                </a:solidFill>
              </a:rPr>
              <a:t>The </a:t>
            </a:r>
            <a:r>
              <a:rPr lang="en-US" altLang="en-US" sz="2800" b="1" dirty="0">
                <a:solidFill>
                  <a:schemeClr val="bg1"/>
                </a:solidFill>
              </a:rPr>
              <a:t>array index </a:t>
            </a:r>
            <a:r>
              <a:rPr lang="en-US" altLang="en-US" sz="2800" dirty="0">
                <a:solidFill>
                  <a:schemeClr val="bg1"/>
                </a:solidFill>
              </a:rPr>
              <a:t>is </a:t>
            </a:r>
            <a:r>
              <a:rPr lang="en-US" altLang="en-US" sz="2800" b="1" dirty="0">
                <a:solidFill>
                  <a:schemeClr val="bg1"/>
                </a:solidFill>
              </a:rPr>
              <a:t>used to relate arrays</a:t>
            </a:r>
            <a:r>
              <a:rPr lang="en-US" altLang="en-US" sz="2800" dirty="0">
                <a:solidFill>
                  <a:schemeClr val="bg1"/>
                </a:solidFill>
              </a:rPr>
              <a:t>. </a:t>
            </a:r>
          </a:p>
          <a:p>
            <a:r>
              <a:rPr lang="en-US" altLang="en-US" sz="2800" dirty="0">
                <a:solidFill>
                  <a:schemeClr val="bg1"/>
                </a:solidFill>
              </a:rPr>
              <a:t>Elements using the same index are related.</a:t>
            </a:r>
          </a:p>
          <a:p>
            <a:r>
              <a:rPr lang="en-US" altLang="en-US" sz="2800" dirty="0">
                <a:solidFill>
                  <a:schemeClr val="bg1"/>
                </a:solidFill>
              </a:rPr>
              <a:t>The parallel arrays may be of different data types.</a:t>
            </a:r>
          </a:p>
        </p:txBody>
      </p:sp>
      <p:graphicFrame>
        <p:nvGraphicFramePr>
          <p:cNvPr id="2" name="Table 1">
            <a:extLst>
              <a:ext uri="{FF2B5EF4-FFF2-40B4-BE49-F238E27FC236}">
                <a16:creationId xmlns:a16="http://schemas.microsoft.com/office/drawing/2014/main" id="{BC1FC237-187E-40D2-DF18-A95400D735FF}"/>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900249981"/>
              </p:ext>
            </p:extLst>
          </p:nvPr>
        </p:nvGraphicFramePr>
        <p:xfrm>
          <a:off x="2895600" y="4572000"/>
          <a:ext cx="8128000" cy="370840"/>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3810526078"/>
                    </a:ext>
                  </a:extLst>
                </a:gridCol>
                <a:gridCol w="1625600">
                  <a:extLst>
                    <a:ext uri="{9D8B030D-6E8A-4147-A177-3AD203B41FA5}">
                      <a16:colId xmlns:a16="http://schemas.microsoft.com/office/drawing/2014/main" val="2786644915"/>
                    </a:ext>
                  </a:extLst>
                </a:gridCol>
                <a:gridCol w="1625600">
                  <a:extLst>
                    <a:ext uri="{9D8B030D-6E8A-4147-A177-3AD203B41FA5}">
                      <a16:colId xmlns:a16="http://schemas.microsoft.com/office/drawing/2014/main" val="8951432"/>
                    </a:ext>
                  </a:extLst>
                </a:gridCol>
                <a:gridCol w="1625600">
                  <a:extLst>
                    <a:ext uri="{9D8B030D-6E8A-4147-A177-3AD203B41FA5}">
                      <a16:colId xmlns:a16="http://schemas.microsoft.com/office/drawing/2014/main" val="3926069679"/>
                    </a:ext>
                  </a:extLst>
                </a:gridCol>
                <a:gridCol w="1625600">
                  <a:extLst>
                    <a:ext uri="{9D8B030D-6E8A-4147-A177-3AD203B41FA5}">
                      <a16:colId xmlns:a16="http://schemas.microsoft.com/office/drawing/2014/main" val="1475558466"/>
                    </a:ext>
                  </a:extLst>
                </a:gridCol>
              </a:tblGrid>
              <a:tr h="370840">
                <a:tc>
                  <a:txBody>
                    <a:bodyPr/>
                    <a:lstStyle/>
                    <a:p>
                      <a:r>
                        <a:rPr lang="en-US" dirty="0">
                          <a:solidFill>
                            <a:sysClr val="windowText" lastClr="000000"/>
                          </a:solidFill>
                        </a:rPr>
                        <a:t>Billy Dean</a:t>
                      </a:r>
                    </a:p>
                  </a:txBody>
                  <a:tcPr/>
                </a:tc>
                <a:tc>
                  <a:txBody>
                    <a:bodyPr/>
                    <a:lstStyle/>
                    <a:p>
                      <a:r>
                        <a:rPr lang="en-US" dirty="0">
                          <a:solidFill>
                            <a:sysClr val="windowText" lastClr="000000"/>
                          </a:solidFill>
                        </a:rPr>
                        <a:t>Jack Black</a:t>
                      </a:r>
                    </a:p>
                  </a:txBody>
                  <a:tcPr/>
                </a:tc>
                <a:tc>
                  <a:txBody>
                    <a:bodyPr/>
                    <a:lstStyle/>
                    <a:p>
                      <a:r>
                        <a:rPr lang="en-US" dirty="0">
                          <a:solidFill>
                            <a:sysClr val="windowText" lastClr="000000"/>
                          </a:solidFill>
                        </a:rPr>
                        <a:t>Jolie Jolene</a:t>
                      </a:r>
                    </a:p>
                  </a:txBody>
                  <a:tcPr/>
                </a:tc>
                <a:tc>
                  <a:txBody>
                    <a:bodyPr/>
                    <a:lstStyle/>
                    <a:p>
                      <a:r>
                        <a:rPr lang="en-US" dirty="0">
                          <a:solidFill>
                            <a:sysClr val="windowText" lastClr="000000"/>
                          </a:solidFill>
                        </a:rPr>
                        <a:t>Elvis Presley</a:t>
                      </a:r>
                    </a:p>
                  </a:txBody>
                  <a:tcPr/>
                </a:tc>
                <a:tc>
                  <a:txBody>
                    <a:bodyPr/>
                    <a:lstStyle/>
                    <a:p>
                      <a:r>
                        <a:rPr lang="en-US" dirty="0">
                          <a:solidFill>
                            <a:sysClr val="windowText" lastClr="000000"/>
                          </a:solidFill>
                        </a:rPr>
                        <a:t>Bob Ross</a:t>
                      </a:r>
                    </a:p>
                  </a:txBody>
                  <a:tcPr/>
                </a:tc>
                <a:extLst>
                  <a:ext uri="{0D108BD9-81ED-4DB2-BD59-A6C34878D82A}">
                    <a16:rowId xmlns:a16="http://schemas.microsoft.com/office/drawing/2014/main" val="774624591"/>
                  </a:ext>
                </a:extLst>
              </a:tr>
            </a:tbl>
          </a:graphicData>
        </a:graphic>
      </p:graphicFrame>
      <p:graphicFrame>
        <p:nvGraphicFramePr>
          <p:cNvPr id="3" name="Table 2">
            <a:extLst>
              <a:ext uri="{FF2B5EF4-FFF2-40B4-BE49-F238E27FC236}">
                <a16:creationId xmlns:a16="http://schemas.microsoft.com/office/drawing/2014/main" id="{4CE1C78D-C1AC-351F-EE30-0D8DAED2F2A8}"/>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1239077251"/>
              </p:ext>
            </p:extLst>
          </p:nvPr>
        </p:nvGraphicFramePr>
        <p:xfrm>
          <a:off x="2917596" y="5625787"/>
          <a:ext cx="8128000" cy="370840"/>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3810526078"/>
                    </a:ext>
                  </a:extLst>
                </a:gridCol>
                <a:gridCol w="1625600">
                  <a:extLst>
                    <a:ext uri="{9D8B030D-6E8A-4147-A177-3AD203B41FA5}">
                      <a16:colId xmlns:a16="http://schemas.microsoft.com/office/drawing/2014/main" val="2786644915"/>
                    </a:ext>
                  </a:extLst>
                </a:gridCol>
                <a:gridCol w="1625600">
                  <a:extLst>
                    <a:ext uri="{9D8B030D-6E8A-4147-A177-3AD203B41FA5}">
                      <a16:colId xmlns:a16="http://schemas.microsoft.com/office/drawing/2014/main" val="8951432"/>
                    </a:ext>
                  </a:extLst>
                </a:gridCol>
                <a:gridCol w="1625600">
                  <a:extLst>
                    <a:ext uri="{9D8B030D-6E8A-4147-A177-3AD203B41FA5}">
                      <a16:colId xmlns:a16="http://schemas.microsoft.com/office/drawing/2014/main" val="3926069679"/>
                    </a:ext>
                  </a:extLst>
                </a:gridCol>
                <a:gridCol w="1625600">
                  <a:extLst>
                    <a:ext uri="{9D8B030D-6E8A-4147-A177-3AD203B41FA5}">
                      <a16:colId xmlns:a16="http://schemas.microsoft.com/office/drawing/2014/main" val="1475558466"/>
                    </a:ext>
                  </a:extLst>
                </a:gridCol>
              </a:tblGrid>
              <a:tr h="370840">
                <a:tc>
                  <a:txBody>
                    <a:bodyPr/>
                    <a:lstStyle/>
                    <a:p>
                      <a:r>
                        <a:rPr lang="en-US" dirty="0">
                          <a:solidFill>
                            <a:sysClr val="windowText" lastClr="000000"/>
                          </a:solidFill>
                        </a:rPr>
                        <a:t>3.46</a:t>
                      </a:r>
                    </a:p>
                  </a:txBody>
                  <a:tcPr/>
                </a:tc>
                <a:tc>
                  <a:txBody>
                    <a:bodyPr/>
                    <a:lstStyle/>
                    <a:p>
                      <a:r>
                        <a:rPr lang="en-US" dirty="0">
                          <a:solidFill>
                            <a:sysClr val="windowText" lastClr="000000"/>
                          </a:solidFill>
                        </a:rPr>
                        <a:t>2.61</a:t>
                      </a:r>
                    </a:p>
                  </a:txBody>
                  <a:tcPr/>
                </a:tc>
                <a:tc>
                  <a:txBody>
                    <a:bodyPr/>
                    <a:lstStyle/>
                    <a:p>
                      <a:r>
                        <a:rPr lang="en-US" dirty="0">
                          <a:solidFill>
                            <a:sysClr val="windowText" lastClr="000000"/>
                          </a:solidFill>
                        </a:rPr>
                        <a:t>3.79</a:t>
                      </a:r>
                    </a:p>
                  </a:txBody>
                  <a:tcPr/>
                </a:tc>
                <a:tc>
                  <a:txBody>
                    <a:bodyPr/>
                    <a:lstStyle/>
                    <a:p>
                      <a:r>
                        <a:rPr lang="en-US" dirty="0">
                          <a:solidFill>
                            <a:sysClr val="windowText" lastClr="000000"/>
                          </a:solidFill>
                        </a:rPr>
                        <a:t>3.24</a:t>
                      </a:r>
                    </a:p>
                  </a:txBody>
                  <a:tcPr/>
                </a:tc>
                <a:tc>
                  <a:txBody>
                    <a:bodyPr/>
                    <a:lstStyle/>
                    <a:p>
                      <a:r>
                        <a:rPr lang="en-US" dirty="0">
                          <a:solidFill>
                            <a:sysClr val="windowText" lastClr="000000"/>
                          </a:solidFill>
                        </a:rPr>
                        <a:t>3.15</a:t>
                      </a:r>
                    </a:p>
                  </a:txBody>
                  <a:tcPr/>
                </a:tc>
                <a:extLst>
                  <a:ext uri="{0D108BD9-81ED-4DB2-BD59-A6C34878D82A}">
                    <a16:rowId xmlns:a16="http://schemas.microsoft.com/office/drawing/2014/main" val="774624591"/>
                  </a:ext>
                </a:extLst>
              </a:tr>
            </a:tbl>
          </a:graphicData>
        </a:graphic>
      </p:graphicFrame>
      <p:sp>
        <p:nvSpPr>
          <p:cNvPr id="5" name="TextBox 4">
            <a:extLst>
              <a:ext uri="{FF2B5EF4-FFF2-40B4-BE49-F238E27FC236}">
                <a16:creationId xmlns:a16="http://schemas.microsoft.com/office/drawing/2014/main" id="{604EF22C-7B68-0C2D-E9DB-B70661C8C577}"/>
              </a:ext>
              <a:ext uri="{C183D7F6-B498-43B3-948B-1728B52AA6E4}">
                <adec:decorative xmlns:adec="http://schemas.microsoft.com/office/drawing/2017/decorative" val="1"/>
              </a:ext>
            </a:extLst>
          </p:cNvPr>
          <p:cNvSpPr txBox="1"/>
          <p:nvPr/>
        </p:nvSpPr>
        <p:spPr>
          <a:xfrm>
            <a:off x="1143000" y="4572000"/>
            <a:ext cx="1774596" cy="369332"/>
          </a:xfrm>
          <a:prstGeom prst="rect">
            <a:avLst/>
          </a:prstGeom>
          <a:noFill/>
        </p:spPr>
        <p:txBody>
          <a:bodyPr wrap="square" rtlCol="0">
            <a:spAutoFit/>
          </a:bodyPr>
          <a:lstStyle/>
          <a:p>
            <a:r>
              <a:rPr lang="en-US" b="1" dirty="0" err="1">
                <a:solidFill>
                  <a:schemeClr val="bg1"/>
                </a:solidFill>
                <a:latin typeface="Courier New" panose="02070309020205020404" pitchFamily="49" charset="0"/>
                <a:cs typeface="Courier New" panose="02070309020205020404" pitchFamily="49" charset="0"/>
              </a:rPr>
              <a:t>studentName</a:t>
            </a:r>
            <a:endParaRPr lang="en-US" b="1" dirty="0">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D5FA9CDA-DEFD-AB1B-6AFE-F552C3C105D8}"/>
              </a:ext>
              <a:ext uri="{C183D7F6-B498-43B3-948B-1728B52AA6E4}">
                <adec:decorative xmlns:adec="http://schemas.microsoft.com/office/drawing/2017/decorative" val="1"/>
              </a:ext>
            </a:extLst>
          </p:cNvPr>
          <p:cNvSpPr txBox="1"/>
          <p:nvPr/>
        </p:nvSpPr>
        <p:spPr>
          <a:xfrm>
            <a:off x="1177565" y="5630553"/>
            <a:ext cx="1774596" cy="369332"/>
          </a:xfrm>
          <a:prstGeom prst="rect">
            <a:avLst/>
          </a:prstGeom>
          <a:noFill/>
        </p:spPr>
        <p:txBody>
          <a:bodyPr wrap="square" rtlCol="0">
            <a:spAutoFit/>
          </a:bodyPr>
          <a:lstStyle/>
          <a:p>
            <a:r>
              <a:rPr lang="en-US" b="1" dirty="0" err="1">
                <a:solidFill>
                  <a:schemeClr val="bg1"/>
                </a:solidFill>
                <a:latin typeface="Courier New" panose="02070309020205020404" pitchFamily="49" charset="0"/>
                <a:cs typeface="Courier New" panose="02070309020205020404" pitchFamily="49" charset="0"/>
              </a:rPr>
              <a:t>studentGPA</a:t>
            </a:r>
            <a:endParaRPr lang="en-US" b="1" dirty="0">
              <a:solidFill>
                <a:schemeClr val="bg1"/>
              </a:solidFill>
              <a:latin typeface="Courier New" panose="02070309020205020404" pitchFamily="49" charset="0"/>
              <a:cs typeface="Courier New" panose="02070309020205020404" pitchFamily="49" charset="0"/>
            </a:endParaRPr>
          </a:p>
        </p:txBody>
      </p:sp>
      <p:grpSp>
        <p:nvGrpSpPr>
          <p:cNvPr id="11" name="Group 10">
            <a:extLst>
              <a:ext uri="{FF2B5EF4-FFF2-40B4-BE49-F238E27FC236}">
                <a16:creationId xmlns:a16="http://schemas.microsoft.com/office/drawing/2014/main" id="{E03D7053-F5D0-200A-6739-38F76C99D002}"/>
              </a:ext>
              <a:ext uri="{C183D7F6-B498-43B3-948B-1728B52AA6E4}">
                <adec:decorative xmlns:adec="http://schemas.microsoft.com/office/drawing/2017/decorative" val="1"/>
              </a:ext>
            </a:extLst>
          </p:cNvPr>
          <p:cNvGrpSpPr/>
          <p:nvPr/>
        </p:nvGrpSpPr>
        <p:grpSpPr>
          <a:xfrm>
            <a:off x="3633090" y="4318256"/>
            <a:ext cx="148680" cy="213480"/>
            <a:chOff x="3633090" y="4318256"/>
            <a:chExt cx="148680" cy="213480"/>
          </a:xfrm>
        </p:grpSpPr>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646DE502-03BB-B300-49C3-79E3BCF37D0E}"/>
                    </a:ext>
                  </a:extLst>
                </p14:cNvPr>
                <p14:cNvContentPartPr/>
                <p14:nvPr/>
              </p14:nvContentPartPr>
              <p14:xfrm>
                <a:off x="3633090" y="4318256"/>
                <a:ext cx="137520" cy="213480"/>
              </p14:xfrm>
            </p:contentPart>
          </mc:Choice>
          <mc:Fallback>
            <p:pic>
              <p:nvPicPr>
                <p:cNvPr id="9" name="Ink 8">
                  <a:extLst>
                    <a:ext uri="{FF2B5EF4-FFF2-40B4-BE49-F238E27FC236}">
                      <a16:creationId xmlns:a16="http://schemas.microsoft.com/office/drawing/2014/main" id="{646DE502-03BB-B300-49C3-79E3BCF37D0E}"/>
                    </a:ext>
                  </a:extLst>
                </p:cNvPr>
                <p:cNvPicPr/>
                <p:nvPr/>
              </p:nvPicPr>
              <p:blipFill>
                <a:blip r:embed="rId4"/>
                <a:stretch>
                  <a:fillRect/>
                </a:stretch>
              </p:blipFill>
              <p:spPr>
                <a:xfrm>
                  <a:off x="3615450" y="4300256"/>
                  <a:ext cx="17316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23688733-E560-A9B5-BEFF-32552E919895}"/>
                    </a:ext>
                  </a:extLst>
                </p14:cNvPr>
                <p14:cNvContentPartPr/>
                <p14:nvPr/>
              </p14:nvContentPartPr>
              <p14:xfrm>
                <a:off x="3660090" y="4326536"/>
                <a:ext cx="121680" cy="180720"/>
              </p14:xfrm>
            </p:contentPart>
          </mc:Choice>
          <mc:Fallback>
            <p:pic>
              <p:nvPicPr>
                <p:cNvPr id="10" name="Ink 9">
                  <a:extLst>
                    <a:ext uri="{FF2B5EF4-FFF2-40B4-BE49-F238E27FC236}">
                      <a16:creationId xmlns:a16="http://schemas.microsoft.com/office/drawing/2014/main" id="{23688733-E560-A9B5-BEFF-32552E919895}"/>
                    </a:ext>
                  </a:extLst>
                </p:cNvPr>
                <p:cNvPicPr/>
                <p:nvPr/>
              </p:nvPicPr>
              <p:blipFill>
                <a:blip r:embed="rId6"/>
                <a:stretch>
                  <a:fillRect/>
                </a:stretch>
              </p:blipFill>
              <p:spPr>
                <a:xfrm>
                  <a:off x="3642450" y="4308536"/>
                  <a:ext cx="157320" cy="216360"/>
                </a:xfrm>
                <a:prstGeom prst="rect">
                  <a:avLst/>
                </a:prstGeom>
              </p:spPr>
            </p:pic>
          </mc:Fallback>
        </mc:AlternateContent>
      </p:grpSp>
      <p:grpSp>
        <p:nvGrpSpPr>
          <p:cNvPr id="15" name="Group 14">
            <a:extLst>
              <a:ext uri="{FF2B5EF4-FFF2-40B4-BE49-F238E27FC236}">
                <a16:creationId xmlns:a16="http://schemas.microsoft.com/office/drawing/2014/main" id="{8C57AB74-0F8A-7E2A-6139-DE7BF6341425}"/>
              </a:ext>
              <a:ext uri="{C183D7F6-B498-43B3-948B-1728B52AA6E4}">
                <adec:decorative xmlns:adec="http://schemas.microsoft.com/office/drawing/2017/decorative" val="1"/>
              </a:ext>
            </a:extLst>
          </p:cNvPr>
          <p:cNvGrpSpPr/>
          <p:nvPr/>
        </p:nvGrpSpPr>
        <p:grpSpPr>
          <a:xfrm>
            <a:off x="3723810" y="5387096"/>
            <a:ext cx="104400" cy="232560"/>
            <a:chOff x="3723810" y="5387096"/>
            <a:chExt cx="104400" cy="232560"/>
          </a:xfrm>
        </p:grpSpPr>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B4DACC5F-151D-0AE0-572C-9A63C7985B8C}"/>
                    </a:ext>
                  </a:extLst>
                </p14:cNvPr>
                <p14:cNvContentPartPr/>
                <p14:nvPr/>
              </p14:nvContentPartPr>
              <p14:xfrm>
                <a:off x="3723810" y="5387816"/>
                <a:ext cx="100800" cy="224640"/>
              </p14:xfrm>
            </p:contentPart>
          </mc:Choice>
          <mc:Fallback>
            <p:pic>
              <p:nvPicPr>
                <p:cNvPr id="12" name="Ink 11">
                  <a:extLst>
                    <a:ext uri="{FF2B5EF4-FFF2-40B4-BE49-F238E27FC236}">
                      <a16:creationId xmlns:a16="http://schemas.microsoft.com/office/drawing/2014/main" id="{B4DACC5F-151D-0AE0-572C-9A63C7985B8C}"/>
                    </a:ext>
                  </a:extLst>
                </p:cNvPr>
                <p:cNvPicPr/>
                <p:nvPr/>
              </p:nvPicPr>
              <p:blipFill>
                <a:blip r:embed="rId8"/>
                <a:stretch>
                  <a:fillRect/>
                </a:stretch>
              </p:blipFill>
              <p:spPr>
                <a:xfrm>
                  <a:off x="3705810" y="5370176"/>
                  <a:ext cx="13644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Ink 13">
                  <a:extLst>
                    <a:ext uri="{FF2B5EF4-FFF2-40B4-BE49-F238E27FC236}">
                      <a16:creationId xmlns:a16="http://schemas.microsoft.com/office/drawing/2014/main" id="{86A18333-0765-2E18-4C88-D535E446983C}"/>
                    </a:ext>
                  </a:extLst>
                </p14:cNvPr>
                <p14:cNvContentPartPr/>
                <p14:nvPr/>
              </p14:nvContentPartPr>
              <p14:xfrm>
                <a:off x="3743610" y="5387096"/>
                <a:ext cx="84600" cy="232560"/>
              </p14:xfrm>
            </p:contentPart>
          </mc:Choice>
          <mc:Fallback>
            <p:pic>
              <p:nvPicPr>
                <p:cNvPr id="14" name="Ink 13">
                  <a:extLst>
                    <a:ext uri="{FF2B5EF4-FFF2-40B4-BE49-F238E27FC236}">
                      <a16:creationId xmlns:a16="http://schemas.microsoft.com/office/drawing/2014/main" id="{86A18333-0765-2E18-4C88-D535E446983C}"/>
                    </a:ext>
                  </a:extLst>
                </p:cNvPr>
                <p:cNvPicPr/>
                <p:nvPr/>
              </p:nvPicPr>
              <p:blipFill>
                <a:blip r:embed="rId10"/>
                <a:stretch>
                  <a:fillRect/>
                </a:stretch>
              </p:blipFill>
              <p:spPr>
                <a:xfrm>
                  <a:off x="3725970" y="5369096"/>
                  <a:ext cx="120240" cy="268200"/>
                </a:xfrm>
                <a:prstGeom prst="rect">
                  <a:avLst/>
                </a:prstGeom>
              </p:spPr>
            </p:pic>
          </mc:Fallback>
        </mc:AlternateContent>
      </p:grpSp>
      <p:grpSp>
        <p:nvGrpSpPr>
          <p:cNvPr id="18" name="Group 17">
            <a:extLst>
              <a:ext uri="{FF2B5EF4-FFF2-40B4-BE49-F238E27FC236}">
                <a16:creationId xmlns:a16="http://schemas.microsoft.com/office/drawing/2014/main" id="{A9062969-F8D8-6C43-4E19-A5C9C7149F67}"/>
              </a:ext>
              <a:ext uri="{C183D7F6-B498-43B3-948B-1728B52AA6E4}">
                <adec:decorative xmlns:adec="http://schemas.microsoft.com/office/drawing/2017/decorative" val="1"/>
              </a:ext>
            </a:extLst>
          </p:cNvPr>
          <p:cNvGrpSpPr/>
          <p:nvPr/>
        </p:nvGrpSpPr>
        <p:grpSpPr>
          <a:xfrm>
            <a:off x="5229142" y="4361487"/>
            <a:ext cx="118080" cy="163800"/>
            <a:chOff x="5229142" y="4361487"/>
            <a:chExt cx="118080" cy="163800"/>
          </a:xfrm>
        </p:grpSpPr>
        <mc:AlternateContent xmlns:mc="http://schemas.openxmlformats.org/markup-compatibility/2006">
          <mc:Choice xmlns:p14="http://schemas.microsoft.com/office/powerpoint/2010/main" Requires="p14">
            <p:contentPart p14:bwMode="auto" r:id="rId11">
              <p14:nvContentPartPr>
                <p14:cNvPr id="16" name="Ink 15">
                  <a:extLst>
                    <a:ext uri="{FF2B5EF4-FFF2-40B4-BE49-F238E27FC236}">
                      <a16:creationId xmlns:a16="http://schemas.microsoft.com/office/drawing/2014/main" id="{6CB4C94E-DA58-CACF-D47A-B666C2726692}"/>
                    </a:ext>
                  </a:extLst>
                </p14:cNvPr>
                <p14:cNvContentPartPr/>
                <p14:nvPr/>
              </p14:nvContentPartPr>
              <p14:xfrm>
                <a:off x="5273422" y="4361487"/>
                <a:ext cx="64080" cy="146520"/>
              </p14:xfrm>
            </p:contentPart>
          </mc:Choice>
          <mc:Fallback>
            <p:pic>
              <p:nvPicPr>
                <p:cNvPr id="16" name="Ink 15">
                  <a:extLst>
                    <a:ext uri="{FF2B5EF4-FFF2-40B4-BE49-F238E27FC236}">
                      <a16:creationId xmlns:a16="http://schemas.microsoft.com/office/drawing/2014/main" id="{6CB4C94E-DA58-CACF-D47A-B666C2726692}"/>
                    </a:ext>
                  </a:extLst>
                </p:cNvPr>
                <p:cNvPicPr/>
                <p:nvPr/>
              </p:nvPicPr>
              <p:blipFill>
                <a:blip r:embed="rId12"/>
                <a:stretch>
                  <a:fillRect/>
                </a:stretch>
              </p:blipFill>
              <p:spPr>
                <a:xfrm>
                  <a:off x="5255782" y="4343847"/>
                  <a:ext cx="9972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7" name="Ink 16">
                  <a:extLst>
                    <a:ext uri="{FF2B5EF4-FFF2-40B4-BE49-F238E27FC236}">
                      <a16:creationId xmlns:a16="http://schemas.microsoft.com/office/drawing/2014/main" id="{D3F53131-1846-6614-99A5-824AF20B0B9B}"/>
                    </a:ext>
                  </a:extLst>
                </p14:cNvPr>
                <p14:cNvContentPartPr/>
                <p14:nvPr/>
              </p14:nvContentPartPr>
              <p14:xfrm>
                <a:off x="5229142" y="4501527"/>
                <a:ext cx="118080" cy="23760"/>
              </p14:xfrm>
            </p:contentPart>
          </mc:Choice>
          <mc:Fallback>
            <p:pic>
              <p:nvPicPr>
                <p:cNvPr id="17" name="Ink 16">
                  <a:extLst>
                    <a:ext uri="{FF2B5EF4-FFF2-40B4-BE49-F238E27FC236}">
                      <a16:creationId xmlns:a16="http://schemas.microsoft.com/office/drawing/2014/main" id="{D3F53131-1846-6614-99A5-824AF20B0B9B}"/>
                    </a:ext>
                  </a:extLst>
                </p:cNvPr>
                <p:cNvPicPr/>
                <p:nvPr/>
              </p:nvPicPr>
              <p:blipFill>
                <a:blip r:embed="rId14"/>
                <a:stretch>
                  <a:fillRect/>
                </a:stretch>
              </p:blipFill>
              <p:spPr>
                <a:xfrm>
                  <a:off x="5211502" y="4483527"/>
                  <a:ext cx="153720" cy="59400"/>
                </a:xfrm>
                <a:prstGeom prst="rect">
                  <a:avLst/>
                </a:prstGeom>
              </p:spPr>
            </p:pic>
          </mc:Fallback>
        </mc:AlternateContent>
      </p:grpSp>
      <p:grpSp>
        <p:nvGrpSpPr>
          <p:cNvPr id="21" name="Group 20">
            <a:extLst>
              <a:ext uri="{FF2B5EF4-FFF2-40B4-BE49-F238E27FC236}">
                <a16:creationId xmlns:a16="http://schemas.microsoft.com/office/drawing/2014/main" id="{5E1D1D7A-1855-6E20-E4E7-FD18C8C123DA}"/>
              </a:ext>
              <a:ext uri="{C183D7F6-B498-43B3-948B-1728B52AA6E4}">
                <adec:decorative xmlns:adec="http://schemas.microsoft.com/office/drawing/2017/decorative" val="1"/>
              </a:ext>
            </a:extLst>
          </p:cNvPr>
          <p:cNvGrpSpPr/>
          <p:nvPr/>
        </p:nvGrpSpPr>
        <p:grpSpPr>
          <a:xfrm>
            <a:off x="5269102" y="5431407"/>
            <a:ext cx="134640" cy="149040"/>
            <a:chOff x="5269102" y="5431407"/>
            <a:chExt cx="134640" cy="149040"/>
          </a:xfrm>
        </p:grpSpPr>
        <mc:AlternateContent xmlns:mc="http://schemas.openxmlformats.org/markup-compatibility/2006">
          <mc:Choice xmlns:p14="http://schemas.microsoft.com/office/powerpoint/2010/main" Requires="p14">
            <p:contentPart p14:bwMode="auto" r:id="rId15">
              <p14:nvContentPartPr>
                <p14:cNvPr id="19" name="Ink 18">
                  <a:extLst>
                    <a:ext uri="{FF2B5EF4-FFF2-40B4-BE49-F238E27FC236}">
                      <a16:creationId xmlns:a16="http://schemas.microsoft.com/office/drawing/2014/main" id="{92B02943-2016-25A5-74AA-3D3D698B3978}"/>
                    </a:ext>
                  </a:extLst>
                </p14:cNvPr>
                <p14:cNvContentPartPr/>
                <p14:nvPr/>
              </p14:nvContentPartPr>
              <p14:xfrm>
                <a:off x="5291422" y="5431407"/>
                <a:ext cx="73440" cy="117720"/>
              </p14:xfrm>
            </p:contentPart>
          </mc:Choice>
          <mc:Fallback>
            <p:pic>
              <p:nvPicPr>
                <p:cNvPr id="19" name="Ink 18">
                  <a:extLst>
                    <a:ext uri="{FF2B5EF4-FFF2-40B4-BE49-F238E27FC236}">
                      <a16:creationId xmlns:a16="http://schemas.microsoft.com/office/drawing/2014/main" id="{92B02943-2016-25A5-74AA-3D3D698B3978}"/>
                    </a:ext>
                  </a:extLst>
                </p:cNvPr>
                <p:cNvPicPr/>
                <p:nvPr/>
              </p:nvPicPr>
              <p:blipFill>
                <a:blip r:embed="rId16"/>
                <a:stretch>
                  <a:fillRect/>
                </a:stretch>
              </p:blipFill>
              <p:spPr>
                <a:xfrm>
                  <a:off x="5273422" y="5413407"/>
                  <a:ext cx="10908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0" name="Ink 19">
                  <a:extLst>
                    <a:ext uri="{FF2B5EF4-FFF2-40B4-BE49-F238E27FC236}">
                      <a16:creationId xmlns:a16="http://schemas.microsoft.com/office/drawing/2014/main" id="{EC416606-2526-C55D-EC6F-8F81AA007A0D}"/>
                    </a:ext>
                  </a:extLst>
                </p14:cNvPr>
                <p14:cNvContentPartPr/>
                <p14:nvPr/>
              </p14:nvContentPartPr>
              <p14:xfrm>
                <a:off x="5269102" y="5554167"/>
                <a:ext cx="134640" cy="26280"/>
              </p14:xfrm>
            </p:contentPart>
          </mc:Choice>
          <mc:Fallback>
            <p:pic>
              <p:nvPicPr>
                <p:cNvPr id="20" name="Ink 19">
                  <a:extLst>
                    <a:ext uri="{FF2B5EF4-FFF2-40B4-BE49-F238E27FC236}">
                      <a16:creationId xmlns:a16="http://schemas.microsoft.com/office/drawing/2014/main" id="{EC416606-2526-C55D-EC6F-8F81AA007A0D}"/>
                    </a:ext>
                  </a:extLst>
                </p:cNvPr>
                <p:cNvPicPr/>
                <p:nvPr/>
              </p:nvPicPr>
              <p:blipFill>
                <a:blip r:embed="rId18"/>
                <a:stretch>
                  <a:fillRect/>
                </a:stretch>
              </p:blipFill>
              <p:spPr>
                <a:xfrm>
                  <a:off x="5251102" y="5536527"/>
                  <a:ext cx="170280" cy="61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
            <p14:nvContentPartPr>
              <p14:cNvPr id="22" name="Ink 21">
                <a:extLst>
                  <a:ext uri="{FF2B5EF4-FFF2-40B4-BE49-F238E27FC236}">
                    <a16:creationId xmlns:a16="http://schemas.microsoft.com/office/drawing/2014/main" id="{DE85E944-6332-FB5C-5863-018AB661AF4D}"/>
                  </a:ext>
                  <a:ext uri="{C183D7F6-B498-43B3-948B-1728B52AA6E4}">
                    <adec:decorative xmlns:adec="http://schemas.microsoft.com/office/drawing/2017/decorative" val="1"/>
                  </a:ext>
                </a:extLst>
              </p14:cNvPr>
              <p14:cNvContentPartPr/>
              <p14:nvPr/>
            </p14:nvContentPartPr>
            <p14:xfrm>
              <a:off x="6965062" y="4371567"/>
              <a:ext cx="85680" cy="144360"/>
            </p14:xfrm>
          </p:contentPart>
        </mc:Choice>
        <mc:Fallback>
          <p:pic>
            <p:nvPicPr>
              <p:cNvPr id="22" name="Ink 21">
                <a:extLst>
                  <a:ext uri="{FF2B5EF4-FFF2-40B4-BE49-F238E27FC236}">
                    <a16:creationId xmlns:a16="http://schemas.microsoft.com/office/drawing/2014/main" id="{DE85E944-6332-FB5C-5863-018AB661AF4D}"/>
                  </a:ext>
                  <a:ext uri="{C183D7F6-B498-43B3-948B-1728B52AA6E4}">
                    <adec:decorative xmlns:adec="http://schemas.microsoft.com/office/drawing/2017/decorative" val="1"/>
                  </a:ext>
                </a:extLst>
              </p:cNvPr>
              <p:cNvPicPr/>
              <p:nvPr/>
            </p:nvPicPr>
            <p:blipFill>
              <a:blip r:embed="rId20"/>
              <a:stretch>
                <a:fillRect/>
              </a:stretch>
            </p:blipFill>
            <p:spPr>
              <a:xfrm>
                <a:off x="6947422" y="4353927"/>
                <a:ext cx="12132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3" name="Ink 22">
                <a:extLst>
                  <a:ext uri="{FF2B5EF4-FFF2-40B4-BE49-F238E27FC236}">
                    <a16:creationId xmlns:a16="http://schemas.microsoft.com/office/drawing/2014/main" id="{02364FF2-4B51-1A3F-FA41-89557DAB2150}"/>
                  </a:ext>
                  <a:ext uri="{C183D7F6-B498-43B3-948B-1728B52AA6E4}">
                    <adec:decorative xmlns:adec="http://schemas.microsoft.com/office/drawing/2017/decorative" val="1"/>
                  </a:ext>
                </a:extLst>
              </p14:cNvPr>
              <p14:cNvContentPartPr/>
              <p14:nvPr/>
            </p14:nvContentPartPr>
            <p14:xfrm>
              <a:off x="6926902" y="5460927"/>
              <a:ext cx="115560" cy="114840"/>
            </p14:xfrm>
          </p:contentPart>
        </mc:Choice>
        <mc:Fallback>
          <p:pic>
            <p:nvPicPr>
              <p:cNvPr id="23" name="Ink 22">
                <a:extLst>
                  <a:ext uri="{FF2B5EF4-FFF2-40B4-BE49-F238E27FC236}">
                    <a16:creationId xmlns:a16="http://schemas.microsoft.com/office/drawing/2014/main" id="{02364FF2-4B51-1A3F-FA41-89557DAB2150}"/>
                  </a:ext>
                  <a:ext uri="{C183D7F6-B498-43B3-948B-1728B52AA6E4}">
                    <adec:decorative xmlns:adec="http://schemas.microsoft.com/office/drawing/2017/decorative" val="1"/>
                  </a:ext>
                </a:extLst>
              </p:cNvPr>
              <p:cNvPicPr/>
              <p:nvPr/>
            </p:nvPicPr>
            <p:blipFill>
              <a:blip r:embed="rId22"/>
              <a:stretch>
                <a:fillRect/>
              </a:stretch>
            </p:blipFill>
            <p:spPr>
              <a:xfrm>
                <a:off x="6909262" y="5442927"/>
                <a:ext cx="1512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4" name="Ink 23">
                <a:extLst>
                  <a:ext uri="{FF2B5EF4-FFF2-40B4-BE49-F238E27FC236}">
                    <a16:creationId xmlns:a16="http://schemas.microsoft.com/office/drawing/2014/main" id="{5F967E9A-AA35-EA5E-9B04-F1D4EA79F6D0}"/>
                  </a:ext>
                  <a:ext uri="{C183D7F6-B498-43B3-948B-1728B52AA6E4}">
                    <adec:decorative xmlns:adec="http://schemas.microsoft.com/office/drawing/2017/decorative" val="1"/>
                  </a:ext>
                </a:extLst>
              </p14:cNvPr>
              <p14:cNvContentPartPr/>
              <p14:nvPr/>
            </p14:nvContentPartPr>
            <p14:xfrm>
              <a:off x="8420542" y="4379487"/>
              <a:ext cx="98280" cy="134640"/>
            </p14:xfrm>
          </p:contentPart>
        </mc:Choice>
        <mc:Fallback>
          <p:pic>
            <p:nvPicPr>
              <p:cNvPr id="24" name="Ink 23">
                <a:extLst>
                  <a:ext uri="{FF2B5EF4-FFF2-40B4-BE49-F238E27FC236}">
                    <a16:creationId xmlns:a16="http://schemas.microsoft.com/office/drawing/2014/main" id="{5F967E9A-AA35-EA5E-9B04-F1D4EA79F6D0}"/>
                  </a:ext>
                  <a:ext uri="{C183D7F6-B498-43B3-948B-1728B52AA6E4}">
                    <adec:decorative xmlns:adec="http://schemas.microsoft.com/office/drawing/2017/decorative" val="1"/>
                  </a:ext>
                </a:extLst>
              </p:cNvPr>
              <p:cNvPicPr/>
              <p:nvPr/>
            </p:nvPicPr>
            <p:blipFill>
              <a:blip r:embed="rId24"/>
              <a:stretch>
                <a:fillRect/>
              </a:stretch>
            </p:blipFill>
            <p:spPr>
              <a:xfrm>
                <a:off x="8402542" y="4361487"/>
                <a:ext cx="1339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5" name="Ink 24">
                <a:extLst>
                  <a:ext uri="{FF2B5EF4-FFF2-40B4-BE49-F238E27FC236}">
                    <a16:creationId xmlns:a16="http://schemas.microsoft.com/office/drawing/2014/main" id="{34DBD0D9-0EDD-4CB6-43C4-75E25BA7802D}"/>
                  </a:ext>
                  <a:ext uri="{C183D7F6-B498-43B3-948B-1728B52AA6E4}">
                    <adec:decorative xmlns:adec="http://schemas.microsoft.com/office/drawing/2017/decorative" val="1"/>
                  </a:ext>
                </a:extLst>
              </p14:cNvPr>
              <p14:cNvContentPartPr/>
              <p14:nvPr/>
            </p14:nvContentPartPr>
            <p14:xfrm>
              <a:off x="8441062" y="5441127"/>
              <a:ext cx="99720" cy="126000"/>
            </p14:xfrm>
          </p:contentPart>
        </mc:Choice>
        <mc:Fallback>
          <p:pic>
            <p:nvPicPr>
              <p:cNvPr id="25" name="Ink 24">
                <a:extLst>
                  <a:ext uri="{FF2B5EF4-FFF2-40B4-BE49-F238E27FC236}">
                    <a16:creationId xmlns:a16="http://schemas.microsoft.com/office/drawing/2014/main" id="{34DBD0D9-0EDD-4CB6-43C4-75E25BA7802D}"/>
                  </a:ext>
                  <a:ext uri="{C183D7F6-B498-43B3-948B-1728B52AA6E4}">
                    <adec:decorative xmlns:adec="http://schemas.microsoft.com/office/drawing/2017/decorative" val="1"/>
                  </a:ext>
                </a:extLst>
              </p:cNvPr>
              <p:cNvPicPr/>
              <p:nvPr/>
            </p:nvPicPr>
            <p:blipFill>
              <a:blip r:embed="rId26"/>
              <a:stretch>
                <a:fillRect/>
              </a:stretch>
            </p:blipFill>
            <p:spPr>
              <a:xfrm>
                <a:off x="8423062" y="5423127"/>
                <a:ext cx="135360" cy="161640"/>
              </a:xfrm>
              <a:prstGeom prst="rect">
                <a:avLst/>
              </a:prstGeom>
            </p:spPr>
          </p:pic>
        </mc:Fallback>
      </mc:AlternateContent>
      <p:grpSp>
        <p:nvGrpSpPr>
          <p:cNvPr id="28" name="Group 27">
            <a:extLst>
              <a:ext uri="{FF2B5EF4-FFF2-40B4-BE49-F238E27FC236}">
                <a16:creationId xmlns:a16="http://schemas.microsoft.com/office/drawing/2014/main" id="{CC18EC2E-8486-D264-7926-430651CE884F}"/>
              </a:ext>
              <a:ext uri="{C183D7F6-B498-43B3-948B-1728B52AA6E4}">
                <adec:decorative xmlns:adec="http://schemas.microsoft.com/office/drawing/2017/decorative" val="1"/>
              </a:ext>
            </a:extLst>
          </p:cNvPr>
          <p:cNvGrpSpPr/>
          <p:nvPr/>
        </p:nvGrpSpPr>
        <p:grpSpPr>
          <a:xfrm>
            <a:off x="10108036" y="4371927"/>
            <a:ext cx="104400" cy="149400"/>
            <a:chOff x="10108036" y="4371927"/>
            <a:chExt cx="104400" cy="149400"/>
          </a:xfrm>
        </p:grpSpPr>
        <mc:AlternateContent xmlns:mc="http://schemas.openxmlformats.org/markup-compatibility/2006">
          <mc:Choice xmlns:p14="http://schemas.microsoft.com/office/powerpoint/2010/main" Requires="p14">
            <p:contentPart p14:bwMode="auto" r:id="rId27">
              <p14:nvContentPartPr>
                <p14:cNvPr id="26" name="Ink 25">
                  <a:extLst>
                    <a:ext uri="{FF2B5EF4-FFF2-40B4-BE49-F238E27FC236}">
                      <a16:creationId xmlns:a16="http://schemas.microsoft.com/office/drawing/2014/main" id="{FA87C930-D8B0-8D8F-A331-673A8247DA09}"/>
                    </a:ext>
                  </a:extLst>
                </p14:cNvPr>
                <p14:cNvContentPartPr/>
                <p14:nvPr/>
              </p14:nvContentPartPr>
              <p14:xfrm>
                <a:off x="10108036" y="4371927"/>
                <a:ext cx="94320" cy="86400"/>
              </p14:xfrm>
            </p:contentPart>
          </mc:Choice>
          <mc:Fallback>
            <p:pic>
              <p:nvPicPr>
                <p:cNvPr id="26" name="Ink 25">
                  <a:extLst>
                    <a:ext uri="{FF2B5EF4-FFF2-40B4-BE49-F238E27FC236}">
                      <a16:creationId xmlns:a16="http://schemas.microsoft.com/office/drawing/2014/main" id="{FA87C930-D8B0-8D8F-A331-673A8247DA09}"/>
                    </a:ext>
                  </a:extLst>
                </p:cNvPr>
                <p:cNvPicPr/>
                <p:nvPr/>
              </p:nvPicPr>
              <p:blipFill>
                <a:blip r:embed="rId28"/>
                <a:stretch>
                  <a:fillRect/>
                </a:stretch>
              </p:blipFill>
              <p:spPr>
                <a:xfrm>
                  <a:off x="10090036" y="4353927"/>
                  <a:ext cx="12996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7" name="Ink 26">
                  <a:extLst>
                    <a:ext uri="{FF2B5EF4-FFF2-40B4-BE49-F238E27FC236}">
                      <a16:creationId xmlns:a16="http://schemas.microsoft.com/office/drawing/2014/main" id="{045721ED-B9AD-8D30-630D-94DAD270859E}"/>
                    </a:ext>
                  </a:extLst>
                </p14:cNvPr>
                <p14:cNvContentPartPr/>
                <p14:nvPr/>
              </p14:nvContentPartPr>
              <p14:xfrm>
                <a:off x="10194076" y="4375527"/>
                <a:ext cx="18360" cy="145800"/>
              </p14:xfrm>
            </p:contentPart>
          </mc:Choice>
          <mc:Fallback>
            <p:pic>
              <p:nvPicPr>
                <p:cNvPr id="27" name="Ink 26">
                  <a:extLst>
                    <a:ext uri="{FF2B5EF4-FFF2-40B4-BE49-F238E27FC236}">
                      <a16:creationId xmlns:a16="http://schemas.microsoft.com/office/drawing/2014/main" id="{045721ED-B9AD-8D30-630D-94DAD270859E}"/>
                    </a:ext>
                  </a:extLst>
                </p:cNvPr>
                <p:cNvPicPr/>
                <p:nvPr/>
              </p:nvPicPr>
              <p:blipFill>
                <a:blip r:embed="rId30"/>
                <a:stretch>
                  <a:fillRect/>
                </a:stretch>
              </p:blipFill>
              <p:spPr>
                <a:xfrm>
                  <a:off x="10176436" y="4357887"/>
                  <a:ext cx="54000" cy="181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1">
            <p14:nvContentPartPr>
              <p14:cNvPr id="29" name="Ink 28">
                <a:extLst>
                  <a:ext uri="{FF2B5EF4-FFF2-40B4-BE49-F238E27FC236}">
                    <a16:creationId xmlns:a16="http://schemas.microsoft.com/office/drawing/2014/main" id="{6C31B6D6-676C-CBA6-5429-E5F0159E4250}"/>
                  </a:ext>
                  <a:ext uri="{C183D7F6-B498-43B3-948B-1728B52AA6E4}">
                    <adec:decorative xmlns:adec="http://schemas.microsoft.com/office/drawing/2017/decorative" val="1"/>
                  </a:ext>
                </a:extLst>
              </p14:cNvPr>
              <p14:cNvContentPartPr/>
              <p14:nvPr/>
            </p14:nvContentPartPr>
            <p14:xfrm>
              <a:off x="10131436" y="5425287"/>
              <a:ext cx="82080" cy="166680"/>
            </p14:xfrm>
          </p:contentPart>
        </mc:Choice>
        <mc:Fallback>
          <p:pic>
            <p:nvPicPr>
              <p:cNvPr id="29" name="Ink 28">
                <a:extLst>
                  <a:ext uri="{FF2B5EF4-FFF2-40B4-BE49-F238E27FC236}">
                    <a16:creationId xmlns:a16="http://schemas.microsoft.com/office/drawing/2014/main" id="{6C31B6D6-676C-CBA6-5429-E5F0159E4250}"/>
                  </a:ext>
                  <a:ext uri="{C183D7F6-B498-43B3-948B-1728B52AA6E4}">
                    <adec:decorative xmlns:adec="http://schemas.microsoft.com/office/drawing/2017/decorative" val="1"/>
                  </a:ext>
                </a:extLst>
              </p:cNvPr>
              <p:cNvPicPr/>
              <p:nvPr/>
            </p:nvPicPr>
            <p:blipFill>
              <a:blip r:embed="rId32"/>
              <a:stretch>
                <a:fillRect/>
              </a:stretch>
            </p:blipFill>
            <p:spPr>
              <a:xfrm>
                <a:off x="10113796" y="5407287"/>
                <a:ext cx="117720" cy="202320"/>
              </a:xfrm>
              <a:prstGeom prst="rect">
                <a:avLst/>
              </a:prstGeom>
            </p:spPr>
          </p:pic>
        </mc:Fallback>
      </mc:AlternateContent>
      <p:grpSp>
        <p:nvGrpSpPr>
          <p:cNvPr id="73" name="Group 72">
            <a:extLst>
              <a:ext uri="{FF2B5EF4-FFF2-40B4-BE49-F238E27FC236}">
                <a16:creationId xmlns:a16="http://schemas.microsoft.com/office/drawing/2014/main" id="{AC0BFECA-D63F-05CE-258B-D09C9849DC6E}"/>
              </a:ext>
              <a:ext uri="{C183D7F6-B498-43B3-948B-1728B52AA6E4}">
                <adec:decorative xmlns:adec="http://schemas.microsoft.com/office/drawing/2017/decorative" val="1"/>
              </a:ext>
            </a:extLst>
          </p:cNvPr>
          <p:cNvGrpSpPr/>
          <p:nvPr/>
        </p:nvGrpSpPr>
        <p:grpSpPr>
          <a:xfrm>
            <a:off x="167575" y="4432767"/>
            <a:ext cx="3189600" cy="1356840"/>
            <a:chOff x="167575" y="4432767"/>
            <a:chExt cx="3189600" cy="1356840"/>
          </a:xfrm>
        </p:grpSpPr>
        <mc:AlternateContent xmlns:mc="http://schemas.openxmlformats.org/markup-compatibility/2006">
          <mc:Choice xmlns:p14="http://schemas.microsoft.com/office/powerpoint/2010/main" Requires="p14">
            <p:contentPart p14:bwMode="auto" r:id="rId33">
              <p14:nvContentPartPr>
                <p14:cNvPr id="41" name="Ink 40">
                  <a:extLst>
                    <a:ext uri="{FF2B5EF4-FFF2-40B4-BE49-F238E27FC236}">
                      <a16:creationId xmlns:a16="http://schemas.microsoft.com/office/drawing/2014/main" id="{CCA1FC0B-4FA8-E2DB-1B20-EE9B82D0AE5B}"/>
                    </a:ext>
                  </a:extLst>
                </p14:cNvPr>
                <p14:cNvContentPartPr/>
                <p14:nvPr/>
              </p14:nvContentPartPr>
              <p14:xfrm>
                <a:off x="179095" y="5191647"/>
                <a:ext cx="116280" cy="177120"/>
              </p14:xfrm>
            </p:contentPart>
          </mc:Choice>
          <mc:Fallback>
            <p:pic>
              <p:nvPicPr>
                <p:cNvPr id="41" name="Ink 40">
                  <a:extLst>
                    <a:ext uri="{FF2B5EF4-FFF2-40B4-BE49-F238E27FC236}">
                      <a16:creationId xmlns:a16="http://schemas.microsoft.com/office/drawing/2014/main" id="{CCA1FC0B-4FA8-E2DB-1B20-EE9B82D0AE5B}"/>
                    </a:ext>
                  </a:extLst>
                </p:cNvPr>
                <p:cNvPicPr/>
                <p:nvPr/>
              </p:nvPicPr>
              <p:blipFill>
                <a:blip r:embed="rId34"/>
                <a:stretch>
                  <a:fillRect/>
                </a:stretch>
              </p:blipFill>
              <p:spPr>
                <a:xfrm>
                  <a:off x="161455" y="5173647"/>
                  <a:ext cx="15192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2" name="Ink 41">
                  <a:extLst>
                    <a:ext uri="{FF2B5EF4-FFF2-40B4-BE49-F238E27FC236}">
                      <a16:creationId xmlns:a16="http://schemas.microsoft.com/office/drawing/2014/main" id="{6457BE3A-5332-AA9C-AF65-CB27395EA015}"/>
                    </a:ext>
                  </a:extLst>
                </p14:cNvPr>
                <p14:cNvContentPartPr/>
                <p14:nvPr/>
              </p14:nvContentPartPr>
              <p14:xfrm>
                <a:off x="167575" y="5145567"/>
                <a:ext cx="195840" cy="219600"/>
              </p14:xfrm>
            </p:contentPart>
          </mc:Choice>
          <mc:Fallback>
            <p:pic>
              <p:nvPicPr>
                <p:cNvPr id="42" name="Ink 41">
                  <a:extLst>
                    <a:ext uri="{FF2B5EF4-FFF2-40B4-BE49-F238E27FC236}">
                      <a16:creationId xmlns:a16="http://schemas.microsoft.com/office/drawing/2014/main" id="{6457BE3A-5332-AA9C-AF65-CB27395EA015}"/>
                    </a:ext>
                  </a:extLst>
                </p:cNvPr>
                <p:cNvPicPr/>
                <p:nvPr/>
              </p:nvPicPr>
              <p:blipFill>
                <a:blip r:embed="rId36"/>
                <a:stretch>
                  <a:fillRect/>
                </a:stretch>
              </p:blipFill>
              <p:spPr>
                <a:xfrm>
                  <a:off x="149575" y="5127567"/>
                  <a:ext cx="23148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3" name="Ink 42">
                  <a:extLst>
                    <a:ext uri="{FF2B5EF4-FFF2-40B4-BE49-F238E27FC236}">
                      <a16:creationId xmlns:a16="http://schemas.microsoft.com/office/drawing/2014/main" id="{4561DD10-86C3-77AA-67A7-CD2032571ED0}"/>
                    </a:ext>
                  </a:extLst>
                </p14:cNvPr>
                <p14:cNvContentPartPr/>
                <p14:nvPr/>
              </p14:nvContentPartPr>
              <p14:xfrm>
                <a:off x="358015" y="5168607"/>
                <a:ext cx="60840" cy="68760"/>
              </p14:xfrm>
            </p:contentPart>
          </mc:Choice>
          <mc:Fallback>
            <p:pic>
              <p:nvPicPr>
                <p:cNvPr id="43" name="Ink 42">
                  <a:extLst>
                    <a:ext uri="{FF2B5EF4-FFF2-40B4-BE49-F238E27FC236}">
                      <a16:creationId xmlns:a16="http://schemas.microsoft.com/office/drawing/2014/main" id="{4561DD10-86C3-77AA-67A7-CD2032571ED0}"/>
                    </a:ext>
                  </a:extLst>
                </p:cNvPr>
                <p:cNvPicPr/>
                <p:nvPr/>
              </p:nvPicPr>
              <p:blipFill>
                <a:blip r:embed="rId38"/>
                <a:stretch>
                  <a:fillRect/>
                </a:stretch>
              </p:blipFill>
              <p:spPr>
                <a:xfrm>
                  <a:off x="340375" y="5150607"/>
                  <a:ext cx="964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4" name="Ink 43">
                  <a:extLst>
                    <a:ext uri="{FF2B5EF4-FFF2-40B4-BE49-F238E27FC236}">
                      <a16:creationId xmlns:a16="http://schemas.microsoft.com/office/drawing/2014/main" id="{FEB9B334-48AE-5C35-F299-47E250E7B7DA}"/>
                    </a:ext>
                  </a:extLst>
                </p14:cNvPr>
                <p14:cNvContentPartPr/>
                <p14:nvPr/>
              </p14:nvContentPartPr>
              <p14:xfrm>
                <a:off x="318055" y="5103447"/>
                <a:ext cx="3240" cy="1800"/>
              </p14:xfrm>
            </p:contentPart>
          </mc:Choice>
          <mc:Fallback>
            <p:pic>
              <p:nvPicPr>
                <p:cNvPr id="44" name="Ink 43">
                  <a:extLst>
                    <a:ext uri="{FF2B5EF4-FFF2-40B4-BE49-F238E27FC236}">
                      <a16:creationId xmlns:a16="http://schemas.microsoft.com/office/drawing/2014/main" id="{FEB9B334-48AE-5C35-F299-47E250E7B7DA}"/>
                    </a:ext>
                  </a:extLst>
                </p:cNvPr>
                <p:cNvPicPr/>
                <p:nvPr/>
              </p:nvPicPr>
              <p:blipFill>
                <a:blip r:embed="rId40"/>
                <a:stretch>
                  <a:fillRect/>
                </a:stretch>
              </p:blipFill>
              <p:spPr>
                <a:xfrm>
                  <a:off x="300055" y="5085807"/>
                  <a:ext cx="3888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5" name="Ink 44">
                  <a:extLst>
                    <a:ext uri="{FF2B5EF4-FFF2-40B4-BE49-F238E27FC236}">
                      <a16:creationId xmlns:a16="http://schemas.microsoft.com/office/drawing/2014/main" id="{2928574C-81B6-497F-9157-B23C7EDD3B8A}"/>
                    </a:ext>
                  </a:extLst>
                </p14:cNvPr>
                <p14:cNvContentPartPr/>
                <p14:nvPr/>
              </p14:nvContentPartPr>
              <p14:xfrm>
                <a:off x="345055" y="5022087"/>
                <a:ext cx="119160" cy="162360"/>
              </p14:xfrm>
            </p:contentPart>
          </mc:Choice>
          <mc:Fallback>
            <p:pic>
              <p:nvPicPr>
                <p:cNvPr id="45" name="Ink 44">
                  <a:extLst>
                    <a:ext uri="{FF2B5EF4-FFF2-40B4-BE49-F238E27FC236}">
                      <a16:creationId xmlns:a16="http://schemas.microsoft.com/office/drawing/2014/main" id="{2928574C-81B6-497F-9157-B23C7EDD3B8A}"/>
                    </a:ext>
                  </a:extLst>
                </p:cNvPr>
                <p:cNvPicPr/>
                <p:nvPr/>
              </p:nvPicPr>
              <p:blipFill>
                <a:blip r:embed="rId42"/>
                <a:stretch>
                  <a:fillRect/>
                </a:stretch>
              </p:blipFill>
              <p:spPr>
                <a:xfrm>
                  <a:off x="327415" y="5004087"/>
                  <a:ext cx="15480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6" name="Ink 45">
                  <a:extLst>
                    <a:ext uri="{FF2B5EF4-FFF2-40B4-BE49-F238E27FC236}">
                      <a16:creationId xmlns:a16="http://schemas.microsoft.com/office/drawing/2014/main" id="{BAC7BE4D-C9A6-0035-8873-CB88CA266D20}"/>
                    </a:ext>
                  </a:extLst>
                </p14:cNvPr>
                <p14:cNvContentPartPr/>
                <p14:nvPr/>
              </p14:nvContentPartPr>
              <p14:xfrm>
                <a:off x="377455" y="4985367"/>
                <a:ext cx="115560" cy="156600"/>
              </p14:xfrm>
            </p:contentPart>
          </mc:Choice>
          <mc:Fallback>
            <p:pic>
              <p:nvPicPr>
                <p:cNvPr id="46" name="Ink 45">
                  <a:extLst>
                    <a:ext uri="{FF2B5EF4-FFF2-40B4-BE49-F238E27FC236}">
                      <a16:creationId xmlns:a16="http://schemas.microsoft.com/office/drawing/2014/main" id="{BAC7BE4D-C9A6-0035-8873-CB88CA266D20}"/>
                    </a:ext>
                  </a:extLst>
                </p:cNvPr>
                <p:cNvPicPr/>
                <p:nvPr/>
              </p:nvPicPr>
              <p:blipFill>
                <a:blip r:embed="rId44"/>
                <a:stretch>
                  <a:fillRect/>
                </a:stretch>
              </p:blipFill>
              <p:spPr>
                <a:xfrm>
                  <a:off x="359455" y="4967727"/>
                  <a:ext cx="15120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7" name="Ink 46">
                  <a:extLst>
                    <a:ext uri="{FF2B5EF4-FFF2-40B4-BE49-F238E27FC236}">
                      <a16:creationId xmlns:a16="http://schemas.microsoft.com/office/drawing/2014/main" id="{CC37B984-AE19-1198-2123-46BE166E02E1}"/>
                    </a:ext>
                  </a:extLst>
                </p14:cNvPr>
                <p14:cNvContentPartPr/>
                <p14:nvPr/>
              </p14:nvContentPartPr>
              <p14:xfrm>
                <a:off x="471055" y="5004807"/>
                <a:ext cx="164160" cy="232560"/>
              </p14:xfrm>
            </p:contentPart>
          </mc:Choice>
          <mc:Fallback>
            <p:pic>
              <p:nvPicPr>
                <p:cNvPr id="47" name="Ink 46">
                  <a:extLst>
                    <a:ext uri="{FF2B5EF4-FFF2-40B4-BE49-F238E27FC236}">
                      <a16:creationId xmlns:a16="http://schemas.microsoft.com/office/drawing/2014/main" id="{CC37B984-AE19-1198-2123-46BE166E02E1}"/>
                    </a:ext>
                  </a:extLst>
                </p:cNvPr>
                <p:cNvPicPr/>
                <p:nvPr/>
              </p:nvPicPr>
              <p:blipFill>
                <a:blip r:embed="rId46"/>
                <a:stretch>
                  <a:fillRect/>
                </a:stretch>
              </p:blipFill>
              <p:spPr>
                <a:xfrm>
                  <a:off x="453415" y="4987167"/>
                  <a:ext cx="1998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8" name="Ink 47">
                  <a:extLst>
                    <a:ext uri="{FF2B5EF4-FFF2-40B4-BE49-F238E27FC236}">
                      <a16:creationId xmlns:a16="http://schemas.microsoft.com/office/drawing/2014/main" id="{4F4D8D8E-4A29-B5DA-A3ED-4C153F58CB53}"/>
                    </a:ext>
                  </a:extLst>
                </p14:cNvPr>
                <p14:cNvContentPartPr/>
                <p14:nvPr/>
              </p14:nvContentPartPr>
              <p14:xfrm>
                <a:off x="525415" y="4845687"/>
                <a:ext cx="104760" cy="144000"/>
              </p14:xfrm>
            </p:contentPart>
          </mc:Choice>
          <mc:Fallback>
            <p:pic>
              <p:nvPicPr>
                <p:cNvPr id="48" name="Ink 47">
                  <a:extLst>
                    <a:ext uri="{FF2B5EF4-FFF2-40B4-BE49-F238E27FC236}">
                      <a16:creationId xmlns:a16="http://schemas.microsoft.com/office/drawing/2014/main" id="{4F4D8D8E-4A29-B5DA-A3ED-4C153F58CB53}"/>
                    </a:ext>
                  </a:extLst>
                </p:cNvPr>
                <p:cNvPicPr/>
                <p:nvPr/>
              </p:nvPicPr>
              <p:blipFill>
                <a:blip r:embed="rId48"/>
                <a:stretch>
                  <a:fillRect/>
                </a:stretch>
              </p:blipFill>
              <p:spPr>
                <a:xfrm>
                  <a:off x="507775" y="4827687"/>
                  <a:ext cx="1404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9" name="Ink 48">
                  <a:extLst>
                    <a:ext uri="{FF2B5EF4-FFF2-40B4-BE49-F238E27FC236}">
                      <a16:creationId xmlns:a16="http://schemas.microsoft.com/office/drawing/2014/main" id="{E994B0F6-FD3A-C634-1B6E-CEF7F12B74A5}"/>
                    </a:ext>
                  </a:extLst>
                </p14:cNvPr>
                <p14:cNvContentPartPr/>
                <p14:nvPr/>
              </p14:nvContentPartPr>
              <p14:xfrm>
                <a:off x="483295" y="4816527"/>
                <a:ext cx="188640" cy="150840"/>
              </p14:xfrm>
            </p:contentPart>
          </mc:Choice>
          <mc:Fallback>
            <p:pic>
              <p:nvPicPr>
                <p:cNvPr id="49" name="Ink 48">
                  <a:extLst>
                    <a:ext uri="{FF2B5EF4-FFF2-40B4-BE49-F238E27FC236}">
                      <a16:creationId xmlns:a16="http://schemas.microsoft.com/office/drawing/2014/main" id="{E994B0F6-FD3A-C634-1B6E-CEF7F12B74A5}"/>
                    </a:ext>
                  </a:extLst>
                </p:cNvPr>
                <p:cNvPicPr/>
                <p:nvPr/>
              </p:nvPicPr>
              <p:blipFill>
                <a:blip r:embed="rId50"/>
                <a:stretch>
                  <a:fillRect/>
                </a:stretch>
              </p:blipFill>
              <p:spPr>
                <a:xfrm>
                  <a:off x="465655" y="4798887"/>
                  <a:ext cx="2242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50" name="Ink 49">
                  <a:extLst>
                    <a:ext uri="{FF2B5EF4-FFF2-40B4-BE49-F238E27FC236}">
                      <a16:creationId xmlns:a16="http://schemas.microsoft.com/office/drawing/2014/main" id="{46126019-1BED-3B29-C270-90A794D6045A}"/>
                    </a:ext>
                  </a:extLst>
                </p14:cNvPr>
                <p14:cNvContentPartPr/>
                <p14:nvPr/>
              </p14:nvContentPartPr>
              <p14:xfrm>
                <a:off x="681655" y="4769007"/>
                <a:ext cx="81720" cy="115560"/>
              </p14:xfrm>
            </p:contentPart>
          </mc:Choice>
          <mc:Fallback>
            <p:pic>
              <p:nvPicPr>
                <p:cNvPr id="50" name="Ink 49">
                  <a:extLst>
                    <a:ext uri="{FF2B5EF4-FFF2-40B4-BE49-F238E27FC236}">
                      <a16:creationId xmlns:a16="http://schemas.microsoft.com/office/drawing/2014/main" id="{46126019-1BED-3B29-C270-90A794D6045A}"/>
                    </a:ext>
                  </a:extLst>
                </p:cNvPr>
                <p:cNvPicPr/>
                <p:nvPr/>
              </p:nvPicPr>
              <p:blipFill>
                <a:blip r:embed="rId52"/>
                <a:stretch>
                  <a:fillRect/>
                </a:stretch>
              </p:blipFill>
              <p:spPr>
                <a:xfrm>
                  <a:off x="664015" y="4751007"/>
                  <a:ext cx="1173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1" name="Ink 50">
                  <a:extLst>
                    <a:ext uri="{FF2B5EF4-FFF2-40B4-BE49-F238E27FC236}">
                      <a16:creationId xmlns:a16="http://schemas.microsoft.com/office/drawing/2014/main" id="{C9D90931-724D-86CA-EFBD-0D7E951CE0BF}"/>
                    </a:ext>
                  </a:extLst>
                </p14:cNvPr>
                <p14:cNvContentPartPr/>
                <p14:nvPr/>
              </p14:nvContentPartPr>
              <p14:xfrm>
                <a:off x="754735" y="4725447"/>
                <a:ext cx="111960" cy="93600"/>
              </p14:xfrm>
            </p:contentPart>
          </mc:Choice>
          <mc:Fallback>
            <p:pic>
              <p:nvPicPr>
                <p:cNvPr id="51" name="Ink 50">
                  <a:extLst>
                    <a:ext uri="{FF2B5EF4-FFF2-40B4-BE49-F238E27FC236}">
                      <a16:creationId xmlns:a16="http://schemas.microsoft.com/office/drawing/2014/main" id="{C9D90931-724D-86CA-EFBD-0D7E951CE0BF}"/>
                    </a:ext>
                  </a:extLst>
                </p:cNvPr>
                <p:cNvPicPr/>
                <p:nvPr/>
              </p:nvPicPr>
              <p:blipFill>
                <a:blip r:embed="rId54"/>
                <a:stretch>
                  <a:fillRect/>
                </a:stretch>
              </p:blipFill>
              <p:spPr>
                <a:xfrm>
                  <a:off x="736735" y="4707447"/>
                  <a:ext cx="1476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2" name="Ink 51">
                  <a:extLst>
                    <a:ext uri="{FF2B5EF4-FFF2-40B4-BE49-F238E27FC236}">
                      <a16:creationId xmlns:a16="http://schemas.microsoft.com/office/drawing/2014/main" id="{E083EAB8-7AF7-578A-C5D1-BF976098DC2E}"/>
                    </a:ext>
                  </a:extLst>
                </p14:cNvPr>
                <p14:cNvContentPartPr/>
                <p14:nvPr/>
              </p14:nvContentPartPr>
              <p14:xfrm>
                <a:off x="839335" y="4619607"/>
                <a:ext cx="111960" cy="124200"/>
              </p14:xfrm>
            </p:contentPart>
          </mc:Choice>
          <mc:Fallback>
            <p:pic>
              <p:nvPicPr>
                <p:cNvPr id="52" name="Ink 51">
                  <a:extLst>
                    <a:ext uri="{FF2B5EF4-FFF2-40B4-BE49-F238E27FC236}">
                      <a16:creationId xmlns:a16="http://schemas.microsoft.com/office/drawing/2014/main" id="{E083EAB8-7AF7-578A-C5D1-BF976098DC2E}"/>
                    </a:ext>
                  </a:extLst>
                </p:cNvPr>
                <p:cNvPicPr/>
                <p:nvPr/>
              </p:nvPicPr>
              <p:blipFill>
                <a:blip r:embed="rId56"/>
                <a:stretch>
                  <a:fillRect/>
                </a:stretch>
              </p:blipFill>
              <p:spPr>
                <a:xfrm>
                  <a:off x="821695" y="4601967"/>
                  <a:ext cx="14760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3" name="Ink 52">
                  <a:extLst>
                    <a:ext uri="{FF2B5EF4-FFF2-40B4-BE49-F238E27FC236}">
                      <a16:creationId xmlns:a16="http://schemas.microsoft.com/office/drawing/2014/main" id="{BA01DDA2-00E3-0A2D-A445-F5313D7494D0}"/>
                    </a:ext>
                  </a:extLst>
                </p14:cNvPr>
                <p14:cNvContentPartPr/>
                <p14:nvPr/>
              </p14:nvContentPartPr>
              <p14:xfrm>
                <a:off x="900535" y="4432767"/>
                <a:ext cx="47880" cy="118800"/>
              </p14:xfrm>
            </p:contentPart>
          </mc:Choice>
          <mc:Fallback>
            <p:pic>
              <p:nvPicPr>
                <p:cNvPr id="53" name="Ink 52">
                  <a:extLst>
                    <a:ext uri="{FF2B5EF4-FFF2-40B4-BE49-F238E27FC236}">
                      <a16:creationId xmlns:a16="http://schemas.microsoft.com/office/drawing/2014/main" id="{BA01DDA2-00E3-0A2D-A445-F5313D7494D0}"/>
                    </a:ext>
                  </a:extLst>
                </p:cNvPr>
                <p:cNvPicPr/>
                <p:nvPr/>
              </p:nvPicPr>
              <p:blipFill>
                <a:blip r:embed="rId58"/>
                <a:stretch>
                  <a:fillRect/>
                </a:stretch>
              </p:blipFill>
              <p:spPr>
                <a:xfrm>
                  <a:off x="882535" y="4415127"/>
                  <a:ext cx="835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4" name="Ink 53">
                  <a:extLst>
                    <a:ext uri="{FF2B5EF4-FFF2-40B4-BE49-F238E27FC236}">
                      <a16:creationId xmlns:a16="http://schemas.microsoft.com/office/drawing/2014/main" id="{36B2883C-1C94-62B2-CF69-4024192D098A}"/>
                    </a:ext>
                  </a:extLst>
                </p14:cNvPr>
                <p14:cNvContentPartPr/>
                <p14:nvPr/>
              </p14:nvContentPartPr>
              <p14:xfrm>
                <a:off x="977935" y="4489647"/>
                <a:ext cx="93240" cy="124200"/>
              </p14:xfrm>
            </p:contentPart>
          </mc:Choice>
          <mc:Fallback>
            <p:pic>
              <p:nvPicPr>
                <p:cNvPr id="54" name="Ink 53">
                  <a:extLst>
                    <a:ext uri="{FF2B5EF4-FFF2-40B4-BE49-F238E27FC236}">
                      <a16:creationId xmlns:a16="http://schemas.microsoft.com/office/drawing/2014/main" id="{36B2883C-1C94-62B2-CF69-4024192D098A}"/>
                    </a:ext>
                  </a:extLst>
                </p:cNvPr>
                <p:cNvPicPr/>
                <p:nvPr/>
              </p:nvPicPr>
              <p:blipFill>
                <a:blip r:embed="rId60"/>
                <a:stretch>
                  <a:fillRect/>
                </a:stretch>
              </p:blipFill>
              <p:spPr>
                <a:xfrm>
                  <a:off x="959935" y="4472007"/>
                  <a:ext cx="12888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6" name="Ink 55">
                  <a:extLst>
                    <a:ext uri="{FF2B5EF4-FFF2-40B4-BE49-F238E27FC236}">
                      <a16:creationId xmlns:a16="http://schemas.microsoft.com/office/drawing/2014/main" id="{73D01900-502E-8B12-2DF0-C1C42A678791}"/>
                    </a:ext>
                  </a:extLst>
                </p14:cNvPr>
                <p14:cNvContentPartPr/>
                <p14:nvPr/>
              </p14:nvContentPartPr>
              <p14:xfrm>
                <a:off x="310855" y="5596287"/>
                <a:ext cx="114120" cy="193320"/>
              </p14:xfrm>
            </p:contentPart>
          </mc:Choice>
          <mc:Fallback>
            <p:pic>
              <p:nvPicPr>
                <p:cNvPr id="56" name="Ink 55">
                  <a:extLst>
                    <a:ext uri="{FF2B5EF4-FFF2-40B4-BE49-F238E27FC236}">
                      <a16:creationId xmlns:a16="http://schemas.microsoft.com/office/drawing/2014/main" id="{73D01900-502E-8B12-2DF0-C1C42A678791}"/>
                    </a:ext>
                  </a:extLst>
                </p:cNvPr>
                <p:cNvPicPr/>
                <p:nvPr/>
              </p:nvPicPr>
              <p:blipFill>
                <a:blip r:embed="rId62"/>
                <a:stretch>
                  <a:fillRect/>
                </a:stretch>
              </p:blipFill>
              <p:spPr>
                <a:xfrm>
                  <a:off x="292855" y="5578287"/>
                  <a:ext cx="14976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7" name="Ink 56">
                  <a:extLst>
                    <a:ext uri="{FF2B5EF4-FFF2-40B4-BE49-F238E27FC236}">
                      <a16:creationId xmlns:a16="http://schemas.microsoft.com/office/drawing/2014/main" id="{152D6A50-09B4-CD88-6D72-BC238E39F62E}"/>
                    </a:ext>
                  </a:extLst>
                </p14:cNvPr>
                <p14:cNvContentPartPr/>
                <p14:nvPr/>
              </p14:nvContentPartPr>
              <p14:xfrm>
                <a:off x="397255" y="5545527"/>
                <a:ext cx="90000" cy="104040"/>
              </p14:xfrm>
            </p:contentPart>
          </mc:Choice>
          <mc:Fallback>
            <p:pic>
              <p:nvPicPr>
                <p:cNvPr id="57" name="Ink 56">
                  <a:extLst>
                    <a:ext uri="{FF2B5EF4-FFF2-40B4-BE49-F238E27FC236}">
                      <a16:creationId xmlns:a16="http://schemas.microsoft.com/office/drawing/2014/main" id="{152D6A50-09B4-CD88-6D72-BC238E39F62E}"/>
                    </a:ext>
                  </a:extLst>
                </p:cNvPr>
                <p:cNvPicPr/>
                <p:nvPr/>
              </p:nvPicPr>
              <p:blipFill>
                <a:blip r:embed="rId64"/>
                <a:stretch>
                  <a:fillRect/>
                </a:stretch>
              </p:blipFill>
              <p:spPr>
                <a:xfrm>
                  <a:off x="379255" y="5527887"/>
                  <a:ext cx="1256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8" name="Ink 57">
                  <a:extLst>
                    <a:ext uri="{FF2B5EF4-FFF2-40B4-BE49-F238E27FC236}">
                      <a16:creationId xmlns:a16="http://schemas.microsoft.com/office/drawing/2014/main" id="{4202DB14-7E4E-A41C-5071-ABFFB39FD01B}"/>
                    </a:ext>
                  </a:extLst>
                </p14:cNvPr>
                <p14:cNvContentPartPr/>
                <p14:nvPr/>
              </p14:nvContentPartPr>
              <p14:xfrm>
                <a:off x="384655" y="5480007"/>
                <a:ext cx="82800" cy="114120"/>
              </p14:xfrm>
            </p:contentPart>
          </mc:Choice>
          <mc:Fallback>
            <p:pic>
              <p:nvPicPr>
                <p:cNvPr id="58" name="Ink 57">
                  <a:extLst>
                    <a:ext uri="{FF2B5EF4-FFF2-40B4-BE49-F238E27FC236}">
                      <a16:creationId xmlns:a16="http://schemas.microsoft.com/office/drawing/2014/main" id="{4202DB14-7E4E-A41C-5071-ABFFB39FD01B}"/>
                    </a:ext>
                  </a:extLst>
                </p:cNvPr>
                <p:cNvPicPr/>
                <p:nvPr/>
              </p:nvPicPr>
              <p:blipFill>
                <a:blip r:embed="rId66"/>
                <a:stretch>
                  <a:fillRect/>
                </a:stretch>
              </p:blipFill>
              <p:spPr>
                <a:xfrm>
                  <a:off x="367015" y="5462007"/>
                  <a:ext cx="11844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9" name="Ink 58">
                  <a:extLst>
                    <a:ext uri="{FF2B5EF4-FFF2-40B4-BE49-F238E27FC236}">
                      <a16:creationId xmlns:a16="http://schemas.microsoft.com/office/drawing/2014/main" id="{8FF68541-03E7-C7C1-85E9-410BEBADCF4E}"/>
                    </a:ext>
                  </a:extLst>
                </p14:cNvPr>
                <p14:cNvContentPartPr/>
                <p14:nvPr/>
              </p14:nvContentPartPr>
              <p14:xfrm>
                <a:off x="474655" y="5389647"/>
                <a:ext cx="146880" cy="154080"/>
              </p14:xfrm>
            </p:contentPart>
          </mc:Choice>
          <mc:Fallback>
            <p:pic>
              <p:nvPicPr>
                <p:cNvPr id="59" name="Ink 58">
                  <a:extLst>
                    <a:ext uri="{FF2B5EF4-FFF2-40B4-BE49-F238E27FC236}">
                      <a16:creationId xmlns:a16="http://schemas.microsoft.com/office/drawing/2014/main" id="{8FF68541-03E7-C7C1-85E9-410BEBADCF4E}"/>
                    </a:ext>
                  </a:extLst>
                </p:cNvPr>
                <p:cNvPicPr/>
                <p:nvPr/>
              </p:nvPicPr>
              <p:blipFill>
                <a:blip r:embed="rId68"/>
                <a:stretch>
                  <a:fillRect/>
                </a:stretch>
              </p:blipFill>
              <p:spPr>
                <a:xfrm>
                  <a:off x="456655" y="5372007"/>
                  <a:ext cx="18252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60" name="Ink 59">
                  <a:extLst>
                    <a:ext uri="{FF2B5EF4-FFF2-40B4-BE49-F238E27FC236}">
                      <a16:creationId xmlns:a16="http://schemas.microsoft.com/office/drawing/2014/main" id="{DCF2A6CD-5504-D911-6886-D29341F9B937}"/>
                    </a:ext>
                  </a:extLst>
                </p14:cNvPr>
                <p14:cNvContentPartPr/>
                <p14:nvPr/>
              </p14:nvContentPartPr>
              <p14:xfrm>
                <a:off x="505255" y="5439327"/>
                <a:ext cx="78120" cy="58680"/>
              </p14:xfrm>
            </p:contentPart>
          </mc:Choice>
          <mc:Fallback>
            <p:pic>
              <p:nvPicPr>
                <p:cNvPr id="60" name="Ink 59">
                  <a:extLst>
                    <a:ext uri="{FF2B5EF4-FFF2-40B4-BE49-F238E27FC236}">
                      <a16:creationId xmlns:a16="http://schemas.microsoft.com/office/drawing/2014/main" id="{DCF2A6CD-5504-D911-6886-D29341F9B937}"/>
                    </a:ext>
                  </a:extLst>
                </p:cNvPr>
                <p:cNvPicPr/>
                <p:nvPr/>
              </p:nvPicPr>
              <p:blipFill>
                <a:blip r:embed="rId70"/>
                <a:stretch>
                  <a:fillRect/>
                </a:stretch>
              </p:blipFill>
              <p:spPr>
                <a:xfrm>
                  <a:off x="487615" y="5421327"/>
                  <a:ext cx="11376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61" name="Ink 60">
                  <a:extLst>
                    <a:ext uri="{FF2B5EF4-FFF2-40B4-BE49-F238E27FC236}">
                      <a16:creationId xmlns:a16="http://schemas.microsoft.com/office/drawing/2014/main" id="{D1C55EA2-CDA7-A985-70F1-2D090BBCDAC5}"/>
                    </a:ext>
                  </a:extLst>
                </p14:cNvPr>
                <p14:cNvContentPartPr/>
                <p14:nvPr/>
              </p14:nvContentPartPr>
              <p14:xfrm>
                <a:off x="638455" y="5247447"/>
                <a:ext cx="111960" cy="103320"/>
              </p14:xfrm>
            </p:contentPart>
          </mc:Choice>
          <mc:Fallback>
            <p:pic>
              <p:nvPicPr>
                <p:cNvPr id="61" name="Ink 60">
                  <a:extLst>
                    <a:ext uri="{FF2B5EF4-FFF2-40B4-BE49-F238E27FC236}">
                      <a16:creationId xmlns:a16="http://schemas.microsoft.com/office/drawing/2014/main" id="{D1C55EA2-CDA7-A985-70F1-2D090BBCDAC5}"/>
                    </a:ext>
                  </a:extLst>
                </p:cNvPr>
                <p:cNvPicPr/>
                <p:nvPr/>
              </p:nvPicPr>
              <p:blipFill>
                <a:blip r:embed="rId72"/>
                <a:stretch>
                  <a:fillRect/>
                </a:stretch>
              </p:blipFill>
              <p:spPr>
                <a:xfrm>
                  <a:off x="620815" y="5229447"/>
                  <a:ext cx="1476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2" name="Ink 61">
                  <a:extLst>
                    <a:ext uri="{FF2B5EF4-FFF2-40B4-BE49-F238E27FC236}">
                      <a16:creationId xmlns:a16="http://schemas.microsoft.com/office/drawing/2014/main" id="{EB367940-5FF5-78CF-AA3B-E01C4B3C3B6E}"/>
                    </a:ext>
                  </a:extLst>
                </p14:cNvPr>
                <p14:cNvContentPartPr/>
                <p14:nvPr/>
              </p14:nvContentPartPr>
              <p14:xfrm>
                <a:off x="748975" y="5184087"/>
                <a:ext cx="75240" cy="117360"/>
              </p14:xfrm>
            </p:contentPart>
          </mc:Choice>
          <mc:Fallback>
            <p:pic>
              <p:nvPicPr>
                <p:cNvPr id="62" name="Ink 61">
                  <a:extLst>
                    <a:ext uri="{FF2B5EF4-FFF2-40B4-BE49-F238E27FC236}">
                      <a16:creationId xmlns:a16="http://schemas.microsoft.com/office/drawing/2014/main" id="{EB367940-5FF5-78CF-AA3B-E01C4B3C3B6E}"/>
                    </a:ext>
                  </a:extLst>
                </p:cNvPr>
                <p:cNvPicPr/>
                <p:nvPr/>
              </p:nvPicPr>
              <p:blipFill>
                <a:blip r:embed="rId74"/>
                <a:stretch>
                  <a:fillRect/>
                </a:stretch>
              </p:blipFill>
              <p:spPr>
                <a:xfrm>
                  <a:off x="731335" y="5166447"/>
                  <a:ext cx="1108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4" name="Ink 63">
                  <a:extLst>
                    <a:ext uri="{FF2B5EF4-FFF2-40B4-BE49-F238E27FC236}">
                      <a16:creationId xmlns:a16="http://schemas.microsoft.com/office/drawing/2014/main" id="{62EBB808-4794-A818-1A5D-B18FB9A7EC66}"/>
                    </a:ext>
                  </a:extLst>
                </p14:cNvPr>
                <p14:cNvContentPartPr/>
                <p14:nvPr/>
              </p14:nvContentPartPr>
              <p14:xfrm>
                <a:off x="720175" y="5503047"/>
                <a:ext cx="113040" cy="150840"/>
              </p14:xfrm>
            </p:contentPart>
          </mc:Choice>
          <mc:Fallback>
            <p:pic>
              <p:nvPicPr>
                <p:cNvPr id="64" name="Ink 63">
                  <a:extLst>
                    <a:ext uri="{FF2B5EF4-FFF2-40B4-BE49-F238E27FC236}">
                      <a16:creationId xmlns:a16="http://schemas.microsoft.com/office/drawing/2014/main" id="{62EBB808-4794-A818-1A5D-B18FB9A7EC66}"/>
                    </a:ext>
                  </a:extLst>
                </p:cNvPr>
                <p:cNvPicPr/>
                <p:nvPr/>
              </p:nvPicPr>
              <p:blipFill>
                <a:blip r:embed="rId76"/>
                <a:stretch>
                  <a:fillRect/>
                </a:stretch>
              </p:blipFill>
              <p:spPr>
                <a:xfrm>
                  <a:off x="702535" y="5485407"/>
                  <a:ext cx="1486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5" name="Ink 64">
                  <a:extLst>
                    <a:ext uri="{FF2B5EF4-FFF2-40B4-BE49-F238E27FC236}">
                      <a16:creationId xmlns:a16="http://schemas.microsoft.com/office/drawing/2014/main" id="{F9D7859C-F3DF-D790-9DD8-AE97A629DC76}"/>
                    </a:ext>
                  </a:extLst>
                </p14:cNvPr>
                <p14:cNvContentPartPr/>
                <p14:nvPr/>
              </p14:nvContentPartPr>
              <p14:xfrm>
                <a:off x="877495" y="5518167"/>
                <a:ext cx="5760" cy="12960"/>
              </p14:xfrm>
            </p:contentPart>
          </mc:Choice>
          <mc:Fallback>
            <p:pic>
              <p:nvPicPr>
                <p:cNvPr id="65" name="Ink 64">
                  <a:extLst>
                    <a:ext uri="{FF2B5EF4-FFF2-40B4-BE49-F238E27FC236}">
                      <a16:creationId xmlns:a16="http://schemas.microsoft.com/office/drawing/2014/main" id="{F9D7859C-F3DF-D790-9DD8-AE97A629DC76}"/>
                    </a:ext>
                  </a:extLst>
                </p:cNvPr>
                <p:cNvPicPr/>
                <p:nvPr/>
              </p:nvPicPr>
              <p:blipFill>
                <a:blip r:embed="rId78"/>
                <a:stretch>
                  <a:fillRect/>
                </a:stretch>
              </p:blipFill>
              <p:spPr>
                <a:xfrm>
                  <a:off x="859495" y="5500527"/>
                  <a:ext cx="4140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6" name="Ink 65">
                  <a:extLst>
                    <a:ext uri="{FF2B5EF4-FFF2-40B4-BE49-F238E27FC236}">
                      <a16:creationId xmlns:a16="http://schemas.microsoft.com/office/drawing/2014/main" id="{B07C7E0A-1537-9C1D-1D51-A139805EAD54}"/>
                    </a:ext>
                  </a:extLst>
                </p14:cNvPr>
                <p14:cNvContentPartPr/>
                <p14:nvPr/>
              </p14:nvContentPartPr>
              <p14:xfrm>
                <a:off x="817735" y="5390367"/>
                <a:ext cx="94680" cy="66600"/>
              </p14:xfrm>
            </p:contentPart>
          </mc:Choice>
          <mc:Fallback>
            <p:pic>
              <p:nvPicPr>
                <p:cNvPr id="66" name="Ink 65">
                  <a:extLst>
                    <a:ext uri="{FF2B5EF4-FFF2-40B4-BE49-F238E27FC236}">
                      <a16:creationId xmlns:a16="http://schemas.microsoft.com/office/drawing/2014/main" id="{B07C7E0A-1537-9C1D-1D51-A139805EAD54}"/>
                    </a:ext>
                  </a:extLst>
                </p:cNvPr>
                <p:cNvPicPr/>
                <p:nvPr/>
              </p:nvPicPr>
              <p:blipFill>
                <a:blip r:embed="rId80"/>
                <a:stretch>
                  <a:fillRect/>
                </a:stretch>
              </p:blipFill>
              <p:spPr>
                <a:xfrm>
                  <a:off x="800095" y="5372367"/>
                  <a:ext cx="13032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7" name="Ink 66">
                  <a:extLst>
                    <a:ext uri="{FF2B5EF4-FFF2-40B4-BE49-F238E27FC236}">
                      <a16:creationId xmlns:a16="http://schemas.microsoft.com/office/drawing/2014/main" id="{E688C387-08CF-AE0E-DF78-D82D0E186D78}"/>
                    </a:ext>
                  </a:extLst>
                </p14:cNvPr>
                <p14:cNvContentPartPr/>
                <p14:nvPr/>
              </p14:nvContentPartPr>
              <p14:xfrm>
                <a:off x="867055" y="5336367"/>
                <a:ext cx="90360" cy="102240"/>
              </p14:xfrm>
            </p:contentPart>
          </mc:Choice>
          <mc:Fallback>
            <p:pic>
              <p:nvPicPr>
                <p:cNvPr id="67" name="Ink 66">
                  <a:extLst>
                    <a:ext uri="{FF2B5EF4-FFF2-40B4-BE49-F238E27FC236}">
                      <a16:creationId xmlns:a16="http://schemas.microsoft.com/office/drawing/2014/main" id="{E688C387-08CF-AE0E-DF78-D82D0E186D78}"/>
                    </a:ext>
                  </a:extLst>
                </p:cNvPr>
                <p:cNvPicPr/>
                <p:nvPr/>
              </p:nvPicPr>
              <p:blipFill>
                <a:blip r:embed="rId82"/>
                <a:stretch>
                  <a:fillRect/>
                </a:stretch>
              </p:blipFill>
              <p:spPr>
                <a:xfrm>
                  <a:off x="849055" y="5318367"/>
                  <a:ext cx="1260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8" name="Ink 67">
                  <a:extLst>
                    <a:ext uri="{FF2B5EF4-FFF2-40B4-BE49-F238E27FC236}">
                      <a16:creationId xmlns:a16="http://schemas.microsoft.com/office/drawing/2014/main" id="{0D41EF08-54B7-C90C-413E-89D427A02598}"/>
                    </a:ext>
                  </a:extLst>
                </p14:cNvPr>
                <p14:cNvContentPartPr/>
                <p14:nvPr/>
              </p14:nvContentPartPr>
              <p14:xfrm>
                <a:off x="914935" y="5205327"/>
                <a:ext cx="171000" cy="153000"/>
              </p14:xfrm>
            </p:contentPart>
          </mc:Choice>
          <mc:Fallback>
            <p:pic>
              <p:nvPicPr>
                <p:cNvPr id="68" name="Ink 67">
                  <a:extLst>
                    <a:ext uri="{FF2B5EF4-FFF2-40B4-BE49-F238E27FC236}">
                      <a16:creationId xmlns:a16="http://schemas.microsoft.com/office/drawing/2014/main" id="{0D41EF08-54B7-C90C-413E-89D427A02598}"/>
                    </a:ext>
                  </a:extLst>
                </p:cNvPr>
                <p:cNvPicPr/>
                <p:nvPr/>
              </p:nvPicPr>
              <p:blipFill>
                <a:blip r:embed="rId84"/>
                <a:stretch>
                  <a:fillRect/>
                </a:stretch>
              </p:blipFill>
              <p:spPr>
                <a:xfrm>
                  <a:off x="897295" y="5187687"/>
                  <a:ext cx="20664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0" name="Ink 69">
                  <a:extLst>
                    <a:ext uri="{FF2B5EF4-FFF2-40B4-BE49-F238E27FC236}">
                      <a16:creationId xmlns:a16="http://schemas.microsoft.com/office/drawing/2014/main" id="{35204883-B415-0FDD-4F27-A2A2A3539690}"/>
                    </a:ext>
                  </a:extLst>
                </p14:cNvPr>
                <p14:cNvContentPartPr/>
                <p14:nvPr/>
              </p14:nvContentPartPr>
              <p14:xfrm>
                <a:off x="1124095" y="5166447"/>
                <a:ext cx="2107800" cy="430560"/>
              </p14:xfrm>
            </p:contentPart>
          </mc:Choice>
          <mc:Fallback>
            <p:pic>
              <p:nvPicPr>
                <p:cNvPr id="70" name="Ink 69">
                  <a:extLst>
                    <a:ext uri="{FF2B5EF4-FFF2-40B4-BE49-F238E27FC236}">
                      <a16:creationId xmlns:a16="http://schemas.microsoft.com/office/drawing/2014/main" id="{35204883-B415-0FDD-4F27-A2A2A3539690}"/>
                    </a:ext>
                  </a:extLst>
                </p:cNvPr>
                <p:cNvPicPr/>
                <p:nvPr/>
              </p:nvPicPr>
              <p:blipFill>
                <a:blip r:embed="rId86"/>
                <a:stretch>
                  <a:fillRect/>
                </a:stretch>
              </p:blipFill>
              <p:spPr>
                <a:xfrm>
                  <a:off x="1106095" y="5148807"/>
                  <a:ext cx="2143440" cy="4662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72" name="Ink 71">
                  <a:extLst>
                    <a:ext uri="{FF2B5EF4-FFF2-40B4-BE49-F238E27FC236}">
                      <a16:creationId xmlns:a16="http://schemas.microsoft.com/office/drawing/2014/main" id="{B652ADA7-C0D0-4F30-0B66-EF7AD5CA7C21}"/>
                    </a:ext>
                  </a:extLst>
                </p14:cNvPr>
                <p14:cNvContentPartPr/>
                <p14:nvPr/>
              </p14:nvContentPartPr>
              <p14:xfrm>
                <a:off x="2612335" y="4923807"/>
                <a:ext cx="744840" cy="249480"/>
              </p14:xfrm>
            </p:contentPart>
          </mc:Choice>
          <mc:Fallback>
            <p:pic>
              <p:nvPicPr>
                <p:cNvPr id="72" name="Ink 71">
                  <a:extLst>
                    <a:ext uri="{FF2B5EF4-FFF2-40B4-BE49-F238E27FC236}">
                      <a16:creationId xmlns:a16="http://schemas.microsoft.com/office/drawing/2014/main" id="{B652ADA7-C0D0-4F30-0B66-EF7AD5CA7C21}"/>
                    </a:ext>
                  </a:extLst>
                </p:cNvPr>
                <p:cNvPicPr/>
                <p:nvPr/>
              </p:nvPicPr>
              <p:blipFill>
                <a:blip r:embed="rId88"/>
                <a:stretch>
                  <a:fillRect/>
                </a:stretch>
              </p:blipFill>
              <p:spPr>
                <a:xfrm>
                  <a:off x="2594335" y="4905807"/>
                  <a:ext cx="780480" cy="285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9">
            <p14:nvContentPartPr>
              <p14:cNvPr id="74" name="Ink 73">
                <a:extLst>
                  <a:ext uri="{FF2B5EF4-FFF2-40B4-BE49-F238E27FC236}">
                    <a16:creationId xmlns:a16="http://schemas.microsoft.com/office/drawing/2014/main" id="{F32D5E8E-73C6-A6C0-DB81-F9651ABC940D}"/>
                  </a:ext>
                  <a:ext uri="{C183D7F6-B498-43B3-948B-1728B52AA6E4}">
                    <adec:decorative xmlns:adec="http://schemas.microsoft.com/office/drawing/2017/decorative" val="1"/>
                  </a:ext>
                </a:extLst>
              </p14:cNvPr>
              <p14:cNvContentPartPr/>
              <p14:nvPr/>
            </p14:nvContentPartPr>
            <p14:xfrm>
              <a:off x="3582535" y="4335927"/>
              <a:ext cx="300240" cy="157320"/>
            </p14:xfrm>
          </p:contentPart>
        </mc:Choice>
        <mc:Fallback>
          <p:pic>
            <p:nvPicPr>
              <p:cNvPr id="74" name="Ink 73">
                <a:extLst>
                  <a:ext uri="{FF2B5EF4-FFF2-40B4-BE49-F238E27FC236}">
                    <a16:creationId xmlns:a16="http://schemas.microsoft.com/office/drawing/2014/main" id="{F32D5E8E-73C6-A6C0-DB81-F9651ABC940D}"/>
                  </a:ext>
                  <a:ext uri="{C183D7F6-B498-43B3-948B-1728B52AA6E4}">
                    <adec:decorative xmlns:adec="http://schemas.microsoft.com/office/drawing/2017/decorative" val="1"/>
                  </a:ext>
                </a:extLst>
              </p:cNvPr>
              <p:cNvPicPr/>
              <p:nvPr/>
            </p:nvPicPr>
            <p:blipFill>
              <a:blip r:embed="rId90"/>
              <a:stretch>
                <a:fillRect/>
              </a:stretch>
            </p:blipFill>
            <p:spPr>
              <a:xfrm>
                <a:off x="3528895" y="4228287"/>
                <a:ext cx="40788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5" name="Ink 74">
                <a:extLst>
                  <a:ext uri="{FF2B5EF4-FFF2-40B4-BE49-F238E27FC236}">
                    <a16:creationId xmlns:a16="http://schemas.microsoft.com/office/drawing/2014/main" id="{EC2CD025-0381-FB0A-F7A9-229C52344E23}"/>
                  </a:ext>
                  <a:ext uri="{C183D7F6-B498-43B3-948B-1728B52AA6E4}">
                    <adec:decorative xmlns:adec="http://schemas.microsoft.com/office/drawing/2017/decorative" val="1"/>
                  </a:ext>
                </a:extLst>
              </p14:cNvPr>
              <p14:cNvContentPartPr/>
              <p14:nvPr/>
            </p14:nvContentPartPr>
            <p14:xfrm>
              <a:off x="3601255" y="5374527"/>
              <a:ext cx="310680" cy="217440"/>
            </p14:xfrm>
          </p:contentPart>
        </mc:Choice>
        <mc:Fallback>
          <p:pic>
            <p:nvPicPr>
              <p:cNvPr id="75" name="Ink 74">
                <a:extLst>
                  <a:ext uri="{FF2B5EF4-FFF2-40B4-BE49-F238E27FC236}">
                    <a16:creationId xmlns:a16="http://schemas.microsoft.com/office/drawing/2014/main" id="{EC2CD025-0381-FB0A-F7A9-229C52344E23}"/>
                  </a:ext>
                  <a:ext uri="{C183D7F6-B498-43B3-948B-1728B52AA6E4}">
                    <adec:decorative xmlns:adec="http://schemas.microsoft.com/office/drawing/2017/decorative" val="1"/>
                  </a:ext>
                </a:extLst>
              </p:cNvPr>
              <p:cNvPicPr/>
              <p:nvPr/>
            </p:nvPicPr>
            <p:blipFill>
              <a:blip r:embed="rId92"/>
              <a:stretch>
                <a:fillRect/>
              </a:stretch>
            </p:blipFill>
            <p:spPr>
              <a:xfrm>
                <a:off x="3547255" y="5266527"/>
                <a:ext cx="418320" cy="433080"/>
              </a:xfrm>
              <a:prstGeom prst="rect">
                <a:avLst/>
              </a:prstGeom>
            </p:spPr>
          </p:pic>
        </mc:Fallback>
      </mc:AlternateContent>
    </p:spTree>
    <p:extLst>
      <p:ext uri="{BB962C8B-B14F-4D97-AF65-F5344CB8AC3E}">
        <p14:creationId xmlns:p14="http://schemas.microsoft.com/office/powerpoint/2010/main" val="148252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Parallel Array Code Example</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fontScale="92500" lnSpcReduction="20000"/>
          </a:bodyPr>
          <a:lstStyle/>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const int SIZE = 5;   </a:t>
            </a:r>
            <a:r>
              <a:rPr lang="en-US" altLang="en-US" sz="2800" b="1" dirty="0">
                <a:solidFill>
                  <a:srgbClr val="00B050"/>
                </a:solidFill>
                <a:latin typeface="Courier New" panose="02070309020205020404" pitchFamily="49" charset="0"/>
              </a:rPr>
              <a:t>// Array size</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int id[SIZE];         </a:t>
            </a:r>
            <a:r>
              <a:rPr lang="en-US" altLang="en-US" sz="2800" b="1" dirty="0">
                <a:solidFill>
                  <a:srgbClr val="00B050"/>
                </a:solidFill>
                <a:latin typeface="Courier New" panose="02070309020205020404" pitchFamily="49" charset="0"/>
              </a:rPr>
              <a:t>// student ID</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double average[SIZE]; </a:t>
            </a:r>
            <a:r>
              <a:rPr lang="en-US" altLang="en-US" sz="2800" b="1" dirty="0">
                <a:solidFill>
                  <a:srgbClr val="00B050"/>
                </a:solidFill>
                <a:latin typeface="Courier New" panose="02070309020205020404" pitchFamily="49" charset="0"/>
              </a:rPr>
              <a:t>// course average</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char grade[SIZE];     </a:t>
            </a:r>
            <a:r>
              <a:rPr lang="en-US" altLang="en-US" sz="2800" b="1" dirty="0">
                <a:solidFill>
                  <a:srgbClr val="00B050"/>
                </a:solidFill>
                <a:latin typeface="Courier New" panose="02070309020205020404" pitchFamily="49" charset="0"/>
              </a:rPr>
              <a:t>// course grade</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for(int i = 0; i &lt; SIZE; i++) {</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     cout &lt;&lt; "Student ID: " &lt;&lt; id[i]</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          &lt;&lt; " average: " &lt;&lt; average[i]</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          &lt;&lt; " grade: " &lt;&lt; grade[i]</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          &lt;&lt; endl;</a:t>
            </a:r>
          </a:p>
          <a:p>
            <a:pPr>
              <a:lnSpc>
                <a:spcPct val="80000"/>
              </a:lnSpc>
              <a:buFont typeface="Times" panose="02020603050405020304" pitchFamily="18" charset="0"/>
              <a:buNone/>
            </a:pPr>
            <a:r>
              <a:rPr lang="en-US" altLang="en-US" sz="2800" b="1" dirty="0">
                <a:solidFill>
                  <a:schemeClr val="bg1"/>
                </a:solidFill>
                <a:latin typeface="Courier New" panose="02070309020205020404" pitchFamily="49" charset="0"/>
              </a:rPr>
              <a:t>}</a:t>
            </a:r>
          </a:p>
          <a:p>
            <a:pPr marL="0" indent="0">
              <a:buNone/>
            </a:pPr>
            <a:endParaRPr lang="en-US" altLang="en-US" sz="2800" dirty="0">
              <a:solidFill>
                <a:schemeClr val="bg1"/>
              </a:solidFill>
            </a:endParaRPr>
          </a:p>
        </p:txBody>
      </p:sp>
      <p:sp>
        <p:nvSpPr>
          <p:cNvPr id="2" name="TextBox 1">
            <a:extLst>
              <a:ext uri="{FF2B5EF4-FFF2-40B4-BE49-F238E27FC236}">
                <a16:creationId xmlns:a16="http://schemas.microsoft.com/office/drawing/2014/main" id="{6A85BABC-C247-9ADC-D042-2F0D35F528F3}"/>
              </a:ext>
            </a:extLst>
          </p:cNvPr>
          <p:cNvSpPr txBox="1"/>
          <p:nvPr/>
        </p:nvSpPr>
        <p:spPr>
          <a:xfrm>
            <a:off x="9132570" y="1600200"/>
            <a:ext cx="2819400" cy="1815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2800" dirty="0">
                <a:solidFill>
                  <a:schemeClr val="bg1"/>
                </a:solidFill>
              </a:rPr>
              <a:t>In this example, id, average, and grade are parallel arrays.  </a:t>
            </a:r>
          </a:p>
        </p:txBody>
      </p:sp>
    </p:spTree>
    <p:extLst>
      <p:ext uri="{BB962C8B-B14F-4D97-AF65-F5344CB8AC3E}">
        <p14:creationId xmlns:p14="http://schemas.microsoft.com/office/powerpoint/2010/main" val="26716794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7086600" y="2057400"/>
            <a:ext cx="4876800" cy="27432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Two-Dimensional Arrays</a:t>
            </a:r>
          </a:p>
        </p:txBody>
      </p:sp>
      <p:pic>
        <p:nvPicPr>
          <p:cNvPr id="4" name="Picture 3" descr="A squirrel wearing glasses and a hoodie using a computer">
            <a:extLst>
              <a:ext uri="{FF2B5EF4-FFF2-40B4-BE49-F238E27FC236}">
                <a16:creationId xmlns:a16="http://schemas.microsoft.com/office/drawing/2014/main" id="{2A48F9A3-0B5B-756C-1067-03FC8F5E8D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876170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What are Two-Dimensional Arrays?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r>
              <a:rPr lang="en-US" altLang="en-US" sz="2800" dirty="0">
                <a:solidFill>
                  <a:schemeClr val="bg1"/>
                </a:solidFill>
              </a:rPr>
              <a:t>You may define one array for multiple sets of data.</a:t>
            </a:r>
          </a:p>
          <a:p>
            <a:r>
              <a:rPr lang="en-US" altLang="en-US" sz="2800" dirty="0">
                <a:solidFill>
                  <a:schemeClr val="bg1"/>
                </a:solidFill>
              </a:rPr>
              <a:t>A </a:t>
            </a:r>
            <a:r>
              <a:rPr lang="en-US" altLang="en-US" sz="2800" b="1" dirty="0">
                <a:solidFill>
                  <a:schemeClr val="bg1"/>
                </a:solidFill>
                <a:highlight>
                  <a:srgbClr val="FFFF00"/>
                </a:highlight>
              </a:rPr>
              <a:t>2D array</a:t>
            </a:r>
            <a:r>
              <a:rPr lang="en-US" altLang="en-US" sz="2800" dirty="0">
                <a:solidFill>
                  <a:schemeClr val="bg1"/>
                </a:solidFill>
              </a:rPr>
              <a:t> is like a table in a spreadsheet.</a:t>
            </a:r>
          </a:p>
          <a:p>
            <a:r>
              <a:rPr lang="en-US" altLang="en-US" sz="2800" dirty="0">
                <a:solidFill>
                  <a:schemeClr val="bg1"/>
                </a:solidFill>
              </a:rPr>
              <a:t>To define a two-dimensional array, use two size declarators in the variable definition:</a:t>
            </a:r>
            <a:br>
              <a:rPr lang="en-US" altLang="en-US" sz="2800" dirty="0">
                <a:solidFill>
                  <a:schemeClr val="bg1"/>
                </a:solidFill>
              </a:rPr>
            </a:br>
            <a:r>
              <a:rPr lang="en-US" altLang="en-US" sz="2800" b="1" dirty="0">
                <a:solidFill>
                  <a:srgbClr val="0070C0"/>
                </a:solidFill>
                <a:latin typeface="Courier New" panose="02070309020205020404" pitchFamily="49" charset="0"/>
                <a:cs typeface="Courier New" panose="02070309020205020404" pitchFamily="49" charset="0"/>
              </a:rPr>
              <a:t>const int </a:t>
            </a:r>
            <a:r>
              <a:rPr lang="en-US" altLang="en-US" sz="2800" b="1" dirty="0">
                <a:solidFill>
                  <a:schemeClr val="bg1"/>
                </a:solidFill>
                <a:latin typeface="Courier New" panose="02070309020205020404" pitchFamily="49" charset="0"/>
                <a:cs typeface="Courier New" panose="02070309020205020404" pitchFamily="49" charset="0"/>
              </a:rPr>
              <a:t>ROWS = </a:t>
            </a:r>
            <a:r>
              <a:rPr lang="en-US" altLang="en-US" sz="2800" b="1" dirty="0">
                <a:solidFill>
                  <a:schemeClr val="accent6"/>
                </a:solidFill>
                <a:latin typeface="Courier New" panose="02070309020205020404" pitchFamily="49" charset="0"/>
                <a:cs typeface="Courier New" panose="02070309020205020404" pitchFamily="49" charset="0"/>
              </a:rPr>
              <a:t>4</a:t>
            </a:r>
            <a:r>
              <a:rPr lang="en-US" altLang="en-US" sz="2800" b="1" dirty="0">
                <a:solidFill>
                  <a:schemeClr val="bg1"/>
                </a:solidFill>
                <a:latin typeface="Courier New" panose="02070309020205020404" pitchFamily="49" charset="0"/>
                <a:cs typeface="Courier New" panose="02070309020205020404" pitchFamily="49" charset="0"/>
              </a:rPr>
              <a:t>, COLS = </a:t>
            </a:r>
            <a:r>
              <a:rPr lang="en-US" altLang="en-US" sz="2800" b="1" dirty="0">
                <a:solidFill>
                  <a:schemeClr val="accent6"/>
                </a:solidFill>
                <a:latin typeface="Courier New" panose="02070309020205020404" pitchFamily="49" charset="0"/>
                <a:cs typeface="Courier New" panose="02070309020205020404" pitchFamily="49" charset="0"/>
              </a:rPr>
              <a:t>3</a:t>
            </a: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 exams[ROWS][COLS];</a:t>
            </a:r>
          </a:p>
          <a:p>
            <a:r>
              <a:rPr lang="en-US" altLang="en-US" sz="2800" dirty="0">
                <a:solidFill>
                  <a:schemeClr val="bg1"/>
                </a:solidFill>
              </a:rPr>
              <a:t>The first declarator is always the number of rows and the second size declarator is always the number of columns.</a:t>
            </a:r>
          </a:p>
          <a:p>
            <a:endParaRPr lang="en-US" altLang="en-US" sz="2800" dirty="0">
              <a:solidFill>
                <a:schemeClr val="bg1"/>
              </a:solidFill>
            </a:endParaRPr>
          </a:p>
        </p:txBody>
      </p:sp>
    </p:spTree>
    <p:extLst>
      <p:ext uri="{BB962C8B-B14F-4D97-AF65-F5344CB8AC3E}">
        <p14:creationId xmlns:p14="http://schemas.microsoft.com/office/powerpoint/2010/main" val="4125154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Two-Dimensional Array Declaration</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pPr marL="0" indent="0">
              <a:buNone/>
            </a:pPr>
            <a:r>
              <a:rPr lang="en-US" altLang="en-US" sz="2800" b="1" dirty="0">
                <a:solidFill>
                  <a:srgbClr val="0070C0"/>
                </a:solidFill>
                <a:latin typeface="Courier New" panose="02070309020205020404" pitchFamily="49" charset="0"/>
                <a:cs typeface="Courier New" panose="02070309020205020404" pitchFamily="49" charset="0"/>
              </a:rPr>
              <a:t>const int </a:t>
            </a:r>
            <a:r>
              <a:rPr lang="en-US" altLang="en-US" sz="2800" b="1" dirty="0">
                <a:solidFill>
                  <a:schemeClr val="bg1"/>
                </a:solidFill>
                <a:latin typeface="Courier New" panose="02070309020205020404" pitchFamily="49" charset="0"/>
                <a:cs typeface="Courier New" panose="02070309020205020404" pitchFamily="49" charset="0"/>
              </a:rPr>
              <a:t>ROWS = </a:t>
            </a:r>
            <a:r>
              <a:rPr lang="en-US" altLang="en-US" sz="2800" b="1" dirty="0">
                <a:solidFill>
                  <a:schemeClr val="accent6"/>
                </a:solidFill>
                <a:latin typeface="Courier New" panose="02070309020205020404" pitchFamily="49" charset="0"/>
                <a:cs typeface="Courier New" panose="02070309020205020404" pitchFamily="49" charset="0"/>
              </a:rPr>
              <a:t>4</a:t>
            </a:r>
            <a:r>
              <a:rPr lang="en-US" altLang="en-US" sz="2800" b="1" dirty="0">
                <a:solidFill>
                  <a:schemeClr val="bg1"/>
                </a:solidFill>
                <a:latin typeface="Courier New" panose="02070309020205020404" pitchFamily="49" charset="0"/>
                <a:cs typeface="Courier New" panose="02070309020205020404" pitchFamily="49" charset="0"/>
              </a:rPr>
              <a:t>, COLS = </a:t>
            </a:r>
            <a:r>
              <a:rPr lang="en-US" altLang="en-US" sz="2800" b="1" dirty="0">
                <a:solidFill>
                  <a:schemeClr val="accent6"/>
                </a:solidFill>
                <a:latin typeface="Courier New" panose="02070309020205020404" pitchFamily="49" charset="0"/>
                <a:cs typeface="Courier New" panose="02070309020205020404" pitchFamily="49" charset="0"/>
              </a:rPr>
              <a:t>3</a:t>
            </a: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 exams[ROWS][COLS];</a:t>
            </a:r>
          </a:p>
          <a:p>
            <a:pPr marL="0" indent="0">
              <a:buNone/>
            </a:pPr>
            <a:endParaRPr lang="en-US" altLang="en-US" sz="2800" dirty="0">
              <a:solidFill>
                <a:schemeClr val="bg1"/>
              </a:solidFill>
            </a:endParaRPr>
          </a:p>
        </p:txBody>
      </p:sp>
      <p:sp>
        <p:nvSpPr>
          <p:cNvPr id="2" name="Text Box 26">
            <a:extLst>
              <a:ext uri="{FF2B5EF4-FFF2-40B4-BE49-F238E27FC236}">
                <a16:creationId xmlns:a16="http://schemas.microsoft.com/office/drawing/2014/main" id="{17E4FCF8-D06A-31CB-4BCC-5B065E3B8C2B}"/>
              </a:ext>
            </a:extLst>
          </p:cNvPr>
          <p:cNvSpPr txBox="1">
            <a:spLocks noChangeArrowheads="1"/>
          </p:cNvSpPr>
          <p:nvPr/>
        </p:nvSpPr>
        <p:spPr bwMode="auto">
          <a:xfrm>
            <a:off x="4947373" y="3134380"/>
            <a:ext cx="145905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chemeClr val="bg1"/>
                </a:solidFill>
                <a:latin typeface="+mn-lt"/>
              </a:rPr>
              <a:t>columns</a:t>
            </a:r>
          </a:p>
        </p:txBody>
      </p:sp>
      <p:sp>
        <p:nvSpPr>
          <p:cNvPr id="3" name="Text Box 27">
            <a:extLst>
              <a:ext uri="{FF2B5EF4-FFF2-40B4-BE49-F238E27FC236}">
                <a16:creationId xmlns:a16="http://schemas.microsoft.com/office/drawing/2014/main" id="{3DF1EF5F-BC5C-9614-404F-F1590654CD65}"/>
              </a:ext>
            </a:extLst>
          </p:cNvPr>
          <p:cNvSpPr txBox="1">
            <a:spLocks noChangeArrowheads="1"/>
          </p:cNvSpPr>
          <p:nvPr/>
        </p:nvSpPr>
        <p:spPr bwMode="auto">
          <a:xfrm>
            <a:off x="2282730" y="3736751"/>
            <a:ext cx="460382" cy="1479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80000"/>
              </a:lnSpc>
              <a:spcBef>
                <a:spcPct val="0"/>
              </a:spcBef>
              <a:buFontTx/>
              <a:buNone/>
            </a:pPr>
            <a:r>
              <a:rPr lang="en-US" altLang="en-US" sz="2800" dirty="0">
                <a:solidFill>
                  <a:schemeClr val="bg1"/>
                </a:solidFill>
                <a:latin typeface="+mn-lt"/>
              </a:rPr>
              <a:t>r</a:t>
            </a:r>
          </a:p>
          <a:p>
            <a:pPr algn="ctr" eaLnBrk="1" hangingPunct="1">
              <a:lnSpc>
                <a:spcPct val="80000"/>
              </a:lnSpc>
              <a:spcBef>
                <a:spcPct val="0"/>
              </a:spcBef>
              <a:buFontTx/>
              <a:buNone/>
            </a:pPr>
            <a:r>
              <a:rPr lang="en-US" altLang="en-US" sz="2800" dirty="0">
                <a:solidFill>
                  <a:schemeClr val="bg1"/>
                </a:solidFill>
                <a:latin typeface="+mn-lt"/>
              </a:rPr>
              <a:t>o</a:t>
            </a:r>
          </a:p>
          <a:p>
            <a:pPr algn="ctr" eaLnBrk="1" hangingPunct="1">
              <a:lnSpc>
                <a:spcPct val="80000"/>
              </a:lnSpc>
              <a:spcBef>
                <a:spcPct val="0"/>
              </a:spcBef>
              <a:buFontTx/>
              <a:buNone/>
            </a:pPr>
            <a:r>
              <a:rPr lang="en-US" altLang="en-US" sz="2800" dirty="0">
                <a:solidFill>
                  <a:schemeClr val="bg1"/>
                </a:solidFill>
                <a:latin typeface="+mn-lt"/>
              </a:rPr>
              <a:t>w</a:t>
            </a:r>
          </a:p>
          <a:p>
            <a:pPr algn="ctr" eaLnBrk="1" hangingPunct="1">
              <a:lnSpc>
                <a:spcPct val="80000"/>
              </a:lnSpc>
              <a:spcBef>
                <a:spcPct val="0"/>
              </a:spcBef>
              <a:buFontTx/>
              <a:buNone/>
            </a:pPr>
            <a:r>
              <a:rPr lang="en-US" altLang="en-US" sz="2800" dirty="0">
                <a:solidFill>
                  <a:schemeClr val="bg1"/>
                </a:solidFill>
                <a:latin typeface="+mn-lt"/>
              </a:rPr>
              <a:t>s</a:t>
            </a:r>
            <a:endParaRPr lang="en-US" altLang="en-US" sz="2000" dirty="0">
              <a:solidFill>
                <a:schemeClr val="bg1"/>
              </a:solidFill>
              <a:latin typeface="+mn-lt"/>
            </a:endParaRPr>
          </a:p>
        </p:txBody>
      </p:sp>
      <p:graphicFrame>
        <p:nvGraphicFramePr>
          <p:cNvPr id="5" name="Table 4">
            <a:extLst>
              <a:ext uri="{FF2B5EF4-FFF2-40B4-BE49-F238E27FC236}">
                <a16:creationId xmlns:a16="http://schemas.microsoft.com/office/drawing/2014/main" id="{39F64B7D-414F-14D9-0E79-106E9EA64FF0}"/>
              </a:ext>
            </a:extLst>
          </p:cNvPr>
          <p:cNvGraphicFramePr>
            <a:graphicFrameLocks noGrp="1"/>
          </p:cNvGraphicFramePr>
          <p:nvPr>
            <p:extLst>
              <p:ext uri="{D42A27DB-BD31-4B8C-83A1-F6EECF244321}">
                <p14:modId xmlns:p14="http://schemas.microsoft.com/office/powerpoint/2010/main" val="762985626"/>
              </p:ext>
            </p:extLst>
          </p:nvPr>
        </p:nvGraphicFramePr>
        <p:xfrm>
          <a:off x="2819400" y="3657600"/>
          <a:ext cx="5715000" cy="1758964"/>
        </p:xfrm>
        <a:graphic>
          <a:graphicData uri="http://schemas.openxmlformats.org/drawingml/2006/table">
            <a:tbl>
              <a:tblPr firstRow="1">
                <a:tableStyleId>{E269D01E-BC32-4049-B463-5C60D7B0CCD2}</a:tableStyleId>
              </a:tblPr>
              <a:tblGrid>
                <a:gridCol w="1905000">
                  <a:extLst>
                    <a:ext uri="{9D8B030D-6E8A-4147-A177-3AD203B41FA5}">
                      <a16:colId xmlns:a16="http://schemas.microsoft.com/office/drawing/2014/main" val="2704955395"/>
                    </a:ext>
                  </a:extLst>
                </a:gridCol>
                <a:gridCol w="1905000">
                  <a:extLst>
                    <a:ext uri="{9D8B030D-6E8A-4147-A177-3AD203B41FA5}">
                      <a16:colId xmlns:a16="http://schemas.microsoft.com/office/drawing/2014/main" val="109810351"/>
                    </a:ext>
                  </a:extLst>
                </a:gridCol>
                <a:gridCol w="1905000">
                  <a:extLst>
                    <a:ext uri="{9D8B030D-6E8A-4147-A177-3AD203B41FA5}">
                      <a16:colId xmlns:a16="http://schemas.microsoft.com/office/drawing/2014/main" val="2412206620"/>
                    </a:ext>
                  </a:extLst>
                </a:gridCol>
              </a:tblGrid>
              <a:tr h="47129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exams[0][0]</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exams[0][1]</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exams[0][2]</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315790"/>
                  </a:ext>
                </a:extLst>
              </a:tr>
              <a:tr h="4649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exams[1][0]</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exams[1][1]</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exams[1][2]</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660970"/>
                  </a:ext>
                </a:extLst>
              </a:tr>
              <a:tr h="45700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exams[2][0]</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exams[2][1]</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exams[2][2]</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2302558"/>
                  </a:ext>
                </a:extLst>
              </a:tr>
              <a:tr h="365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exams[3][0]</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exams[3][1]</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exams[3][2]</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054593"/>
                  </a:ext>
                </a:extLst>
              </a:tr>
            </a:tbl>
          </a:graphicData>
        </a:graphic>
      </p:graphicFrame>
    </p:spTree>
    <p:extLst>
      <p:ext uri="{BB962C8B-B14F-4D97-AF65-F5344CB8AC3E}">
        <p14:creationId xmlns:p14="http://schemas.microsoft.com/office/powerpoint/2010/main" val="20094117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Assigning a Value in a 2D Array</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0515600" cy="5079374"/>
          </a:xfrm>
        </p:spPr>
        <p:txBody>
          <a:bodyPr>
            <a:normAutofit/>
          </a:bodyPr>
          <a:lstStyle/>
          <a:p>
            <a:pPr marL="0" indent="0">
              <a:buNone/>
            </a:pPr>
            <a:r>
              <a:rPr lang="en-US" altLang="en-US" sz="2800" b="1" dirty="0">
                <a:solidFill>
                  <a:srgbClr val="0070C0"/>
                </a:solidFill>
                <a:latin typeface="Courier New" panose="02070309020205020404" pitchFamily="49" charset="0"/>
                <a:cs typeface="Courier New" panose="02070309020205020404" pitchFamily="49" charset="0"/>
              </a:rPr>
              <a:t>const int </a:t>
            </a:r>
            <a:r>
              <a:rPr lang="en-US" altLang="en-US" sz="2800" b="1" dirty="0">
                <a:solidFill>
                  <a:schemeClr val="bg1"/>
                </a:solidFill>
                <a:latin typeface="Courier New" panose="02070309020205020404" pitchFamily="49" charset="0"/>
                <a:cs typeface="Courier New" panose="02070309020205020404" pitchFamily="49" charset="0"/>
              </a:rPr>
              <a:t>ROWS = </a:t>
            </a:r>
            <a:r>
              <a:rPr lang="en-US" altLang="en-US" sz="2800" b="1" dirty="0">
                <a:solidFill>
                  <a:schemeClr val="accent6"/>
                </a:solidFill>
                <a:latin typeface="Courier New" panose="02070309020205020404" pitchFamily="49" charset="0"/>
                <a:cs typeface="Courier New" panose="02070309020205020404" pitchFamily="49" charset="0"/>
              </a:rPr>
              <a:t>4</a:t>
            </a:r>
            <a:r>
              <a:rPr lang="en-US" altLang="en-US" sz="2800" b="1" dirty="0">
                <a:solidFill>
                  <a:schemeClr val="bg1"/>
                </a:solidFill>
                <a:latin typeface="Courier New" panose="02070309020205020404" pitchFamily="49" charset="0"/>
                <a:cs typeface="Courier New" panose="02070309020205020404" pitchFamily="49" charset="0"/>
              </a:rPr>
              <a:t>, COLS = </a:t>
            </a:r>
            <a:r>
              <a:rPr lang="en-US" altLang="en-US" sz="2800" b="1" dirty="0">
                <a:solidFill>
                  <a:schemeClr val="accent6"/>
                </a:solidFill>
                <a:latin typeface="Courier New" panose="02070309020205020404" pitchFamily="49" charset="0"/>
                <a:cs typeface="Courier New" panose="02070309020205020404" pitchFamily="49" charset="0"/>
              </a:rPr>
              <a:t>3</a:t>
            </a: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 exams[ROWS][COLS];</a:t>
            </a:r>
          </a:p>
          <a:p>
            <a:pPr marL="0" indent="0">
              <a:buNone/>
            </a:pPr>
            <a:r>
              <a:rPr lang="en-US" altLang="en-US" sz="2800" dirty="0">
                <a:solidFill>
                  <a:schemeClr val="bg1"/>
                </a:solidFill>
                <a:cs typeface="Courier New" panose="02070309020205020404" pitchFamily="49" charset="0"/>
              </a:rPr>
              <a:t>Use two indexes to access element:</a:t>
            </a: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exams[</a:t>
            </a:r>
            <a:r>
              <a:rPr lang="en-US" altLang="en-US" sz="2800" b="1" dirty="0">
                <a:solidFill>
                  <a:schemeClr val="accent6"/>
                </a:solidFill>
                <a:latin typeface="Courier New" panose="02070309020205020404" pitchFamily="49" charset="0"/>
                <a:cs typeface="Courier New" panose="02070309020205020404" pitchFamily="49" charset="0"/>
              </a:rPr>
              <a:t>2</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chemeClr val="accent6"/>
                </a:solidFill>
                <a:latin typeface="Courier New" panose="02070309020205020404" pitchFamily="49" charset="0"/>
                <a:cs typeface="Courier New" panose="02070309020205020404" pitchFamily="49" charset="0"/>
              </a:rPr>
              <a:t>2</a:t>
            </a:r>
            <a:r>
              <a:rPr lang="en-US" altLang="en-US" sz="2800" b="1" dirty="0">
                <a:solidFill>
                  <a:schemeClr val="bg1"/>
                </a:solidFill>
                <a:latin typeface="Courier New" panose="02070309020205020404" pitchFamily="49" charset="0"/>
                <a:cs typeface="Courier New" panose="02070309020205020404" pitchFamily="49" charset="0"/>
              </a:rPr>
              <a:t>] = </a:t>
            </a:r>
            <a:r>
              <a:rPr lang="en-US" altLang="en-US" sz="2800" b="1" dirty="0">
                <a:solidFill>
                  <a:schemeClr val="accent6"/>
                </a:solidFill>
                <a:latin typeface="Courier New" panose="02070309020205020404" pitchFamily="49" charset="0"/>
                <a:cs typeface="Courier New" panose="02070309020205020404" pitchFamily="49" charset="0"/>
              </a:rPr>
              <a:t>86</a:t>
            </a:r>
            <a:r>
              <a:rPr lang="en-US" altLang="en-US" sz="2800" b="1" dirty="0">
                <a:solidFill>
                  <a:schemeClr val="bg1"/>
                </a:solidFill>
                <a:latin typeface="Courier New" panose="02070309020205020404" pitchFamily="49" charset="0"/>
                <a:cs typeface="Courier New" panose="02070309020205020404" pitchFamily="49" charset="0"/>
              </a:rPr>
              <a:t>;</a:t>
            </a:r>
          </a:p>
          <a:p>
            <a:pPr marL="0" indent="0">
              <a:buNone/>
            </a:pPr>
            <a:endParaRPr lang="en-US" altLang="en-US" sz="2800" dirty="0">
              <a:solidFill>
                <a:schemeClr val="bg1"/>
              </a:solidFill>
            </a:endParaRPr>
          </a:p>
        </p:txBody>
      </p:sp>
      <p:sp>
        <p:nvSpPr>
          <p:cNvPr id="2" name="Text Box 26">
            <a:extLst>
              <a:ext uri="{FF2B5EF4-FFF2-40B4-BE49-F238E27FC236}">
                <a16:creationId xmlns:a16="http://schemas.microsoft.com/office/drawing/2014/main" id="{17E4FCF8-D06A-31CB-4BCC-5B065E3B8C2B}"/>
              </a:ext>
            </a:extLst>
          </p:cNvPr>
          <p:cNvSpPr txBox="1">
            <a:spLocks noChangeArrowheads="1"/>
          </p:cNvSpPr>
          <p:nvPr/>
        </p:nvSpPr>
        <p:spPr bwMode="auto">
          <a:xfrm>
            <a:off x="5099773" y="4124980"/>
            <a:ext cx="145905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chemeClr val="bg1"/>
                </a:solidFill>
                <a:latin typeface="+mn-lt"/>
              </a:rPr>
              <a:t>columns</a:t>
            </a:r>
          </a:p>
        </p:txBody>
      </p:sp>
      <p:sp>
        <p:nvSpPr>
          <p:cNvPr id="3" name="Text Box 27">
            <a:extLst>
              <a:ext uri="{FF2B5EF4-FFF2-40B4-BE49-F238E27FC236}">
                <a16:creationId xmlns:a16="http://schemas.microsoft.com/office/drawing/2014/main" id="{3DF1EF5F-BC5C-9614-404F-F1590654CD65}"/>
              </a:ext>
            </a:extLst>
          </p:cNvPr>
          <p:cNvSpPr txBox="1">
            <a:spLocks noChangeArrowheads="1"/>
          </p:cNvSpPr>
          <p:nvPr/>
        </p:nvSpPr>
        <p:spPr bwMode="auto">
          <a:xfrm>
            <a:off x="2435130" y="4727351"/>
            <a:ext cx="460382" cy="1479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80000"/>
              </a:lnSpc>
              <a:spcBef>
                <a:spcPct val="0"/>
              </a:spcBef>
              <a:buFontTx/>
              <a:buNone/>
            </a:pPr>
            <a:r>
              <a:rPr lang="en-US" altLang="en-US" sz="2800" dirty="0">
                <a:solidFill>
                  <a:schemeClr val="bg1"/>
                </a:solidFill>
                <a:latin typeface="+mn-lt"/>
              </a:rPr>
              <a:t>r</a:t>
            </a:r>
          </a:p>
          <a:p>
            <a:pPr algn="ctr" eaLnBrk="1" hangingPunct="1">
              <a:lnSpc>
                <a:spcPct val="80000"/>
              </a:lnSpc>
              <a:spcBef>
                <a:spcPct val="0"/>
              </a:spcBef>
              <a:buFontTx/>
              <a:buNone/>
            </a:pPr>
            <a:r>
              <a:rPr lang="en-US" altLang="en-US" sz="2800" dirty="0">
                <a:solidFill>
                  <a:schemeClr val="bg1"/>
                </a:solidFill>
                <a:latin typeface="+mn-lt"/>
              </a:rPr>
              <a:t>o</a:t>
            </a:r>
          </a:p>
          <a:p>
            <a:pPr algn="ctr" eaLnBrk="1" hangingPunct="1">
              <a:lnSpc>
                <a:spcPct val="80000"/>
              </a:lnSpc>
              <a:spcBef>
                <a:spcPct val="0"/>
              </a:spcBef>
              <a:buFontTx/>
              <a:buNone/>
            </a:pPr>
            <a:r>
              <a:rPr lang="en-US" altLang="en-US" sz="2800" dirty="0">
                <a:solidFill>
                  <a:schemeClr val="bg1"/>
                </a:solidFill>
                <a:latin typeface="+mn-lt"/>
              </a:rPr>
              <a:t>w</a:t>
            </a:r>
          </a:p>
          <a:p>
            <a:pPr algn="ctr" eaLnBrk="1" hangingPunct="1">
              <a:lnSpc>
                <a:spcPct val="80000"/>
              </a:lnSpc>
              <a:spcBef>
                <a:spcPct val="0"/>
              </a:spcBef>
              <a:buFontTx/>
              <a:buNone/>
            </a:pPr>
            <a:r>
              <a:rPr lang="en-US" altLang="en-US" sz="2800" dirty="0">
                <a:solidFill>
                  <a:schemeClr val="bg1"/>
                </a:solidFill>
                <a:latin typeface="+mn-lt"/>
              </a:rPr>
              <a:t>s</a:t>
            </a:r>
            <a:endParaRPr lang="en-US" altLang="en-US" sz="2000" dirty="0">
              <a:solidFill>
                <a:schemeClr val="bg1"/>
              </a:solidFill>
              <a:latin typeface="+mn-lt"/>
            </a:endParaRPr>
          </a:p>
        </p:txBody>
      </p:sp>
      <p:graphicFrame>
        <p:nvGraphicFramePr>
          <p:cNvPr id="5" name="Table 4">
            <a:extLst>
              <a:ext uri="{FF2B5EF4-FFF2-40B4-BE49-F238E27FC236}">
                <a16:creationId xmlns:a16="http://schemas.microsoft.com/office/drawing/2014/main" id="{39F64B7D-414F-14D9-0E79-106E9EA64FF0}"/>
              </a:ext>
            </a:extLst>
          </p:cNvPr>
          <p:cNvGraphicFramePr>
            <a:graphicFrameLocks noGrp="1"/>
          </p:cNvGraphicFramePr>
          <p:nvPr>
            <p:extLst>
              <p:ext uri="{D42A27DB-BD31-4B8C-83A1-F6EECF244321}">
                <p14:modId xmlns:p14="http://schemas.microsoft.com/office/powerpoint/2010/main" val="593047040"/>
              </p:ext>
            </p:extLst>
          </p:nvPr>
        </p:nvGraphicFramePr>
        <p:xfrm>
          <a:off x="2971800" y="4648200"/>
          <a:ext cx="5715000" cy="1758964"/>
        </p:xfrm>
        <a:graphic>
          <a:graphicData uri="http://schemas.openxmlformats.org/drawingml/2006/table">
            <a:tbl>
              <a:tblPr firstRow="1">
                <a:tableStyleId>{E269D01E-BC32-4049-B463-5C60D7B0CCD2}</a:tableStyleId>
              </a:tblPr>
              <a:tblGrid>
                <a:gridCol w="1905000">
                  <a:extLst>
                    <a:ext uri="{9D8B030D-6E8A-4147-A177-3AD203B41FA5}">
                      <a16:colId xmlns:a16="http://schemas.microsoft.com/office/drawing/2014/main" val="2704955395"/>
                    </a:ext>
                  </a:extLst>
                </a:gridCol>
                <a:gridCol w="1905000">
                  <a:extLst>
                    <a:ext uri="{9D8B030D-6E8A-4147-A177-3AD203B41FA5}">
                      <a16:colId xmlns:a16="http://schemas.microsoft.com/office/drawing/2014/main" val="109810351"/>
                    </a:ext>
                  </a:extLst>
                </a:gridCol>
                <a:gridCol w="1905000">
                  <a:extLst>
                    <a:ext uri="{9D8B030D-6E8A-4147-A177-3AD203B41FA5}">
                      <a16:colId xmlns:a16="http://schemas.microsoft.com/office/drawing/2014/main" val="2412206620"/>
                    </a:ext>
                  </a:extLst>
                </a:gridCol>
              </a:tblGrid>
              <a:tr h="47129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exams[0][0]</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exams[0][1]</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exams[0][2]</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315790"/>
                  </a:ext>
                </a:extLst>
              </a:tr>
              <a:tr h="4649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exams[1][0]</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exams[1][1]</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exams[1][2]</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660970"/>
                  </a:ext>
                </a:extLst>
              </a:tr>
              <a:tr h="45700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a:ln>
                            <a:noFill/>
                          </a:ln>
                          <a:solidFill>
                            <a:schemeClr val="bg1"/>
                          </a:solidFill>
                          <a:effectLst/>
                        </a:rPr>
                        <a:t>exams[2][0]</a:t>
                      </a:r>
                      <a:endParaRPr kumimoji="0" lang="en-US" sz="1800" b="1" i="0" u="none" strike="noStrike" cap="none" normalizeH="0" baseline="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exams[2][1]</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bg1"/>
                          </a:solidFill>
                          <a:effectLst/>
                          <a:latin typeface="Courier New" pitchFamily="-16" charset="0"/>
                          <a:ea typeface="ヒラギノ角ゴ Pro W3" pitchFamily="-16" charset="-128"/>
                        </a:rPr>
                        <a:t>86</a:t>
                      </a: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DD00"/>
                    </a:solidFill>
                  </a:tcPr>
                </a:tc>
                <a:extLst>
                  <a:ext uri="{0D108BD9-81ED-4DB2-BD59-A6C34878D82A}">
                    <a16:rowId xmlns:a16="http://schemas.microsoft.com/office/drawing/2014/main" val="4102302558"/>
                  </a:ext>
                </a:extLst>
              </a:tr>
              <a:tr h="365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exams[3][0]</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exams[3][1]</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solidFill>
                            <a:schemeClr val="bg1"/>
                          </a:solidFill>
                          <a:effectLst/>
                        </a:rPr>
                        <a:t>exams[3][2]</a:t>
                      </a:r>
                      <a:endParaRPr kumimoji="0" lang="en-US" sz="1800" b="1" i="0" u="none" strike="noStrike" cap="none" normalizeH="0" baseline="0" dirty="0">
                        <a:ln>
                          <a:noFill/>
                        </a:ln>
                        <a:solidFill>
                          <a:schemeClr val="bg1"/>
                        </a:solidFill>
                        <a:effectLst/>
                        <a:latin typeface="Courier New" pitchFamily="-16" charset="0"/>
                        <a:ea typeface="ヒラギノ角ゴ Pro W3" pitchFamily="-16" charset="-128"/>
                      </a:endParaRPr>
                    </a:p>
                  </a:txBody>
                  <a:tcPr marT="45700" marB="4570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054593"/>
                  </a:ext>
                </a:extLst>
              </a:tr>
            </a:tbl>
          </a:graphicData>
        </a:graphic>
      </p:graphicFrame>
    </p:spTree>
    <p:extLst>
      <p:ext uri="{BB962C8B-B14F-4D97-AF65-F5344CB8AC3E}">
        <p14:creationId xmlns:p14="http://schemas.microsoft.com/office/powerpoint/2010/main" val="3710885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Two-Dimensional Arrays to a Function, slide 1 of 3</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800600" cy="5079374"/>
          </a:xfrm>
        </p:spPr>
        <p:txBody>
          <a:bodyPr>
            <a:normAutofit fontScale="85000" lnSpcReduction="20000"/>
          </a:bodyPr>
          <a:lstStyle/>
          <a:p>
            <a:r>
              <a:rPr lang="en-US" altLang="en-US" sz="2800" dirty="0">
                <a:solidFill>
                  <a:schemeClr val="bg1"/>
                </a:solidFill>
                <a:highlight>
                  <a:srgbClr val="FFFF00"/>
                </a:highlight>
              </a:rPr>
              <a:t>Use global constants for the row &amp; column size declarators. In the function prototype, put the data type of the 2D array and two sets of square brackets with the number of columns in the column size declarator. </a:t>
            </a:r>
          </a:p>
          <a:p>
            <a:r>
              <a:rPr lang="en-US" altLang="en-US" sz="2800" dirty="0">
                <a:solidFill>
                  <a:schemeClr val="tx1">
                    <a:lumMod val="75000"/>
                  </a:schemeClr>
                </a:solidFill>
              </a:rPr>
              <a:t>In the function call statement, you only put the name of the array. Do not put the data type or square brackets.</a:t>
            </a:r>
          </a:p>
          <a:p>
            <a:r>
              <a:rPr lang="en-US" altLang="en-US" sz="2800" dirty="0">
                <a:solidFill>
                  <a:schemeClr val="tx1">
                    <a:lumMod val="75000"/>
                  </a:schemeClr>
                </a:solidFill>
              </a:rPr>
              <a:t>In the function header, you put the data type, name of the array, empty square brackets for rows, and square brackets with the size declarator of the columns.</a:t>
            </a:r>
          </a:p>
          <a:p>
            <a:endParaRPr lang="en-US" altLang="en-US" sz="2800" dirty="0">
              <a:solidFill>
                <a:schemeClr val="tx1">
                  <a:lumMod val="75000"/>
                </a:schemeClr>
              </a:solidFill>
            </a:endParaRPr>
          </a:p>
          <a:p>
            <a:endParaRPr lang="en-US" altLang="en-US" sz="2800" dirty="0">
              <a:solidFill>
                <a:schemeClr val="bg1"/>
              </a:solidFill>
            </a:endParaRPr>
          </a:p>
        </p:txBody>
      </p:sp>
      <p:sp>
        <p:nvSpPr>
          <p:cNvPr id="2" name="Content Placeholder 3">
            <a:extLst>
              <a:ext uri="{FF2B5EF4-FFF2-40B4-BE49-F238E27FC236}">
                <a16:creationId xmlns:a16="http://schemas.microsoft.com/office/drawing/2014/main" id="{6C689D74-E858-B7F1-95E6-02E184A6415C}"/>
              </a:ext>
            </a:extLst>
          </p:cNvPr>
          <p:cNvSpPr txBox="1">
            <a:spLocks/>
          </p:cNvSpPr>
          <p:nvPr/>
        </p:nvSpPr>
        <p:spPr>
          <a:xfrm>
            <a:off x="5334000" y="1598295"/>
            <a:ext cx="6781800" cy="50793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lnSpc>
                <a:spcPct val="100000"/>
              </a:lnSpc>
              <a:buNone/>
            </a:pP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const int ROWS = 2;</a:t>
            </a:r>
            <a:br>
              <a:rPr lang="en-US" altLang="en-US" b="1" dirty="0">
                <a:solidFill>
                  <a:schemeClr val="bg1"/>
                </a:solidFill>
                <a:highlight>
                  <a:srgbClr val="FFFF00"/>
                </a:highlight>
                <a:latin typeface="Courier New" panose="02070309020205020404" pitchFamily="49" charset="0"/>
                <a:cs typeface="Courier New" panose="02070309020205020404" pitchFamily="49" charset="0"/>
              </a:rPr>
            </a:b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const int COLS = 3;</a:t>
            </a:r>
          </a:p>
          <a:p>
            <a:pPr marL="0" indent="0">
              <a:lnSpc>
                <a:spcPct val="100000"/>
              </a:lnSpc>
              <a:buNone/>
            </a:pP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void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printArr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(short[][COLS]);</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int main()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short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[ROWS][COLS] = {{3,6,9},</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{1,4,8}};</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return 0;</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[][COLS])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for(int r=0; r&lt;ROWS; r++)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for(int c=0; c&lt;COLS; </a:t>
            </a:r>
            <a:r>
              <a:rPr lang="en-US" altLang="en-US" b="1" dirty="0" err="1">
                <a:solidFill>
                  <a:schemeClr val="bg1"/>
                </a:solidFill>
                <a:latin typeface="Courier New" panose="02070309020205020404" pitchFamily="49" charset="0"/>
                <a:cs typeface="Courier New" panose="02070309020205020404" pitchFamily="49" charset="0"/>
              </a:rPr>
              <a:t>c++</a:t>
            </a: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cout &lt;&lt;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[r][c] &lt;&lt; endl;</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915710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Two-Dimensional Arrays to a Function, slide 2 of 3</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800600" cy="5079374"/>
          </a:xfrm>
        </p:spPr>
        <p:txBody>
          <a:bodyPr>
            <a:normAutofit fontScale="85000" lnSpcReduction="20000"/>
          </a:bodyPr>
          <a:lstStyle/>
          <a:p>
            <a:r>
              <a:rPr lang="en-US" altLang="en-US" sz="2800" dirty="0">
                <a:solidFill>
                  <a:schemeClr val="tx1">
                    <a:lumMod val="75000"/>
                  </a:schemeClr>
                </a:solidFill>
              </a:rPr>
              <a:t>Use global constants for the row &amp; column size declarators. In the function prototype, put the data type of the 2D array and two sets of square brackets with the number of columns in the column size declarator. </a:t>
            </a:r>
          </a:p>
          <a:p>
            <a:r>
              <a:rPr lang="en-US" altLang="en-US" sz="2800" dirty="0">
                <a:solidFill>
                  <a:schemeClr val="bg1"/>
                </a:solidFill>
                <a:highlight>
                  <a:srgbClr val="FFFF00"/>
                </a:highlight>
              </a:rPr>
              <a:t>In the function call statement, you only put the name of the array. Do not put the data type or square brackets.</a:t>
            </a:r>
          </a:p>
          <a:p>
            <a:r>
              <a:rPr lang="en-US" altLang="en-US" sz="2800" dirty="0">
                <a:solidFill>
                  <a:schemeClr val="tx1">
                    <a:lumMod val="75000"/>
                  </a:schemeClr>
                </a:solidFill>
              </a:rPr>
              <a:t>In the function header, you put the data type, name of the array, empty square brackets for rows, and square brackets with the size declarator of the columns.</a:t>
            </a:r>
          </a:p>
          <a:p>
            <a:endParaRPr lang="en-US" altLang="en-US" sz="2800" dirty="0">
              <a:solidFill>
                <a:schemeClr val="bg1"/>
              </a:solidFill>
            </a:endParaRPr>
          </a:p>
          <a:p>
            <a:endParaRPr lang="en-US" altLang="en-US" sz="2800" dirty="0">
              <a:solidFill>
                <a:schemeClr val="bg1"/>
              </a:solidFill>
            </a:endParaRPr>
          </a:p>
        </p:txBody>
      </p:sp>
      <p:sp>
        <p:nvSpPr>
          <p:cNvPr id="2" name="Content Placeholder 3">
            <a:extLst>
              <a:ext uri="{FF2B5EF4-FFF2-40B4-BE49-F238E27FC236}">
                <a16:creationId xmlns:a16="http://schemas.microsoft.com/office/drawing/2014/main" id="{6C689D74-E858-B7F1-95E6-02E184A6415C}"/>
              </a:ext>
            </a:extLst>
          </p:cNvPr>
          <p:cNvSpPr txBox="1">
            <a:spLocks/>
          </p:cNvSpPr>
          <p:nvPr/>
        </p:nvSpPr>
        <p:spPr>
          <a:xfrm>
            <a:off x="5334000" y="1598295"/>
            <a:ext cx="6781800" cy="50793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const int ROWS = 2;</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const int COLS = 3;</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(short[][COLS]);</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int main()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short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[ROWS][COLS] = {{3,6,9},</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{1,4,8}};</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printArr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return 0;</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[][COLS])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for(int r=0; r&lt;ROWS; r++)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for(int c=0; c&lt;COLS; </a:t>
            </a:r>
            <a:r>
              <a:rPr lang="en-US" altLang="en-US" b="1" dirty="0" err="1">
                <a:solidFill>
                  <a:schemeClr val="bg1"/>
                </a:solidFill>
                <a:latin typeface="Courier New" panose="02070309020205020404" pitchFamily="49" charset="0"/>
                <a:cs typeface="Courier New" panose="02070309020205020404" pitchFamily="49" charset="0"/>
              </a:rPr>
              <a:t>c++</a:t>
            </a: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cout &lt;&lt;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[r][c] &lt;&lt; endl;</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536530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Passing Two-Dimensional Arrays to a Function, slide 3 of 3</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4800600" cy="5079374"/>
          </a:xfrm>
        </p:spPr>
        <p:txBody>
          <a:bodyPr>
            <a:normAutofit fontScale="85000" lnSpcReduction="20000"/>
          </a:bodyPr>
          <a:lstStyle/>
          <a:p>
            <a:r>
              <a:rPr lang="en-US" altLang="en-US" sz="2800" dirty="0">
                <a:solidFill>
                  <a:schemeClr val="tx1">
                    <a:lumMod val="75000"/>
                  </a:schemeClr>
                </a:solidFill>
              </a:rPr>
              <a:t>Use global constants for the row &amp; column size declarators. In the function prototype, put the data type of the 2D array and two sets of square brackets with the number of columns in the column size declarator. </a:t>
            </a:r>
          </a:p>
          <a:p>
            <a:r>
              <a:rPr lang="en-US" altLang="en-US" sz="2800" dirty="0">
                <a:solidFill>
                  <a:schemeClr val="tx1">
                    <a:lumMod val="75000"/>
                  </a:schemeClr>
                </a:solidFill>
              </a:rPr>
              <a:t>In the function call statement, you only put the name of the array. Do not put the data type or square brackets.</a:t>
            </a:r>
          </a:p>
          <a:p>
            <a:r>
              <a:rPr lang="en-US" altLang="en-US" sz="2800" dirty="0">
                <a:solidFill>
                  <a:schemeClr val="bg1"/>
                </a:solidFill>
                <a:highlight>
                  <a:srgbClr val="FFFF00"/>
                </a:highlight>
              </a:rPr>
              <a:t>In the function header, you put the data type, name of the array, empty square brackets for rows, and square brackets with the size declarator of the columns.</a:t>
            </a:r>
          </a:p>
          <a:p>
            <a:endParaRPr lang="en-US" altLang="en-US" sz="2800" dirty="0">
              <a:solidFill>
                <a:schemeClr val="bg1"/>
              </a:solidFill>
            </a:endParaRPr>
          </a:p>
          <a:p>
            <a:endParaRPr lang="en-US" altLang="en-US" sz="2800" dirty="0">
              <a:solidFill>
                <a:schemeClr val="bg1"/>
              </a:solidFill>
            </a:endParaRPr>
          </a:p>
        </p:txBody>
      </p:sp>
      <p:sp>
        <p:nvSpPr>
          <p:cNvPr id="2" name="Content Placeholder 3">
            <a:extLst>
              <a:ext uri="{FF2B5EF4-FFF2-40B4-BE49-F238E27FC236}">
                <a16:creationId xmlns:a16="http://schemas.microsoft.com/office/drawing/2014/main" id="{6C689D74-E858-B7F1-95E6-02E184A6415C}"/>
              </a:ext>
            </a:extLst>
          </p:cNvPr>
          <p:cNvSpPr txBox="1">
            <a:spLocks/>
          </p:cNvSpPr>
          <p:nvPr/>
        </p:nvSpPr>
        <p:spPr>
          <a:xfrm>
            <a:off x="5334000" y="1598295"/>
            <a:ext cx="6781800" cy="50793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a:lstStyle>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const int ROWS = 2;</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const int COLS = 3;</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void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(short[][COLS]);</a:t>
            </a:r>
          </a:p>
          <a:p>
            <a:pPr marL="0" indent="0">
              <a:lnSpc>
                <a:spcPct val="100000"/>
              </a:lnSpc>
              <a:buNone/>
            </a:pPr>
            <a:r>
              <a:rPr lang="en-US" altLang="en-US" b="1" dirty="0">
                <a:solidFill>
                  <a:schemeClr val="bg1"/>
                </a:solidFill>
                <a:latin typeface="Courier New" panose="02070309020205020404" pitchFamily="49" charset="0"/>
                <a:cs typeface="Courier New" panose="02070309020205020404" pitchFamily="49" charset="0"/>
              </a:rPr>
              <a:t>int main()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short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[ROWS][COLS] = {{3,6,9},</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{1,4,8}};</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r>
              <a:rPr lang="en-US" altLang="en-US" b="1" dirty="0" err="1">
                <a:solidFill>
                  <a:schemeClr val="bg1"/>
                </a:solidFill>
                <a:latin typeface="Courier New" panose="02070309020205020404" pitchFamily="49" charset="0"/>
                <a:cs typeface="Courier New" panose="02070309020205020404" pitchFamily="49" charset="0"/>
              </a:rPr>
              <a:t>printArr</a:t>
            </a:r>
            <a:r>
              <a:rPr lang="en-US" altLang="en-US" b="1" dirty="0">
                <a:solidFill>
                  <a:schemeClr val="bg1"/>
                </a:solidFill>
                <a:latin typeface="Courier New" panose="02070309020205020404" pitchFamily="49" charset="0"/>
                <a:cs typeface="Courier New" panose="02070309020205020404" pitchFamily="49" charset="0"/>
              </a:rPr>
              <a:t>(</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return 0;</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a:t>
            </a:r>
          </a:p>
          <a:p>
            <a:pPr marL="0" indent="0">
              <a:lnSpc>
                <a:spcPct val="100000"/>
              </a:lnSpc>
              <a:buNone/>
            </a:pP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void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printArr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(short </a:t>
            </a:r>
            <a:r>
              <a:rPr lang="en-US" altLang="en-US" b="1" dirty="0" err="1">
                <a:solidFill>
                  <a:schemeClr val="bg1"/>
                </a:solidFill>
                <a:highlight>
                  <a:srgbClr val="FFFF00"/>
                </a:highlight>
                <a:latin typeface="Courier New" panose="02070309020205020404" pitchFamily="49" charset="0"/>
                <a:cs typeface="Courier New" panose="02070309020205020404" pitchFamily="49" charset="0"/>
              </a:rPr>
              <a:t>arr</a:t>
            </a:r>
            <a:r>
              <a:rPr lang="en-US" altLang="en-US" b="1" dirty="0">
                <a:solidFill>
                  <a:schemeClr val="bg1"/>
                </a:solidFill>
                <a:highlight>
                  <a:srgbClr val="FFFF00"/>
                </a:highlight>
                <a:latin typeface="Courier New" panose="02070309020205020404" pitchFamily="49" charset="0"/>
                <a:cs typeface="Courier New" panose="02070309020205020404" pitchFamily="49" charset="0"/>
              </a:rPr>
              <a:t>[][COLS]) </a:t>
            </a:r>
            <a:r>
              <a:rPr lang="en-US" altLang="en-US" b="1" dirty="0">
                <a:solidFill>
                  <a:schemeClr val="bg1"/>
                </a:solidFill>
                <a:latin typeface="Courier New" panose="02070309020205020404" pitchFamily="49" charset="0"/>
                <a:cs typeface="Courier New" panose="02070309020205020404" pitchFamily="49" charset="0"/>
              </a:rPr>
              <a:t>{</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for(int r=0; r&lt;ROWS; r++)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for(int c=0; c&lt;COLS; </a:t>
            </a:r>
            <a:r>
              <a:rPr lang="en-US" altLang="en-US" b="1" dirty="0" err="1">
                <a:solidFill>
                  <a:schemeClr val="bg1"/>
                </a:solidFill>
                <a:latin typeface="Courier New" panose="02070309020205020404" pitchFamily="49" charset="0"/>
                <a:cs typeface="Courier New" panose="02070309020205020404" pitchFamily="49" charset="0"/>
              </a:rPr>
              <a:t>c++</a:t>
            </a: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cout &lt;&lt; </a:t>
            </a:r>
            <a:r>
              <a:rPr lang="en-US" altLang="en-US" b="1" dirty="0" err="1">
                <a:solidFill>
                  <a:schemeClr val="bg1"/>
                </a:solidFill>
                <a:latin typeface="Courier New" panose="02070309020205020404" pitchFamily="49" charset="0"/>
                <a:cs typeface="Courier New" panose="02070309020205020404" pitchFamily="49" charset="0"/>
              </a:rPr>
              <a:t>arr</a:t>
            </a:r>
            <a:r>
              <a:rPr lang="en-US" altLang="en-US" b="1" dirty="0">
                <a:solidFill>
                  <a:schemeClr val="bg1"/>
                </a:solidFill>
                <a:latin typeface="Courier New" panose="02070309020205020404" pitchFamily="49" charset="0"/>
                <a:cs typeface="Courier New" panose="02070309020205020404" pitchFamily="49" charset="0"/>
              </a:rPr>
              <a:t>[r][c] &lt;&lt; endl;</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br>
              <a:rPr lang="en-US" altLang="en-US" b="1" dirty="0">
                <a:solidFill>
                  <a:schemeClr val="bg1"/>
                </a:solidFill>
                <a:latin typeface="Courier New" panose="02070309020205020404" pitchFamily="49" charset="0"/>
                <a:cs typeface="Courier New" panose="02070309020205020404" pitchFamily="49" charset="0"/>
              </a:rPr>
            </a:br>
            <a:r>
              <a:rPr lang="en-US" altLang="en-US"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784513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2D Array Examples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2darray_1.cpp</a:t>
            </a:r>
            <a:br>
              <a:rPr lang="en-US" sz="2800" dirty="0">
                <a:solidFill>
                  <a:schemeClr val="bg1"/>
                </a:solidFill>
              </a:rPr>
            </a:br>
            <a:r>
              <a:rPr lang="en-US" sz="2800" dirty="0">
                <a:solidFill>
                  <a:schemeClr val="bg1"/>
                </a:solidFill>
              </a:rPr>
              <a:t>Two-dimensional array example with initialization lists, printing an array, summing elements.</a:t>
            </a:r>
          </a:p>
          <a:p>
            <a:pPr marL="460375" indent="-460375">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2darray_2.cpp</a:t>
            </a:r>
            <a:br>
              <a:rPr lang="en-US" sz="2800" dirty="0">
                <a:solidFill>
                  <a:schemeClr val="bg1"/>
                </a:solidFill>
              </a:rPr>
            </a:br>
            <a:r>
              <a:rPr lang="en-US" sz="2800" dirty="0">
                <a:solidFill>
                  <a:schemeClr val="bg1"/>
                </a:solidFill>
              </a:rPr>
              <a:t>Two-dimensional array example</a:t>
            </a:r>
          </a:p>
          <a:p>
            <a:pPr marL="460375" indent="-460375">
              <a:buFont typeface="Wingdings" panose="05000000000000000000" pitchFamily="2" charset="2"/>
              <a:buChar char="§"/>
            </a:pPr>
            <a:r>
              <a:rPr lang="en-US" altLang="en-US" sz="2800" b="1" dirty="0">
                <a:solidFill>
                  <a:schemeClr val="bg1"/>
                </a:solidFill>
                <a:latin typeface="Courier New" panose="02070309020205020404" pitchFamily="49" charset="0"/>
                <a:cs typeface="Courier New" panose="02070309020205020404" pitchFamily="49" charset="0"/>
              </a:rPr>
              <a:t>2dArrayFunc_2.cpp</a:t>
            </a:r>
            <a:br>
              <a:rPr lang="en-US" altLang="en-US" sz="2800" dirty="0">
                <a:solidFill>
                  <a:schemeClr val="bg1"/>
                </a:solidFill>
              </a:rPr>
            </a:br>
            <a:r>
              <a:rPr lang="en-US" altLang="en-US" sz="2800" dirty="0">
                <a:solidFill>
                  <a:schemeClr val="bg1"/>
                </a:solidFill>
              </a:rPr>
              <a:t>passing a two-dimensional array to a function</a:t>
            </a:r>
          </a:p>
          <a:p>
            <a:pPr marL="460375" indent="-460375">
              <a:buFont typeface="Wingdings" panose="05000000000000000000" pitchFamily="2" charset="2"/>
              <a:buChar char="§"/>
            </a:pPr>
            <a:endParaRPr lang="en-US" sz="2800" dirty="0">
              <a:solidFill>
                <a:schemeClr val="bg1"/>
              </a:solidFill>
            </a:endParaRPr>
          </a:p>
          <a:p>
            <a:pPr marL="460375" indent="-460375">
              <a:buFont typeface="Wingdings" panose="05000000000000000000" pitchFamily="2" charset="2"/>
              <a:buChar char="§"/>
            </a:pPr>
            <a:endParaRPr lang="en-US" sz="2800" dirty="0">
              <a:solidFill>
                <a:schemeClr val="bg1"/>
              </a:solidFill>
            </a:endParaRPr>
          </a:p>
        </p:txBody>
      </p:sp>
      <p:pic>
        <p:nvPicPr>
          <p:cNvPr id="2" name="Picture 2" descr="C++ Logo Icon, Transparent C++ Logo.PNG Images &amp; Vector - FreeIconsPNG">
            <a:extLst>
              <a:ext uri="{FF2B5EF4-FFF2-40B4-BE49-F238E27FC236}">
                <a16:creationId xmlns:a16="http://schemas.microsoft.com/office/drawing/2014/main" id="{BFC5A760-ECC6-801E-E6EA-329520DCD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600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583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152400" y="2057400"/>
            <a:ext cx="5029200" cy="27432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Character Arrays</a:t>
            </a:r>
            <a:br>
              <a:rPr lang="en-US" dirty="0">
                <a:solidFill>
                  <a:srgbClr val="4F2984"/>
                </a:solidFill>
                <a:latin typeface="Berlin Sans FB Demi" panose="020E0802020502020306" pitchFamily="34" charset="0"/>
              </a:rPr>
            </a:br>
            <a:r>
              <a:rPr lang="en-US" dirty="0">
                <a:solidFill>
                  <a:srgbClr val="4F2984"/>
                </a:solidFill>
                <a:latin typeface="Berlin Sans FB Demi" panose="020E0802020502020306" pitchFamily="34" charset="0"/>
              </a:rPr>
              <a:t>(C-Strings)</a:t>
            </a:r>
          </a:p>
        </p:txBody>
      </p:sp>
      <p:pic>
        <p:nvPicPr>
          <p:cNvPr id="4" name="Picture 3" descr="A squirrel wearing a hoodie and using a computer">
            <a:extLst>
              <a:ext uri="{FF2B5EF4-FFF2-40B4-BE49-F238E27FC236}">
                <a16:creationId xmlns:a16="http://schemas.microsoft.com/office/drawing/2014/main" id="{00823689-BB11-8EE1-9F7B-CA509514B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3810"/>
            <a:ext cx="6858000" cy="6858000"/>
          </a:xfrm>
          <a:prstGeom prst="rect">
            <a:avLst/>
          </a:prstGeom>
        </p:spPr>
      </p:pic>
    </p:spTree>
    <p:extLst>
      <p:ext uri="{BB962C8B-B14F-4D97-AF65-F5344CB8AC3E}">
        <p14:creationId xmlns:p14="http://schemas.microsoft.com/office/powerpoint/2010/main" val="2804066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Character Array (C-String) Declaration</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You can use an array to store a sequence of characters.</a:t>
            </a:r>
          </a:p>
          <a:p>
            <a:r>
              <a:rPr lang="en-US" altLang="en-US" sz="2800" dirty="0">
                <a:solidFill>
                  <a:schemeClr val="bg1"/>
                </a:solidFill>
              </a:rPr>
              <a:t>Before the C++ String class and in the C programming language, </a:t>
            </a:r>
            <a:r>
              <a:rPr lang="en-US" altLang="en-US" sz="2800" b="1" dirty="0">
                <a:solidFill>
                  <a:schemeClr val="bg1"/>
                </a:solidFill>
                <a:highlight>
                  <a:srgbClr val="FFFF00"/>
                </a:highlight>
              </a:rPr>
              <a:t>character arrays (c-strings)</a:t>
            </a:r>
            <a:r>
              <a:rPr lang="en-US" altLang="en-US" sz="2800" b="1" dirty="0">
                <a:solidFill>
                  <a:schemeClr val="bg1"/>
                </a:solidFill>
              </a:rPr>
              <a:t> </a:t>
            </a:r>
            <a:r>
              <a:rPr lang="en-US" altLang="en-US" sz="2800" dirty="0">
                <a:solidFill>
                  <a:schemeClr val="bg1"/>
                </a:solidFill>
              </a:rPr>
              <a:t>were the only way to store strings.</a:t>
            </a:r>
          </a:p>
          <a:p>
            <a:r>
              <a:rPr lang="en-US" altLang="en-US" sz="2800" dirty="0">
                <a:solidFill>
                  <a:schemeClr val="bg1"/>
                </a:solidFill>
              </a:rPr>
              <a:t>Programmers call character arrays c-strings to distinguish them from the C++ String class strings.</a:t>
            </a:r>
          </a:p>
          <a:p>
            <a:r>
              <a:rPr lang="en-US" altLang="en-US" sz="2800" dirty="0">
                <a:solidFill>
                  <a:schemeClr val="bg1"/>
                </a:solidFill>
              </a:rPr>
              <a:t>The variable definition below defines a c-string that has 20 elements and initializes the c-string.</a:t>
            </a:r>
          </a:p>
          <a:p>
            <a:pPr marL="0" indent="0">
              <a:buNone/>
            </a:pPr>
            <a:r>
              <a:rPr lang="en-US" sz="3200" b="1" dirty="0">
                <a:solidFill>
                  <a:srgbClr val="0070C0"/>
                </a:solidFill>
                <a:latin typeface="Courier New" panose="02070309020205020404" pitchFamily="49" charset="0"/>
                <a:cs typeface="Courier New" panose="02070309020205020404" pitchFamily="49" charset="0"/>
              </a:rPr>
              <a:t>char</a:t>
            </a:r>
            <a:r>
              <a:rPr lang="en-US" sz="3200" b="1" dirty="0">
                <a:solidFill>
                  <a:schemeClr val="bg1"/>
                </a:solidFill>
                <a:latin typeface="Courier New" panose="02070309020205020404" pitchFamily="49" charset="0"/>
                <a:cs typeface="Courier New" panose="02070309020205020404" pitchFamily="49" charset="0"/>
              </a:rPr>
              <a:t> </a:t>
            </a:r>
            <a:r>
              <a:rPr lang="en-US" sz="3200" b="1" dirty="0" err="1">
                <a:solidFill>
                  <a:schemeClr val="bg1"/>
                </a:solidFill>
                <a:latin typeface="Courier New" panose="02070309020205020404" pitchFamily="49" charset="0"/>
                <a:cs typeface="Courier New" panose="02070309020205020404" pitchFamily="49" charset="0"/>
              </a:rPr>
              <a:t>movieTitle</a:t>
            </a:r>
            <a:r>
              <a:rPr lang="en-US" sz="3200" b="1" dirty="0">
                <a:solidFill>
                  <a:schemeClr val="bg1"/>
                </a:solidFill>
                <a:latin typeface="Courier New" panose="02070309020205020404" pitchFamily="49" charset="0"/>
                <a:cs typeface="Courier New" panose="02070309020205020404" pitchFamily="49" charset="0"/>
              </a:rPr>
              <a:t>[</a:t>
            </a:r>
            <a:r>
              <a:rPr lang="en-US" sz="3200" b="1" dirty="0">
                <a:solidFill>
                  <a:schemeClr val="accent6"/>
                </a:solidFill>
                <a:latin typeface="Courier New" panose="02070309020205020404" pitchFamily="49" charset="0"/>
                <a:cs typeface="Courier New" panose="02070309020205020404" pitchFamily="49" charset="0"/>
              </a:rPr>
              <a:t>20</a:t>
            </a:r>
            <a:r>
              <a:rPr lang="en-US" sz="3200" b="1" dirty="0">
                <a:solidFill>
                  <a:schemeClr val="bg1"/>
                </a:solidFill>
                <a:latin typeface="Courier New" panose="02070309020205020404" pitchFamily="49" charset="0"/>
                <a:cs typeface="Courier New" panose="02070309020205020404" pitchFamily="49" charset="0"/>
              </a:rPr>
              <a:t>] = </a:t>
            </a:r>
            <a:r>
              <a:rPr lang="en-US" sz="3200" b="1" dirty="0">
                <a:solidFill>
                  <a:schemeClr val="tx2">
                    <a:lumMod val="50000"/>
                  </a:schemeClr>
                </a:solidFill>
                <a:latin typeface="Courier New" panose="02070309020205020404" pitchFamily="49" charset="0"/>
                <a:cs typeface="Courier New" panose="02070309020205020404" pitchFamily="49" charset="0"/>
              </a:rPr>
              <a:t>“Rogue One”</a:t>
            </a:r>
            <a:r>
              <a:rPr lang="en-US" sz="3200" b="1" dirty="0">
                <a:solidFill>
                  <a:schemeClr val="bg1"/>
                </a:solidFill>
                <a:latin typeface="Courier New" panose="02070309020205020404" pitchFamily="49" charset="0"/>
                <a:cs typeface="Courier New" panose="02070309020205020404" pitchFamily="49" charset="0"/>
              </a:rPr>
              <a:t>;</a:t>
            </a:r>
          </a:p>
          <a:p>
            <a:pPr marL="0" indent="0">
              <a:buNone/>
            </a:pPr>
            <a:endParaRPr lang="en-US" altLang="en-US" sz="2800" dirty="0">
              <a:solidFill>
                <a:schemeClr val="bg1"/>
              </a:solidFill>
            </a:endParaRPr>
          </a:p>
        </p:txBody>
      </p:sp>
    </p:spTree>
    <p:extLst>
      <p:ext uri="{BB962C8B-B14F-4D97-AF65-F5344CB8AC3E}">
        <p14:creationId xmlns:p14="http://schemas.microsoft.com/office/powerpoint/2010/main" val="1328469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Character Arrays (C-Strings) end in a </a:t>
            </a:r>
            <a:br>
              <a:rPr lang="en-US" b="1" dirty="0">
                <a:solidFill>
                  <a:srgbClr val="4F2984"/>
                </a:solidFill>
                <a:latin typeface="Amasis MT Pro Black" panose="02040A04050005020304" pitchFamily="18" charset="0"/>
              </a:rPr>
            </a:br>
            <a:r>
              <a:rPr lang="en-US" b="1" dirty="0">
                <a:solidFill>
                  <a:srgbClr val="4F2984"/>
                </a:solidFill>
                <a:latin typeface="Amasis MT Pro Black" panose="02040A04050005020304" pitchFamily="18" charset="0"/>
              </a:rPr>
              <a:t>Null Terminator</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altLang="en-US" sz="2800" dirty="0">
                <a:solidFill>
                  <a:schemeClr val="bg1"/>
                </a:solidFill>
              </a:rPr>
              <a:t>All c-strings end in a special character known as a </a:t>
            </a:r>
            <a:r>
              <a:rPr lang="en-US" altLang="en-US" sz="2800" b="1" dirty="0">
                <a:solidFill>
                  <a:schemeClr val="bg1"/>
                </a:solidFill>
                <a:highlight>
                  <a:srgbClr val="FFFF00"/>
                </a:highlight>
              </a:rPr>
              <a:t>null terminator</a:t>
            </a:r>
            <a:r>
              <a:rPr lang="en-US" altLang="en-US" sz="2800" dirty="0">
                <a:solidFill>
                  <a:schemeClr val="bg1"/>
                </a:solidFill>
              </a:rPr>
              <a:t>, written as ‘</a:t>
            </a:r>
            <a:r>
              <a:rPr lang="en-US" altLang="en-US" sz="2800" b="1" dirty="0">
                <a:solidFill>
                  <a:schemeClr val="bg1"/>
                </a:solidFill>
                <a:highlight>
                  <a:srgbClr val="FFFF00"/>
                </a:highlight>
                <a:latin typeface="Courier New" panose="02070309020205020404" pitchFamily="49" charset="0"/>
                <a:cs typeface="Courier New" panose="02070309020205020404" pitchFamily="49" charset="0"/>
              </a:rPr>
              <a:t>\0</a:t>
            </a:r>
            <a:r>
              <a:rPr lang="en-US" altLang="en-US" sz="2800" dirty="0">
                <a:solidFill>
                  <a:schemeClr val="bg1"/>
                </a:solidFill>
              </a:rPr>
              <a:t>’ (this is a backward slash and then a </a:t>
            </a:r>
            <a:r>
              <a:rPr lang="en-US" altLang="en-US" sz="2800" b="1" dirty="0">
                <a:solidFill>
                  <a:schemeClr val="bg1"/>
                </a:solidFill>
              </a:rPr>
              <a:t>zero</a:t>
            </a:r>
            <a:r>
              <a:rPr lang="en-US" altLang="en-US" sz="2800" dirty="0">
                <a:solidFill>
                  <a:schemeClr val="bg1"/>
                </a:solidFill>
              </a:rPr>
              <a:t>).</a:t>
            </a:r>
          </a:p>
          <a:p>
            <a:pPr marL="0" indent="0">
              <a:buNone/>
            </a:pPr>
            <a:r>
              <a:rPr lang="en-US" sz="3200" b="1" dirty="0">
                <a:solidFill>
                  <a:srgbClr val="0070C0"/>
                </a:solidFill>
                <a:latin typeface="Courier New" panose="02070309020205020404" pitchFamily="49" charset="0"/>
                <a:cs typeface="Courier New" panose="02070309020205020404" pitchFamily="49" charset="0"/>
              </a:rPr>
              <a:t>char</a:t>
            </a:r>
            <a:r>
              <a:rPr lang="en-US" sz="3200" b="1" dirty="0">
                <a:solidFill>
                  <a:schemeClr val="bg1"/>
                </a:solidFill>
                <a:latin typeface="Courier New" panose="02070309020205020404" pitchFamily="49" charset="0"/>
                <a:cs typeface="Courier New" panose="02070309020205020404" pitchFamily="49" charset="0"/>
              </a:rPr>
              <a:t> month[</a:t>
            </a:r>
            <a:r>
              <a:rPr lang="en-US" sz="3200" b="1" dirty="0">
                <a:solidFill>
                  <a:schemeClr val="accent6"/>
                </a:solidFill>
                <a:latin typeface="Courier New" panose="02070309020205020404" pitchFamily="49" charset="0"/>
                <a:cs typeface="Courier New" panose="02070309020205020404" pitchFamily="49" charset="0"/>
              </a:rPr>
              <a:t>10</a:t>
            </a:r>
            <a:r>
              <a:rPr lang="en-US" sz="3200" b="1" dirty="0">
                <a:solidFill>
                  <a:schemeClr val="bg1"/>
                </a:solidFill>
                <a:latin typeface="Courier New" panose="02070309020205020404" pitchFamily="49" charset="0"/>
                <a:cs typeface="Courier New" panose="02070309020205020404" pitchFamily="49" charset="0"/>
              </a:rPr>
              <a:t>] = </a:t>
            </a:r>
            <a:r>
              <a:rPr lang="en-US" sz="3200" b="1" dirty="0">
                <a:solidFill>
                  <a:schemeClr val="tx2">
                    <a:lumMod val="50000"/>
                  </a:schemeClr>
                </a:solidFill>
                <a:latin typeface="Courier New" panose="02070309020205020404" pitchFamily="49" charset="0"/>
                <a:cs typeface="Courier New" panose="02070309020205020404" pitchFamily="49" charset="0"/>
              </a:rPr>
              <a:t>“April”</a:t>
            </a:r>
            <a:r>
              <a:rPr lang="en-US" sz="3200" b="1" dirty="0">
                <a:solidFill>
                  <a:schemeClr val="bg1"/>
                </a:solidFill>
                <a:latin typeface="Courier New" panose="02070309020205020404" pitchFamily="49" charset="0"/>
                <a:cs typeface="Courier New" panose="02070309020205020404" pitchFamily="49" charset="0"/>
              </a:rPr>
              <a:t>;</a:t>
            </a:r>
            <a:endParaRPr lang="en-US" sz="2800" b="1" dirty="0">
              <a:solidFill>
                <a:schemeClr val="bg1"/>
              </a:solidFill>
              <a:latin typeface="Courier New" panose="02070309020205020404" pitchFamily="49" charset="0"/>
              <a:cs typeface="Courier New" panose="02070309020205020404" pitchFamily="49" charset="0"/>
            </a:endParaRPr>
          </a:p>
          <a:p>
            <a:pPr marL="0" indent="0">
              <a:buNone/>
            </a:pPr>
            <a:r>
              <a:rPr lang="en-US" sz="2800" dirty="0">
                <a:solidFill>
                  <a:schemeClr val="bg1"/>
                </a:solidFill>
                <a:cs typeface="Courier New" panose="02070309020205020404" pitchFamily="49" charset="0"/>
              </a:rPr>
              <a:t>Would be stored in memory as:</a:t>
            </a:r>
          </a:p>
          <a:p>
            <a:pPr marL="0" indent="0">
              <a:buNone/>
            </a:pPr>
            <a:endParaRPr lang="en-US" altLang="en-US" sz="2800" dirty="0">
              <a:solidFill>
                <a:schemeClr val="bg1"/>
              </a:solidFill>
            </a:endParaRPr>
          </a:p>
        </p:txBody>
      </p:sp>
      <p:sp>
        <p:nvSpPr>
          <p:cNvPr id="5" name="TextBox 4">
            <a:extLst>
              <a:ext uri="{FF2B5EF4-FFF2-40B4-BE49-F238E27FC236}">
                <a16:creationId xmlns:a16="http://schemas.microsoft.com/office/drawing/2014/main" id="{DDB3DB78-A48F-D9E1-B201-652A0A291A95}"/>
              </a:ext>
              <a:ext uri="{C183D7F6-B498-43B3-948B-1728B52AA6E4}">
                <adec:decorative xmlns:adec="http://schemas.microsoft.com/office/drawing/2017/decorative" val="1"/>
              </a:ext>
            </a:extLst>
          </p:cNvPr>
          <p:cNvSpPr txBox="1"/>
          <p:nvPr/>
        </p:nvSpPr>
        <p:spPr>
          <a:xfrm>
            <a:off x="1790700" y="5204460"/>
            <a:ext cx="8051800" cy="338554"/>
          </a:xfrm>
          <a:prstGeom prst="rect">
            <a:avLst/>
          </a:prstGeom>
          <a:noFill/>
        </p:spPr>
        <p:txBody>
          <a:bodyPr wrap="square" rtlCol="0">
            <a:spAutoFit/>
          </a:bodyPr>
          <a:lstStyle/>
          <a:p>
            <a:r>
              <a:rPr lang="en-US" sz="1600" dirty="0">
                <a:solidFill>
                  <a:srgbClr val="FF0000"/>
                </a:solidFill>
              </a:rPr>
              <a:t>0               1                 2                3                4               5                 6                7                8               9</a:t>
            </a:r>
          </a:p>
        </p:txBody>
      </p:sp>
      <p:sp>
        <p:nvSpPr>
          <p:cNvPr id="3" name="TextBox 2">
            <a:extLst>
              <a:ext uri="{FF2B5EF4-FFF2-40B4-BE49-F238E27FC236}">
                <a16:creationId xmlns:a16="http://schemas.microsoft.com/office/drawing/2014/main" id="{825CA613-CD4F-7924-8565-314E3438EB9D}"/>
              </a:ext>
              <a:ext uri="{C183D7F6-B498-43B3-948B-1728B52AA6E4}">
                <adec:decorative xmlns:adec="http://schemas.microsoft.com/office/drawing/2017/decorative" val="1"/>
              </a:ext>
            </a:extLst>
          </p:cNvPr>
          <p:cNvSpPr txBox="1"/>
          <p:nvPr/>
        </p:nvSpPr>
        <p:spPr>
          <a:xfrm>
            <a:off x="152400" y="4800600"/>
            <a:ext cx="1371600" cy="461665"/>
          </a:xfrm>
          <a:prstGeom prst="rect">
            <a:avLst/>
          </a:prstGeom>
          <a:noFill/>
        </p:spPr>
        <p:txBody>
          <a:bodyPr wrap="square" rtlCol="0">
            <a:spAutoFit/>
          </a:bodyPr>
          <a:lstStyle/>
          <a:p>
            <a:pPr algn="r"/>
            <a:r>
              <a:rPr lang="en-US" sz="2400" b="1" dirty="0">
                <a:solidFill>
                  <a:schemeClr val="bg1"/>
                </a:solidFill>
                <a:latin typeface="Courier New" panose="02070309020205020404" pitchFamily="49" charset="0"/>
                <a:cs typeface="Courier New" panose="02070309020205020404" pitchFamily="49" charset="0"/>
              </a:rPr>
              <a:t>month</a:t>
            </a:r>
            <a:endParaRPr lang="en-US" b="1" dirty="0">
              <a:solidFill>
                <a:schemeClr val="bg1"/>
              </a:solidFill>
              <a:latin typeface="Courier New" panose="02070309020205020404" pitchFamily="49" charset="0"/>
              <a:cs typeface="Courier New" panose="02070309020205020404" pitchFamily="49" charset="0"/>
            </a:endParaRPr>
          </a:p>
        </p:txBody>
      </p:sp>
      <p:graphicFrame>
        <p:nvGraphicFramePr>
          <p:cNvPr id="2" name="Table 1">
            <a:extLst>
              <a:ext uri="{FF2B5EF4-FFF2-40B4-BE49-F238E27FC236}">
                <a16:creationId xmlns:a16="http://schemas.microsoft.com/office/drawing/2014/main" id="{C3B52241-E0F5-5AE9-0EDB-A6465F61C127}"/>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981270783"/>
              </p:ext>
            </p:extLst>
          </p:nvPr>
        </p:nvGraphicFramePr>
        <p:xfrm>
          <a:off x="1752600" y="4724400"/>
          <a:ext cx="8128000" cy="51816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1177946738"/>
                    </a:ext>
                  </a:extLst>
                </a:gridCol>
                <a:gridCol w="812800">
                  <a:extLst>
                    <a:ext uri="{9D8B030D-6E8A-4147-A177-3AD203B41FA5}">
                      <a16:colId xmlns:a16="http://schemas.microsoft.com/office/drawing/2014/main" val="3321913670"/>
                    </a:ext>
                  </a:extLst>
                </a:gridCol>
                <a:gridCol w="812800">
                  <a:extLst>
                    <a:ext uri="{9D8B030D-6E8A-4147-A177-3AD203B41FA5}">
                      <a16:colId xmlns:a16="http://schemas.microsoft.com/office/drawing/2014/main" val="1601784453"/>
                    </a:ext>
                  </a:extLst>
                </a:gridCol>
                <a:gridCol w="812800">
                  <a:extLst>
                    <a:ext uri="{9D8B030D-6E8A-4147-A177-3AD203B41FA5}">
                      <a16:colId xmlns:a16="http://schemas.microsoft.com/office/drawing/2014/main" val="3255505987"/>
                    </a:ext>
                  </a:extLst>
                </a:gridCol>
                <a:gridCol w="812800">
                  <a:extLst>
                    <a:ext uri="{9D8B030D-6E8A-4147-A177-3AD203B41FA5}">
                      <a16:colId xmlns:a16="http://schemas.microsoft.com/office/drawing/2014/main" val="1352923872"/>
                    </a:ext>
                  </a:extLst>
                </a:gridCol>
                <a:gridCol w="812800">
                  <a:extLst>
                    <a:ext uri="{9D8B030D-6E8A-4147-A177-3AD203B41FA5}">
                      <a16:colId xmlns:a16="http://schemas.microsoft.com/office/drawing/2014/main" val="390368839"/>
                    </a:ext>
                  </a:extLst>
                </a:gridCol>
                <a:gridCol w="812800">
                  <a:extLst>
                    <a:ext uri="{9D8B030D-6E8A-4147-A177-3AD203B41FA5}">
                      <a16:colId xmlns:a16="http://schemas.microsoft.com/office/drawing/2014/main" val="2411178911"/>
                    </a:ext>
                  </a:extLst>
                </a:gridCol>
                <a:gridCol w="812800">
                  <a:extLst>
                    <a:ext uri="{9D8B030D-6E8A-4147-A177-3AD203B41FA5}">
                      <a16:colId xmlns:a16="http://schemas.microsoft.com/office/drawing/2014/main" val="417196090"/>
                    </a:ext>
                  </a:extLst>
                </a:gridCol>
                <a:gridCol w="812800">
                  <a:extLst>
                    <a:ext uri="{9D8B030D-6E8A-4147-A177-3AD203B41FA5}">
                      <a16:colId xmlns:a16="http://schemas.microsoft.com/office/drawing/2014/main" val="2344897723"/>
                    </a:ext>
                  </a:extLst>
                </a:gridCol>
                <a:gridCol w="812800">
                  <a:extLst>
                    <a:ext uri="{9D8B030D-6E8A-4147-A177-3AD203B41FA5}">
                      <a16:colId xmlns:a16="http://schemas.microsoft.com/office/drawing/2014/main" val="2831169308"/>
                    </a:ext>
                  </a:extLst>
                </a:gridCol>
              </a:tblGrid>
              <a:tr h="370840">
                <a:tc>
                  <a:txBody>
                    <a:bodyPr/>
                    <a:lstStyle/>
                    <a:p>
                      <a:r>
                        <a:rPr lang="en-US" sz="2800" dirty="0">
                          <a:solidFill>
                            <a:schemeClr val="bg1"/>
                          </a:solidFill>
                          <a:latin typeface="Courier New" panose="02070309020205020404" pitchFamily="49" charset="0"/>
                          <a:cs typeface="Courier New" panose="02070309020205020404" pitchFamily="49" charset="0"/>
                        </a:rPr>
                        <a:t>A</a:t>
                      </a:r>
                    </a:p>
                  </a:txBody>
                  <a:tcPr/>
                </a:tc>
                <a:tc>
                  <a:txBody>
                    <a:bodyPr/>
                    <a:lstStyle/>
                    <a:p>
                      <a:r>
                        <a:rPr lang="en-US" sz="2800" dirty="0">
                          <a:solidFill>
                            <a:schemeClr val="bg1"/>
                          </a:solidFill>
                          <a:latin typeface="Courier New" panose="02070309020205020404" pitchFamily="49" charset="0"/>
                          <a:cs typeface="Courier New" panose="02070309020205020404" pitchFamily="49" charset="0"/>
                        </a:rPr>
                        <a:t>p</a:t>
                      </a:r>
                    </a:p>
                  </a:txBody>
                  <a:tcPr/>
                </a:tc>
                <a:tc>
                  <a:txBody>
                    <a:bodyPr/>
                    <a:lstStyle/>
                    <a:p>
                      <a:r>
                        <a:rPr lang="en-US" sz="2800" dirty="0">
                          <a:solidFill>
                            <a:schemeClr val="bg1"/>
                          </a:solidFill>
                          <a:latin typeface="Courier New" panose="02070309020205020404" pitchFamily="49" charset="0"/>
                          <a:cs typeface="Courier New" panose="02070309020205020404" pitchFamily="49" charset="0"/>
                        </a:rPr>
                        <a:t>r</a:t>
                      </a:r>
                    </a:p>
                  </a:txBody>
                  <a:tcPr/>
                </a:tc>
                <a:tc>
                  <a:txBody>
                    <a:bodyPr/>
                    <a:lstStyle/>
                    <a:p>
                      <a:r>
                        <a:rPr lang="en-US" sz="2800" dirty="0">
                          <a:solidFill>
                            <a:schemeClr val="bg1"/>
                          </a:solidFill>
                          <a:latin typeface="Courier New" panose="02070309020205020404" pitchFamily="49" charset="0"/>
                          <a:cs typeface="Courier New" panose="02070309020205020404" pitchFamily="49" charset="0"/>
                        </a:rPr>
                        <a:t>i</a:t>
                      </a:r>
                    </a:p>
                  </a:txBody>
                  <a:tcPr/>
                </a:tc>
                <a:tc>
                  <a:txBody>
                    <a:bodyPr/>
                    <a:lstStyle/>
                    <a:p>
                      <a:r>
                        <a:rPr lang="en-US" sz="2800" dirty="0">
                          <a:solidFill>
                            <a:schemeClr val="bg1"/>
                          </a:solidFill>
                          <a:latin typeface="Courier New" panose="02070309020205020404" pitchFamily="49" charset="0"/>
                          <a:cs typeface="Courier New" panose="02070309020205020404" pitchFamily="49" charset="0"/>
                        </a:rPr>
                        <a:t>l</a:t>
                      </a:r>
                    </a:p>
                  </a:txBody>
                  <a:tcPr/>
                </a:tc>
                <a:tc>
                  <a:txBody>
                    <a:bodyPr/>
                    <a:lstStyle/>
                    <a:p>
                      <a:r>
                        <a:rPr lang="en-US" sz="2800" dirty="0">
                          <a:solidFill>
                            <a:schemeClr val="bg1"/>
                          </a:solidFill>
                          <a:latin typeface="Courier New" panose="02070309020205020404" pitchFamily="49" charset="0"/>
                          <a:cs typeface="Courier New" panose="02070309020205020404" pitchFamily="49" charset="0"/>
                        </a:rPr>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671421186"/>
                  </a:ext>
                </a:extLst>
              </a:tr>
            </a:tbl>
          </a:graphicData>
        </a:graphic>
      </p:graphicFrame>
    </p:spTree>
    <p:extLst>
      <p:ext uri="{BB962C8B-B14F-4D97-AF65-F5344CB8AC3E}">
        <p14:creationId xmlns:p14="http://schemas.microsoft.com/office/powerpoint/2010/main" val="1379427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Output a C-String</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altLang="en-US" sz="2800" dirty="0">
                <a:solidFill>
                  <a:schemeClr val="bg1"/>
                </a:solidFill>
              </a:rPr>
              <a:t>Unlike all other arrays, you can print a c-string with a single cout statement without having to have a for or foreach loop.  (This is because of the null terminator indicating the end of the string.)</a:t>
            </a:r>
          </a:p>
          <a:p>
            <a:pPr marL="0"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month[</a:t>
            </a:r>
            <a:r>
              <a:rPr lang="en-US" sz="2800" b="1" dirty="0">
                <a:solidFill>
                  <a:schemeClr val="accent6"/>
                </a:solidFill>
                <a:latin typeface="Courier New" panose="02070309020205020404" pitchFamily="49" charset="0"/>
                <a:cs typeface="Courier New" panose="02070309020205020404" pitchFamily="49" charset="0"/>
              </a:rPr>
              <a:t>10</a:t>
            </a:r>
            <a:r>
              <a:rPr lang="en-US" sz="2800" b="1" dirty="0">
                <a:solidFill>
                  <a:schemeClr val="bg1"/>
                </a:solidFill>
                <a:latin typeface="Courier New" panose="02070309020205020404" pitchFamily="49" charset="0"/>
                <a:cs typeface="Courier New" panose="02070309020205020404" pitchFamily="49" charset="0"/>
              </a:rPr>
              <a:t>] = “April”;</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month &lt;&lt; </a:t>
            </a:r>
            <a:r>
              <a:rPr lang="en-US" sz="2800" b="1" dirty="0">
                <a:solidFill>
                  <a:srgbClr val="0070C0"/>
                </a:solidFill>
                <a:latin typeface="Courier New" panose="02070309020205020404" pitchFamily="49" charset="0"/>
                <a:cs typeface="Courier New" panose="02070309020205020404" pitchFamily="49" charset="0"/>
              </a:rPr>
              <a:t>endl</a:t>
            </a:r>
            <a:r>
              <a:rPr lang="en-US" sz="2800" b="1" dirty="0">
                <a:solidFill>
                  <a:schemeClr val="bg1"/>
                </a:solidFill>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//prints April to the screen</a:t>
            </a:r>
          </a:p>
        </p:txBody>
      </p:sp>
    </p:spTree>
    <p:extLst>
      <p:ext uri="{BB962C8B-B14F-4D97-AF65-F5344CB8AC3E}">
        <p14:creationId xmlns:p14="http://schemas.microsoft.com/office/powerpoint/2010/main" val="46477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Input with C-Strings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altLang="en-US" sz="2800" dirty="0">
                <a:solidFill>
                  <a:schemeClr val="bg1"/>
                </a:solidFill>
              </a:rPr>
              <a:t>You can read in a string from the user using cin and the extraction operator. </a:t>
            </a:r>
          </a:p>
          <a:p>
            <a:pPr marL="0" indent="0">
              <a:buNone/>
            </a:pPr>
            <a:r>
              <a:rPr lang="en-US" altLang="en-US" sz="2800" dirty="0">
                <a:solidFill>
                  <a:schemeClr val="bg1"/>
                </a:solidFill>
              </a:rPr>
              <a:t>Remember that cin with extraction reads until whitespace is encountered.</a:t>
            </a:r>
          </a:p>
          <a:p>
            <a:pPr marL="0"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month[</a:t>
            </a:r>
            <a:r>
              <a:rPr lang="en-US" sz="2800" b="1" dirty="0">
                <a:solidFill>
                  <a:schemeClr val="accent6"/>
                </a:solidFill>
                <a:latin typeface="Courier New" panose="02070309020205020404" pitchFamily="49" charset="0"/>
                <a:cs typeface="Courier New" panose="02070309020205020404" pitchFamily="49" charset="0"/>
              </a:rPr>
              <a:t>10</a:t>
            </a:r>
            <a:r>
              <a:rPr lang="en-US" sz="2800" b="1" dirty="0">
                <a:solidFill>
                  <a:schemeClr val="bg1"/>
                </a:solidFill>
                <a:latin typeface="Courier New" panose="02070309020205020404" pitchFamily="49" charset="0"/>
                <a:cs typeface="Courier New" panose="02070309020205020404" pitchFamily="49" charset="0"/>
              </a:rPr>
              <a:t>];</a:t>
            </a:r>
          </a:p>
          <a:p>
            <a:pPr marL="0"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“What month is it?”</a:t>
            </a:r>
            <a:r>
              <a:rPr lang="en-US" sz="2800" b="1" dirty="0">
                <a:solidFill>
                  <a:schemeClr val="bg1"/>
                </a:solidFill>
                <a:latin typeface="Courier New" panose="02070309020205020404" pitchFamily="49" charset="0"/>
                <a:cs typeface="Courier New" panose="02070309020205020404" pitchFamily="49" charset="0"/>
              </a:rPr>
              <a:t>; </a:t>
            </a:r>
          </a:p>
          <a:p>
            <a:pPr marL="0" indent="0">
              <a:buNone/>
            </a:pPr>
            <a:r>
              <a:rPr lang="en-US" sz="2800" b="1" dirty="0">
                <a:solidFill>
                  <a:srgbClr val="0070C0"/>
                </a:solidFill>
                <a:latin typeface="Courier New" panose="02070309020205020404" pitchFamily="49" charset="0"/>
                <a:cs typeface="Courier New" panose="02070309020205020404" pitchFamily="49" charset="0"/>
              </a:rPr>
              <a:t>cin</a:t>
            </a:r>
            <a:r>
              <a:rPr lang="en-US" sz="2800" b="1" dirty="0">
                <a:solidFill>
                  <a:schemeClr val="bg1"/>
                </a:solidFill>
                <a:latin typeface="Courier New" panose="02070309020205020404" pitchFamily="49" charset="0"/>
                <a:cs typeface="Courier New" panose="02070309020205020404" pitchFamily="49" charset="0"/>
              </a:rPr>
              <a:t> &gt;&gt; month; </a:t>
            </a:r>
            <a:endParaRPr lang="en-US" sz="2800"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210594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Getline Function for C-Strings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altLang="en-US" sz="2800" dirty="0">
                <a:solidFill>
                  <a:schemeClr val="bg1"/>
                </a:solidFill>
              </a:rPr>
              <a:t>If the user’s input could contain a space (almost always), then you should use the </a:t>
            </a:r>
            <a:r>
              <a:rPr lang="en-US" altLang="en-US" sz="2800" b="1" dirty="0">
                <a:solidFill>
                  <a:srgbClr val="FF0000"/>
                </a:solidFill>
              </a:rPr>
              <a:t>getline</a:t>
            </a:r>
            <a:r>
              <a:rPr lang="en-US" altLang="en-US" sz="2800" dirty="0">
                <a:solidFill>
                  <a:schemeClr val="bg1"/>
                </a:solidFill>
              </a:rPr>
              <a:t> function for c-strings instead.</a:t>
            </a:r>
          </a:p>
          <a:p>
            <a:pPr marL="0"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city[</a:t>
            </a:r>
            <a:r>
              <a:rPr lang="en-US" sz="2800" b="1" dirty="0">
                <a:solidFill>
                  <a:schemeClr val="accent6"/>
                </a:solidFill>
                <a:latin typeface="Courier New" panose="02070309020205020404" pitchFamily="49" charset="0"/>
                <a:cs typeface="Courier New" panose="02070309020205020404" pitchFamily="49" charset="0"/>
              </a:rPr>
              <a:t>26</a:t>
            </a:r>
            <a:r>
              <a:rPr lang="en-US" sz="2800" b="1" dirty="0">
                <a:solidFill>
                  <a:schemeClr val="bg1"/>
                </a:solidFill>
                <a:latin typeface="Courier New" panose="02070309020205020404" pitchFamily="49" charset="0"/>
                <a:cs typeface="Courier New" panose="02070309020205020404" pitchFamily="49" charset="0"/>
              </a:rPr>
              <a:t>];</a:t>
            </a:r>
          </a:p>
          <a:p>
            <a:pPr marL="0"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a:t>
            </a:r>
            <a:r>
              <a:rPr lang="en-US" sz="2800" b="1" dirty="0">
                <a:solidFill>
                  <a:schemeClr val="tx2">
                    <a:lumMod val="50000"/>
                  </a:schemeClr>
                </a:solidFill>
                <a:latin typeface="Courier New" panose="02070309020205020404" pitchFamily="49" charset="0"/>
                <a:cs typeface="Courier New" panose="02070309020205020404" pitchFamily="49" charset="0"/>
              </a:rPr>
              <a:t>“What city do you live in?”</a:t>
            </a:r>
            <a:r>
              <a:rPr lang="en-US" sz="2800" b="1" dirty="0">
                <a:solidFill>
                  <a:schemeClr val="bg1"/>
                </a:solidFill>
                <a:latin typeface="Courier New" panose="02070309020205020404" pitchFamily="49" charset="0"/>
                <a:cs typeface="Courier New" panose="02070309020205020404" pitchFamily="49" charset="0"/>
              </a:rPr>
              <a:t>; </a:t>
            </a:r>
          </a:p>
          <a:p>
            <a:pPr marL="0" indent="0">
              <a:buNone/>
            </a:pPr>
            <a:r>
              <a:rPr lang="en-US" sz="2800" b="1" dirty="0" err="1">
                <a:solidFill>
                  <a:srgbClr val="0070C0"/>
                </a:solidFill>
                <a:latin typeface="Courier New" panose="02070309020205020404" pitchFamily="49" charset="0"/>
                <a:cs typeface="Courier New" panose="02070309020205020404" pitchFamily="49" charset="0"/>
              </a:rPr>
              <a:t>cin</a:t>
            </a:r>
            <a:r>
              <a:rPr lang="en-US" sz="2800" b="1" dirty="0" err="1">
                <a:solidFill>
                  <a:schemeClr val="bg1"/>
                </a:solidFill>
                <a:latin typeface="Courier New" panose="02070309020205020404" pitchFamily="49" charset="0"/>
                <a:cs typeface="Courier New" panose="02070309020205020404" pitchFamily="49" charset="0"/>
              </a:rPr>
              <a:t>.getline</a:t>
            </a:r>
            <a:r>
              <a:rPr lang="en-US" sz="2800" b="1" dirty="0">
                <a:solidFill>
                  <a:schemeClr val="bg1"/>
                </a:solidFill>
                <a:latin typeface="Courier New" panose="02070309020205020404" pitchFamily="49" charset="0"/>
                <a:cs typeface="Courier New" panose="02070309020205020404" pitchFamily="49" charset="0"/>
              </a:rPr>
              <a:t>(city, </a:t>
            </a:r>
            <a:r>
              <a:rPr lang="en-US" sz="2800" b="1" dirty="0">
                <a:solidFill>
                  <a:schemeClr val="accent6"/>
                </a:solidFill>
                <a:latin typeface="Courier New" panose="02070309020205020404" pitchFamily="49" charset="0"/>
                <a:cs typeface="Courier New" panose="02070309020205020404" pitchFamily="49" charset="0"/>
              </a:rPr>
              <a:t>26</a:t>
            </a:r>
            <a:r>
              <a:rPr lang="en-US" sz="2800" b="1" dirty="0">
                <a:solidFill>
                  <a:schemeClr val="bg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5486363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Examples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b="1" dirty="0">
                <a:solidFill>
                  <a:schemeClr val="bg1"/>
                </a:solidFill>
                <a:latin typeface="Courier New" panose="02070309020205020404" pitchFamily="49" charset="0"/>
                <a:cs typeface="Courier New" panose="02070309020205020404" pitchFamily="49" charset="0"/>
              </a:rPr>
              <a:t>charArrays_1.cpp</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dirty="0">
                <a:solidFill>
                  <a:schemeClr val="bg1"/>
                </a:solidFill>
              </a:rPr>
              <a:t>uses an array of ten characters to store the first ten letters of the alphabet</a:t>
            </a:r>
          </a:p>
          <a:p>
            <a:r>
              <a:rPr lang="en-US" altLang="en-US" sz="2800" b="1" dirty="0">
                <a:solidFill>
                  <a:schemeClr val="bg1"/>
                </a:solidFill>
                <a:latin typeface="Courier New" panose="02070309020205020404" pitchFamily="49" charset="0"/>
                <a:cs typeface="Courier New" panose="02070309020205020404" pitchFamily="49" charset="0"/>
              </a:rPr>
              <a:t>charArrays_2.cpp</a:t>
            </a:r>
            <a:br>
              <a:rPr lang="en-US" altLang="en-US" sz="2800" dirty="0">
                <a:solidFill>
                  <a:schemeClr val="bg1"/>
                </a:solidFill>
              </a:rPr>
            </a:br>
            <a:r>
              <a:rPr lang="en-US" altLang="en-US" sz="2800" dirty="0">
                <a:solidFill>
                  <a:schemeClr val="bg1"/>
                </a:solidFill>
              </a:rPr>
              <a:t>demonstrates printing c-strings, initialization list with c-strings, and implicit array sizing.</a:t>
            </a:r>
          </a:p>
          <a:p>
            <a:endParaRPr lang="en-US" altLang="en-US" sz="2800" dirty="0">
              <a:solidFill>
                <a:schemeClr val="bg1"/>
              </a:solidFill>
            </a:endParaRPr>
          </a:p>
        </p:txBody>
      </p:sp>
      <p:pic>
        <p:nvPicPr>
          <p:cNvPr id="2" name="Picture 2" descr="C++ Logo Icon, Transparent C++ Logo.PNG Images &amp; Vector - FreeIconsPNG">
            <a:extLst>
              <a:ext uri="{FF2B5EF4-FFF2-40B4-BE49-F238E27FC236}">
                <a16:creationId xmlns:a16="http://schemas.microsoft.com/office/drawing/2014/main" id="{D1C19398-63E5-433D-EFF5-336E2E3EC8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94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4522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4F2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7620000" y="2057400"/>
            <a:ext cx="3733800" cy="2743200"/>
          </a:xfrm>
          <a:solidFill>
            <a:srgbClr val="FFDD00"/>
          </a:solidFill>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rgbClr val="4F2984"/>
                </a:solidFill>
                <a:latin typeface="Berlin Sans FB Demi" panose="020E0802020502020306" pitchFamily="34" charset="0"/>
              </a:rPr>
              <a:t>C-String Library Functions</a:t>
            </a:r>
          </a:p>
        </p:txBody>
      </p:sp>
      <p:pic>
        <p:nvPicPr>
          <p:cNvPr id="4" name="Picture 3" descr="A squirrel wearing a hoodie using a computer">
            <a:extLst>
              <a:ext uri="{FF2B5EF4-FFF2-40B4-BE49-F238E27FC236}">
                <a16:creationId xmlns:a16="http://schemas.microsoft.com/office/drawing/2014/main" id="{35E81C90-5507-BC04-BDAE-D0805E9CC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7018271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Functions - </a:t>
            </a:r>
            <a:r>
              <a:rPr lang="en-US" b="1" dirty="0" err="1">
                <a:solidFill>
                  <a:srgbClr val="4F2984"/>
                </a:solidFill>
                <a:latin typeface="Amasis MT Pro Black" panose="02040A04050005020304" pitchFamily="18" charset="0"/>
              </a:rPr>
              <a:t>strlen</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sz="2800" dirty="0">
                <a:solidFill>
                  <a:schemeClr val="bg1"/>
                </a:solidFill>
                <a:cs typeface="Courier New" panose="02070309020205020404" pitchFamily="49" charset="0"/>
              </a:rPr>
              <a:t>There are several c-string library functions you can use when you add </a:t>
            </a:r>
            <a:r>
              <a:rPr lang="en-US" sz="2800" b="1" dirty="0">
                <a:solidFill>
                  <a:schemeClr val="bg1"/>
                </a:solidFill>
                <a:highlight>
                  <a:srgbClr val="FFFF00"/>
                </a:highlight>
                <a:latin typeface="Courier New" panose="02070309020205020404" pitchFamily="49" charset="0"/>
                <a:cs typeface="Courier New" panose="02070309020205020404" pitchFamily="49" charset="0"/>
              </a:rPr>
              <a:t>#include &lt;</a:t>
            </a: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cstring</a:t>
            </a:r>
            <a:r>
              <a:rPr lang="en-US" sz="2800" b="1" dirty="0">
                <a:solidFill>
                  <a:schemeClr val="bg1"/>
                </a:solidFill>
                <a:highlight>
                  <a:srgbClr val="FFFF00"/>
                </a:highlight>
                <a:latin typeface="Courier New" panose="02070309020205020404" pitchFamily="49" charset="0"/>
                <a:cs typeface="Courier New" panose="02070309020205020404" pitchFamily="49" charset="0"/>
              </a:rPr>
              <a:t>&gt;</a:t>
            </a:r>
            <a:r>
              <a:rPr lang="en-US" sz="2800" b="1" dirty="0">
                <a:solidFill>
                  <a:srgbClr val="FF0000"/>
                </a:solidFill>
                <a:latin typeface="Courier New" panose="02070309020205020404" pitchFamily="49" charset="0"/>
                <a:cs typeface="Courier New" panose="02070309020205020404" pitchFamily="49" charset="0"/>
              </a:rPr>
              <a:t> </a:t>
            </a:r>
            <a:r>
              <a:rPr lang="en-US" sz="2800" dirty="0">
                <a:solidFill>
                  <a:schemeClr val="bg1"/>
                </a:solidFill>
                <a:cs typeface="Courier New" panose="02070309020205020404" pitchFamily="49" charset="0"/>
              </a:rPr>
              <a:t>to your program.</a:t>
            </a:r>
          </a:p>
          <a:p>
            <a:pPr marL="0" indent="0">
              <a:buNone/>
            </a:pPr>
            <a:r>
              <a:rPr lang="en-US" sz="2800" dirty="0">
                <a:solidFill>
                  <a:schemeClr val="bg1"/>
                </a:solidFill>
                <a:cs typeface="Courier New" panose="02070309020205020404" pitchFamily="49" charset="0"/>
              </a:rPr>
              <a:t>The </a:t>
            </a:r>
            <a:r>
              <a:rPr lang="en-US" sz="2800" dirty="0" err="1">
                <a:solidFill>
                  <a:schemeClr val="bg1"/>
                </a:solidFill>
                <a:cs typeface="Courier New" panose="02070309020205020404" pitchFamily="49" charset="0"/>
              </a:rPr>
              <a:t>strlen</a:t>
            </a:r>
            <a:r>
              <a:rPr lang="en-US" sz="2800" dirty="0">
                <a:solidFill>
                  <a:schemeClr val="bg1"/>
                </a:solidFill>
                <a:cs typeface="Courier New" panose="02070309020205020404" pitchFamily="49" charset="0"/>
              </a:rPr>
              <a:t>() function returns the number of characters in str up to, but not including, first null terminator. </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a:t>
            </a:r>
            <a:r>
              <a:rPr lang="en-US" sz="2800" b="1" dirty="0" err="1">
                <a:solidFill>
                  <a:schemeClr val="bg1"/>
                </a:solidFill>
                <a:latin typeface="Courier New" panose="02070309020205020404" pitchFamily="49" charset="0"/>
                <a:cs typeface="Courier New" panose="02070309020205020404" pitchFamily="49" charset="0"/>
              </a:rPr>
              <a:t>fruitOne</a:t>
            </a:r>
            <a:r>
              <a:rPr lang="en-US" sz="2800" b="1" dirty="0">
                <a:solidFill>
                  <a:schemeClr val="bg1"/>
                </a:solidFill>
                <a:latin typeface="Courier New" panose="02070309020205020404" pitchFamily="49" charset="0"/>
                <a:cs typeface="Courier New" panose="02070309020205020404" pitchFamily="49" charset="0"/>
              </a:rPr>
              <a:t>[</a:t>
            </a:r>
            <a:r>
              <a:rPr lang="en-US" sz="2800" b="1" dirty="0">
                <a:solidFill>
                  <a:schemeClr val="accent6"/>
                </a:solidFill>
                <a:latin typeface="Courier New" panose="02070309020205020404" pitchFamily="49" charset="0"/>
                <a:cs typeface="Courier New" panose="02070309020205020404" pitchFamily="49" charset="0"/>
              </a:rPr>
              <a:t>10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“Apple”</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cout </a:t>
            </a:r>
            <a:r>
              <a:rPr lang="en-US" sz="2800" b="1" dirty="0">
                <a:solidFill>
                  <a:schemeClr val="bg1"/>
                </a:solidFill>
                <a:latin typeface="Courier New" panose="02070309020205020404" pitchFamily="49" charset="0"/>
                <a:cs typeface="Courier New" panose="02070309020205020404" pitchFamily="49" charset="0"/>
              </a:rPr>
              <a:t>&lt;&lt; </a:t>
            </a: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strlen</a:t>
            </a:r>
            <a:r>
              <a:rPr lang="en-US" sz="2800" b="1" dirty="0">
                <a:solidFill>
                  <a:schemeClr val="bg1"/>
                </a:solidFill>
                <a:latin typeface="Courier New" panose="02070309020205020404" pitchFamily="49" charset="0"/>
                <a:cs typeface="Courier New" panose="02070309020205020404" pitchFamily="49" charset="0"/>
              </a:rPr>
              <a:t>(</a:t>
            </a:r>
            <a:r>
              <a:rPr lang="en-US" sz="2800" b="1" dirty="0" err="1">
                <a:solidFill>
                  <a:schemeClr val="bg1"/>
                </a:solidFill>
                <a:latin typeface="Courier New" panose="02070309020205020404" pitchFamily="49" charset="0"/>
                <a:cs typeface="Courier New" panose="02070309020205020404" pitchFamily="49" charset="0"/>
              </a:rPr>
              <a:t>fruitOne</a:t>
            </a:r>
            <a:r>
              <a:rPr lang="en-US" sz="2800" b="1" dirty="0">
                <a:solidFill>
                  <a:schemeClr val="bg1"/>
                </a:solidFill>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//would print 5</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int</a:t>
            </a:r>
            <a:r>
              <a:rPr lang="en-US" sz="2800" b="1" dirty="0">
                <a:solidFill>
                  <a:schemeClr val="bg1"/>
                </a:solidFill>
                <a:latin typeface="Courier New" panose="02070309020205020404" pitchFamily="49" charset="0"/>
                <a:cs typeface="Courier New" panose="02070309020205020404" pitchFamily="49" charset="0"/>
              </a:rPr>
              <a:t> size = </a:t>
            </a: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strlen</a:t>
            </a:r>
            <a:r>
              <a:rPr lang="en-US" sz="2800" b="1" dirty="0">
                <a:solidFill>
                  <a:schemeClr val="bg1"/>
                </a:solidFill>
                <a:latin typeface="Courier New" panose="02070309020205020404" pitchFamily="49" charset="0"/>
                <a:cs typeface="Courier New" panose="02070309020205020404" pitchFamily="49" charset="0"/>
              </a:rPr>
              <a:t>(</a:t>
            </a:r>
            <a:r>
              <a:rPr lang="en-US" sz="2800" b="1" dirty="0" err="1">
                <a:solidFill>
                  <a:schemeClr val="bg1"/>
                </a:solidFill>
                <a:latin typeface="Courier New" panose="02070309020205020404" pitchFamily="49" charset="0"/>
                <a:cs typeface="Courier New" panose="02070309020205020404" pitchFamily="49" charset="0"/>
              </a:rPr>
              <a:t>fruitOne</a:t>
            </a:r>
            <a:r>
              <a:rPr lang="en-US" sz="2800" b="1" dirty="0">
                <a:solidFill>
                  <a:schemeClr val="bg1"/>
                </a:solidFill>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//would store 5 in size</a:t>
            </a:r>
          </a:p>
          <a:p>
            <a:pPr marL="0" indent="0">
              <a:buNone/>
            </a:pPr>
            <a:endParaRPr lang="en-US" altLang="en-US" sz="2800" dirty="0">
              <a:solidFill>
                <a:schemeClr val="bg1"/>
              </a:solidFill>
            </a:endParaRPr>
          </a:p>
        </p:txBody>
      </p:sp>
    </p:spTree>
    <p:extLst>
      <p:ext uri="{BB962C8B-B14F-4D97-AF65-F5344CB8AC3E}">
        <p14:creationId xmlns:p14="http://schemas.microsoft.com/office/powerpoint/2010/main" val="30184967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Functions - </a:t>
            </a:r>
            <a:r>
              <a:rPr lang="en-US" b="1" dirty="0" err="1">
                <a:solidFill>
                  <a:srgbClr val="4F2984"/>
                </a:solidFill>
                <a:latin typeface="Amasis MT Pro Black" panose="02040A04050005020304" pitchFamily="18" charset="0"/>
              </a:rPr>
              <a:t>strcmp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lnSpcReduction="10000"/>
          </a:bodyPr>
          <a:lstStyle/>
          <a:p>
            <a:pPr marL="0" indent="0">
              <a:buNone/>
            </a:pPr>
            <a:r>
              <a:rPr lang="en-US" sz="2800" dirty="0">
                <a:solidFill>
                  <a:schemeClr val="bg1"/>
                </a:solidFill>
                <a:cs typeface="Courier New" panose="02070309020205020404" pitchFamily="49" charset="0"/>
              </a:rPr>
              <a:t>There are several c-string library functions you can use when you add </a:t>
            </a:r>
            <a:r>
              <a:rPr lang="en-US" sz="2800" b="1" dirty="0">
                <a:solidFill>
                  <a:schemeClr val="bg1"/>
                </a:solidFill>
                <a:highlight>
                  <a:srgbClr val="FFFF00"/>
                </a:highlight>
                <a:latin typeface="Courier New" panose="02070309020205020404" pitchFamily="49" charset="0"/>
                <a:cs typeface="Courier New" panose="02070309020205020404" pitchFamily="49" charset="0"/>
              </a:rPr>
              <a:t>#include &lt;</a:t>
            </a: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cstring</a:t>
            </a:r>
            <a:r>
              <a:rPr lang="en-US" sz="2800" b="1" dirty="0">
                <a:solidFill>
                  <a:schemeClr val="bg1"/>
                </a:solidFill>
                <a:highlight>
                  <a:srgbClr val="FFFF00"/>
                </a:highlight>
                <a:latin typeface="Courier New" panose="02070309020205020404" pitchFamily="49" charset="0"/>
                <a:cs typeface="Courier New" panose="02070309020205020404" pitchFamily="49" charset="0"/>
              </a:rPr>
              <a:t>&gt;</a:t>
            </a:r>
            <a:r>
              <a:rPr lang="en-US" sz="2800" b="1" dirty="0">
                <a:solidFill>
                  <a:srgbClr val="FF0000"/>
                </a:solidFill>
                <a:latin typeface="Courier New" panose="02070309020205020404" pitchFamily="49" charset="0"/>
                <a:cs typeface="Courier New" panose="02070309020205020404" pitchFamily="49" charset="0"/>
              </a:rPr>
              <a:t> </a:t>
            </a:r>
            <a:r>
              <a:rPr lang="en-US" sz="2800" dirty="0">
                <a:solidFill>
                  <a:schemeClr val="bg1"/>
                </a:solidFill>
                <a:cs typeface="Courier New" panose="02070309020205020404" pitchFamily="49" charset="0"/>
              </a:rPr>
              <a:t>to your program.</a:t>
            </a:r>
          </a:p>
          <a:p>
            <a:pPr marL="0" indent="0">
              <a:buNone/>
            </a:pP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strcmp</a:t>
            </a:r>
            <a:r>
              <a:rPr lang="en-US" sz="2800" b="1" dirty="0">
                <a:solidFill>
                  <a:schemeClr val="bg1"/>
                </a:solidFill>
                <a:highlight>
                  <a:srgbClr val="FFFF00"/>
                </a:highlight>
                <a:latin typeface="Courier New" panose="02070309020205020404" pitchFamily="49" charset="0"/>
                <a:cs typeface="Courier New" panose="02070309020205020404" pitchFamily="49" charset="0"/>
              </a:rPr>
              <a:t>(str1, str2)</a:t>
            </a:r>
          </a:p>
          <a:p>
            <a:pPr lvl="1"/>
            <a:r>
              <a:rPr lang="en-US" sz="2600" dirty="0">
                <a:solidFill>
                  <a:schemeClr val="bg1"/>
                </a:solidFill>
                <a:cs typeface="Courier New" panose="02070309020205020404" pitchFamily="49" charset="0"/>
              </a:rPr>
              <a:t>used to </a:t>
            </a:r>
            <a:r>
              <a:rPr lang="en-US" sz="2600" b="1" dirty="0">
                <a:solidFill>
                  <a:schemeClr val="bg1"/>
                </a:solidFill>
                <a:cs typeface="Courier New" panose="02070309020205020404" pitchFamily="49" charset="0"/>
              </a:rPr>
              <a:t>compare</a:t>
            </a:r>
            <a:r>
              <a:rPr lang="en-US" sz="2600" dirty="0">
                <a:solidFill>
                  <a:schemeClr val="bg1"/>
                </a:solidFill>
                <a:cs typeface="Courier New" panose="02070309020205020404" pitchFamily="49" charset="0"/>
              </a:rPr>
              <a:t> two string literals or c-strings</a:t>
            </a:r>
          </a:p>
          <a:p>
            <a:pPr lvl="1"/>
            <a:r>
              <a:rPr lang="en-US" sz="2600" dirty="0">
                <a:solidFill>
                  <a:schemeClr val="bg1"/>
                </a:solidFill>
                <a:cs typeface="Courier New" panose="02070309020205020404" pitchFamily="49" charset="0"/>
              </a:rPr>
              <a:t>Returns an integer – zero if the two strings are identical and either a positive or negative number if they are not.</a:t>
            </a:r>
          </a:p>
          <a:p>
            <a:pPr lvl="1"/>
            <a:r>
              <a:rPr lang="en-US" sz="2600" dirty="0">
                <a:solidFill>
                  <a:schemeClr val="bg1"/>
                </a:solidFill>
                <a:cs typeface="Courier New" panose="02070309020205020404" pitchFamily="49" charset="0"/>
              </a:rPr>
              <a:t>Case sensitive</a:t>
            </a:r>
          </a:p>
          <a:p>
            <a:pPr marL="0" lvl="1" indent="0">
              <a:buNone/>
            </a:pPr>
            <a:r>
              <a:rPr lang="en-US" sz="2000" b="1" dirty="0">
                <a:solidFill>
                  <a:srgbClr val="0070C0"/>
                </a:solidFill>
                <a:latin typeface="Courier New" panose="02070309020205020404" pitchFamily="49" charset="0"/>
                <a:cs typeface="Courier New" panose="02070309020205020404" pitchFamily="49" charset="0"/>
              </a:rPr>
              <a:t>char</a:t>
            </a: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fruitOne</a:t>
            </a:r>
            <a:r>
              <a:rPr lang="en-US" sz="2000" b="1" dirty="0">
                <a:solidFill>
                  <a:schemeClr val="bg1"/>
                </a:solidFill>
                <a:latin typeface="Courier New" panose="02070309020205020404" pitchFamily="49" charset="0"/>
                <a:cs typeface="Courier New" panose="02070309020205020404" pitchFamily="49" charset="0"/>
              </a:rPr>
              <a:t>[</a:t>
            </a:r>
            <a:r>
              <a:rPr lang="en-US" sz="2000" b="1" dirty="0">
                <a:solidFill>
                  <a:schemeClr val="accent6"/>
                </a:solidFill>
                <a:latin typeface="Courier New" panose="02070309020205020404" pitchFamily="49" charset="0"/>
                <a:cs typeface="Courier New" panose="02070309020205020404" pitchFamily="49" charset="0"/>
              </a:rPr>
              <a:t>10</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a:solidFill>
                  <a:schemeClr val="bg2">
                    <a:lumMod val="60000"/>
                    <a:lumOff val="40000"/>
                  </a:schemeClr>
                </a:solidFill>
                <a:latin typeface="Courier New" panose="02070309020205020404" pitchFamily="49" charset="0"/>
                <a:cs typeface="Courier New" panose="02070309020205020404" pitchFamily="49" charset="0"/>
              </a:rPr>
              <a:t>“Apple”</a:t>
            </a:r>
            <a:r>
              <a:rPr lang="en-US" sz="2000" b="1" dirty="0">
                <a:solidFill>
                  <a:schemeClr val="bg1"/>
                </a:solidFill>
                <a:latin typeface="Courier New" panose="02070309020205020404" pitchFamily="49" charset="0"/>
                <a:cs typeface="Courier New" panose="02070309020205020404" pitchFamily="49" charset="0"/>
              </a:rPr>
              <a:t>;</a:t>
            </a:r>
            <a:br>
              <a:rPr lang="en-US" sz="2000" b="1" dirty="0">
                <a:solidFill>
                  <a:schemeClr val="bg1"/>
                </a:solidFill>
                <a:latin typeface="Courier New" panose="02070309020205020404" pitchFamily="49" charset="0"/>
                <a:cs typeface="Courier New" panose="02070309020205020404" pitchFamily="49" charset="0"/>
              </a:rPr>
            </a:br>
            <a:r>
              <a:rPr lang="en-US" sz="2000" b="1" dirty="0">
                <a:solidFill>
                  <a:srgbClr val="0070C0"/>
                </a:solidFill>
                <a:latin typeface="Courier New" panose="02070309020205020404" pitchFamily="49" charset="0"/>
                <a:cs typeface="Courier New" panose="02070309020205020404" pitchFamily="49" charset="0"/>
              </a:rPr>
              <a:t>char</a:t>
            </a: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fruitTwo</a:t>
            </a:r>
            <a:r>
              <a:rPr lang="en-US" sz="2000" b="1" dirty="0">
                <a:solidFill>
                  <a:schemeClr val="bg1"/>
                </a:solidFill>
                <a:latin typeface="Courier New" panose="02070309020205020404" pitchFamily="49" charset="0"/>
                <a:cs typeface="Courier New" panose="02070309020205020404" pitchFamily="49" charset="0"/>
              </a:rPr>
              <a:t>[</a:t>
            </a:r>
            <a:r>
              <a:rPr lang="en-US" sz="2000" b="1" dirty="0">
                <a:solidFill>
                  <a:schemeClr val="accent6"/>
                </a:solidFill>
                <a:latin typeface="Courier New" panose="02070309020205020404" pitchFamily="49" charset="0"/>
                <a:cs typeface="Courier New" panose="02070309020205020404" pitchFamily="49" charset="0"/>
              </a:rPr>
              <a:t>10</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a:solidFill>
                  <a:schemeClr val="bg2">
                    <a:lumMod val="60000"/>
                    <a:lumOff val="40000"/>
                  </a:schemeClr>
                </a:solidFill>
                <a:latin typeface="Courier New" panose="02070309020205020404" pitchFamily="49" charset="0"/>
                <a:cs typeface="Courier New" panose="02070309020205020404" pitchFamily="49" charset="0"/>
              </a:rPr>
              <a:t>“Banana”</a:t>
            </a:r>
            <a:r>
              <a:rPr lang="en-US" sz="2000" b="1" dirty="0">
                <a:solidFill>
                  <a:schemeClr val="bg1"/>
                </a:solidFill>
                <a:latin typeface="Courier New" panose="02070309020205020404" pitchFamily="49" charset="0"/>
                <a:cs typeface="Courier New" panose="02070309020205020404" pitchFamily="49" charset="0"/>
              </a:rPr>
              <a:t>;</a:t>
            </a:r>
            <a:br>
              <a:rPr lang="en-US" sz="2000" b="1" dirty="0">
                <a:solidFill>
                  <a:schemeClr val="bg1"/>
                </a:solidFill>
                <a:latin typeface="Courier New" panose="02070309020205020404" pitchFamily="49" charset="0"/>
                <a:cs typeface="Courier New" panose="02070309020205020404" pitchFamily="49" charset="0"/>
              </a:rPr>
            </a:br>
            <a:br>
              <a:rPr lang="en-US" sz="2000" b="1" dirty="0">
                <a:solidFill>
                  <a:schemeClr val="bg1"/>
                </a:solidFill>
                <a:latin typeface="Courier New" panose="02070309020205020404" pitchFamily="49" charset="0"/>
                <a:cs typeface="Courier New" panose="02070309020205020404" pitchFamily="49" charset="0"/>
              </a:rPr>
            </a:br>
            <a:r>
              <a:rPr lang="en-US" sz="2000" b="1" dirty="0">
                <a:solidFill>
                  <a:srgbClr val="0070C0"/>
                </a:solidFill>
                <a:latin typeface="Courier New" panose="02070309020205020404" pitchFamily="49" charset="0"/>
                <a:cs typeface="Courier New" panose="02070309020205020404" pitchFamily="49" charset="0"/>
              </a:rPr>
              <a:t>if</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strcmp</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fruitOne</a:t>
            </a:r>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fruitTwo</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a:solidFill>
                  <a:schemeClr val="accent6"/>
                </a:solidFill>
                <a:latin typeface="Courier New" panose="02070309020205020404" pitchFamily="49" charset="0"/>
                <a:cs typeface="Courier New" panose="02070309020205020404" pitchFamily="49" charset="0"/>
              </a:rPr>
              <a:t>0</a:t>
            </a:r>
            <a:r>
              <a:rPr lang="en-US" sz="2000" b="1" dirty="0">
                <a:solidFill>
                  <a:schemeClr val="bg1"/>
                </a:solidFill>
                <a:latin typeface="Courier New" panose="02070309020205020404" pitchFamily="49" charset="0"/>
                <a:cs typeface="Courier New" panose="02070309020205020404" pitchFamily="49" charset="0"/>
              </a:rPr>
              <a:t>) </a:t>
            </a:r>
            <a:r>
              <a:rPr lang="en-US" sz="2000" b="1" dirty="0">
                <a:solidFill>
                  <a:srgbClr val="00B050"/>
                </a:solidFill>
                <a:latin typeface="Courier New" panose="02070309020205020404" pitchFamily="49" charset="0"/>
                <a:cs typeface="Courier New" panose="02070309020205020404" pitchFamily="49" charset="0"/>
              </a:rPr>
              <a:t>//this would be false</a:t>
            </a:r>
            <a:br>
              <a:rPr lang="en-US" sz="2000" b="1" dirty="0">
                <a:solidFill>
                  <a:schemeClr val="bg1"/>
                </a:solidFill>
                <a:latin typeface="Courier New" panose="02070309020205020404" pitchFamily="49" charset="0"/>
                <a:cs typeface="Courier New" panose="02070309020205020404" pitchFamily="49" charset="0"/>
              </a:rPr>
            </a:br>
            <a:r>
              <a:rPr lang="en-US" sz="2000" b="1" dirty="0">
                <a:solidFill>
                  <a:schemeClr val="bg1"/>
                </a:solidFill>
                <a:latin typeface="Courier New" panose="02070309020205020404" pitchFamily="49" charset="0"/>
                <a:cs typeface="Courier New" panose="02070309020205020404" pitchFamily="49" charset="0"/>
              </a:rPr>
              <a:t>     </a:t>
            </a:r>
            <a:r>
              <a:rPr lang="en-US" sz="2000" b="1" dirty="0">
                <a:solidFill>
                  <a:srgbClr val="0070C0"/>
                </a:solidFill>
                <a:latin typeface="Courier New" panose="02070309020205020404" pitchFamily="49" charset="0"/>
                <a:cs typeface="Courier New" panose="02070309020205020404" pitchFamily="49" charset="0"/>
              </a:rPr>
              <a:t>cout</a:t>
            </a:r>
            <a:r>
              <a:rPr lang="en-US" sz="2000" b="1" dirty="0">
                <a:solidFill>
                  <a:schemeClr val="bg1"/>
                </a:solidFill>
                <a:latin typeface="Courier New" panose="02070309020205020404" pitchFamily="49" charset="0"/>
                <a:cs typeface="Courier New" panose="02070309020205020404" pitchFamily="49" charset="0"/>
              </a:rPr>
              <a:t> &lt;&lt; </a:t>
            </a:r>
            <a:r>
              <a:rPr lang="en-US" sz="2000" b="1" dirty="0" err="1">
                <a:solidFill>
                  <a:schemeClr val="bg1"/>
                </a:solidFill>
                <a:latin typeface="Courier New" panose="02070309020205020404" pitchFamily="49" charset="0"/>
                <a:cs typeface="Courier New" panose="02070309020205020404" pitchFamily="49" charset="0"/>
              </a:rPr>
              <a:t>fruitOne</a:t>
            </a:r>
            <a:r>
              <a:rPr lang="en-US" sz="2000" b="1" dirty="0">
                <a:solidFill>
                  <a:schemeClr val="bg1"/>
                </a:solidFill>
                <a:latin typeface="Courier New" panose="02070309020205020404" pitchFamily="49" charset="0"/>
                <a:cs typeface="Courier New" panose="02070309020205020404" pitchFamily="49" charset="0"/>
              </a:rPr>
              <a:t> &lt;&lt; </a:t>
            </a:r>
            <a:r>
              <a:rPr lang="en-US" sz="2000" b="1" dirty="0">
                <a:solidFill>
                  <a:schemeClr val="bg2">
                    <a:lumMod val="60000"/>
                    <a:lumOff val="40000"/>
                  </a:schemeClr>
                </a:solidFill>
                <a:latin typeface="Courier New" panose="02070309020205020404" pitchFamily="49" charset="0"/>
                <a:cs typeface="Courier New" panose="02070309020205020404" pitchFamily="49" charset="0"/>
              </a:rPr>
              <a:t>“ and “</a:t>
            </a:r>
            <a:r>
              <a:rPr lang="en-US" sz="2000" b="1" dirty="0">
                <a:solidFill>
                  <a:schemeClr val="bg1"/>
                </a:solidFill>
                <a:latin typeface="Courier New" panose="02070309020205020404" pitchFamily="49" charset="0"/>
                <a:cs typeface="Courier New" panose="02070309020205020404" pitchFamily="49" charset="0"/>
              </a:rPr>
              <a:t> &lt;&lt; </a:t>
            </a:r>
            <a:r>
              <a:rPr lang="en-US" sz="2000" b="1" dirty="0" err="1">
                <a:solidFill>
                  <a:schemeClr val="bg1"/>
                </a:solidFill>
                <a:latin typeface="Courier New" panose="02070309020205020404" pitchFamily="49" charset="0"/>
                <a:cs typeface="Courier New" panose="02070309020205020404" pitchFamily="49" charset="0"/>
              </a:rPr>
              <a:t>fruitTwo</a:t>
            </a:r>
            <a:r>
              <a:rPr lang="en-US" sz="2000" b="1" dirty="0">
                <a:solidFill>
                  <a:schemeClr val="bg1"/>
                </a:solidFill>
                <a:latin typeface="Courier New" panose="02070309020205020404" pitchFamily="49" charset="0"/>
                <a:cs typeface="Courier New" panose="02070309020205020404" pitchFamily="49" charset="0"/>
              </a:rPr>
              <a:t> &lt;&lt; </a:t>
            </a:r>
            <a:r>
              <a:rPr lang="en-US" sz="2000" b="1" dirty="0">
                <a:solidFill>
                  <a:schemeClr val="bg2">
                    <a:lumMod val="60000"/>
                    <a:lumOff val="40000"/>
                  </a:schemeClr>
                </a:solidFill>
                <a:latin typeface="Courier New" panose="02070309020205020404" pitchFamily="49" charset="0"/>
                <a:cs typeface="Courier New" panose="02070309020205020404" pitchFamily="49" charset="0"/>
              </a:rPr>
              <a:t>“ are the same.\n”</a:t>
            </a:r>
            <a:r>
              <a:rPr lang="en-US" sz="2000" b="1" dirty="0">
                <a:solidFill>
                  <a:schemeClr val="bg1"/>
                </a:solidFill>
                <a:latin typeface="Courier New" panose="02070309020205020404" pitchFamily="49" charset="0"/>
                <a:cs typeface="Courier New" panose="02070309020205020404" pitchFamily="49" charset="0"/>
              </a:rPr>
              <a:t>;</a:t>
            </a:r>
            <a:br>
              <a:rPr lang="en-US" sz="2000" b="1" dirty="0">
                <a:solidFill>
                  <a:schemeClr val="bg1"/>
                </a:solidFill>
                <a:latin typeface="Courier New" panose="02070309020205020404" pitchFamily="49" charset="0"/>
                <a:cs typeface="Courier New" panose="02070309020205020404" pitchFamily="49" charset="0"/>
              </a:rPr>
            </a:br>
            <a:br>
              <a:rPr lang="en-US" sz="2000" b="1" dirty="0">
                <a:solidFill>
                  <a:schemeClr val="bg1"/>
                </a:solidFill>
                <a:latin typeface="Courier New" panose="02070309020205020404" pitchFamily="49" charset="0"/>
                <a:cs typeface="Courier New" panose="02070309020205020404" pitchFamily="49" charset="0"/>
              </a:rPr>
            </a:br>
            <a:r>
              <a:rPr lang="en-US" sz="2000" b="1" dirty="0">
                <a:solidFill>
                  <a:srgbClr val="0070C0"/>
                </a:solidFill>
                <a:latin typeface="Courier New" panose="02070309020205020404" pitchFamily="49" charset="0"/>
                <a:cs typeface="Courier New" panose="02070309020205020404" pitchFamily="49" charset="0"/>
              </a:rPr>
              <a:t>if</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strcmp</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fruitOne</a:t>
            </a:r>
            <a:r>
              <a:rPr lang="en-US" sz="2000" b="1" dirty="0">
                <a:solidFill>
                  <a:schemeClr val="bg1"/>
                </a:solidFill>
                <a:latin typeface="Courier New" panose="02070309020205020404" pitchFamily="49" charset="0"/>
                <a:cs typeface="Courier New" panose="02070309020205020404" pitchFamily="49" charset="0"/>
              </a:rPr>
              <a:t>, </a:t>
            </a:r>
            <a:r>
              <a:rPr lang="en-US" sz="2000" b="1" dirty="0">
                <a:solidFill>
                  <a:schemeClr val="bg2">
                    <a:lumMod val="60000"/>
                    <a:lumOff val="40000"/>
                  </a:schemeClr>
                </a:solidFill>
                <a:latin typeface="Courier New" panose="02070309020205020404" pitchFamily="49" charset="0"/>
                <a:cs typeface="Courier New" panose="02070309020205020404" pitchFamily="49" charset="0"/>
              </a:rPr>
              <a:t>“Apple”</a:t>
            </a:r>
            <a:r>
              <a:rPr lang="en-US" sz="2000" b="1" dirty="0">
                <a:solidFill>
                  <a:schemeClr val="bg1"/>
                </a:solidFill>
                <a:latin typeface="Courier New" panose="02070309020205020404" pitchFamily="49" charset="0"/>
                <a:cs typeface="Courier New" panose="02070309020205020404" pitchFamily="49" charset="0"/>
              </a:rPr>
              <a:t>) == </a:t>
            </a:r>
            <a:r>
              <a:rPr lang="en-US" sz="2000" b="1" dirty="0">
                <a:solidFill>
                  <a:schemeClr val="accent6"/>
                </a:solidFill>
                <a:latin typeface="Courier New" panose="02070309020205020404" pitchFamily="49" charset="0"/>
                <a:cs typeface="Courier New" panose="02070309020205020404" pitchFamily="49" charset="0"/>
              </a:rPr>
              <a:t>0</a:t>
            </a:r>
            <a:r>
              <a:rPr lang="en-US" sz="2000" b="1" dirty="0">
                <a:solidFill>
                  <a:schemeClr val="bg1"/>
                </a:solidFill>
                <a:latin typeface="Courier New" panose="02070309020205020404" pitchFamily="49" charset="0"/>
                <a:cs typeface="Courier New" panose="02070309020205020404" pitchFamily="49" charset="0"/>
              </a:rPr>
              <a:t>) </a:t>
            </a:r>
            <a:r>
              <a:rPr lang="en-US" sz="2000" b="1" dirty="0">
                <a:solidFill>
                  <a:srgbClr val="00B050"/>
                </a:solidFill>
                <a:latin typeface="Courier New" panose="02070309020205020404" pitchFamily="49" charset="0"/>
                <a:cs typeface="Courier New" panose="02070309020205020404" pitchFamily="49" charset="0"/>
              </a:rPr>
              <a:t>//this would be true</a:t>
            </a:r>
            <a:br>
              <a:rPr lang="en-US" sz="2000" b="1" dirty="0">
                <a:solidFill>
                  <a:srgbClr val="00B050"/>
                </a:solidFill>
                <a:latin typeface="Courier New" panose="02070309020205020404" pitchFamily="49" charset="0"/>
                <a:cs typeface="Courier New" panose="02070309020205020404" pitchFamily="49" charset="0"/>
              </a:rPr>
            </a:br>
            <a:r>
              <a:rPr lang="en-US" sz="2000" b="1" dirty="0">
                <a:solidFill>
                  <a:schemeClr val="bg1"/>
                </a:solidFill>
                <a:latin typeface="Courier New" panose="02070309020205020404" pitchFamily="49" charset="0"/>
                <a:cs typeface="Courier New" panose="02070309020205020404" pitchFamily="49" charset="0"/>
              </a:rPr>
              <a:t>     </a:t>
            </a:r>
            <a:r>
              <a:rPr lang="en-US" sz="2000" b="1" dirty="0">
                <a:solidFill>
                  <a:srgbClr val="0070C0"/>
                </a:solidFill>
                <a:latin typeface="Courier New" panose="02070309020205020404" pitchFamily="49" charset="0"/>
                <a:cs typeface="Courier New" panose="02070309020205020404" pitchFamily="49" charset="0"/>
              </a:rPr>
              <a:t>cout</a:t>
            </a:r>
            <a:r>
              <a:rPr lang="en-US" sz="2000" b="1" dirty="0">
                <a:solidFill>
                  <a:schemeClr val="bg1"/>
                </a:solidFill>
                <a:latin typeface="Courier New" panose="02070309020205020404" pitchFamily="49" charset="0"/>
                <a:cs typeface="Courier New" panose="02070309020205020404" pitchFamily="49" charset="0"/>
              </a:rPr>
              <a:t> &lt;&lt; </a:t>
            </a:r>
            <a:r>
              <a:rPr lang="en-US" sz="2000" b="1" dirty="0" err="1">
                <a:solidFill>
                  <a:schemeClr val="bg1"/>
                </a:solidFill>
                <a:latin typeface="Courier New" panose="02070309020205020404" pitchFamily="49" charset="0"/>
                <a:cs typeface="Courier New" panose="02070309020205020404" pitchFamily="49" charset="0"/>
              </a:rPr>
              <a:t>fruitOne</a:t>
            </a:r>
            <a:r>
              <a:rPr lang="en-US" sz="2000" b="1" dirty="0">
                <a:solidFill>
                  <a:schemeClr val="bg1"/>
                </a:solidFill>
                <a:latin typeface="Courier New" panose="02070309020205020404" pitchFamily="49" charset="0"/>
                <a:cs typeface="Courier New" panose="02070309020205020404" pitchFamily="49" charset="0"/>
              </a:rPr>
              <a:t> &lt;&lt; </a:t>
            </a:r>
            <a:r>
              <a:rPr lang="en-US" sz="2000" b="1" dirty="0">
                <a:solidFill>
                  <a:schemeClr val="bg2">
                    <a:lumMod val="60000"/>
                    <a:lumOff val="40000"/>
                  </a:schemeClr>
                </a:solidFill>
                <a:latin typeface="Courier New" panose="02070309020205020404" pitchFamily="49" charset="0"/>
                <a:cs typeface="Courier New" panose="02070309020205020404" pitchFamily="49" charset="0"/>
              </a:rPr>
              <a:t>“ and Apple are the same.\n”</a:t>
            </a:r>
            <a:r>
              <a:rPr lang="en-US" sz="2000" b="1" dirty="0">
                <a:solidFill>
                  <a:schemeClr val="bg1"/>
                </a:solidFill>
                <a:latin typeface="Courier New" panose="02070309020205020404" pitchFamily="49" charset="0"/>
                <a:cs typeface="Courier New" panose="02070309020205020404" pitchFamily="49" charset="0"/>
              </a:rPr>
              <a:t>;</a:t>
            </a:r>
            <a:endParaRPr lang="en-US" sz="2400" b="1" dirty="0">
              <a:solidFill>
                <a:schemeClr val="bg1"/>
              </a:solidFill>
              <a:latin typeface="Courier New" panose="02070309020205020404" pitchFamily="49" charset="0"/>
              <a:cs typeface="Courier New" panose="02070309020205020404" pitchFamily="49" charset="0"/>
            </a:endParaRPr>
          </a:p>
          <a:p>
            <a:pPr marL="0" indent="0">
              <a:buNone/>
            </a:pPr>
            <a:endParaRPr lang="en-US" altLang="en-US" sz="2800" dirty="0">
              <a:solidFill>
                <a:schemeClr val="bg1"/>
              </a:solidFill>
            </a:endParaRPr>
          </a:p>
        </p:txBody>
      </p:sp>
    </p:spTree>
    <p:extLst>
      <p:ext uri="{BB962C8B-B14F-4D97-AF65-F5344CB8AC3E}">
        <p14:creationId xmlns:p14="http://schemas.microsoft.com/office/powerpoint/2010/main" val="2666222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Functions - </a:t>
            </a:r>
            <a:r>
              <a:rPr lang="en-US" b="1" dirty="0" err="1">
                <a:solidFill>
                  <a:srgbClr val="4F2984"/>
                </a:solidFill>
                <a:latin typeface="Amasis MT Pro Black" panose="02040A04050005020304" pitchFamily="18" charset="0"/>
              </a:rPr>
              <a:t>strcpy</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fontScale="85000" lnSpcReduction="20000"/>
          </a:bodyPr>
          <a:lstStyle/>
          <a:p>
            <a:pPr marL="0" indent="0">
              <a:buNone/>
            </a:pPr>
            <a:r>
              <a:rPr lang="en-US" sz="2800" dirty="0">
                <a:solidFill>
                  <a:schemeClr val="bg1"/>
                </a:solidFill>
                <a:cs typeface="Courier New" panose="02070309020205020404" pitchFamily="49" charset="0"/>
              </a:rPr>
              <a:t>You can’t use the assignment operator with c-strings.  For example, if str1 and str are both c-strings, you would get an error for the following statement:</a:t>
            </a:r>
          </a:p>
          <a:p>
            <a:pPr marL="0" indent="0">
              <a:buNone/>
            </a:pPr>
            <a:r>
              <a:rPr lang="en-US" sz="2800" b="1" dirty="0">
                <a:solidFill>
                  <a:schemeClr val="bg1"/>
                </a:solidFill>
                <a:latin typeface="Courier New" panose="02070309020205020404" pitchFamily="49" charset="0"/>
                <a:cs typeface="Courier New" panose="02070309020205020404" pitchFamily="49" charset="0"/>
              </a:rPr>
              <a:t>str1 = str2; </a:t>
            </a:r>
            <a:r>
              <a:rPr lang="en-US" sz="2800" b="1" dirty="0">
                <a:solidFill>
                  <a:srgbClr val="00B050"/>
                </a:solidFill>
                <a:latin typeface="Courier New" panose="02070309020205020404" pitchFamily="49" charset="0"/>
                <a:cs typeface="Courier New" panose="02070309020205020404" pitchFamily="49" charset="0"/>
              </a:rPr>
              <a:t>//ERROR!</a:t>
            </a:r>
          </a:p>
          <a:p>
            <a:pPr marL="0" indent="0">
              <a:buNone/>
            </a:pPr>
            <a:r>
              <a:rPr lang="en-US" sz="2800" b="1" dirty="0">
                <a:solidFill>
                  <a:schemeClr val="bg1"/>
                </a:solidFill>
                <a:latin typeface="Courier New" panose="02070309020205020404" pitchFamily="49" charset="0"/>
                <a:cs typeface="Courier New" panose="02070309020205020404" pitchFamily="49" charset="0"/>
              </a:rPr>
              <a:t>str1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“hello”</a:t>
            </a:r>
            <a:r>
              <a:rPr lang="en-US" sz="2800" b="1" dirty="0">
                <a:solidFill>
                  <a:schemeClr val="bg1"/>
                </a:solidFill>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//ERROR!</a:t>
            </a:r>
          </a:p>
          <a:p>
            <a:pPr marL="0" indent="0">
              <a:buNone/>
            </a:pPr>
            <a:r>
              <a:rPr lang="en-US" sz="2800" dirty="0">
                <a:solidFill>
                  <a:schemeClr val="bg1"/>
                </a:solidFill>
                <a:cs typeface="Courier New" panose="02070309020205020404" pitchFamily="49" charset="0"/>
              </a:rPr>
              <a:t>Instead, add </a:t>
            </a:r>
            <a:r>
              <a:rPr lang="en-US" sz="2800" b="1" dirty="0">
                <a:solidFill>
                  <a:schemeClr val="bg1"/>
                </a:solidFill>
                <a:latin typeface="Courier New" panose="02070309020205020404" pitchFamily="49" charset="0"/>
                <a:cs typeface="Courier New" panose="02070309020205020404" pitchFamily="49" charset="0"/>
              </a:rPr>
              <a:t>#include &lt;</a:t>
            </a:r>
            <a:r>
              <a:rPr lang="en-US" sz="2800" b="1" dirty="0" err="1">
                <a:solidFill>
                  <a:schemeClr val="bg1"/>
                </a:solidFill>
                <a:latin typeface="Courier New" panose="02070309020205020404" pitchFamily="49" charset="0"/>
                <a:cs typeface="Courier New" panose="02070309020205020404" pitchFamily="49" charset="0"/>
              </a:rPr>
              <a:t>cstring</a:t>
            </a:r>
            <a:r>
              <a:rPr lang="en-US" sz="2800" b="1" dirty="0">
                <a:solidFill>
                  <a:schemeClr val="bg1"/>
                </a:solidFill>
                <a:latin typeface="Courier New" panose="02070309020205020404" pitchFamily="49" charset="0"/>
                <a:cs typeface="Courier New" panose="02070309020205020404" pitchFamily="49" charset="0"/>
              </a:rPr>
              <a:t>&gt; </a:t>
            </a:r>
            <a:r>
              <a:rPr lang="en-US" sz="2800" dirty="0">
                <a:solidFill>
                  <a:schemeClr val="bg1"/>
                </a:solidFill>
                <a:cs typeface="Courier New" panose="02070309020205020404" pitchFamily="49" charset="0"/>
              </a:rPr>
              <a:t>to your program and use the </a:t>
            </a:r>
            <a:r>
              <a:rPr lang="en-US" sz="2800" b="1" dirty="0" err="1">
                <a:solidFill>
                  <a:schemeClr val="bg1"/>
                </a:solidFill>
                <a:cs typeface="Courier New" panose="02070309020205020404" pitchFamily="49" charset="0"/>
              </a:rPr>
              <a:t>strcpy</a:t>
            </a:r>
            <a:r>
              <a:rPr lang="en-US" sz="2800" dirty="0">
                <a:solidFill>
                  <a:schemeClr val="bg1"/>
                </a:solidFill>
                <a:cs typeface="Courier New" panose="02070309020205020404" pitchFamily="49" charset="0"/>
              </a:rPr>
              <a:t> or </a:t>
            </a:r>
            <a:r>
              <a:rPr lang="en-US" sz="2800" b="1" dirty="0" err="1">
                <a:solidFill>
                  <a:schemeClr val="bg1"/>
                </a:solidFill>
                <a:cs typeface="Courier New" panose="02070309020205020404" pitchFamily="49" charset="0"/>
              </a:rPr>
              <a:t>strncpy</a:t>
            </a:r>
            <a:r>
              <a:rPr lang="en-US" sz="2800" dirty="0">
                <a:solidFill>
                  <a:schemeClr val="bg1"/>
                </a:solidFill>
                <a:cs typeface="Courier New" panose="02070309020205020404" pitchFamily="49" charset="0"/>
              </a:rPr>
              <a:t> function.</a:t>
            </a:r>
          </a:p>
          <a:p>
            <a:pPr lvl="1"/>
            <a:r>
              <a:rPr lang="en-US" sz="2600" dirty="0">
                <a:solidFill>
                  <a:schemeClr val="bg1"/>
                </a:solidFill>
                <a:cs typeface="Courier New" panose="02070309020205020404" pitchFamily="49" charset="0"/>
              </a:rPr>
              <a:t>Copies str2 (up to and including null terminator) to str1</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str1[</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“Hot Sus”</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str2[</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“Sushi”</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strcpy</a:t>
            </a:r>
            <a:r>
              <a:rPr lang="en-US" sz="2800" b="1" dirty="0">
                <a:solidFill>
                  <a:schemeClr val="bg1"/>
                </a:solidFill>
                <a:highlight>
                  <a:srgbClr val="FFFF00"/>
                </a:highlight>
                <a:latin typeface="Courier New" panose="02070309020205020404" pitchFamily="49" charset="0"/>
                <a:cs typeface="Courier New" panose="02070309020205020404" pitchFamily="49" charset="0"/>
              </a:rPr>
              <a:t>(str1, str2);</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str1 &lt;&lt; endl; </a:t>
            </a:r>
            <a:r>
              <a:rPr lang="en-US" sz="2800" b="1" dirty="0">
                <a:solidFill>
                  <a:srgbClr val="00B050"/>
                </a:solidFill>
                <a:latin typeface="Courier New" panose="02070309020205020404" pitchFamily="49" charset="0"/>
                <a:cs typeface="Courier New" panose="02070309020205020404" pitchFamily="49" charset="0"/>
              </a:rPr>
              <a:t>//prints Sushi to the screen</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str2 &lt;&lt; endl; </a:t>
            </a:r>
            <a:r>
              <a:rPr lang="en-US" sz="2800" b="1" dirty="0">
                <a:solidFill>
                  <a:srgbClr val="00B050"/>
                </a:solidFill>
                <a:latin typeface="Courier New" panose="02070309020205020404" pitchFamily="49" charset="0"/>
                <a:cs typeface="Courier New" panose="02070309020205020404" pitchFamily="49" charset="0"/>
              </a:rPr>
              <a:t>//prints Sushi to the screen</a:t>
            </a:r>
            <a:endParaRPr lang="en-US" altLang="en-US" sz="2800" dirty="0">
              <a:solidFill>
                <a:srgbClr val="00B050"/>
              </a:solidFill>
            </a:endParaRPr>
          </a:p>
        </p:txBody>
      </p:sp>
    </p:spTree>
    <p:extLst>
      <p:ext uri="{BB962C8B-B14F-4D97-AF65-F5344CB8AC3E}">
        <p14:creationId xmlns:p14="http://schemas.microsoft.com/office/powerpoint/2010/main" val="9545568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Functions - </a:t>
            </a:r>
            <a:r>
              <a:rPr lang="en-US" b="1" dirty="0" err="1">
                <a:solidFill>
                  <a:srgbClr val="4F2984"/>
                </a:solidFill>
                <a:latin typeface="Amasis MT Pro Black" panose="02040A04050005020304" pitchFamily="18" charset="0"/>
              </a:rPr>
              <a:t>strncpy</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sz="2800" dirty="0">
                <a:solidFill>
                  <a:schemeClr val="bg1"/>
                </a:solidFill>
                <a:cs typeface="Courier New" panose="02070309020205020404" pitchFamily="49" charset="0"/>
              </a:rPr>
              <a:t>An alternative to </a:t>
            </a:r>
            <a:r>
              <a:rPr lang="en-US" sz="2800" dirty="0" err="1">
                <a:solidFill>
                  <a:schemeClr val="bg1"/>
                </a:solidFill>
                <a:cs typeface="Courier New" panose="02070309020205020404" pitchFamily="49" charset="0"/>
              </a:rPr>
              <a:t>strcpy</a:t>
            </a:r>
            <a:r>
              <a:rPr lang="en-US" sz="2800" dirty="0">
                <a:solidFill>
                  <a:schemeClr val="bg1"/>
                </a:solidFill>
                <a:cs typeface="Courier New" panose="02070309020205020404" pitchFamily="49" charset="0"/>
              </a:rPr>
              <a:t> if you want to specify the number of characters to copy is the </a:t>
            </a:r>
            <a:r>
              <a:rPr lang="en-US" sz="2800" b="1" dirty="0" err="1">
                <a:solidFill>
                  <a:schemeClr val="bg1"/>
                </a:solidFill>
                <a:highlight>
                  <a:srgbClr val="FFFF00"/>
                </a:highlight>
                <a:cs typeface="Courier New" panose="02070309020205020404" pitchFamily="49" charset="0"/>
              </a:rPr>
              <a:t>strncpy</a:t>
            </a:r>
            <a:r>
              <a:rPr lang="en-US" sz="2800" dirty="0">
                <a:solidFill>
                  <a:schemeClr val="bg1"/>
                </a:solidFill>
                <a:cs typeface="Courier New" panose="02070309020205020404" pitchFamily="49" charset="0"/>
              </a:rPr>
              <a:t> function, also in the </a:t>
            </a:r>
            <a:r>
              <a:rPr lang="en-US" sz="2800" b="1" dirty="0" err="1">
                <a:solidFill>
                  <a:schemeClr val="bg1"/>
                </a:solidFill>
                <a:cs typeface="Courier New" panose="02070309020205020404" pitchFamily="49" charset="0"/>
              </a:rPr>
              <a:t>cstring</a:t>
            </a:r>
            <a:r>
              <a:rPr lang="en-US" sz="2800" dirty="0">
                <a:solidFill>
                  <a:schemeClr val="bg1"/>
                </a:solidFill>
                <a:cs typeface="Courier New" panose="02070309020205020404" pitchFamily="49" charset="0"/>
              </a:rPr>
              <a:t> library. </a:t>
            </a:r>
          </a:p>
          <a:p>
            <a:pPr marL="0" indent="0">
              <a:buNone/>
            </a:pPr>
            <a:r>
              <a:rPr lang="en-US" sz="2600" dirty="0">
                <a:solidFill>
                  <a:schemeClr val="bg1"/>
                </a:solidFill>
                <a:cs typeface="Courier New" panose="02070309020205020404" pitchFamily="49" charset="0"/>
              </a:rPr>
              <a:t>used to </a:t>
            </a:r>
            <a:r>
              <a:rPr lang="en-US" sz="2600" b="1" dirty="0">
                <a:solidFill>
                  <a:schemeClr val="bg1"/>
                </a:solidFill>
                <a:cs typeface="Courier New" panose="02070309020205020404" pitchFamily="49" charset="0"/>
              </a:rPr>
              <a:t>copy </a:t>
            </a:r>
            <a:r>
              <a:rPr lang="en-US" sz="2600" b="1" dirty="0">
                <a:solidFill>
                  <a:schemeClr val="bg1"/>
                </a:solidFill>
                <a:highlight>
                  <a:srgbClr val="FFFF00"/>
                </a:highlight>
                <a:cs typeface="Courier New" panose="02070309020205020404" pitchFamily="49" charset="0"/>
              </a:rPr>
              <a:t>n</a:t>
            </a:r>
            <a:r>
              <a:rPr lang="en-US" sz="2600" dirty="0">
                <a:solidFill>
                  <a:schemeClr val="bg1"/>
                </a:solidFill>
                <a:cs typeface="Courier New" panose="02070309020205020404" pitchFamily="49" charset="0"/>
              </a:rPr>
              <a:t> characters from str2 to replace in str1</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str1[</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“Hot Sus”</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str2[</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“Sushi”</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strncpy</a:t>
            </a:r>
            <a:r>
              <a:rPr lang="en-US" sz="2800" b="1" dirty="0">
                <a:solidFill>
                  <a:schemeClr val="bg1"/>
                </a:solidFill>
                <a:highlight>
                  <a:srgbClr val="FFFF00"/>
                </a:highlight>
                <a:latin typeface="Courier New" panose="02070309020205020404" pitchFamily="49" charset="0"/>
                <a:cs typeface="Courier New" panose="02070309020205020404" pitchFamily="49" charset="0"/>
              </a:rPr>
              <a:t>(str1, str2, 3);</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str1 &lt;&lt; endl; </a:t>
            </a:r>
            <a:r>
              <a:rPr lang="en-US" sz="2800" b="1" dirty="0">
                <a:solidFill>
                  <a:srgbClr val="00B050"/>
                </a:solidFill>
                <a:latin typeface="Courier New" panose="02070309020205020404" pitchFamily="49" charset="0"/>
                <a:cs typeface="Courier New" panose="02070309020205020404" pitchFamily="49" charset="0"/>
              </a:rPr>
              <a:t>//prints Sus Sus to the screen</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str2 &lt;&lt; endl; </a:t>
            </a:r>
            <a:r>
              <a:rPr lang="en-US" sz="2800" b="1" dirty="0">
                <a:solidFill>
                  <a:srgbClr val="00B050"/>
                </a:solidFill>
                <a:latin typeface="Courier New" panose="02070309020205020404" pitchFamily="49" charset="0"/>
                <a:cs typeface="Courier New" panose="02070309020205020404" pitchFamily="49" charset="0"/>
              </a:rPr>
              <a:t>//prints Sushi to the screen</a:t>
            </a:r>
            <a:endParaRPr lang="en-US" altLang="en-US" sz="2800" dirty="0">
              <a:solidFill>
                <a:srgbClr val="00B050"/>
              </a:solidFill>
            </a:endParaRPr>
          </a:p>
        </p:txBody>
      </p:sp>
    </p:spTree>
    <p:extLst>
      <p:ext uri="{BB962C8B-B14F-4D97-AF65-F5344CB8AC3E}">
        <p14:creationId xmlns:p14="http://schemas.microsoft.com/office/powerpoint/2010/main" val="15354705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Functions - </a:t>
            </a:r>
            <a:r>
              <a:rPr lang="en-US" b="1" dirty="0" err="1">
                <a:solidFill>
                  <a:srgbClr val="4F2984"/>
                </a:solidFill>
                <a:latin typeface="Amasis MT Pro Black" panose="02040A04050005020304" pitchFamily="18" charset="0"/>
              </a:rPr>
              <a:t>strcat</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811000" cy="5079374"/>
          </a:xfrm>
        </p:spPr>
        <p:txBody>
          <a:bodyPr>
            <a:normAutofit/>
          </a:bodyPr>
          <a:lstStyle/>
          <a:p>
            <a:pPr marL="0" indent="0">
              <a:buNone/>
            </a:pPr>
            <a:r>
              <a:rPr lang="en-US" sz="2800" dirty="0">
                <a:solidFill>
                  <a:schemeClr val="bg1"/>
                </a:solidFill>
                <a:cs typeface="Courier New" panose="02070309020205020404" pitchFamily="49" charset="0"/>
              </a:rPr>
              <a:t>Another function in the </a:t>
            </a:r>
            <a:r>
              <a:rPr lang="en-US" sz="2800" b="1" dirty="0" err="1">
                <a:solidFill>
                  <a:schemeClr val="bg1"/>
                </a:solidFill>
                <a:cs typeface="Courier New" panose="02070309020205020404" pitchFamily="49" charset="0"/>
              </a:rPr>
              <a:t>cstring</a:t>
            </a:r>
            <a:r>
              <a:rPr lang="en-US" sz="2800" dirty="0">
                <a:solidFill>
                  <a:schemeClr val="bg1"/>
                </a:solidFill>
                <a:cs typeface="Courier New" panose="02070309020205020404" pitchFamily="49" charset="0"/>
              </a:rPr>
              <a:t> library is the </a:t>
            </a:r>
            <a:r>
              <a:rPr lang="en-US" sz="2800" b="1" dirty="0" err="1">
                <a:solidFill>
                  <a:schemeClr val="bg1"/>
                </a:solidFill>
                <a:highlight>
                  <a:srgbClr val="FFFF00"/>
                </a:highlight>
                <a:cs typeface="Courier New" panose="02070309020205020404" pitchFamily="49" charset="0"/>
              </a:rPr>
              <a:t>strcat</a:t>
            </a:r>
            <a:r>
              <a:rPr lang="en-US" sz="2800" b="1" dirty="0">
                <a:solidFill>
                  <a:schemeClr val="bg1"/>
                </a:solidFill>
                <a:highlight>
                  <a:srgbClr val="FFFF00"/>
                </a:highlight>
                <a:cs typeface="Courier New" panose="02070309020205020404" pitchFamily="49" charset="0"/>
              </a:rPr>
              <a:t>()</a:t>
            </a:r>
            <a:r>
              <a:rPr lang="en-US" sz="2800" b="1" dirty="0">
                <a:solidFill>
                  <a:srgbClr val="FF0000"/>
                </a:solidFill>
                <a:cs typeface="Courier New" panose="02070309020205020404" pitchFamily="49" charset="0"/>
              </a:rPr>
              <a:t> </a:t>
            </a:r>
            <a:r>
              <a:rPr lang="en-US" sz="2800" dirty="0">
                <a:solidFill>
                  <a:schemeClr val="bg1"/>
                </a:solidFill>
                <a:cs typeface="Courier New" panose="02070309020205020404" pitchFamily="49" charset="0"/>
              </a:rPr>
              <a:t>function, which allows you to con</a:t>
            </a:r>
            <a:r>
              <a:rPr lang="en-US" sz="2800" b="1" dirty="0">
                <a:solidFill>
                  <a:schemeClr val="bg1"/>
                </a:solidFill>
                <a:cs typeface="Courier New" panose="02070309020205020404" pitchFamily="49" charset="0"/>
              </a:rPr>
              <a:t>cat</a:t>
            </a:r>
            <a:r>
              <a:rPr lang="en-US" sz="2800" dirty="0">
                <a:solidFill>
                  <a:schemeClr val="bg1"/>
                </a:solidFill>
                <a:cs typeface="Courier New" panose="02070309020205020404" pitchFamily="49" charset="0"/>
              </a:rPr>
              <a:t>enate (add to the end) or append str2 to the end of str1.</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str1[</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“Hot ”</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str2[</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“Sushi”</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strcat</a:t>
            </a:r>
            <a:r>
              <a:rPr lang="en-US" sz="2800" b="1" dirty="0">
                <a:solidFill>
                  <a:schemeClr val="bg1"/>
                </a:solidFill>
                <a:highlight>
                  <a:srgbClr val="FFFF00"/>
                </a:highlight>
                <a:latin typeface="Courier New" panose="02070309020205020404" pitchFamily="49" charset="0"/>
                <a:cs typeface="Courier New" panose="02070309020205020404" pitchFamily="49" charset="0"/>
              </a:rPr>
              <a:t>(str1, str2);</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str1 &lt;&lt; endl; </a:t>
            </a:r>
            <a:r>
              <a:rPr lang="en-US" sz="2800" b="1" dirty="0">
                <a:solidFill>
                  <a:srgbClr val="00B050"/>
                </a:solidFill>
                <a:latin typeface="Courier New" panose="02070309020205020404" pitchFamily="49" charset="0"/>
                <a:cs typeface="Courier New" panose="02070309020205020404" pitchFamily="49" charset="0"/>
              </a:rPr>
              <a:t>//prints Hot Sushi to the screen</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str2 &lt;&lt; endl; </a:t>
            </a:r>
            <a:r>
              <a:rPr lang="en-US" sz="2800" b="1" dirty="0">
                <a:solidFill>
                  <a:srgbClr val="00B050"/>
                </a:solidFill>
                <a:latin typeface="Courier New" panose="02070309020205020404" pitchFamily="49" charset="0"/>
                <a:cs typeface="Courier New" panose="02070309020205020404" pitchFamily="49" charset="0"/>
              </a:rPr>
              <a:t>//prints Sushi to the screen</a:t>
            </a:r>
            <a:endParaRPr lang="en-US" altLang="en-US" sz="2800" dirty="0">
              <a:solidFill>
                <a:srgbClr val="00B050"/>
              </a:solidFill>
            </a:endParaRPr>
          </a:p>
        </p:txBody>
      </p:sp>
    </p:spTree>
    <p:extLst>
      <p:ext uri="{BB962C8B-B14F-4D97-AF65-F5344CB8AC3E}">
        <p14:creationId xmlns:p14="http://schemas.microsoft.com/office/powerpoint/2010/main" val="25115913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Functions - </a:t>
            </a:r>
            <a:r>
              <a:rPr lang="en-US" b="1" dirty="0" err="1">
                <a:solidFill>
                  <a:srgbClr val="4F2984"/>
                </a:solidFill>
                <a:latin typeface="Amasis MT Pro Black" panose="02040A04050005020304" pitchFamily="18" charset="0"/>
              </a:rPr>
              <a:t>strncat</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sz="2800" dirty="0">
                <a:solidFill>
                  <a:schemeClr val="bg1"/>
                </a:solidFill>
                <a:cs typeface="Courier New" panose="02070309020205020404" pitchFamily="49" charset="0"/>
              </a:rPr>
              <a:t>An alternative to </a:t>
            </a:r>
            <a:r>
              <a:rPr lang="en-US" sz="2800" b="1" dirty="0" err="1">
                <a:solidFill>
                  <a:schemeClr val="bg1"/>
                </a:solidFill>
                <a:cs typeface="Courier New" panose="02070309020205020404" pitchFamily="49" charset="0"/>
              </a:rPr>
              <a:t>strcat</a:t>
            </a:r>
            <a:r>
              <a:rPr lang="en-US" sz="2800" dirty="0">
                <a:solidFill>
                  <a:schemeClr val="bg1"/>
                </a:solidFill>
                <a:cs typeface="Courier New" panose="02070309020205020404" pitchFamily="49" charset="0"/>
              </a:rPr>
              <a:t> if you want to specify the number of characters to copy is the </a:t>
            </a:r>
            <a:r>
              <a:rPr lang="en-US" sz="2800" b="1" dirty="0" err="1">
                <a:solidFill>
                  <a:schemeClr val="bg1"/>
                </a:solidFill>
                <a:highlight>
                  <a:srgbClr val="FFFF00"/>
                </a:highlight>
                <a:cs typeface="Courier New" panose="02070309020205020404" pitchFamily="49" charset="0"/>
              </a:rPr>
              <a:t>strncat</a:t>
            </a:r>
            <a:r>
              <a:rPr lang="en-US" sz="2800" dirty="0">
                <a:solidFill>
                  <a:schemeClr val="bg1"/>
                </a:solidFill>
                <a:cs typeface="Courier New" panose="02070309020205020404" pitchFamily="49" charset="0"/>
              </a:rPr>
              <a:t> function, also in the </a:t>
            </a:r>
            <a:r>
              <a:rPr lang="en-US" sz="2800" b="1" dirty="0" err="1">
                <a:solidFill>
                  <a:schemeClr val="bg1"/>
                </a:solidFill>
                <a:cs typeface="Courier New" panose="02070309020205020404" pitchFamily="49" charset="0"/>
              </a:rPr>
              <a:t>cstring</a:t>
            </a:r>
            <a:r>
              <a:rPr lang="en-US" sz="2800" dirty="0">
                <a:solidFill>
                  <a:schemeClr val="bg1"/>
                </a:solidFill>
                <a:cs typeface="Courier New" panose="02070309020205020404" pitchFamily="49" charset="0"/>
              </a:rPr>
              <a:t> library. </a:t>
            </a:r>
          </a:p>
          <a:p>
            <a:pPr marL="0" indent="0">
              <a:buNone/>
            </a:pPr>
            <a:r>
              <a:rPr lang="en-US" sz="2800" dirty="0">
                <a:solidFill>
                  <a:schemeClr val="bg1"/>
                </a:solidFill>
                <a:cs typeface="Courier New" panose="02070309020205020404" pitchFamily="49" charset="0"/>
              </a:rPr>
              <a:t>Used to </a:t>
            </a:r>
            <a:r>
              <a:rPr lang="en-US" sz="2800" b="1" dirty="0">
                <a:solidFill>
                  <a:schemeClr val="bg1"/>
                </a:solidFill>
                <a:cs typeface="Courier New" panose="02070309020205020404" pitchFamily="49" charset="0"/>
              </a:rPr>
              <a:t>concatenate </a:t>
            </a:r>
            <a:r>
              <a:rPr lang="en-US" sz="2800" b="1" dirty="0">
                <a:solidFill>
                  <a:schemeClr val="bg1"/>
                </a:solidFill>
                <a:highlight>
                  <a:srgbClr val="FFFF00"/>
                </a:highlight>
                <a:cs typeface="Courier New" panose="02070309020205020404" pitchFamily="49" charset="0"/>
              </a:rPr>
              <a:t>n</a:t>
            </a:r>
            <a:r>
              <a:rPr lang="en-US" sz="2800" dirty="0">
                <a:solidFill>
                  <a:schemeClr val="bg1"/>
                </a:solidFill>
                <a:cs typeface="Courier New" panose="02070309020205020404" pitchFamily="49" charset="0"/>
              </a:rPr>
              <a:t> characters from </a:t>
            </a:r>
            <a:r>
              <a:rPr lang="en-US" sz="2800" b="1" dirty="0">
                <a:solidFill>
                  <a:schemeClr val="bg1"/>
                </a:solidFill>
                <a:cs typeface="Courier New" panose="02070309020205020404" pitchFamily="49" charset="0"/>
              </a:rPr>
              <a:t>str2</a:t>
            </a:r>
            <a:r>
              <a:rPr lang="en-US" sz="2800" dirty="0">
                <a:solidFill>
                  <a:schemeClr val="bg1"/>
                </a:solidFill>
                <a:cs typeface="Courier New" panose="02070309020205020404" pitchFamily="49" charset="0"/>
              </a:rPr>
              <a:t> to the end of </a:t>
            </a:r>
            <a:r>
              <a:rPr lang="en-US" sz="2800" b="1" dirty="0">
                <a:solidFill>
                  <a:schemeClr val="bg1"/>
                </a:solidFill>
                <a:cs typeface="Courier New" panose="02070309020205020404" pitchFamily="49" charset="0"/>
              </a:rPr>
              <a:t>str1</a:t>
            </a:r>
            <a:r>
              <a:rPr lang="en-US" sz="2800" dirty="0">
                <a:solidFill>
                  <a:schemeClr val="bg1"/>
                </a:solidFill>
                <a:cs typeface="Courier New" panose="02070309020205020404" pitchFamily="49" charset="0"/>
              </a:rPr>
              <a:t>.</a:t>
            </a:r>
          </a:p>
          <a:p>
            <a:pPr marL="0" lvl="1" indent="0">
              <a:buNone/>
            </a:pPr>
            <a:endParaRPr lang="en-US" sz="2800" b="1" dirty="0">
              <a:solidFill>
                <a:srgbClr val="0070C0"/>
              </a:solidFill>
              <a:latin typeface="Courier New" panose="02070309020205020404" pitchFamily="49" charset="0"/>
              <a:cs typeface="Courier New" panose="02070309020205020404" pitchFamily="49" charset="0"/>
            </a:endParaRPr>
          </a:p>
          <a:p>
            <a:pPr marL="0" lvl="1" indent="0">
              <a:buNone/>
            </a:pP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str1[</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“Hot ”</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char</a:t>
            </a:r>
            <a:r>
              <a:rPr lang="en-US" sz="2800" b="1" dirty="0">
                <a:solidFill>
                  <a:schemeClr val="bg1"/>
                </a:solidFill>
                <a:latin typeface="Courier New" panose="02070309020205020404" pitchFamily="49" charset="0"/>
                <a:cs typeface="Courier New" panose="02070309020205020404" pitchFamily="49" charset="0"/>
              </a:rPr>
              <a:t> str2[</a:t>
            </a:r>
            <a:r>
              <a:rPr lang="en-US" sz="2800" b="1" dirty="0">
                <a:solidFill>
                  <a:schemeClr val="accent6"/>
                </a:solidFill>
                <a:latin typeface="Courier New" panose="02070309020205020404" pitchFamily="49" charset="0"/>
                <a:cs typeface="Courier New" panose="02070309020205020404" pitchFamily="49" charset="0"/>
              </a:rPr>
              <a:t>20</a:t>
            </a:r>
            <a:r>
              <a:rPr lang="en-US" sz="2800" b="1" dirty="0">
                <a:solidFill>
                  <a:schemeClr val="bg1"/>
                </a:solidFill>
                <a:latin typeface="Courier New" panose="02070309020205020404" pitchFamily="49" charset="0"/>
                <a:cs typeface="Courier New" panose="02070309020205020404" pitchFamily="49" charset="0"/>
              </a:rPr>
              <a:t>] = </a:t>
            </a:r>
            <a:r>
              <a:rPr lang="en-US" sz="2800" b="1" dirty="0">
                <a:solidFill>
                  <a:schemeClr val="bg2">
                    <a:lumMod val="60000"/>
                    <a:lumOff val="40000"/>
                  </a:schemeClr>
                </a:solidFill>
                <a:latin typeface="Courier New" panose="02070309020205020404" pitchFamily="49" charset="0"/>
                <a:cs typeface="Courier New" panose="02070309020205020404" pitchFamily="49" charset="0"/>
              </a:rPr>
              <a:t>“Sushi”</a:t>
            </a:r>
            <a:r>
              <a:rPr lang="en-US" sz="2800" b="1" dirty="0">
                <a:solidFill>
                  <a:schemeClr val="bg1"/>
                </a:solidFill>
                <a:latin typeface="Courier New" panose="02070309020205020404" pitchFamily="49" charset="0"/>
                <a:cs typeface="Courier New" panose="02070309020205020404" pitchFamily="49" charset="0"/>
              </a:rPr>
              <a:t>;</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strncat</a:t>
            </a:r>
            <a:r>
              <a:rPr lang="en-US" sz="2800" b="1" dirty="0">
                <a:solidFill>
                  <a:schemeClr val="bg1"/>
                </a:solidFill>
                <a:highlight>
                  <a:srgbClr val="FFFF00"/>
                </a:highlight>
                <a:latin typeface="Courier New" panose="02070309020205020404" pitchFamily="49" charset="0"/>
                <a:cs typeface="Courier New" panose="02070309020205020404" pitchFamily="49" charset="0"/>
              </a:rPr>
              <a:t>(str1, str2, 3);</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str1 &lt;&lt; endl; </a:t>
            </a:r>
            <a:r>
              <a:rPr lang="en-US" sz="2800" b="1" dirty="0">
                <a:solidFill>
                  <a:srgbClr val="00B050"/>
                </a:solidFill>
                <a:latin typeface="Courier New" panose="02070309020205020404" pitchFamily="49" charset="0"/>
                <a:cs typeface="Courier New" panose="02070309020205020404" pitchFamily="49" charset="0"/>
              </a:rPr>
              <a:t>//prints Hot Sus to the screen</a:t>
            </a:r>
          </a:p>
          <a:p>
            <a:pPr marL="0" lvl="1" indent="0">
              <a:buNone/>
            </a:pP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str2 &lt;&lt; endl; </a:t>
            </a:r>
            <a:r>
              <a:rPr lang="en-US" sz="2800" b="1" dirty="0">
                <a:solidFill>
                  <a:srgbClr val="00B050"/>
                </a:solidFill>
                <a:latin typeface="Courier New" panose="02070309020205020404" pitchFamily="49" charset="0"/>
                <a:cs typeface="Courier New" panose="02070309020205020404" pitchFamily="49" charset="0"/>
              </a:rPr>
              <a:t>//prints Sushi to the screen</a:t>
            </a:r>
            <a:endParaRPr lang="en-US" altLang="en-US" sz="2800" dirty="0">
              <a:solidFill>
                <a:srgbClr val="00B050"/>
              </a:solidFill>
            </a:endParaRPr>
          </a:p>
        </p:txBody>
      </p:sp>
    </p:spTree>
    <p:extLst>
      <p:ext uri="{BB962C8B-B14F-4D97-AF65-F5344CB8AC3E}">
        <p14:creationId xmlns:p14="http://schemas.microsoft.com/office/powerpoint/2010/main" val="15438916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C-String Library Function Examples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457200" indent="-457200">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cstringVsStringEx.cpp</a:t>
            </a:r>
            <a:br>
              <a:rPr lang="en-US" sz="2800" dirty="0">
                <a:solidFill>
                  <a:schemeClr val="bg1"/>
                </a:solidFill>
              </a:rPr>
            </a:br>
            <a:r>
              <a:rPr lang="en-US" sz="2800" dirty="0">
                <a:solidFill>
                  <a:schemeClr val="bg1"/>
                </a:solidFill>
              </a:rPr>
              <a:t>a program that contains both a C++ String class string and a C-String.  </a:t>
            </a:r>
          </a:p>
          <a:p>
            <a:pPr marL="457200" indent="-457200">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strlenPrac.cpp</a:t>
            </a:r>
            <a:br>
              <a:rPr lang="en-US" sz="2800" dirty="0">
                <a:solidFill>
                  <a:schemeClr val="bg1"/>
                </a:solidFill>
              </a:rPr>
            </a:br>
            <a:r>
              <a:rPr lang="en-US" sz="2800" dirty="0">
                <a:solidFill>
                  <a:schemeClr val="bg1"/>
                </a:solidFill>
              </a:rPr>
              <a:t>a program that contains a c-string and uses the </a:t>
            </a:r>
            <a:r>
              <a:rPr lang="en-US" sz="2800" dirty="0" err="1">
                <a:solidFill>
                  <a:schemeClr val="bg1"/>
                </a:solidFill>
              </a:rPr>
              <a:t>strlen</a:t>
            </a:r>
            <a:r>
              <a:rPr lang="en-US" sz="2800" dirty="0">
                <a:solidFill>
                  <a:schemeClr val="bg1"/>
                </a:solidFill>
              </a:rPr>
              <a:t>, </a:t>
            </a:r>
            <a:r>
              <a:rPr lang="en-US" sz="2800" dirty="0" err="1">
                <a:solidFill>
                  <a:schemeClr val="bg1"/>
                </a:solidFill>
              </a:rPr>
              <a:t>strncat</a:t>
            </a:r>
            <a:r>
              <a:rPr lang="en-US" sz="2800" dirty="0">
                <a:solidFill>
                  <a:schemeClr val="bg1"/>
                </a:solidFill>
              </a:rPr>
              <a:t>, </a:t>
            </a:r>
            <a:r>
              <a:rPr lang="en-US" sz="2800" dirty="0" err="1">
                <a:solidFill>
                  <a:schemeClr val="bg1"/>
                </a:solidFill>
              </a:rPr>
              <a:t>strcpy</a:t>
            </a:r>
            <a:r>
              <a:rPr lang="en-US" sz="2800" dirty="0">
                <a:solidFill>
                  <a:schemeClr val="bg1"/>
                </a:solidFill>
              </a:rPr>
              <a:t>, and </a:t>
            </a:r>
            <a:r>
              <a:rPr lang="en-US" sz="2800" dirty="0" err="1">
                <a:solidFill>
                  <a:schemeClr val="bg1"/>
                </a:solidFill>
              </a:rPr>
              <a:t>strcmp</a:t>
            </a:r>
            <a:r>
              <a:rPr lang="en-US" sz="2800" dirty="0">
                <a:solidFill>
                  <a:schemeClr val="bg1"/>
                </a:solidFill>
              </a:rPr>
              <a:t> function</a:t>
            </a:r>
          </a:p>
          <a:p>
            <a:pPr marL="457200" indent="-457200">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cstringSTRCMP.cpp</a:t>
            </a:r>
            <a:br>
              <a:rPr lang="en-US" sz="2800" dirty="0">
                <a:solidFill>
                  <a:schemeClr val="bg1"/>
                </a:solidFill>
              </a:rPr>
            </a:br>
            <a:r>
              <a:rPr lang="en-US" sz="2800" dirty="0">
                <a:solidFill>
                  <a:schemeClr val="bg1"/>
                </a:solidFill>
              </a:rPr>
              <a:t>a program that allows the user to enter two strings, stored in c-strings and tests to see if they are equal using the </a:t>
            </a:r>
            <a:r>
              <a:rPr lang="en-US" sz="2800" dirty="0" err="1">
                <a:solidFill>
                  <a:schemeClr val="bg1"/>
                </a:solidFill>
              </a:rPr>
              <a:t>strcmp</a:t>
            </a:r>
            <a:r>
              <a:rPr lang="en-US" sz="2800" dirty="0">
                <a:solidFill>
                  <a:schemeClr val="bg1"/>
                </a:solidFill>
              </a:rPr>
              <a:t> function</a:t>
            </a:r>
          </a:p>
          <a:p>
            <a:pPr marL="457200" indent="-457200">
              <a:buFont typeface="Wingdings" panose="05000000000000000000" pitchFamily="2" charset="2"/>
              <a:buChar char="§"/>
            </a:pPr>
            <a:r>
              <a:rPr lang="en-US" sz="2800" b="1" dirty="0">
                <a:solidFill>
                  <a:schemeClr val="bg1"/>
                </a:solidFill>
                <a:latin typeface="Courier New" panose="02070309020205020404" pitchFamily="49" charset="0"/>
                <a:cs typeface="Courier New" panose="02070309020205020404" pitchFamily="49" charset="0"/>
              </a:rPr>
              <a:t>strcatPrac.cpp</a:t>
            </a:r>
            <a:br>
              <a:rPr lang="en-US" sz="2800" dirty="0">
                <a:solidFill>
                  <a:schemeClr val="bg1"/>
                </a:solidFill>
              </a:rPr>
            </a:br>
            <a:r>
              <a:rPr lang="en-US" sz="2800" dirty="0">
                <a:solidFill>
                  <a:schemeClr val="bg1"/>
                </a:solidFill>
              </a:rPr>
              <a:t>a program that contains multiple c-strings and demonstrates the </a:t>
            </a:r>
            <a:r>
              <a:rPr lang="en-US" sz="2800" dirty="0" err="1">
                <a:solidFill>
                  <a:schemeClr val="bg1"/>
                </a:solidFill>
              </a:rPr>
              <a:t>strcat</a:t>
            </a:r>
            <a:r>
              <a:rPr lang="en-US" sz="2800" dirty="0">
                <a:solidFill>
                  <a:schemeClr val="bg1"/>
                </a:solidFill>
              </a:rPr>
              <a:t> &amp; </a:t>
            </a:r>
            <a:r>
              <a:rPr lang="en-US" sz="2800" dirty="0" err="1">
                <a:solidFill>
                  <a:schemeClr val="bg1"/>
                </a:solidFill>
              </a:rPr>
              <a:t>strncat</a:t>
            </a:r>
            <a:r>
              <a:rPr lang="en-US" sz="2800" dirty="0">
                <a:solidFill>
                  <a:schemeClr val="bg1"/>
                </a:solidFill>
              </a:rPr>
              <a:t> functions</a:t>
            </a:r>
          </a:p>
        </p:txBody>
      </p:sp>
      <p:pic>
        <p:nvPicPr>
          <p:cNvPr id="2" name="Picture 2" descr="C++ Logo Icon, Transparent C++ Logo.PNG Images &amp; Vector - FreeIconsPNG">
            <a:extLst>
              <a:ext uri="{FF2B5EF4-FFF2-40B4-BE49-F238E27FC236}">
                <a16:creationId xmlns:a16="http://schemas.microsoft.com/office/drawing/2014/main" id="{D1C19398-63E5-433D-EFF5-336E2E3EC8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94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8433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364"/>
            <a:ext cx="12192000" cy="796762"/>
          </a:xfrm>
          <a:solidFill>
            <a:schemeClr val="accent1"/>
          </a:solidFill>
        </p:spPr>
        <p:txBody>
          <a:bodyPr>
            <a:normAutofit/>
          </a:bodyPr>
          <a:lstStyle/>
          <a:p>
            <a:r>
              <a:rPr lang="en-US" sz="3600" b="1" dirty="0">
                <a:solidFill>
                  <a:schemeClr val="bg1"/>
                </a:solidFill>
                <a:latin typeface="Berlin Sans FB Demi" panose="020E0802020502020306" pitchFamily="34" charset="0"/>
              </a:rPr>
              <a:t>Module 8 In-Class Practice 3</a:t>
            </a:r>
          </a:p>
        </p:txBody>
      </p:sp>
      <p:sp>
        <p:nvSpPr>
          <p:cNvPr id="3" name="Content Placeholder 2"/>
          <p:cNvSpPr>
            <a:spLocks noGrp="1"/>
          </p:cNvSpPr>
          <p:nvPr>
            <p:ph idx="1"/>
          </p:nvPr>
        </p:nvSpPr>
        <p:spPr>
          <a:xfrm>
            <a:off x="1" y="780968"/>
            <a:ext cx="5685182" cy="6077031"/>
          </a:xfrm>
          <a:solidFill>
            <a:schemeClr val="tx1"/>
          </a:solidFill>
        </p:spPr>
        <p:txBody>
          <a:bodyPr>
            <a:normAutofit fontScale="92500" lnSpcReduction="20000"/>
          </a:bodyPr>
          <a:lstStyle/>
          <a:p>
            <a:pPr marL="457200" indent="-457200">
              <a:buNone/>
            </a:pPr>
            <a:r>
              <a:rPr lang="en-US" b="1" dirty="0">
                <a:solidFill>
                  <a:schemeClr val="bg1"/>
                </a:solidFill>
              </a:rPr>
              <a:t>Write a program named </a:t>
            </a:r>
            <a:r>
              <a:rPr lang="en-US" b="1" dirty="0">
                <a:solidFill>
                  <a:srgbClr val="FF0000"/>
                </a:solidFill>
              </a:rPr>
              <a:t>mod8c.cpp</a:t>
            </a:r>
            <a:r>
              <a:rPr lang="en-US" b="1" dirty="0">
                <a:solidFill>
                  <a:schemeClr val="bg1"/>
                </a:solidFill>
              </a:rPr>
              <a:t>.</a:t>
            </a:r>
          </a:p>
          <a:p>
            <a:pPr marL="457200" indent="-457200">
              <a:buNone/>
            </a:pPr>
            <a:r>
              <a:rPr lang="en-US" b="1" dirty="0">
                <a:solidFill>
                  <a:schemeClr val="bg1"/>
                </a:solidFill>
              </a:rPr>
              <a:t>In the program, do the following:</a:t>
            </a:r>
          </a:p>
          <a:p>
            <a:pPr marL="230188" indent="-230188">
              <a:buClr>
                <a:srgbClr val="00B050"/>
              </a:buClr>
              <a:buAutoNum type="arabicPeriod"/>
            </a:pPr>
            <a:r>
              <a:rPr lang="en-US" b="1" dirty="0">
                <a:solidFill>
                  <a:schemeClr val="bg1"/>
                </a:solidFill>
              </a:rPr>
              <a:t>Define a 30-element character array named name1 and initialize it to your first name.</a:t>
            </a:r>
          </a:p>
          <a:p>
            <a:pPr marL="230188" indent="-230188">
              <a:buClr>
                <a:srgbClr val="00B050"/>
              </a:buClr>
              <a:buAutoNum type="arabicPeriod"/>
            </a:pPr>
            <a:r>
              <a:rPr lang="en-US" b="1" dirty="0">
                <a:solidFill>
                  <a:schemeClr val="bg1"/>
                </a:solidFill>
              </a:rPr>
              <a:t>Define a string variable named name2 and initialize it to a friend’s first name.</a:t>
            </a:r>
          </a:p>
          <a:p>
            <a:pPr marL="230188" indent="-230188">
              <a:buClr>
                <a:srgbClr val="00B050"/>
              </a:buClr>
              <a:buAutoNum type="arabicPeriod"/>
            </a:pPr>
            <a:r>
              <a:rPr lang="en-US" b="1" dirty="0">
                <a:solidFill>
                  <a:schemeClr val="bg1"/>
                </a:solidFill>
                <a:highlight>
                  <a:srgbClr val="FF00FF"/>
                </a:highlight>
              </a:rPr>
              <a:t>Print out both name1 &amp; name2 to the screen.</a:t>
            </a:r>
          </a:p>
          <a:p>
            <a:pPr marL="230188" indent="-230188">
              <a:buClr>
                <a:srgbClr val="00B050"/>
              </a:buClr>
              <a:buAutoNum type="arabicPeriod"/>
            </a:pPr>
            <a:r>
              <a:rPr lang="en-US" b="1" dirty="0">
                <a:solidFill>
                  <a:schemeClr val="bg1"/>
                </a:solidFill>
              </a:rPr>
              <a:t>Ask the user for their full name and read it in (including spaces) to the name1 variable.</a:t>
            </a:r>
          </a:p>
          <a:p>
            <a:pPr marL="230188" indent="-230188">
              <a:buClr>
                <a:srgbClr val="00B050"/>
              </a:buClr>
              <a:buAutoNum type="arabicPeriod"/>
            </a:pPr>
            <a:r>
              <a:rPr lang="en-US" b="1" dirty="0">
                <a:solidFill>
                  <a:schemeClr val="bg1"/>
                </a:solidFill>
              </a:rPr>
              <a:t>Ask the user for their friend’s full name and read it in (including spaces) to the name2 variable.</a:t>
            </a:r>
          </a:p>
          <a:p>
            <a:pPr marL="230188" indent="-230188">
              <a:buClr>
                <a:srgbClr val="00B050"/>
              </a:buClr>
              <a:buAutoNum type="arabicPeriod"/>
            </a:pPr>
            <a:r>
              <a:rPr lang="en-US" b="1" dirty="0">
                <a:solidFill>
                  <a:schemeClr val="bg1"/>
                </a:solidFill>
                <a:highlight>
                  <a:srgbClr val="00FF00"/>
                </a:highlight>
              </a:rPr>
              <a:t>Print out both name1 &amp; name2 to the screen again.</a:t>
            </a:r>
          </a:p>
          <a:p>
            <a:pPr marL="230188" indent="-230188">
              <a:buClr>
                <a:srgbClr val="00B050"/>
              </a:buClr>
              <a:buAutoNum type="arabicPeriod"/>
            </a:pPr>
            <a:r>
              <a:rPr lang="en-US" b="1" dirty="0">
                <a:solidFill>
                  <a:schemeClr val="bg1"/>
                </a:solidFill>
              </a:rPr>
              <a:t>Assign “SCOUT” to name1 and assign “JACK” to name2.</a:t>
            </a:r>
          </a:p>
          <a:p>
            <a:pPr marL="230188" indent="-230188">
              <a:buClr>
                <a:srgbClr val="00B050"/>
              </a:buClr>
              <a:buAutoNum type="arabicPeriod"/>
            </a:pPr>
            <a:r>
              <a:rPr lang="en-US" b="1" dirty="0">
                <a:solidFill>
                  <a:schemeClr val="bg1"/>
                </a:solidFill>
              </a:rPr>
              <a:t>Using a loop, </a:t>
            </a:r>
            <a:r>
              <a:rPr lang="en-US" b="1" dirty="0">
                <a:solidFill>
                  <a:schemeClr val="bg1"/>
                </a:solidFill>
                <a:highlight>
                  <a:srgbClr val="00FFFF"/>
                </a:highlight>
              </a:rPr>
              <a:t>print out one character of name1 at a time and add an asterisk ‘*’ </a:t>
            </a:r>
            <a:r>
              <a:rPr lang="en-US" b="1" dirty="0">
                <a:solidFill>
                  <a:schemeClr val="bg1"/>
                </a:solidFill>
              </a:rPr>
              <a:t>so that each letter is separated by a star.</a:t>
            </a:r>
          </a:p>
          <a:p>
            <a:pPr marL="230188" indent="-230188">
              <a:buClr>
                <a:srgbClr val="00B050"/>
              </a:buClr>
              <a:buAutoNum type="arabicPeriod"/>
            </a:pPr>
            <a:r>
              <a:rPr lang="en-US" b="1" dirty="0">
                <a:solidFill>
                  <a:schemeClr val="bg1"/>
                </a:solidFill>
              </a:rPr>
              <a:t>Do </a:t>
            </a:r>
            <a:r>
              <a:rPr lang="en-US" b="1" dirty="0">
                <a:solidFill>
                  <a:schemeClr val="bg1"/>
                </a:solidFill>
                <a:highlight>
                  <a:srgbClr val="FFFF00"/>
                </a:highlight>
              </a:rPr>
              <a:t>step #8 for name2 </a:t>
            </a:r>
            <a:r>
              <a:rPr lang="en-US" b="1" dirty="0">
                <a:solidFill>
                  <a:schemeClr val="bg1"/>
                </a:solidFill>
              </a:rPr>
              <a:t>as well.  </a:t>
            </a:r>
          </a:p>
        </p:txBody>
      </p:sp>
      <p:sp>
        <p:nvSpPr>
          <p:cNvPr id="4" name="TextBox 3">
            <a:extLst>
              <a:ext uri="{FF2B5EF4-FFF2-40B4-BE49-F238E27FC236}">
                <a16:creationId xmlns:a16="http://schemas.microsoft.com/office/drawing/2014/main" id="{AE2E6D34-55AA-485F-9D15-71D388C34F39}"/>
              </a:ext>
            </a:extLst>
          </p:cNvPr>
          <p:cNvSpPr txBox="1"/>
          <p:nvPr/>
        </p:nvSpPr>
        <p:spPr>
          <a:xfrm>
            <a:off x="5791200" y="1957435"/>
            <a:ext cx="6377609" cy="3724096"/>
          </a:xfrm>
          <a:prstGeom prst="rect">
            <a:avLst/>
          </a:prstGeom>
          <a:solidFill>
            <a:schemeClr val="tx1">
              <a:lumMod val="85000"/>
            </a:schemeClr>
          </a:solidFill>
        </p:spPr>
        <p:txBody>
          <a:bodyPr wrap="square" rtlCol="0">
            <a:spAutoFit/>
          </a:bodyPr>
          <a:lstStyle/>
          <a:p>
            <a:endParaRPr lang="en-US" sz="2000" b="1" dirty="0">
              <a:solidFill>
                <a:schemeClr val="bg1"/>
              </a:solidFill>
              <a:latin typeface="Courier New" panose="02070309020205020404" pitchFamily="49" charset="0"/>
              <a:cs typeface="Courier New" panose="02070309020205020404" pitchFamily="49" charset="0"/>
            </a:endParaRPr>
          </a:p>
          <a:p>
            <a:r>
              <a:rPr lang="en-US" b="1" dirty="0">
                <a:solidFill>
                  <a:schemeClr val="bg1"/>
                </a:solidFill>
                <a:latin typeface="Courier New" panose="02070309020205020404" pitchFamily="49" charset="0"/>
                <a:cs typeface="Courier New" panose="02070309020205020404" pitchFamily="49" charset="0"/>
              </a:rPr>
              <a:t>name1: APRIL</a:t>
            </a:r>
          </a:p>
          <a:p>
            <a:r>
              <a:rPr lang="en-US" b="1" dirty="0">
                <a:solidFill>
                  <a:schemeClr val="bg1"/>
                </a:solidFill>
                <a:latin typeface="Courier New" panose="02070309020205020404" pitchFamily="49" charset="0"/>
                <a:cs typeface="Courier New" panose="02070309020205020404" pitchFamily="49" charset="0"/>
              </a:rPr>
              <a:t>name2: CRYSTAL</a:t>
            </a:r>
          </a:p>
          <a:p>
            <a:endParaRPr lang="en-US" b="1" dirty="0">
              <a:solidFill>
                <a:schemeClr val="bg1"/>
              </a:solidFill>
              <a:latin typeface="Courier New" panose="02070309020205020404" pitchFamily="49" charset="0"/>
              <a:cs typeface="Courier New" panose="02070309020205020404" pitchFamily="49" charset="0"/>
            </a:endParaRPr>
          </a:p>
          <a:p>
            <a:r>
              <a:rPr lang="en-US" b="1" dirty="0">
                <a:solidFill>
                  <a:schemeClr val="bg1"/>
                </a:solidFill>
                <a:latin typeface="Courier New" panose="02070309020205020404" pitchFamily="49" charset="0"/>
                <a:cs typeface="Courier New" panose="02070309020205020404" pitchFamily="49" charset="0"/>
              </a:rPr>
              <a:t>What is your full name? </a:t>
            </a:r>
            <a:r>
              <a:rPr lang="en-US" b="1" dirty="0">
                <a:solidFill>
                  <a:schemeClr val="bg1"/>
                </a:solidFill>
                <a:highlight>
                  <a:srgbClr val="FFFF00"/>
                </a:highlight>
                <a:latin typeface="Courier New" panose="02070309020205020404" pitchFamily="49" charset="0"/>
                <a:cs typeface="Courier New" panose="02070309020205020404" pitchFamily="49" charset="0"/>
              </a:rPr>
              <a:t>Jessica Fletcher</a:t>
            </a:r>
          </a:p>
          <a:p>
            <a:r>
              <a:rPr lang="en-US" b="1" dirty="0">
                <a:solidFill>
                  <a:schemeClr val="bg1"/>
                </a:solidFill>
                <a:latin typeface="Courier New" panose="02070309020205020404" pitchFamily="49" charset="0"/>
                <a:cs typeface="Courier New" panose="02070309020205020404" pitchFamily="49" charset="0"/>
              </a:rPr>
              <a:t>What is your friend's full name? </a:t>
            </a:r>
            <a:r>
              <a:rPr lang="en-US" b="1" dirty="0">
                <a:solidFill>
                  <a:schemeClr val="bg1"/>
                </a:solidFill>
                <a:highlight>
                  <a:srgbClr val="FFFF00"/>
                </a:highlight>
                <a:latin typeface="Courier New" panose="02070309020205020404" pitchFamily="49" charset="0"/>
                <a:cs typeface="Courier New" panose="02070309020205020404" pitchFamily="49" charset="0"/>
              </a:rPr>
              <a:t>Amos Tupper</a:t>
            </a:r>
          </a:p>
          <a:p>
            <a:endParaRPr lang="en-US" b="1" dirty="0">
              <a:solidFill>
                <a:schemeClr val="bg1"/>
              </a:solidFill>
              <a:latin typeface="Courier New" panose="02070309020205020404" pitchFamily="49" charset="0"/>
              <a:cs typeface="Courier New" panose="02070309020205020404" pitchFamily="49" charset="0"/>
            </a:endParaRPr>
          </a:p>
          <a:p>
            <a:r>
              <a:rPr lang="en-US" b="1" dirty="0">
                <a:solidFill>
                  <a:schemeClr val="bg1"/>
                </a:solidFill>
                <a:latin typeface="Courier New" panose="02070309020205020404" pitchFamily="49" charset="0"/>
                <a:cs typeface="Courier New" panose="02070309020205020404" pitchFamily="49" charset="0"/>
              </a:rPr>
              <a:t>name1: Jessica Fletcher</a:t>
            </a:r>
          </a:p>
          <a:p>
            <a:r>
              <a:rPr lang="en-US" b="1" dirty="0">
                <a:solidFill>
                  <a:schemeClr val="bg1"/>
                </a:solidFill>
                <a:latin typeface="Courier New" panose="02070309020205020404" pitchFamily="49" charset="0"/>
                <a:cs typeface="Courier New" panose="02070309020205020404" pitchFamily="49" charset="0"/>
              </a:rPr>
              <a:t>name2: Amos Tupper</a:t>
            </a:r>
          </a:p>
          <a:p>
            <a:endParaRPr lang="en-US" b="1" dirty="0">
              <a:solidFill>
                <a:schemeClr val="bg1"/>
              </a:solidFill>
              <a:latin typeface="Courier New" panose="02070309020205020404" pitchFamily="49" charset="0"/>
              <a:cs typeface="Courier New" panose="02070309020205020404" pitchFamily="49" charset="0"/>
            </a:endParaRPr>
          </a:p>
          <a:p>
            <a:r>
              <a:rPr lang="en-US" b="1" dirty="0">
                <a:solidFill>
                  <a:schemeClr val="bg1"/>
                </a:solidFill>
                <a:latin typeface="Courier New" panose="02070309020205020404" pitchFamily="49" charset="0"/>
                <a:cs typeface="Courier New" panose="02070309020205020404" pitchFamily="49" charset="0"/>
              </a:rPr>
              <a:t>S*C*O*U*T*</a:t>
            </a:r>
          </a:p>
          <a:p>
            <a:r>
              <a:rPr lang="en-US" b="1" dirty="0">
                <a:solidFill>
                  <a:schemeClr val="bg1"/>
                </a:solidFill>
                <a:latin typeface="Courier New" panose="02070309020205020404" pitchFamily="49" charset="0"/>
                <a:cs typeface="Courier New" panose="02070309020205020404" pitchFamily="49" charset="0"/>
              </a:rPr>
              <a:t>J*A*C*K*</a:t>
            </a:r>
            <a:endParaRPr lang="en-US" sz="2000" b="1" dirty="0">
              <a:solidFill>
                <a:schemeClr val="bg1"/>
              </a:solidFill>
              <a:latin typeface="Courier New" panose="02070309020205020404" pitchFamily="49" charset="0"/>
              <a:cs typeface="Courier New" panose="02070309020205020404" pitchFamily="49" charset="0"/>
            </a:endParaRPr>
          </a:p>
          <a:p>
            <a:endParaRPr lang="en-US" b="1" dirty="0">
              <a:solidFill>
                <a:schemeClr val="bg1"/>
              </a:solidFill>
              <a:latin typeface="Courier New" panose="02070309020205020404" pitchFamily="49" charset="0"/>
              <a:cs typeface="Courier New" panose="02070309020205020404" pitchFamily="49" charset="0"/>
            </a:endParaRPr>
          </a:p>
        </p:txBody>
      </p:sp>
      <p:cxnSp>
        <p:nvCxnSpPr>
          <p:cNvPr id="6" name="Straight Arrow Connector 5">
            <a:extLst>
              <a:ext uri="{FF2B5EF4-FFF2-40B4-BE49-F238E27FC236}">
                <a16:creationId xmlns:a16="http://schemas.microsoft.com/office/drawing/2014/main" id="{5293A517-C8CF-1561-AE3C-66638394C5DD}"/>
              </a:ext>
              <a:ext uri="{C183D7F6-B498-43B3-948B-1728B52AA6E4}">
                <adec:decorative xmlns:adec="http://schemas.microsoft.com/office/drawing/2017/decorative" val="1"/>
              </a:ext>
            </a:extLst>
          </p:cNvPr>
          <p:cNvCxnSpPr/>
          <p:nvPr/>
        </p:nvCxnSpPr>
        <p:spPr>
          <a:xfrm flipV="1">
            <a:off x="4953000" y="2590800"/>
            <a:ext cx="914400" cy="457200"/>
          </a:xfrm>
          <a:prstGeom prst="straightConnector1">
            <a:avLst/>
          </a:prstGeom>
          <a:ln w="7620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BBDF661-942A-54D5-6E57-02B5EE0FFF5E}"/>
              </a:ext>
              <a:ext uri="{C183D7F6-B498-43B3-948B-1728B52AA6E4}">
                <adec:decorative xmlns:adec="http://schemas.microsoft.com/office/drawing/2017/decorative" val="1"/>
              </a:ext>
            </a:extLst>
          </p:cNvPr>
          <p:cNvCxnSpPr>
            <a:cxnSpLocks/>
          </p:cNvCxnSpPr>
          <p:nvPr/>
        </p:nvCxnSpPr>
        <p:spPr>
          <a:xfrm flipV="1">
            <a:off x="5227983" y="4236037"/>
            <a:ext cx="639417" cy="357328"/>
          </a:xfrm>
          <a:prstGeom prst="straightConnector1">
            <a:avLst/>
          </a:prstGeom>
          <a:ln w="7620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7B8EE11-2BF7-8426-864C-72B7A96FD046}"/>
              </a:ext>
              <a:ext uri="{C183D7F6-B498-43B3-948B-1728B52AA6E4}">
                <adec:decorative xmlns:adec="http://schemas.microsoft.com/office/drawing/2017/decorative" val="1"/>
              </a:ext>
            </a:extLst>
          </p:cNvPr>
          <p:cNvCxnSpPr>
            <a:cxnSpLocks/>
          </p:cNvCxnSpPr>
          <p:nvPr/>
        </p:nvCxnSpPr>
        <p:spPr>
          <a:xfrm flipV="1">
            <a:off x="5246205" y="4869402"/>
            <a:ext cx="621195" cy="823699"/>
          </a:xfrm>
          <a:prstGeom prst="straightConnector1">
            <a:avLst/>
          </a:prstGeom>
          <a:ln w="76200">
            <a:solidFill>
              <a:srgbClr val="66FFFF"/>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FF251995-A3DE-6DD4-B9FC-309909669E0D}"/>
              </a:ext>
              <a:ext uri="{C183D7F6-B498-43B3-948B-1728B52AA6E4}">
                <adec:decorative xmlns:adec="http://schemas.microsoft.com/office/drawing/2017/decorative" val="1"/>
              </a:ext>
            </a:extLst>
          </p:cNvPr>
          <p:cNvCxnSpPr>
            <a:cxnSpLocks/>
          </p:cNvCxnSpPr>
          <p:nvPr/>
        </p:nvCxnSpPr>
        <p:spPr>
          <a:xfrm flipV="1">
            <a:off x="2514600" y="5257800"/>
            <a:ext cx="3352800" cy="1219200"/>
          </a:xfrm>
          <a:prstGeom prst="bentConnector3">
            <a:avLst>
              <a:gd name="adj1" fmla="val 97875"/>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4395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A7380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914400" y="2057400"/>
            <a:ext cx="3505200" cy="2743200"/>
          </a:xfrm>
          <a:noFill/>
          <a:ln>
            <a:noFill/>
          </a:ln>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chemeClr val="bg1"/>
                </a:solidFill>
                <a:latin typeface="Berlin Sans FB Demi" panose="020E0802020502020306" pitchFamily="34" charset="0"/>
              </a:rPr>
              <a:t>Vectors</a:t>
            </a:r>
          </a:p>
        </p:txBody>
      </p:sp>
      <p:pic>
        <p:nvPicPr>
          <p:cNvPr id="4" name="Picture 3" descr="A squirrel sitting on a car">
            <a:extLst>
              <a:ext uri="{FF2B5EF4-FFF2-40B4-BE49-F238E27FC236}">
                <a16:creationId xmlns:a16="http://schemas.microsoft.com/office/drawing/2014/main" id="{3B3D89EF-97FC-ACEC-BE5F-BD9F0DE063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12978153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Vectors are Similar to Arrays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A Vector is a data type provided by the Standard Template Library (STL) in C++ and they are sequence containers that represent arrays that can change in size.</a:t>
            </a:r>
          </a:p>
          <a:p>
            <a:r>
              <a:rPr lang="en-US" altLang="en-US" sz="2800" dirty="0">
                <a:solidFill>
                  <a:schemeClr val="bg1"/>
                </a:solidFill>
              </a:rPr>
              <a:t>Each vector item is called an </a:t>
            </a:r>
            <a:r>
              <a:rPr lang="en-US" altLang="en-US" sz="2800" b="1" dirty="0">
                <a:solidFill>
                  <a:schemeClr val="bg1"/>
                </a:solidFill>
                <a:highlight>
                  <a:srgbClr val="FFFF00"/>
                </a:highlight>
              </a:rPr>
              <a:t>element</a:t>
            </a:r>
            <a:r>
              <a:rPr lang="en-US" altLang="en-US" sz="2800" dirty="0">
                <a:solidFill>
                  <a:schemeClr val="bg1"/>
                </a:solidFill>
              </a:rPr>
              <a:t> and can be accessed through an </a:t>
            </a:r>
            <a:r>
              <a:rPr lang="en-US" altLang="en-US" sz="2800" b="1" dirty="0">
                <a:solidFill>
                  <a:schemeClr val="bg1"/>
                </a:solidFill>
                <a:highlight>
                  <a:srgbClr val="FFFF00"/>
                </a:highlight>
              </a:rPr>
              <a:t>index</a:t>
            </a:r>
            <a:r>
              <a:rPr lang="en-US" altLang="en-US" sz="2800" dirty="0">
                <a:solidFill>
                  <a:schemeClr val="bg1"/>
                </a:solidFill>
              </a:rPr>
              <a:t> like an array.</a:t>
            </a:r>
          </a:p>
          <a:p>
            <a:r>
              <a:rPr lang="en-US" altLang="en-US" sz="2800" dirty="0">
                <a:solidFill>
                  <a:schemeClr val="bg1"/>
                </a:solidFill>
              </a:rPr>
              <a:t>All elements are the same data type.</a:t>
            </a:r>
          </a:p>
          <a:p>
            <a:r>
              <a:rPr lang="en-US" altLang="en-US" sz="2800" dirty="0">
                <a:solidFill>
                  <a:schemeClr val="bg1"/>
                </a:solidFill>
              </a:rPr>
              <a:t>Elements are stored in contiguous storage locations in memory.</a:t>
            </a:r>
          </a:p>
          <a:p>
            <a:endParaRPr lang="en-US" altLang="en-US" sz="2800" dirty="0">
              <a:solidFill>
                <a:schemeClr val="bg1"/>
              </a:solidFill>
            </a:endParaRPr>
          </a:p>
        </p:txBody>
      </p:sp>
    </p:spTree>
    <p:extLst>
      <p:ext uri="{BB962C8B-B14F-4D97-AF65-F5344CB8AC3E}">
        <p14:creationId xmlns:p14="http://schemas.microsoft.com/office/powerpoint/2010/main" val="32261886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Create a Vector</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To create a vector, you must first include the vector library.</a:t>
            </a:r>
            <a:br>
              <a:rPr lang="en-US" altLang="en-US" sz="2800" dirty="0">
                <a:solidFill>
                  <a:schemeClr val="bg1"/>
                </a:solidFill>
              </a:rPr>
            </a:br>
            <a:r>
              <a:rPr lang="en-US" altLang="en-US" sz="3200" b="1" dirty="0">
                <a:solidFill>
                  <a:schemeClr val="bg1"/>
                </a:solidFill>
                <a:highlight>
                  <a:srgbClr val="FFFF00"/>
                </a:highlight>
                <a:latin typeface="Courier New" panose="02070309020205020404" pitchFamily="49" charset="0"/>
                <a:cs typeface="Courier New" panose="02070309020205020404" pitchFamily="49" charset="0"/>
              </a:rPr>
              <a:t>#include &lt;vector&gt;</a:t>
            </a:r>
          </a:p>
          <a:p>
            <a:r>
              <a:rPr lang="en-US" altLang="en-US" sz="2800" dirty="0">
                <a:solidFill>
                  <a:schemeClr val="bg1"/>
                </a:solidFill>
              </a:rPr>
              <a:t>In your code you can then define your vector:</a:t>
            </a:r>
            <a:br>
              <a:rPr lang="en-US" altLang="en-US" sz="2800" dirty="0">
                <a:solidFill>
                  <a:schemeClr val="bg1"/>
                </a:solidFill>
              </a:rPr>
            </a:br>
            <a:r>
              <a:rPr lang="en-US" altLang="en-US" sz="3200" b="1" dirty="0">
                <a:solidFill>
                  <a:schemeClr val="bg1"/>
                </a:solidFill>
                <a:highlight>
                  <a:srgbClr val="FFFF00"/>
                </a:highlight>
                <a:latin typeface="Courier New" panose="02070309020205020404" pitchFamily="49" charset="0"/>
                <a:cs typeface="Courier New" panose="02070309020205020404" pitchFamily="49" charset="0"/>
              </a:rPr>
              <a:t>vector &lt;datatype&gt; </a:t>
            </a:r>
            <a:r>
              <a:rPr lang="en-US" altLang="en-US" sz="3200" b="1" dirty="0" err="1">
                <a:solidFill>
                  <a:schemeClr val="bg1"/>
                </a:solidFill>
                <a:highlight>
                  <a:srgbClr val="FFFF00"/>
                </a:highlight>
                <a:latin typeface="Courier New" panose="02070309020205020404" pitchFamily="49" charset="0"/>
                <a:cs typeface="Courier New" panose="02070309020205020404" pitchFamily="49" charset="0"/>
              </a:rPr>
              <a:t>variableName</a:t>
            </a:r>
            <a:r>
              <a:rPr lang="en-US" altLang="en-US" sz="3200" b="1" dirty="0">
                <a:solidFill>
                  <a:schemeClr val="bg1"/>
                </a:solidFill>
                <a:highlight>
                  <a:srgbClr val="FFFF00"/>
                </a:highlight>
                <a:latin typeface="Courier New" panose="02070309020205020404" pitchFamily="49" charset="0"/>
                <a:cs typeface="Courier New" panose="02070309020205020404" pitchFamily="49" charset="0"/>
              </a:rPr>
              <a:t>(</a:t>
            </a:r>
            <a:r>
              <a:rPr lang="en-US" altLang="en-US" sz="3200" b="1" dirty="0" err="1">
                <a:solidFill>
                  <a:schemeClr val="bg1"/>
                </a:solidFill>
                <a:highlight>
                  <a:srgbClr val="FFFF00"/>
                </a:highlight>
                <a:latin typeface="Courier New" panose="02070309020205020404" pitchFamily="49" charset="0"/>
                <a:cs typeface="Courier New" panose="02070309020205020404" pitchFamily="49" charset="0"/>
              </a:rPr>
              <a:t>numElements</a:t>
            </a:r>
            <a:r>
              <a:rPr lang="en-US" altLang="en-US" sz="3200" b="1" dirty="0">
                <a:solidFill>
                  <a:schemeClr val="bg1"/>
                </a:solidFill>
                <a:highlight>
                  <a:srgbClr val="FFFF00"/>
                </a:highlight>
                <a:latin typeface="Courier New" panose="02070309020205020404" pitchFamily="49" charset="0"/>
                <a:cs typeface="Courier New" panose="02070309020205020404" pitchFamily="49" charset="0"/>
              </a:rPr>
              <a:t>);</a:t>
            </a:r>
          </a:p>
          <a:p>
            <a:r>
              <a:rPr lang="en-US" altLang="en-US" sz="2800" dirty="0">
                <a:solidFill>
                  <a:schemeClr val="bg1"/>
                </a:solidFill>
              </a:rPr>
              <a:t>For example, to create a 100-element integer vector called </a:t>
            </a:r>
            <a:r>
              <a:rPr lang="en-US" altLang="en-US" sz="2800" dirty="0" err="1">
                <a:solidFill>
                  <a:schemeClr val="bg1"/>
                </a:solidFill>
              </a:rPr>
              <a:t>myNums</a:t>
            </a:r>
            <a:r>
              <a:rPr lang="en-US" altLang="en-US" sz="2800" dirty="0">
                <a:solidFill>
                  <a:schemeClr val="bg1"/>
                </a:solidFill>
              </a:rPr>
              <a:t>, the code would be:</a:t>
            </a:r>
            <a:br>
              <a:rPr lang="en-US" altLang="en-US" sz="2800" dirty="0">
                <a:solidFill>
                  <a:schemeClr val="bg1"/>
                </a:solidFill>
              </a:rPr>
            </a:br>
            <a:r>
              <a:rPr lang="en-US" altLang="en-US" sz="3200" b="1" dirty="0">
                <a:solidFill>
                  <a:schemeClr val="bg1"/>
                </a:solidFill>
                <a:latin typeface="Courier New" panose="02070309020205020404" pitchFamily="49" charset="0"/>
                <a:cs typeface="Courier New" panose="02070309020205020404" pitchFamily="49" charset="0"/>
              </a:rPr>
              <a:t>vector &lt;</a:t>
            </a:r>
            <a:r>
              <a:rPr lang="en-US" altLang="en-US" sz="3200" b="1" dirty="0">
                <a:solidFill>
                  <a:srgbClr val="0070C0"/>
                </a:solidFill>
                <a:latin typeface="Courier New" panose="02070309020205020404" pitchFamily="49" charset="0"/>
                <a:cs typeface="Courier New" panose="02070309020205020404" pitchFamily="49" charset="0"/>
              </a:rPr>
              <a:t>int</a:t>
            </a:r>
            <a:r>
              <a:rPr lang="en-US" altLang="en-US" sz="3200" b="1" dirty="0">
                <a:solidFill>
                  <a:schemeClr val="bg1"/>
                </a:solidFill>
                <a:latin typeface="Courier New" panose="02070309020205020404" pitchFamily="49" charset="0"/>
                <a:cs typeface="Courier New" panose="02070309020205020404" pitchFamily="49" charset="0"/>
              </a:rPr>
              <a:t>&gt; </a:t>
            </a:r>
            <a:r>
              <a:rPr lang="en-US" altLang="en-US" sz="3200" b="1" dirty="0" err="1">
                <a:solidFill>
                  <a:schemeClr val="bg1"/>
                </a:solidFill>
                <a:latin typeface="Courier New" panose="02070309020205020404" pitchFamily="49" charset="0"/>
                <a:cs typeface="Courier New" panose="02070309020205020404" pitchFamily="49" charset="0"/>
              </a:rPr>
              <a:t>myNums</a:t>
            </a:r>
            <a:r>
              <a:rPr lang="en-US" altLang="en-US" sz="3200" b="1" dirty="0">
                <a:solidFill>
                  <a:schemeClr val="bg1"/>
                </a:solidFill>
                <a:latin typeface="Courier New" panose="02070309020205020404" pitchFamily="49" charset="0"/>
                <a:cs typeface="Courier New" panose="02070309020205020404" pitchFamily="49" charset="0"/>
              </a:rPr>
              <a:t>(</a:t>
            </a:r>
            <a:r>
              <a:rPr lang="en-US" altLang="en-US" sz="3200" b="1" dirty="0">
                <a:solidFill>
                  <a:schemeClr val="accent6">
                    <a:lumMod val="75000"/>
                  </a:schemeClr>
                </a:solidFill>
                <a:latin typeface="Courier New" panose="02070309020205020404" pitchFamily="49" charset="0"/>
                <a:cs typeface="Courier New" panose="02070309020205020404" pitchFamily="49" charset="0"/>
              </a:rPr>
              <a:t>100</a:t>
            </a:r>
            <a:r>
              <a:rPr lang="en-US" altLang="en-US" sz="3200" b="1" dirty="0">
                <a:solidFill>
                  <a:schemeClr val="bg1"/>
                </a:solidFill>
                <a:latin typeface="Courier New" panose="02070309020205020404" pitchFamily="49" charset="0"/>
                <a:cs typeface="Courier New" panose="02070309020205020404" pitchFamily="49" charset="0"/>
              </a:rPr>
              <a:t>);</a:t>
            </a:r>
          </a:p>
          <a:p>
            <a:endParaRPr lang="en-US" altLang="en-US" sz="2800" dirty="0">
              <a:solidFill>
                <a:schemeClr val="bg1"/>
              </a:solidFill>
            </a:endParaRPr>
          </a:p>
        </p:txBody>
      </p:sp>
    </p:spTree>
    <p:extLst>
      <p:ext uri="{BB962C8B-B14F-4D97-AF65-F5344CB8AC3E}">
        <p14:creationId xmlns:p14="http://schemas.microsoft.com/office/powerpoint/2010/main" val="19319383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Access Vector Elements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To access vector elements, you must use an </a:t>
            </a:r>
            <a:r>
              <a:rPr lang="en-US" altLang="en-US" sz="2800" b="1" dirty="0">
                <a:solidFill>
                  <a:schemeClr val="bg1"/>
                </a:solidFill>
              </a:rPr>
              <a:t>index</a:t>
            </a:r>
            <a:r>
              <a:rPr lang="en-US" altLang="en-US" sz="2800" dirty="0">
                <a:solidFill>
                  <a:schemeClr val="bg1"/>
                </a:solidFill>
              </a:rPr>
              <a:t> number and like arrays, index numbers begin with </a:t>
            </a:r>
            <a:r>
              <a:rPr lang="en-US" altLang="en-US" sz="2800" b="1" dirty="0">
                <a:solidFill>
                  <a:schemeClr val="bg1"/>
                </a:solidFill>
              </a:rPr>
              <a:t>zero</a:t>
            </a:r>
            <a:r>
              <a:rPr lang="en-US" altLang="en-US" sz="2800" dirty="0">
                <a:solidFill>
                  <a:schemeClr val="bg1"/>
                </a:solidFill>
              </a:rPr>
              <a:t>. </a:t>
            </a:r>
          </a:p>
          <a:p>
            <a:r>
              <a:rPr lang="en-US" altLang="en-US" sz="2800" dirty="0">
                <a:solidFill>
                  <a:schemeClr val="bg1"/>
                </a:solidFill>
              </a:rPr>
              <a:t>Use the </a:t>
            </a:r>
            <a:r>
              <a:rPr lang="en-US" altLang="en-US" sz="2800" b="1" dirty="0">
                <a:solidFill>
                  <a:schemeClr val="bg1"/>
                </a:solidFill>
                <a:highlight>
                  <a:srgbClr val="FFFF00"/>
                </a:highlight>
              </a:rPr>
              <a:t>at()</a:t>
            </a:r>
            <a:r>
              <a:rPr lang="en-US" altLang="en-US" sz="2800" b="1" dirty="0">
                <a:solidFill>
                  <a:srgbClr val="FF0000"/>
                </a:solidFill>
              </a:rPr>
              <a:t> </a:t>
            </a:r>
            <a:r>
              <a:rPr lang="en-US" altLang="en-US" sz="2800" dirty="0">
                <a:solidFill>
                  <a:schemeClr val="bg1"/>
                </a:solidFill>
              </a:rPr>
              <a:t>function to access a specific element.</a:t>
            </a:r>
          </a:p>
          <a:p>
            <a:endParaRPr lang="en-US" altLang="en-US" sz="2800" b="1" dirty="0">
              <a:solidFill>
                <a:schemeClr val="bg1"/>
              </a:solidFill>
              <a:latin typeface="Courier New" panose="02070309020205020404" pitchFamily="49" charset="0"/>
              <a:cs typeface="Courier New" panose="02070309020205020404" pitchFamily="49" charset="0"/>
            </a:endParaRP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vector &lt;</a:t>
            </a: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&gt; </a:t>
            </a:r>
            <a:r>
              <a:rPr lang="en-US" altLang="en-US" sz="2800" b="1" dirty="0" err="1">
                <a:solidFill>
                  <a:schemeClr val="bg1"/>
                </a:solidFill>
                <a:latin typeface="Courier New" panose="02070309020205020404" pitchFamily="49" charset="0"/>
                <a:cs typeface="Courier New" panose="02070309020205020404" pitchFamily="49" charset="0"/>
              </a:rPr>
              <a:t>myNums</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chemeClr val="accent6">
                    <a:lumMod val="75000"/>
                  </a:schemeClr>
                </a:solidFill>
                <a:latin typeface="Courier New" panose="02070309020205020404" pitchFamily="49" charset="0"/>
                <a:cs typeface="Courier New" panose="02070309020205020404" pitchFamily="49" charset="0"/>
              </a:rPr>
              <a:t>100</a:t>
            </a:r>
            <a:r>
              <a:rPr lang="en-US" altLang="en-US" sz="2800" b="1" dirty="0">
                <a:solidFill>
                  <a:schemeClr val="bg1"/>
                </a:solidFill>
                <a:latin typeface="Courier New" panose="02070309020205020404" pitchFamily="49" charset="0"/>
                <a:cs typeface="Courier New" panose="02070309020205020404" pitchFamily="49" charset="0"/>
              </a:rPr>
              <a:t>);</a:t>
            </a: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myNums.at(</a:t>
            </a:r>
            <a:r>
              <a:rPr lang="en-US" altLang="en-US" sz="2800" b="1" dirty="0">
                <a:solidFill>
                  <a:schemeClr val="accent6">
                    <a:lumMod val="75000"/>
                  </a:schemeClr>
                </a:solidFill>
                <a:latin typeface="Courier New" panose="02070309020205020404" pitchFamily="49" charset="0"/>
                <a:cs typeface="Courier New" panose="02070309020205020404" pitchFamily="49" charset="0"/>
              </a:rPr>
              <a:t>0</a:t>
            </a:r>
            <a:r>
              <a:rPr lang="en-US" altLang="en-US" sz="2800" b="1" dirty="0">
                <a:solidFill>
                  <a:schemeClr val="bg1"/>
                </a:solidFill>
                <a:latin typeface="Courier New" panose="02070309020205020404" pitchFamily="49" charset="0"/>
                <a:cs typeface="Courier New" panose="02070309020205020404" pitchFamily="49" charset="0"/>
              </a:rPr>
              <a:t>) = </a:t>
            </a:r>
            <a:r>
              <a:rPr lang="en-US" altLang="en-US" sz="2800" b="1" dirty="0">
                <a:solidFill>
                  <a:schemeClr val="accent6">
                    <a:lumMod val="75000"/>
                  </a:schemeClr>
                </a:solidFill>
                <a:latin typeface="Courier New" panose="02070309020205020404" pitchFamily="49" charset="0"/>
                <a:cs typeface="Courier New" panose="02070309020205020404" pitchFamily="49" charset="0"/>
              </a:rPr>
              <a:t>7</a:t>
            </a:r>
            <a:r>
              <a:rPr lang="en-US" altLang="en-US" sz="2800" b="1" dirty="0">
                <a:solidFill>
                  <a:schemeClr val="bg1"/>
                </a:solidFill>
                <a:latin typeface="Courier New" panose="02070309020205020404" pitchFamily="49" charset="0"/>
                <a:cs typeface="Courier New" panose="02070309020205020404" pitchFamily="49" charset="0"/>
              </a:rPr>
              <a:t>; </a:t>
            </a:r>
            <a:r>
              <a:rPr lang="en-US" altLang="en-US" sz="2800" b="1" dirty="0">
                <a:solidFill>
                  <a:srgbClr val="00B050"/>
                </a:solidFill>
                <a:latin typeface="Courier New" panose="02070309020205020404" pitchFamily="49" charset="0"/>
                <a:cs typeface="Courier New" panose="02070309020205020404" pitchFamily="49" charset="0"/>
              </a:rPr>
              <a:t>//assigns 7 to the first element</a:t>
            </a:r>
          </a:p>
          <a:p>
            <a:endParaRPr lang="en-US" altLang="en-US" sz="2800" dirty="0">
              <a:solidFill>
                <a:schemeClr val="bg1"/>
              </a:solidFill>
            </a:endParaRPr>
          </a:p>
        </p:txBody>
      </p:sp>
    </p:spTree>
    <p:extLst>
      <p:ext uri="{BB962C8B-B14F-4D97-AF65-F5344CB8AC3E}">
        <p14:creationId xmlns:p14="http://schemas.microsoft.com/office/powerpoint/2010/main" val="35308011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Initializing a Vector</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A vector’s elements are automatically initialized to zeros during the variable definition (unlike arrays).</a:t>
            </a:r>
          </a:p>
          <a:p>
            <a:r>
              <a:rPr lang="en-US" altLang="en-US" sz="2800" dirty="0">
                <a:solidFill>
                  <a:schemeClr val="bg1"/>
                </a:solidFill>
              </a:rPr>
              <a:t>All elements may be initialized to a different single value.</a:t>
            </a:r>
          </a:p>
          <a:p>
            <a:r>
              <a:rPr lang="en-US" altLang="en-US" sz="2800" dirty="0">
                <a:solidFill>
                  <a:schemeClr val="bg1"/>
                </a:solidFill>
              </a:rPr>
              <a:t>For example, the definition below will initialize all 100 elements of the </a:t>
            </a:r>
            <a:r>
              <a:rPr lang="en-US" altLang="en-US" sz="2800" dirty="0" err="1">
                <a:solidFill>
                  <a:schemeClr val="bg1"/>
                </a:solidFill>
              </a:rPr>
              <a:t>myNums</a:t>
            </a:r>
            <a:r>
              <a:rPr lang="en-US" altLang="en-US" sz="2800" dirty="0">
                <a:solidFill>
                  <a:schemeClr val="bg1"/>
                </a:solidFill>
              </a:rPr>
              <a:t> vector to -1 instead of zero.</a:t>
            </a:r>
            <a:br>
              <a:rPr lang="en-US" altLang="en-US" sz="2800" dirty="0">
                <a:solidFill>
                  <a:schemeClr val="bg1"/>
                </a:solidFill>
              </a:rPr>
            </a:br>
            <a:br>
              <a:rPr lang="en-US" altLang="en-US" sz="2800" dirty="0">
                <a:solidFill>
                  <a:schemeClr val="bg1"/>
                </a:solidFill>
              </a:rPr>
            </a:br>
            <a:r>
              <a:rPr lang="en-US" altLang="en-US" sz="2800" b="1" dirty="0">
                <a:solidFill>
                  <a:schemeClr val="bg1"/>
                </a:solidFill>
                <a:latin typeface="Courier New" panose="02070309020205020404" pitchFamily="49" charset="0"/>
                <a:cs typeface="Courier New" panose="02070309020205020404" pitchFamily="49" charset="0"/>
              </a:rPr>
              <a:t>vector &lt;</a:t>
            </a:r>
            <a:r>
              <a:rPr lang="en-US" altLang="en-US" sz="2800" b="1" dirty="0">
                <a:solidFill>
                  <a:srgbClr val="0070C0"/>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&gt; </a:t>
            </a:r>
            <a:r>
              <a:rPr lang="en-US" altLang="en-US" sz="2800" b="1" dirty="0" err="1">
                <a:solidFill>
                  <a:schemeClr val="bg1"/>
                </a:solidFill>
                <a:latin typeface="Courier New" panose="02070309020205020404" pitchFamily="49" charset="0"/>
                <a:cs typeface="Courier New" panose="02070309020205020404" pitchFamily="49" charset="0"/>
              </a:rPr>
              <a:t>myNums</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chemeClr val="accent6">
                    <a:lumMod val="75000"/>
                  </a:schemeClr>
                </a:solidFill>
                <a:latin typeface="Courier New" panose="02070309020205020404" pitchFamily="49" charset="0"/>
                <a:cs typeface="Courier New" panose="02070309020205020404" pitchFamily="49" charset="0"/>
              </a:rPr>
              <a:t>100</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chemeClr val="accent6">
                    <a:lumMod val="75000"/>
                  </a:schemeClr>
                </a:solidFill>
                <a:latin typeface="Courier New" panose="02070309020205020404" pitchFamily="49" charset="0"/>
                <a:cs typeface="Courier New" panose="02070309020205020404" pitchFamily="49" charset="0"/>
              </a:rPr>
              <a:t> -1</a:t>
            </a:r>
            <a:r>
              <a:rPr lang="en-US" altLang="en-US" sz="2800" b="1" dirty="0">
                <a:solidFill>
                  <a:schemeClr val="bg1"/>
                </a:solidFill>
                <a:latin typeface="Courier New" panose="02070309020205020404" pitchFamily="49" charset="0"/>
                <a:cs typeface="Courier New" panose="02070309020205020404" pitchFamily="49" charset="0"/>
              </a:rPr>
              <a:t>);</a:t>
            </a:r>
          </a:p>
          <a:p>
            <a:endParaRPr lang="en-US" altLang="en-US" sz="2800" dirty="0">
              <a:solidFill>
                <a:schemeClr val="bg1"/>
              </a:solidFill>
            </a:endParaRPr>
          </a:p>
        </p:txBody>
      </p:sp>
    </p:spTree>
    <p:extLst>
      <p:ext uri="{BB962C8B-B14F-4D97-AF65-F5344CB8AC3E}">
        <p14:creationId xmlns:p14="http://schemas.microsoft.com/office/powerpoint/2010/main" val="36052692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Iterating Through Vectors – For Loop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lnSpcReduction="10000"/>
          </a:bodyPr>
          <a:lstStyle/>
          <a:p>
            <a:r>
              <a:rPr lang="en-US" altLang="en-US" sz="2800" dirty="0">
                <a:solidFill>
                  <a:schemeClr val="bg1"/>
                </a:solidFill>
              </a:rPr>
              <a:t>As with arrays, you can iterate through a vector using a for loop, range-based for loop (foreach), or the </a:t>
            </a:r>
            <a:r>
              <a:rPr lang="en-US" altLang="en-US" sz="2800" dirty="0" err="1">
                <a:solidFill>
                  <a:schemeClr val="bg1"/>
                </a:solidFill>
              </a:rPr>
              <a:t>for_each</a:t>
            </a:r>
            <a:r>
              <a:rPr lang="en-US" altLang="en-US" sz="2800" dirty="0">
                <a:solidFill>
                  <a:schemeClr val="bg1"/>
                </a:solidFill>
              </a:rPr>
              <a:t> function from the algorithm class.</a:t>
            </a:r>
          </a:p>
          <a:p>
            <a:r>
              <a:rPr lang="en-US" altLang="en-US" sz="2800" dirty="0">
                <a:solidFill>
                  <a:schemeClr val="bg1"/>
                </a:solidFill>
              </a:rPr>
              <a:t>You can get the size of the vector as an unsigned integer using the size() function in the vector class.</a:t>
            </a:r>
          </a:p>
          <a:p>
            <a:r>
              <a:rPr lang="en-US" altLang="en-US" sz="2800" dirty="0">
                <a:solidFill>
                  <a:schemeClr val="bg1"/>
                </a:solidFill>
                <a:cs typeface="Courier New" panose="02070309020205020404" pitchFamily="49" charset="0"/>
              </a:rPr>
              <a:t>For loop example:</a:t>
            </a:r>
            <a:br>
              <a:rPr lang="en-US" altLang="en-US" sz="2800" dirty="0">
                <a:solidFill>
                  <a:schemeClr val="bg1"/>
                </a:solidFill>
                <a:cs typeface="Courier New" panose="02070309020205020404" pitchFamily="49" charset="0"/>
              </a:rPr>
            </a:b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vector &lt;</a:t>
            </a:r>
            <a:r>
              <a:rPr lang="en-US" altLang="en-US" sz="2800" b="1" dirty="0">
                <a:solidFill>
                  <a:srgbClr val="0000FF"/>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&gt; </a:t>
            </a:r>
            <a:r>
              <a:rPr lang="en-US" altLang="en-US" sz="2800" b="1" dirty="0" err="1">
                <a:solidFill>
                  <a:schemeClr val="bg1"/>
                </a:solidFill>
                <a:latin typeface="Courier New" panose="02070309020205020404" pitchFamily="49" charset="0"/>
                <a:cs typeface="Courier New" panose="02070309020205020404" pitchFamily="49" charset="0"/>
              </a:rPr>
              <a:t>myNums</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rgbClr val="A73801"/>
                </a:solidFill>
                <a:latin typeface="Courier New" panose="02070309020205020404" pitchFamily="49" charset="0"/>
                <a:cs typeface="Courier New" panose="02070309020205020404" pitchFamily="49" charset="0"/>
              </a:rPr>
              <a:t>100</a:t>
            </a: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rgbClr val="0000FF"/>
                </a:solidFill>
                <a:latin typeface="Courier New" panose="02070309020205020404" pitchFamily="49" charset="0"/>
                <a:cs typeface="Courier New" panose="02070309020205020404" pitchFamily="49" charset="0"/>
              </a:rPr>
              <a:t>for</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a:solidFill>
                  <a:srgbClr val="0000FF"/>
                </a:solidFill>
                <a:latin typeface="Courier New" panose="02070309020205020404" pitchFamily="49" charset="0"/>
                <a:cs typeface="Courier New" panose="02070309020205020404" pitchFamily="49" charset="0"/>
              </a:rPr>
              <a:t>unsigned int </a:t>
            </a:r>
            <a:r>
              <a:rPr lang="en-US" altLang="en-US" sz="2800" b="1" dirty="0">
                <a:solidFill>
                  <a:schemeClr val="bg1"/>
                </a:solidFill>
                <a:latin typeface="Courier New" panose="02070309020205020404" pitchFamily="49" charset="0"/>
                <a:cs typeface="Courier New" panose="02070309020205020404" pitchFamily="49" charset="0"/>
              </a:rPr>
              <a:t>i=</a:t>
            </a:r>
            <a:r>
              <a:rPr lang="en-US" altLang="en-US" sz="2800" b="1" dirty="0">
                <a:solidFill>
                  <a:srgbClr val="A63901"/>
                </a:solidFill>
                <a:latin typeface="Courier New" panose="02070309020205020404" pitchFamily="49" charset="0"/>
                <a:cs typeface="Courier New" panose="02070309020205020404" pitchFamily="49" charset="0"/>
              </a:rPr>
              <a:t>0</a:t>
            </a:r>
            <a:r>
              <a:rPr lang="en-US" altLang="en-US" sz="2800" b="1" dirty="0">
                <a:solidFill>
                  <a:schemeClr val="bg1"/>
                </a:solidFill>
                <a:latin typeface="Courier New" panose="02070309020205020404" pitchFamily="49" charset="0"/>
                <a:cs typeface="Courier New" panose="02070309020205020404" pitchFamily="49" charset="0"/>
              </a:rPr>
              <a:t>; i&lt;</a:t>
            </a:r>
            <a:r>
              <a:rPr lang="en-US" altLang="en-US" sz="2800" b="1" dirty="0" err="1">
                <a:solidFill>
                  <a:schemeClr val="bg1"/>
                </a:solidFill>
                <a:latin typeface="Courier New" panose="02070309020205020404" pitchFamily="49" charset="0"/>
                <a:cs typeface="Courier New" panose="02070309020205020404" pitchFamily="49" charset="0"/>
              </a:rPr>
              <a:t>myNums.size</a:t>
            </a:r>
            <a:r>
              <a:rPr lang="en-US" altLang="en-US" sz="2800" b="1" dirty="0">
                <a:solidFill>
                  <a:schemeClr val="bg1"/>
                </a:solidFill>
                <a:latin typeface="Courier New" panose="02070309020205020404" pitchFamily="49" charset="0"/>
                <a:cs typeface="Courier New" panose="02070309020205020404" pitchFamily="49" charset="0"/>
              </a:rPr>
              <a:t>(); i++)</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	cout &lt;&lt; myNums.at(i) &lt;&lt; endl;</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825820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Iterating Through Vectors – foreach loop</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rPr>
              <a:t>Range-based for loop (foreach)</a:t>
            </a: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vector &lt;</a:t>
            </a:r>
            <a:r>
              <a:rPr lang="en-US" altLang="en-US" sz="2800" b="1" dirty="0">
                <a:solidFill>
                  <a:srgbClr val="0000FF"/>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&gt; </a:t>
            </a:r>
            <a:r>
              <a:rPr lang="en-US" altLang="en-US" sz="2800" b="1" dirty="0" err="1">
                <a:solidFill>
                  <a:schemeClr val="bg1"/>
                </a:solidFill>
                <a:latin typeface="Courier New" panose="02070309020205020404" pitchFamily="49" charset="0"/>
                <a:cs typeface="Courier New" panose="02070309020205020404" pitchFamily="49" charset="0"/>
              </a:rPr>
              <a:t>myNums</a:t>
            </a:r>
            <a:r>
              <a:rPr lang="en-US" altLang="en-US" sz="2800" b="1" dirty="0">
                <a:solidFill>
                  <a:schemeClr val="bg1"/>
                </a:solidFill>
                <a:latin typeface="Courier New" panose="02070309020205020404" pitchFamily="49" charset="0"/>
                <a:cs typeface="Courier New" panose="02070309020205020404" pitchFamily="49" charset="0"/>
              </a:rPr>
              <a:t>(100);</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for(</a:t>
            </a:r>
            <a:r>
              <a:rPr lang="en-US" altLang="en-US" sz="2800" b="1" dirty="0">
                <a:solidFill>
                  <a:srgbClr val="0000FF"/>
                </a:solidFill>
                <a:latin typeface="Courier New" panose="02070309020205020404" pitchFamily="49" charset="0"/>
                <a:cs typeface="Courier New" panose="02070309020205020404" pitchFamily="49" charset="0"/>
              </a:rPr>
              <a:t>auto</a:t>
            </a:r>
            <a:r>
              <a:rPr lang="en-US" altLang="en-US" sz="2800" b="1" dirty="0">
                <a:solidFill>
                  <a:schemeClr val="bg1"/>
                </a:solidFill>
                <a:latin typeface="Courier New" panose="02070309020205020404" pitchFamily="49" charset="0"/>
                <a:cs typeface="Courier New" panose="02070309020205020404" pitchFamily="49" charset="0"/>
              </a:rPr>
              <a:t> num : </a:t>
            </a:r>
            <a:r>
              <a:rPr lang="en-US" altLang="en-US" sz="2800" b="1" dirty="0" err="1">
                <a:solidFill>
                  <a:schemeClr val="bg1"/>
                </a:solidFill>
                <a:latin typeface="Courier New" panose="02070309020205020404" pitchFamily="49" charset="0"/>
                <a:cs typeface="Courier New" panose="02070309020205020404" pitchFamily="49" charset="0"/>
              </a:rPr>
              <a:t>myNums</a:t>
            </a: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	cout &lt;&lt; num &lt;&lt; endl;</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830604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Iterating Through Vectors – </a:t>
            </a:r>
            <a:r>
              <a:rPr lang="en-US" b="1" dirty="0" err="1">
                <a:solidFill>
                  <a:srgbClr val="4F2984"/>
                </a:solidFill>
                <a:latin typeface="Amasis MT Pro Black" panose="02040A04050005020304" pitchFamily="18" charset="0"/>
              </a:rPr>
              <a:t>for_each</a:t>
            </a:r>
            <a:r>
              <a:rPr lang="en-US" b="1" dirty="0">
                <a:solidFill>
                  <a:srgbClr val="4F2984"/>
                </a:solidFill>
                <a:latin typeface="Amasis MT Pro Black" panose="02040A04050005020304" pitchFamily="18" charset="0"/>
              </a:rPr>
              <a:t> function</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fontScale="92500" lnSpcReduction="10000"/>
          </a:bodyPr>
          <a:lstStyle/>
          <a:p>
            <a:r>
              <a:rPr lang="en-US" altLang="en-US" sz="2800" dirty="0">
                <a:solidFill>
                  <a:schemeClr val="bg1"/>
                </a:solidFill>
              </a:rPr>
              <a:t>The </a:t>
            </a:r>
            <a:r>
              <a:rPr lang="en-US" altLang="en-US" sz="2800" b="1" dirty="0" err="1">
                <a:solidFill>
                  <a:schemeClr val="bg1"/>
                </a:solidFill>
                <a:highlight>
                  <a:srgbClr val="FFFF00"/>
                </a:highlight>
              </a:rPr>
              <a:t>for_each</a:t>
            </a:r>
            <a:r>
              <a:rPr lang="en-US" altLang="en-US" sz="2800" b="1" dirty="0">
                <a:solidFill>
                  <a:srgbClr val="0000FF"/>
                </a:solidFill>
              </a:rPr>
              <a:t> </a:t>
            </a:r>
            <a:r>
              <a:rPr lang="en-US" altLang="en-US" sz="2800" dirty="0">
                <a:solidFill>
                  <a:schemeClr val="bg1"/>
                </a:solidFill>
              </a:rPr>
              <a:t>function in the algorithm library will apply a function to each element of the vector. Must </a:t>
            </a:r>
            <a:r>
              <a:rPr lang="en-US" altLang="en-US" sz="2800" b="1" dirty="0">
                <a:solidFill>
                  <a:schemeClr val="bg1"/>
                </a:solidFill>
                <a:highlight>
                  <a:srgbClr val="FFFF00"/>
                </a:highlight>
              </a:rPr>
              <a:t>#include &lt;algorithm&gt;</a:t>
            </a:r>
          </a:p>
          <a:p>
            <a:r>
              <a:rPr lang="en-US" altLang="en-US" sz="2800" dirty="0">
                <a:solidFill>
                  <a:schemeClr val="bg1"/>
                </a:solidFill>
              </a:rPr>
              <a:t>The function can be a lambda function or a programmer-defined function.</a:t>
            </a:r>
          </a:p>
          <a:p>
            <a:r>
              <a:rPr lang="en-US" altLang="en-US" sz="2800" dirty="0">
                <a:solidFill>
                  <a:schemeClr val="bg1"/>
                </a:solidFill>
                <a:cs typeface="Courier New" panose="02070309020205020404" pitchFamily="49" charset="0"/>
              </a:rPr>
              <a:t>The </a:t>
            </a:r>
            <a:r>
              <a:rPr lang="en-US" altLang="en-US" sz="2800" b="1" dirty="0">
                <a:solidFill>
                  <a:schemeClr val="bg1"/>
                </a:solidFill>
                <a:highlight>
                  <a:srgbClr val="FFFF00"/>
                </a:highlight>
                <a:cs typeface="Courier New" panose="02070309020205020404" pitchFamily="49" charset="0"/>
              </a:rPr>
              <a:t>begin</a:t>
            </a:r>
            <a:r>
              <a:rPr lang="en-US" altLang="en-US" sz="2800" dirty="0">
                <a:solidFill>
                  <a:schemeClr val="bg1"/>
                </a:solidFill>
                <a:highlight>
                  <a:srgbClr val="FFFF00"/>
                </a:highlight>
                <a:cs typeface="Courier New" panose="02070309020205020404" pitchFamily="49" charset="0"/>
              </a:rPr>
              <a:t>()</a:t>
            </a:r>
            <a:r>
              <a:rPr lang="en-US" altLang="en-US" sz="2800" dirty="0">
                <a:solidFill>
                  <a:schemeClr val="bg1"/>
                </a:solidFill>
                <a:cs typeface="Courier New" panose="02070309020205020404" pitchFamily="49" charset="0"/>
              </a:rPr>
              <a:t> function in the vector library returns an iterator to the first element. An </a:t>
            </a:r>
            <a:r>
              <a:rPr lang="en-US" altLang="en-US" sz="2800" b="1" dirty="0">
                <a:solidFill>
                  <a:schemeClr val="bg1"/>
                </a:solidFill>
                <a:highlight>
                  <a:srgbClr val="FFFF00"/>
                </a:highlight>
                <a:cs typeface="Courier New" panose="02070309020205020404" pitchFamily="49" charset="0"/>
              </a:rPr>
              <a:t>iterator</a:t>
            </a:r>
            <a:r>
              <a:rPr lang="en-US" altLang="en-US" sz="2800" dirty="0">
                <a:solidFill>
                  <a:schemeClr val="bg1"/>
                </a:solidFill>
                <a:cs typeface="Courier New" panose="02070309020205020404" pitchFamily="49" charset="0"/>
              </a:rPr>
              <a:t> is an object that points to an element inside the vector and we use iterators to move through the elements in the vector.</a:t>
            </a:r>
          </a:p>
          <a:p>
            <a:r>
              <a:rPr lang="en-US" altLang="en-US" sz="2800" dirty="0">
                <a:solidFill>
                  <a:schemeClr val="bg1"/>
                </a:solidFill>
                <a:cs typeface="Courier New" panose="02070309020205020404" pitchFamily="49" charset="0"/>
              </a:rPr>
              <a:t>The </a:t>
            </a:r>
            <a:r>
              <a:rPr lang="en-US" altLang="en-US" sz="2800" b="1" dirty="0">
                <a:solidFill>
                  <a:schemeClr val="bg1"/>
                </a:solidFill>
                <a:highlight>
                  <a:srgbClr val="FFFF00"/>
                </a:highlight>
                <a:cs typeface="Courier New" panose="02070309020205020404" pitchFamily="49" charset="0"/>
              </a:rPr>
              <a:t>end</a:t>
            </a:r>
            <a:r>
              <a:rPr lang="en-US" altLang="en-US" sz="2800" dirty="0">
                <a:solidFill>
                  <a:schemeClr val="bg1"/>
                </a:solidFill>
                <a:highlight>
                  <a:srgbClr val="FFFF00"/>
                </a:highlight>
                <a:cs typeface="Courier New" panose="02070309020205020404" pitchFamily="49" charset="0"/>
              </a:rPr>
              <a:t>()</a:t>
            </a:r>
            <a:r>
              <a:rPr lang="en-US" altLang="en-US" sz="2800" dirty="0">
                <a:solidFill>
                  <a:schemeClr val="bg1"/>
                </a:solidFill>
                <a:cs typeface="Courier New" panose="02070309020205020404" pitchFamily="49" charset="0"/>
              </a:rPr>
              <a:t> function in the vector library returns an iterator to the last element.</a:t>
            </a: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vector &lt;</a:t>
            </a:r>
            <a:r>
              <a:rPr lang="en-US" altLang="en-US" sz="2800" b="1" dirty="0">
                <a:solidFill>
                  <a:srgbClr val="0000FF"/>
                </a:solidFill>
                <a:latin typeface="Courier New" panose="02070309020205020404" pitchFamily="49" charset="0"/>
                <a:cs typeface="Courier New" panose="02070309020205020404" pitchFamily="49" charset="0"/>
              </a:rPr>
              <a:t>int</a:t>
            </a:r>
            <a:r>
              <a:rPr lang="en-US" altLang="en-US" sz="2800" b="1" dirty="0">
                <a:solidFill>
                  <a:schemeClr val="bg1"/>
                </a:solidFill>
                <a:latin typeface="Courier New" panose="02070309020205020404" pitchFamily="49" charset="0"/>
                <a:cs typeface="Courier New" panose="02070309020205020404" pitchFamily="49" charset="0"/>
              </a:rPr>
              <a:t>&gt; </a:t>
            </a:r>
            <a:r>
              <a:rPr lang="en-US" altLang="en-US" sz="2800" b="1" dirty="0" err="1">
                <a:solidFill>
                  <a:schemeClr val="bg1"/>
                </a:solidFill>
                <a:latin typeface="Courier New" panose="02070309020205020404" pitchFamily="49" charset="0"/>
                <a:cs typeface="Courier New" panose="02070309020205020404" pitchFamily="49" charset="0"/>
              </a:rPr>
              <a:t>myNums</a:t>
            </a:r>
            <a:r>
              <a:rPr lang="en-US" altLang="en-US" sz="2800" b="1" dirty="0">
                <a:solidFill>
                  <a:schemeClr val="bg1"/>
                </a:solidFill>
                <a:latin typeface="Courier New" panose="02070309020205020404" pitchFamily="49" charset="0"/>
                <a:cs typeface="Courier New" panose="02070309020205020404" pitchFamily="49" charset="0"/>
              </a:rPr>
              <a:t>(100);</a:t>
            </a:r>
            <a:br>
              <a:rPr lang="en-US" altLang="en-US" sz="2800" b="1" dirty="0">
                <a:solidFill>
                  <a:schemeClr val="bg1"/>
                </a:solidFill>
                <a:latin typeface="Courier New" panose="02070309020205020404" pitchFamily="49" charset="0"/>
                <a:cs typeface="Courier New" panose="02070309020205020404" pitchFamily="49" charset="0"/>
              </a:rPr>
            </a:br>
            <a:r>
              <a:rPr lang="en-US" altLang="en-US" sz="2800" b="1" dirty="0" err="1">
                <a:solidFill>
                  <a:schemeClr val="bg1"/>
                </a:solidFill>
                <a:latin typeface="Courier New" panose="02070309020205020404" pitchFamily="49" charset="0"/>
                <a:cs typeface="Courier New" panose="02070309020205020404" pitchFamily="49" charset="0"/>
              </a:rPr>
              <a:t>for_each</a:t>
            </a:r>
            <a:r>
              <a:rPr lang="en-US" altLang="en-US" sz="2800" b="1" dirty="0">
                <a:solidFill>
                  <a:schemeClr val="bg1"/>
                </a:solidFill>
                <a:latin typeface="Courier New" panose="02070309020205020404" pitchFamily="49" charset="0"/>
                <a:cs typeface="Courier New" panose="02070309020205020404" pitchFamily="49" charset="0"/>
              </a:rPr>
              <a:t>(</a:t>
            </a:r>
            <a:r>
              <a:rPr lang="en-US" altLang="en-US" sz="2800" b="1" dirty="0" err="1">
                <a:solidFill>
                  <a:schemeClr val="bg1"/>
                </a:solidFill>
                <a:latin typeface="Courier New" panose="02070309020205020404" pitchFamily="49" charset="0"/>
                <a:cs typeface="Courier New" panose="02070309020205020404" pitchFamily="49" charset="0"/>
              </a:rPr>
              <a:t>myNums.begin</a:t>
            </a:r>
            <a:r>
              <a:rPr lang="en-US" altLang="en-US" sz="2800" b="1" dirty="0">
                <a:solidFill>
                  <a:schemeClr val="bg1"/>
                </a:solidFill>
                <a:latin typeface="Courier New" panose="02070309020205020404" pitchFamily="49" charset="0"/>
                <a:cs typeface="Courier New" panose="02070309020205020404" pitchFamily="49" charset="0"/>
              </a:rPr>
              <a:t>(), </a:t>
            </a:r>
            <a:r>
              <a:rPr lang="en-US" altLang="en-US" sz="2800" b="1" dirty="0" err="1">
                <a:solidFill>
                  <a:schemeClr val="bg1"/>
                </a:solidFill>
                <a:latin typeface="Courier New" panose="02070309020205020404" pitchFamily="49" charset="0"/>
                <a:cs typeface="Courier New" panose="02070309020205020404" pitchFamily="49" charset="0"/>
              </a:rPr>
              <a:t>myNums.end</a:t>
            </a:r>
            <a:r>
              <a:rPr lang="en-US" altLang="en-US" sz="2800" b="1" dirty="0">
                <a:solidFill>
                  <a:schemeClr val="bg1"/>
                </a:solidFill>
                <a:latin typeface="Courier New" panose="02070309020205020404" pitchFamily="49" charset="0"/>
                <a:cs typeface="Courier New" panose="02070309020205020404" pitchFamily="49" charset="0"/>
              </a:rPr>
              <a:t>(), [](int &amp;num) { </a:t>
            </a: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		cout &lt;&lt; num &lt;&lt; endl;	</a:t>
            </a:r>
          </a:p>
          <a:p>
            <a:pPr marL="0" indent="0">
              <a:buNone/>
            </a:pPr>
            <a:r>
              <a:rPr lang="en-US" altLang="en-US" sz="2800" b="1" dirty="0">
                <a:solidFill>
                  <a:schemeClr val="bg1"/>
                </a:solidFill>
                <a:latin typeface="Courier New" panose="02070309020205020404" pitchFamily="49" charset="0"/>
                <a:cs typeface="Courier New" panose="02070309020205020404" pitchFamily="49" charset="0"/>
              </a:rPr>
              <a:t>});</a:t>
            </a:r>
            <a:endParaRPr lang="en-US" altLang="en-US" sz="2800" dirty="0">
              <a:solidFill>
                <a:schemeClr val="bg1"/>
              </a:solidFill>
              <a:cs typeface="Courier New" panose="02070309020205020404" pitchFamily="49" charset="0"/>
            </a:endParaRPr>
          </a:p>
        </p:txBody>
      </p:sp>
    </p:spTree>
    <p:extLst>
      <p:ext uri="{BB962C8B-B14F-4D97-AF65-F5344CB8AC3E}">
        <p14:creationId xmlns:p14="http://schemas.microsoft.com/office/powerpoint/2010/main" val="25780595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Example Programs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b="1" dirty="0">
                <a:solidFill>
                  <a:schemeClr val="bg1"/>
                </a:solidFill>
                <a:latin typeface="Courier New" panose="02070309020205020404" pitchFamily="49" charset="0"/>
                <a:cs typeface="Courier New" panose="02070309020205020404" pitchFamily="49" charset="0"/>
              </a:rPr>
              <a:t>vector1.cpp </a:t>
            </a:r>
            <a:r>
              <a:rPr lang="en-US" altLang="en-US" sz="2800" dirty="0">
                <a:solidFill>
                  <a:schemeClr val="bg1"/>
                </a:solidFill>
                <a:cs typeface="Courier New" panose="02070309020205020404" pitchFamily="49" charset="0"/>
              </a:rPr>
              <a:t>– create &amp; print vector elements</a:t>
            </a:r>
          </a:p>
          <a:p>
            <a:r>
              <a:rPr lang="en-US" altLang="en-US" sz="2800" b="1" dirty="0">
                <a:solidFill>
                  <a:schemeClr val="bg1"/>
                </a:solidFill>
                <a:latin typeface="Courier New" panose="02070309020205020404" pitchFamily="49" charset="0"/>
                <a:cs typeface="Courier New" panose="02070309020205020404" pitchFamily="49" charset="0"/>
              </a:rPr>
              <a:t>vector2.cpp </a:t>
            </a:r>
            <a:r>
              <a:rPr lang="en-US" altLang="en-US" sz="2800" dirty="0">
                <a:solidFill>
                  <a:schemeClr val="bg1"/>
                </a:solidFill>
                <a:cs typeface="Courier New" panose="02070309020205020404" pitchFamily="49" charset="0"/>
              </a:rPr>
              <a:t>– create a vector, put info in a vector using a for loop, find max, find average</a:t>
            </a:r>
          </a:p>
          <a:p>
            <a:r>
              <a:rPr lang="en-US" altLang="en-US" sz="2800" b="1" dirty="0">
                <a:solidFill>
                  <a:schemeClr val="bg1"/>
                </a:solidFill>
                <a:latin typeface="Courier New" panose="02070309020205020404" pitchFamily="49" charset="0"/>
                <a:cs typeface="Courier New" panose="02070309020205020404" pitchFamily="49" charset="0"/>
              </a:rPr>
              <a:t>vector3.cpp</a:t>
            </a:r>
            <a:r>
              <a:rPr lang="en-US" altLang="en-US" sz="2800" dirty="0">
                <a:solidFill>
                  <a:schemeClr val="bg1"/>
                </a:solidFill>
                <a:cs typeface="Courier New" panose="02070309020205020404" pitchFamily="49" charset="0"/>
              </a:rPr>
              <a:t> – demonstrates parallel vectors</a:t>
            </a:r>
          </a:p>
          <a:p>
            <a:r>
              <a:rPr lang="en-US" altLang="en-US" sz="2800" b="1" dirty="0">
                <a:solidFill>
                  <a:schemeClr val="bg1"/>
                </a:solidFill>
                <a:latin typeface="Courier New" panose="02070309020205020404" pitchFamily="49" charset="0"/>
                <a:cs typeface="Courier New" panose="02070309020205020404" pitchFamily="49" charset="0"/>
              </a:rPr>
              <a:t>foreach_vector.cpp </a:t>
            </a:r>
            <a:r>
              <a:rPr lang="en-US" altLang="en-US" sz="2800" dirty="0">
                <a:solidFill>
                  <a:schemeClr val="bg1"/>
                </a:solidFill>
                <a:cs typeface="Courier New" panose="02070309020205020404" pitchFamily="49" charset="0"/>
              </a:rPr>
              <a:t>– creates a string vector &amp; initializes vector elements, uses a range-based (foreach) loop to prepend the number of characters in the string to the string, prints the vector elements</a:t>
            </a:r>
          </a:p>
          <a:p>
            <a:r>
              <a:rPr lang="en-US" altLang="en-US" sz="2800" b="1" dirty="0">
                <a:solidFill>
                  <a:schemeClr val="bg1"/>
                </a:solidFill>
                <a:latin typeface="Courier New" panose="02070309020205020404" pitchFamily="49" charset="0"/>
                <a:cs typeface="Courier New" panose="02070309020205020404" pitchFamily="49" charset="0"/>
              </a:rPr>
              <a:t>for_each_vector.cpp </a:t>
            </a:r>
            <a:r>
              <a:rPr lang="en-US" altLang="en-US" sz="2800" dirty="0">
                <a:solidFill>
                  <a:schemeClr val="bg1"/>
                </a:solidFill>
                <a:cs typeface="Courier New" panose="02070309020205020404" pitchFamily="49" charset="0"/>
              </a:rPr>
              <a:t>– same program as foreach_vector.cpp except uses the algorithm library’s </a:t>
            </a:r>
            <a:r>
              <a:rPr lang="en-US" altLang="en-US" sz="2800" dirty="0" err="1">
                <a:solidFill>
                  <a:schemeClr val="bg1"/>
                </a:solidFill>
                <a:cs typeface="Courier New" panose="02070309020205020404" pitchFamily="49" charset="0"/>
              </a:rPr>
              <a:t>for_each</a:t>
            </a:r>
            <a:r>
              <a:rPr lang="en-US" altLang="en-US" sz="2800" dirty="0">
                <a:solidFill>
                  <a:schemeClr val="bg1"/>
                </a:solidFill>
                <a:cs typeface="Courier New" panose="02070309020205020404" pitchFamily="49" charset="0"/>
              </a:rPr>
              <a:t> loop</a:t>
            </a:r>
          </a:p>
        </p:txBody>
      </p:sp>
      <p:pic>
        <p:nvPicPr>
          <p:cNvPr id="2" name="Picture 2" descr="C++ Logo Icon, Transparent C++ Logo.PNG Images &amp; Vector - FreeIconsPNG">
            <a:extLst>
              <a:ext uri="{FF2B5EF4-FFF2-40B4-BE49-F238E27FC236}">
                <a16:creationId xmlns:a16="http://schemas.microsoft.com/office/drawing/2014/main" id="{3248C318-2F86-A40C-AEBA-D8812FE568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94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6331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Resizing a Vector</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cs typeface="Courier New" panose="02070309020205020404" pitchFamily="49" charset="0"/>
              </a:rPr>
              <a:t>The biggest advantage to using a vector is that you can resize them during runtime using the </a:t>
            </a:r>
            <a:r>
              <a:rPr lang="en-US" altLang="en-US" sz="2800" b="1" dirty="0">
                <a:solidFill>
                  <a:schemeClr val="bg1"/>
                </a:solidFill>
                <a:highlight>
                  <a:srgbClr val="FFFF00"/>
                </a:highlight>
                <a:cs typeface="Courier New" panose="02070309020205020404" pitchFamily="49" charset="0"/>
              </a:rPr>
              <a:t>resize()</a:t>
            </a:r>
            <a:r>
              <a:rPr lang="en-US" altLang="en-US" sz="2800" b="1" dirty="0">
                <a:solidFill>
                  <a:srgbClr val="FF0000"/>
                </a:solidFill>
                <a:cs typeface="Courier New" panose="02070309020205020404" pitchFamily="49" charset="0"/>
              </a:rPr>
              <a:t> </a:t>
            </a:r>
            <a:r>
              <a:rPr lang="en-US" altLang="en-US" sz="2800" dirty="0">
                <a:solidFill>
                  <a:schemeClr val="bg1"/>
                </a:solidFill>
                <a:cs typeface="Courier New" panose="02070309020205020404" pitchFamily="49" charset="0"/>
              </a:rPr>
              <a:t>function.</a:t>
            </a:r>
          </a:p>
          <a:p>
            <a:r>
              <a:rPr lang="en-US" altLang="en-US" sz="2800" dirty="0">
                <a:solidFill>
                  <a:schemeClr val="bg1"/>
                </a:solidFill>
                <a:cs typeface="Courier New" panose="02070309020205020404" pitchFamily="49" charset="0"/>
              </a:rPr>
              <a:t>This is particularly useful if you are creating the number of elements based on user input.</a:t>
            </a:r>
          </a:p>
          <a:p>
            <a:pPr marL="0" indent="0">
              <a:buNone/>
            </a:pPr>
            <a:r>
              <a:rPr lang="en-US" sz="2800" b="1" dirty="0">
                <a:solidFill>
                  <a:schemeClr val="bg1"/>
                </a:solidFill>
                <a:latin typeface="Courier New" panose="02070309020205020404" pitchFamily="49" charset="0"/>
                <a:cs typeface="Courier New" panose="02070309020205020404" pitchFamily="49" charset="0"/>
              </a:rPr>
              <a:t>vector&lt;</a:t>
            </a:r>
            <a:r>
              <a:rPr lang="en-US" sz="2800" b="1" dirty="0">
                <a:solidFill>
                  <a:srgbClr val="0070C0"/>
                </a:solidFill>
                <a:latin typeface="Courier New" panose="02070309020205020404" pitchFamily="49" charset="0"/>
                <a:cs typeface="Courier New" panose="02070309020205020404" pitchFamily="49" charset="0"/>
              </a:rPr>
              <a:t>int</a:t>
            </a:r>
            <a:r>
              <a:rPr lang="en-US" sz="2800" b="1" dirty="0">
                <a:solidFill>
                  <a:schemeClr val="bg1"/>
                </a:solidFill>
                <a:latin typeface="Courier New" panose="02070309020205020404" pitchFamily="49" charset="0"/>
                <a:cs typeface="Courier New" panose="02070309020205020404" pitchFamily="49" charset="0"/>
              </a:rPr>
              <a:t>&gt; </a:t>
            </a:r>
            <a:r>
              <a:rPr lang="en-US" sz="2800" b="1" dirty="0" err="1">
                <a:solidFill>
                  <a:schemeClr val="bg1"/>
                </a:solidFill>
                <a:latin typeface="Courier New" panose="02070309020205020404" pitchFamily="49" charset="0"/>
                <a:cs typeface="Courier New" panose="02070309020205020404" pitchFamily="49" charset="0"/>
              </a:rPr>
              <a:t>myNums</a:t>
            </a:r>
            <a:r>
              <a:rPr lang="en-US" sz="2800" b="1" dirty="0">
                <a:solidFill>
                  <a:schemeClr val="bg1"/>
                </a:solidFill>
                <a:latin typeface="Courier New" panose="02070309020205020404" pitchFamily="49" charset="0"/>
                <a:cs typeface="Courier New" panose="02070309020205020404" pitchFamily="49" charset="0"/>
              </a:rPr>
              <a:t>;  //creates a 0-element vector</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int</a:t>
            </a:r>
            <a:r>
              <a:rPr lang="en-US" sz="2800" b="1" dirty="0">
                <a:solidFill>
                  <a:schemeClr val="bg1"/>
                </a:solidFill>
                <a:latin typeface="Courier New" panose="02070309020205020404" pitchFamily="49" charset="0"/>
                <a:cs typeface="Courier New" panose="02070309020205020404" pitchFamily="49" charset="0"/>
              </a:rPr>
              <a:t> size;</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cout</a:t>
            </a:r>
            <a:r>
              <a:rPr lang="en-US" sz="2800" b="1" dirty="0">
                <a:solidFill>
                  <a:schemeClr val="bg1"/>
                </a:solidFill>
                <a:latin typeface="Courier New" panose="02070309020205020404" pitchFamily="49" charset="0"/>
                <a:cs typeface="Courier New" panose="02070309020205020404" pitchFamily="49" charset="0"/>
              </a:rPr>
              <a:t> &lt;&lt; “How many numbers do you have?   “;</a:t>
            </a:r>
            <a:br>
              <a:rPr lang="en-US" sz="2800" b="1" dirty="0">
                <a:solidFill>
                  <a:schemeClr val="bg1"/>
                </a:solidFill>
                <a:latin typeface="Courier New" panose="02070309020205020404" pitchFamily="49" charset="0"/>
                <a:cs typeface="Courier New" panose="02070309020205020404" pitchFamily="49" charset="0"/>
              </a:rPr>
            </a:br>
            <a:r>
              <a:rPr lang="en-US" sz="2800" b="1" dirty="0">
                <a:solidFill>
                  <a:srgbClr val="0070C0"/>
                </a:solidFill>
                <a:latin typeface="Courier New" panose="02070309020205020404" pitchFamily="49" charset="0"/>
                <a:cs typeface="Courier New" panose="02070309020205020404" pitchFamily="49" charset="0"/>
              </a:rPr>
              <a:t>cin</a:t>
            </a:r>
            <a:r>
              <a:rPr lang="en-US" sz="2800" b="1" dirty="0">
                <a:solidFill>
                  <a:schemeClr val="bg1"/>
                </a:solidFill>
                <a:latin typeface="Courier New" panose="02070309020205020404" pitchFamily="49" charset="0"/>
                <a:cs typeface="Courier New" panose="02070309020205020404" pitchFamily="49" charset="0"/>
              </a:rPr>
              <a:t> &gt;&gt; size;</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err="1">
                <a:solidFill>
                  <a:schemeClr val="bg1"/>
                </a:solidFill>
                <a:latin typeface="Courier New" panose="02070309020205020404" pitchFamily="49" charset="0"/>
                <a:cs typeface="Courier New" panose="02070309020205020404" pitchFamily="49" charset="0"/>
              </a:rPr>
              <a:t>myNums.</a:t>
            </a:r>
            <a:r>
              <a:rPr lang="en-US" sz="2800" b="1" dirty="0" err="1">
                <a:solidFill>
                  <a:schemeClr val="bg1"/>
                </a:solidFill>
                <a:highlight>
                  <a:srgbClr val="FFFF00"/>
                </a:highlight>
                <a:latin typeface="Courier New" panose="02070309020205020404" pitchFamily="49" charset="0"/>
                <a:cs typeface="Courier New" panose="02070309020205020404" pitchFamily="49" charset="0"/>
              </a:rPr>
              <a:t>resize</a:t>
            </a:r>
            <a:r>
              <a:rPr lang="en-US" sz="2800" b="1" dirty="0">
                <a:solidFill>
                  <a:schemeClr val="bg1"/>
                </a:solidFill>
                <a:latin typeface="Courier New" panose="02070309020205020404" pitchFamily="49" charset="0"/>
                <a:cs typeface="Courier New" panose="02070309020205020404" pitchFamily="49" charset="0"/>
              </a:rPr>
              <a:t>(size);</a:t>
            </a:r>
            <a:endParaRPr lang="en-US" altLang="en-US" sz="2800" dirty="0">
              <a:solidFill>
                <a:schemeClr val="bg1"/>
              </a:solidFill>
              <a:cs typeface="Courier New" panose="02070309020205020404" pitchFamily="49" charset="0"/>
            </a:endParaRPr>
          </a:p>
        </p:txBody>
      </p:sp>
    </p:spTree>
    <p:extLst>
      <p:ext uri="{BB962C8B-B14F-4D97-AF65-F5344CB8AC3E}">
        <p14:creationId xmlns:p14="http://schemas.microsoft.com/office/powerpoint/2010/main" val="40600189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Resizing a Vector Example</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0" indent="0">
              <a:buNone/>
            </a:pPr>
            <a:r>
              <a:rPr lang="en-US" altLang="en-US" sz="2800" dirty="0">
                <a:solidFill>
                  <a:schemeClr val="bg1"/>
                </a:solidFill>
                <a:cs typeface="Courier New" panose="02070309020205020404" pitchFamily="49" charset="0"/>
              </a:rPr>
              <a:t>Another example:</a:t>
            </a:r>
          </a:p>
          <a:p>
            <a:pPr marL="0" indent="0">
              <a:buNone/>
            </a:pPr>
            <a:endParaRPr lang="en-US" altLang="en-US" sz="2800" dirty="0">
              <a:solidFill>
                <a:schemeClr val="bg1"/>
              </a:solidFill>
              <a:cs typeface="Courier New" panose="02070309020205020404" pitchFamily="49" charset="0"/>
            </a:endParaRPr>
          </a:p>
          <a:p>
            <a:pPr marL="0" indent="0">
              <a:buNone/>
            </a:pPr>
            <a:r>
              <a:rPr lang="en-US" sz="2800" b="1" dirty="0">
                <a:solidFill>
                  <a:schemeClr val="bg1"/>
                </a:solidFill>
                <a:latin typeface="Courier New" panose="02070309020205020404" pitchFamily="49" charset="0"/>
                <a:cs typeface="Courier New" panose="02070309020205020404" pitchFamily="49" charset="0"/>
              </a:rPr>
              <a:t>vector&lt;</a:t>
            </a:r>
            <a:r>
              <a:rPr lang="en-US" sz="2800" b="1" dirty="0">
                <a:solidFill>
                  <a:srgbClr val="0070C0"/>
                </a:solidFill>
                <a:latin typeface="Courier New" panose="02070309020205020404" pitchFamily="49" charset="0"/>
                <a:cs typeface="Courier New" panose="02070309020205020404" pitchFamily="49" charset="0"/>
              </a:rPr>
              <a:t>int</a:t>
            </a:r>
            <a:r>
              <a:rPr lang="en-US" sz="2800" b="1" dirty="0">
                <a:solidFill>
                  <a:schemeClr val="bg1"/>
                </a:solidFill>
                <a:latin typeface="Courier New" panose="02070309020205020404" pitchFamily="49" charset="0"/>
                <a:cs typeface="Courier New" panose="02070309020205020404" pitchFamily="49" charset="0"/>
              </a:rPr>
              <a:t>&gt; </a:t>
            </a:r>
            <a:r>
              <a:rPr lang="en-US" sz="2800" b="1" dirty="0" err="1">
                <a:solidFill>
                  <a:schemeClr val="bg1"/>
                </a:solidFill>
                <a:latin typeface="Courier New" panose="02070309020205020404" pitchFamily="49" charset="0"/>
                <a:cs typeface="Courier New" panose="02070309020205020404" pitchFamily="49" charset="0"/>
              </a:rPr>
              <a:t>myNums</a:t>
            </a:r>
            <a:r>
              <a:rPr lang="en-US" sz="2800" b="1" dirty="0">
                <a:solidFill>
                  <a:schemeClr val="bg1"/>
                </a:solidFill>
                <a:latin typeface="Courier New" panose="02070309020205020404" pitchFamily="49" charset="0"/>
                <a:cs typeface="Courier New" panose="02070309020205020404" pitchFamily="49" charset="0"/>
              </a:rPr>
              <a:t>(</a:t>
            </a:r>
            <a:r>
              <a:rPr lang="en-US" sz="2800" b="1" dirty="0">
                <a:solidFill>
                  <a:schemeClr val="accent6">
                    <a:lumMod val="75000"/>
                  </a:schemeClr>
                </a:solidFill>
                <a:latin typeface="Courier New" panose="02070309020205020404" pitchFamily="49" charset="0"/>
                <a:cs typeface="Courier New" panose="02070309020205020404" pitchFamily="49" charset="0"/>
              </a:rPr>
              <a:t>10</a:t>
            </a:r>
            <a:r>
              <a:rPr lang="en-US" sz="2800" b="1" dirty="0">
                <a:solidFill>
                  <a:schemeClr val="bg1"/>
                </a:solidFill>
                <a:latin typeface="Courier New" panose="02070309020205020404" pitchFamily="49" charset="0"/>
                <a:cs typeface="Courier New" panose="02070309020205020404" pitchFamily="49" charset="0"/>
              </a:rPr>
              <a:t>);  </a:t>
            </a:r>
            <a:br>
              <a:rPr lang="en-US" sz="2800" b="1" dirty="0">
                <a:solidFill>
                  <a:schemeClr val="bg1"/>
                </a:solidFill>
                <a:latin typeface="Courier New" panose="02070309020205020404" pitchFamily="49" charset="0"/>
                <a:cs typeface="Courier New" panose="02070309020205020404" pitchFamily="49" charset="0"/>
              </a:rPr>
            </a:br>
            <a:br>
              <a:rPr lang="en-US" sz="2800" b="1" dirty="0">
                <a:solidFill>
                  <a:schemeClr val="bg1"/>
                </a:solidFill>
                <a:latin typeface="Courier New" panose="02070309020205020404" pitchFamily="49" charset="0"/>
                <a:cs typeface="Courier New" panose="02070309020205020404" pitchFamily="49" charset="0"/>
              </a:rPr>
            </a:br>
            <a:r>
              <a:rPr lang="en-US" sz="2800" b="1" dirty="0" err="1">
                <a:solidFill>
                  <a:schemeClr val="bg1"/>
                </a:solidFill>
                <a:latin typeface="Courier New" panose="02070309020205020404" pitchFamily="49" charset="0"/>
                <a:cs typeface="Courier New" panose="02070309020205020404" pitchFamily="49" charset="0"/>
              </a:rPr>
              <a:t>myNums.resize</a:t>
            </a:r>
            <a:r>
              <a:rPr lang="en-US" sz="2800" b="1" dirty="0">
                <a:solidFill>
                  <a:schemeClr val="bg1"/>
                </a:solidFill>
                <a:latin typeface="Courier New" panose="02070309020205020404" pitchFamily="49" charset="0"/>
                <a:cs typeface="Courier New" panose="02070309020205020404" pitchFamily="49" charset="0"/>
              </a:rPr>
              <a:t>(</a:t>
            </a:r>
            <a:r>
              <a:rPr lang="en-US" sz="2800" b="1" dirty="0">
                <a:solidFill>
                  <a:schemeClr val="accent6">
                    <a:lumMod val="75000"/>
                  </a:schemeClr>
                </a:solidFill>
                <a:latin typeface="Courier New" panose="02070309020205020404" pitchFamily="49" charset="0"/>
                <a:cs typeface="Courier New" panose="02070309020205020404" pitchFamily="49" charset="0"/>
              </a:rPr>
              <a:t>100</a:t>
            </a:r>
            <a:r>
              <a:rPr lang="en-US" sz="2800" b="1" dirty="0">
                <a:solidFill>
                  <a:schemeClr val="bg1"/>
                </a:solidFill>
                <a:latin typeface="Courier New" panose="02070309020205020404" pitchFamily="49" charset="0"/>
                <a:cs typeface="Courier New" panose="02070309020205020404" pitchFamily="49" charset="0"/>
              </a:rPr>
              <a:t>); </a:t>
            </a:r>
            <a:r>
              <a:rPr lang="en-US" sz="2800" b="1" dirty="0">
                <a:solidFill>
                  <a:srgbClr val="00B050"/>
                </a:solidFill>
                <a:latin typeface="Courier New" panose="02070309020205020404" pitchFamily="49" charset="0"/>
                <a:cs typeface="Courier New" panose="02070309020205020404" pitchFamily="49" charset="0"/>
              </a:rPr>
              <a:t>//increases size to 100</a:t>
            </a:r>
            <a:endParaRPr lang="en-US" altLang="en-US" sz="2800" dirty="0">
              <a:solidFill>
                <a:srgbClr val="00B050"/>
              </a:solidFill>
              <a:cs typeface="Courier New" panose="02070309020205020404" pitchFamily="49" charset="0"/>
            </a:endParaRPr>
          </a:p>
        </p:txBody>
      </p:sp>
    </p:spTree>
    <p:extLst>
      <p:ext uri="{BB962C8B-B14F-4D97-AF65-F5344CB8AC3E}">
        <p14:creationId xmlns:p14="http://schemas.microsoft.com/office/powerpoint/2010/main" val="41062274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Example Program</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b="1" dirty="0">
                <a:solidFill>
                  <a:schemeClr val="bg1"/>
                </a:solidFill>
                <a:latin typeface="Courier New" panose="02070309020205020404" pitchFamily="49" charset="0"/>
                <a:cs typeface="Courier New" panose="02070309020205020404" pitchFamily="49" charset="0"/>
              </a:rPr>
              <a:t>vector4.cpp </a:t>
            </a:r>
            <a:r>
              <a:rPr lang="en-US" altLang="en-US" sz="2800" dirty="0">
                <a:solidFill>
                  <a:schemeClr val="bg1"/>
                </a:solidFill>
                <a:cs typeface="Courier New" panose="02070309020205020404" pitchFamily="49" charset="0"/>
              </a:rPr>
              <a:t>– uses resize &amp; size function</a:t>
            </a:r>
          </a:p>
        </p:txBody>
      </p:sp>
      <p:pic>
        <p:nvPicPr>
          <p:cNvPr id="2" name="Picture 2" descr="C++ Logo Icon, Transparent C++ Logo.PNG Images &amp; Vector - FreeIconsPNG">
            <a:extLst>
              <a:ext uri="{FF2B5EF4-FFF2-40B4-BE49-F238E27FC236}">
                <a16:creationId xmlns:a16="http://schemas.microsoft.com/office/drawing/2014/main" id="{3248C318-2F86-A40C-AEBA-D8812FE568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94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8151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Vector Functions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cs typeface="Courier New" panose="02070309020205020404" pitchFamily="49" charset="0"/>
              </a:rPr>
              <a:t>There are multiple functions available in the vector library, which can be seen here: </a:t>
            </a:r>
            <a:r>
              <a:rPr lang="en-US" altLang="en-US" sz="2800" dirty="0">
                <a:solidFill>
                  <a:srgbClr val="0000FF"/>
                </a:solidFill>
                <a:cs typeface="Courier New" panose="02070309020205020404" pitchFamily="49" charset="0"/>
                <a:hlinkClick r:id="rId3">
                  <a:extLst>
                    <a:ext uri="{A12FA001-AC4F-418D-AE19-62706E023703}">
                      <ahyp:hlinkClr xmlns:ahyp="http://schemas.microsoft.com/office/drawing/2018/hyperlinkcolor" val="tx"/>
                    </a:ext>
                  </a:extLst>
                </a:hlinkClick>
              </a:rPr>
              <a:t>https://cplusplus.com/reference/vector/vector/</a:t>
            </a:r>
            <a:endParaRPr lang="en-US" altLang="en-US" sz="2800" dirty="0">
              <a:solidFill>
                <a:srgbClr val="0000FF"/>
              </a:solidFill>
              <a:cs typeface="Courier New" panose="02070309020205020404" pitchFamily="49" charset="0"/>
            </a:endParaRPr>
          </a:p>
          <a:p>
            <a:r>
              <a:rPr lang="en-US" altLang="en-US" sz="2800" dirty="0">
                <a:solidFill>
                  <a:schemeClr val="bg1"/>
                </a:solidFill>
                <a:cs typeface="Courier New" panose="02070309020205020404" pitchFamily="49" charset="0"/>
              </a:rPr>
              <a:t>Some of the most common functions not already mentioned are:</a:t>
            </a:r>
          </a:p>
          <a:p>
            <a:pPr lvl="1"/>
            <a:r>
              <a:rPr lang="en-US" altLang="en-US" sz="2600" b="1" dirty="0" err="1">
                <a:solidFill>
                  <a:schemeClr val="bg1"/>
                </a:solidFill>
                <a:cs typeface="Courier New" panose="02070309020205020404" pitchFamily="49" charset="0"/>
              </a:rPr>
              <a:t>push_back</a:t>
            </a:r>
            <a:r>
              <a:rPr lang="en-US" altLang="en-US" sz="2600" b="1" dirty="0">
                <a:solidFill>
                  <a:schemeClr val="bg1"/>
                </a:solidFill>
                <a:cs typeface="Courier New" panose="02070309020205020404" pitchFamily="49" charset="0"/>
              </a:rPr>
              <a:t> </a:t>
            </a:r>
            <a:r>
              <a:rPr lang="en-US" altLang="en-US" sz="2600" dirty="0">
                <a:solidFill>
                  <a:schemeClr val="bg1"/>
                </a:solidFill>
                <a:cs typeface="Courier New" panose="02070309020205020404" pitchFamily="49" charset="0"/>
              </a:rPr>
              <a:t>– adds a new element at end of vector and increases vector size by 1</a:t>
            </a:r>
          </a:p>
          <a:p>
            <a:pPr lvl="1"/>
            <a:r>
              <a:rPr lang="en-US" altLang="en-US" sz="2600" b="1" dirty="0" err="1">
                <a:solidFill>
                  <a:schemeClr val="bg1"/>
                </a:solidFill>
                <a:cs typeface="Courier New" panose="02070309020205020404" pitchFamily="49" charset="0"/>
              </a:rPr>
              <a:t>pop_back</a:t>
            </a:r>
            <a:r>
              <a:rPr lang="en-US" altLang="en-US" sz="2600" b="1" dirty="0">
                <a:solidFill>
                  <a:schemeClr val="bg1"/>
                </a:solidFill>
                <a:cs typeface="Courier New" panose="02070309020205020404" pitchFamily="49" charset="0"/>
              </a:rPr>
              <a:t> </a:t>
            </a:r>
            <a:r>
              <a:rPr lang="en-US" altLang="en-US" sz="2600" dirty="0">
                <a:solidFill>
                  <a:schemeClr val="bg1"/>
                </a:solidFill>
                <a:cs typeface="Courier New" panose="02070309020205020404" pitchFamily="49" charset="0"/>
              </a:rPr>
              <a:t>– removes the last element and decreases vector size by 1</a:t>
            </a:r>
          </a:p>
          <a:p>
            <a:pPr lvl="1"/>
            <a:r>
              <a:rPr lang="en-US" altLang="en-US" sz="2600" b="1" dirty="0">
                <a:solidFill>
                  <a:schemeClr val="bg1"/>
                </a:solidFill>
                <a:cs typeface="Courier New" panose="02070309020205020404" pitchFamily="49" charset="0"/>
              </a:rPr>
              <a:t>back</a:t>
            </a:r>
            <a:r>
              <a:rPr lang="en-US" altLang="en-US" sz="2600" dirty="0">
                <a:solidFill>
                  <a:schemeClr val="bg1"/>
                </a:solidFill>
                <a:cs typeface="Courier New" panose="02070309020205020404" pitchFamily="49" charset="0"/>
              </a:rPr>
              <a:t> – accesses last element</a:t>
            </a:r>
          </a:p>
          <a:p>
            <a:pPr lvl="1"/>
            <a:r>
              <a:rPr lang="en-US" altLang="en-US" sz="2600" b="1" dirty="0">
                <a:solidFill>
                  <a:schemeClr val="bg1"/>
                </a:solidFill>
                <a:cs typeface="Courier New" panose="02070309020205020404" pitchFamily="49" charset="0"/>
              </a:rPr>
              <a:t>front</a:t>
            </a:r>
            <a:r>
              <a:rPr lang="en-US" altLang="en-US" sz="2600" dirty="0">
                <a:solidFill>
                  <a:schemeClr val="bg1"/>
                </a:solidFill>
                <a:cs typeface="Courier New" panose="02070309020205020404" pitchFamily="49" charset="0"/>
              </a:rPr>
              <a:t> – accesses first element</a:t>
            </a:r>
          </a:p>
          <a:p>
            <a:pPr lvl="1"/>
            <a:r>
              <a:rPr lang="en-US" altLang="en-US" sz="2600" b="1" dirty="0">
                <a:solidFill>
                  <a:schemeClr val="bg1"/>
                </a:solidFill>
                <a:cs typeface="Courier New" panose="02070309020205020404" pitchFamily="49" charset="0"/>
              </a:rPr>
              <a:t>insert</a:t>
            </a:r>
            <a:r>
              <a:rPr lang="en-US" altLang="en-US" sz="2600" dirty="0">
                <a:solidFill>
                  <a:schemeClr val="bg1"/>
                </a:solidFill>
                <a:cs typeface="Courier New" panose="02070309020205020404" pitchFamily="49" charset="0"/>
              </a:rPr>
              <a:t> – inserts elements</a:t>
            </a:r>
          </a:p>
          <a:p>
            <a:pPr lvl="1"/>
            <a:r>
              <a:rPr lang="en-US" altLang="en-US" sz="2600" b="1" dirty="0">
                <a:solidFill>
                  <a:schemeClr val="bg1"/>
                </a:solidFill>
                <a:cs typeface="Courier New" panose="02070309020205020404" pitchFamily="49" charset="0"/>
              </a:rPr>
              <a:t>erase</a:t>
            </a:r>
            <a:r>
              <a:rPr lang="en-US" altLang="en-US" sz="2600" dirty="0">
                <a:solidFill>
                  <a:schemeClr val="bg1"/>
                </a:solidFill>
                <a:cs typeface="Courier New" panose="02070309020205020404" pitchFamily="49" charset="0"/>
              </a:rPr>
              <a:t> – erase elements</a:t>
            </a:r>
          </a:p>
        </p:txBody>
      </p:sp>
    </p:spTree>
    <p:extLst>
      <p:ext uri="{BB962C8B-B14F-4D97-AF65-F5344CB8AC3E}">
        <p14:creationId xmlns:p14="http://schemas.microsoft.com/office/powerpoint/2010/main" val="28115986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Example Program with Vector Functions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b="1" dirty="0">
                <a:solidFill>
                  <a:schemeClr val="bg1"/>
                </a:solidFill>
                <a:latin typeface="Courier New" panose="02070309020205020404" pitchFamily="49" charset="0"/>
                <a:cs typeface="Courier New" panose="02070309020205020404" pitchFamily="49" charset="0"/>
              </a:rPr>
              <a:t>vector5.cpp </a:t>
            </a:r>
            <a:r>
              <a:rPr lang="en-US" altLang="en-US" sz="2800" dirty="0">
                <a:solidFill>
                  <a:schemeClr val="bg1"/>
                </a:solidFill>
                <a:cs typeface="Courier New" panose="02070309020205020404" pitchFamily="49" charset="0"/>
              </a:rPr>
              <a:t>– demonstrates the vector functions back(), </a:t>
            </a:r>
            <a:r>
              <a:rPr lang="en-US" altLang="en-US" sz="2800" dirty="0" err="1">
                <a:solidFill>
                  <a:schemeClr val="bg1"/>
                </a:solidFill>
                <a:cs typeface="Courier New" panose="02070309020205020404" pitchFamily="49" charset="0"/>
              </a:rPr>
              <a:t>push_back</a:t>
            </a:r>
            <a:r>
              <a:rPr lang="en-US" altLang="en-US" sz="2800" dirty="0">
                <a:solidFill>
                  <a:schemeClr val="bg1"/>
                </a:solidFill>
                <a:cs typeface="Courier New" panose="02070309020205020404" pitchFamily="49" charset="0"/>
              </a:rPr>
              <a:t>(), and </a:t>
            </a:r>
            <a:r>
              <a:rPr lang="en-US" altLang="en-US" sz="2800" dirty="0" err="1">
                <a:solidFill>
                  <a:schemeClr val="bg1"/>
                </a:solidFill>
                <a:cs typeface="Courier New" panose="02070309020205020404" pitchFamily="49" charset="0"/>
              </a:rPr>
              <a:t>pop_back</a:t>
            </a:r>
            <a:r>
              <a:rPr lang="en-US" altLang="en-US" sz="2800" dirty="0">
                <a:solidFill>
                  <a:schemeClr val="bg1"/>
                </a:solidFill>
                <a:cs typeface="Courier New" panose="02070309020205020404" pitchFamily="49" charset="0"/>
              </a:rPr>
              <a:t>()</a:t>
            </a:r>
          </a:p>
        </p:txBody>
      </p:sp>
      <p:pic>
        <p:nvPicPr>
          <p:cNvPr id="2" name="Picture 2" descr="C++ Logo Icon, Transparent C++ Logo.PNG Images &amp; Vector - FreeIconsPNG">
            <a:extLst>
              <a:ext uri="{FF2B5EF4-FFF2-40B4-BE49-F238E27FC236}">
                <a16:creationId xmlns:a16="http://schemas.microsoft.com/office/drawing/2014/main" id="{3248C318-2F86-A40C-AEBA-D8812FE568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944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341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Sort Function in Algorithm Library</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r>
              <a:rPr lang="en-US" altLang="en-US" sz="2800" dirty="0">
                <a:solidFill>
                  <a:schemeClr val="bg1"/>
                </a:solidFill>
                <a:cs typeface="Courier New" panose="02070309020205020404" pitchFamily="49" charset="0"/>
              </a:rPr>
              <a:t>In addition to the </a:t>
            </a:r>
            <a:r>
              <a:rPr lang="en-US" altLang="en-US" sz="2800" dirty="0" err="1">
                <a:solidFill>
                  <a:schemeClr val="bg1"/>
                </a:solidFill>
                <a:cs typeface="Courier New" panose="02070309020205020404" pitchFamily="49" charset="0"/>
              </a:rPr>
              <a:t>for_each</a:t>
            </a:r>
            <a:r>
              <a:rPr lang="en-US" altLang="en-US" sz="2800" dirty="0">
                <a:solidFill>
                  <a:schemeClr val="bg1"/>
                </a:solidFill>
                <a:cs typeface="Courier New" panose="02070309020205020404" pitchFamily="49" charset="0"/>
              </a:rPr>
              <a:t> function, the algorithm library also has a </a:t>
            </a:r>
            <a:r>
              <a:rPr lang="en-US" altLang="en-US" sz="2800" b="1" dirty="0">
                <a:solidFill>
                  <a:schemeClr val="bg1"/>
                </a:solidFill>
                <a:highlight>
                  <a:srgbClr val="FFFF00"/>
                </a:highlight>
                <a:latin typeface="Courier New" panose="02070309020205020404" pitchFamily="49" charset="0"/>
                <a:cs typeface="Courier New" panose="02070309020205020404" pitchFamily="49" charset="0"/>
              </a:rPr>
              <a:t>sort()</a:t>
            </a:r>
            <a:r>
              <a:rPr lang="en-US" altLang="en-US" sz="2800" b="1" dirty="0">
                <a:solidFill>
                  <a:srgbClr val="FF0000"/>
                </a:solidFill>
                <a:latin typeface="Courier New" panose="02070309020205020404" pitchFamily="49" charset="0"/>
                <a:cs typeface="Courier New" panose="02070309020205020404" pitchFamily="49" charset="0"/>
              </a:rPr>
              <a:t> </a:t>
            </a:r>
            <a:r>
              <a:rPr lang="en-US" altLang="en-US" sz="2800" dirty="0">
                <a:solidFill>
                  <a:schemeClr val="bg1"/>
                </a:solidFill>
                <a:cs typeface="Courier New" panose="02070309020205020404" pitchFamily="49" charset="0"/>
              </a:rPr>
              <a:t>function: </a:t>
            </a:r>
            <a:r>
              <a:rPr lang="en-US" altLang="en-US" sz="2800" dirty="0">
                <a:solidFill>
                  <a:srgbClr val="0000FF"/>
                </a:solidFill>
                <a:cs typeface="Courier New" panose="02070309020205020404" pitchFamily="49" charset="0"/>
                <a:hlinkClick r:id="rId3">
                  <a:extLst>
                    <a:ext uri="{A12FA001-AC4F-418D-AE19-62706E023703}">
                      <ahyp:hlinkClr xmlns:ahyp="http://schemas.microsoft.com/office/drawing/2018/hyperlinkcolor" val="tx"/>
                    </a:ext>
                  </a:extLst>
                </a:hlinkClick>
              </a:rPr>
              <a:t>https://cplusplus.com/reference/algorithm/sort/</a:t>
            </a:r>
            <a:r>
              <a:rPr lang="en-US" altLang="en-US" sz="2800" dirty="0">
                <a:solidFill>
                  <a:srgbClr val="0000FF"/>
                </a:solidFill>
                <a:cs typeface="Courier New" panose="02070309020205020404" pitchFamily="49" charset="0"/>
              </a:rPr>
              <a:t> </a:t>
            </a:r>
          </a:p>
          <a:p>
            <a:r>
              <a:rPr lang="en-US" altLang="en-US" sz="2800" dirty="0">
                <a:solidFill>
                  <a:schemeClr val="bg1"/>
                </a:solidFill>
                <a:cs typeface="Courier New" panose="02070309020205020404" pitchFamily="49" charset="0"/>
              </a:rPr>
              <a:t>The sort function takes two arguments,</a:t>
            </a:r>
          </a:p>
          <a:p>
            <a:pPr lvl="1"/>
            <a:r>
              <a:rPr lang="en-US" altLang="en-US" sz="2400" dirty="0">
                <a:solidFill>
                  <a:schemeClr val="bg1"/>
                </a:solidFill>
                <a:cs typeface="Courier New" panose="02070309020205020404" pitchFamily="49" charset="0"/>
              </a:rPr>
              <a:t>An iterator to the first element in the array or vector (usually accessed with the begin() function)</a:t>
            </a:r>
          </a:p>
          <a:p>
            <a:pPr lvl="1"/>
            <a:r>
              <a:rPr lang="en-US" altLang="en-US" sz="2400" dirty="0">
                <a:solidFill>
                  <a:schemeClr val="bg1"/>
                </a:solidFill>
                <a:cs typeface="Courier New" panose="02070309020205020404" pitchFamily="49" charset="0"/>
              </a:rPr>
              <a:t>An iterator to the last element in the array or vector (usually accessed with the end() function)</a:t>
            </a:r>
          </a:p>
          <a:p>
            <a:r>
              <a:rPr lang="en-US" altLang="en-US" sz="2600" dirty="0">
                <a:solidFill>
                  <a:schemeClr val="bg1"/>
                </a:solidFill>
                <a:cs typeface="Courier New" panose="02070309020205020404" pitchFamily="49" charset="0"/>
              </a:rPr>
              <a:t>Example Program: </a:t>
            </a:r>
            <a:r>
              <a:rPr lang="en-US" altLang="en-US" sz="2600" b="1" dirty="0">
                <a:solidFill>
                  <a:schemeClr val="bg1"/>
                </a:solidFill>
                <a:latin typeface="Courier New" panose="02070309020205020404" pitchFamily="49" charset="0"/>
                <a:cs typeface="Courier New" panose="02070309020205020404" pitchFamily="49" charset="0"/>
              </a:rPr>
              <a:t>for_each_sort_vector.cpp</a:t>
            </a:r>
          </a:p>
        </p:txBody>
      </p:sp>
    </p:spTree>
    <p:extLst>
      <p:ext uri="{BB962C8B-B14F-4D97-AF65-F5344CB8AC3E}">
        <p14:creationId xmlns:p14="http://schemas.microsoft.com/office/powerpoint/2010/main" val="31217894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B57A5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7467600" y="2057400"/>
            <a:ext cx="3962400" cy="2743200"/>
          </a:xfrm>
          <a:noFill/>
          <a:ln>
            <a:noFill/>
          </a:ln>
        </p:spPr>
        <p:style>
          <a:lnRef idx="1">
            <a:schemeClr val="accent2"/>
          </a:lnRef>
          <a:fillRef idx="3">
            <a:schemeClr val="accent2"/>
          </a:fillRef>
          <a:effectRef idx="2">
            <a:schemeClr val="accent2"/>
          </a:effectRef>
          <a:fontRef idx="minor">
            <a:schemeClr val="lt1"/>
          </a:fontRef>
        </p:style>
        <p:txBody>
          <a:bodyPr anchor="ctr"/>
          <a:lstStyle/>
          <a:p>
            <a:pPr algn="ctr"/>
            <a:r>
              <a:rPr lang="en-US" dirty="0">
                <a:solidFill>
                  <a:schemeClr val="bg1"/>
                </a:solidFill>
                <a:latin typeface="Berlin Sans FB Demi" panose="020E0802020502020306" pitchFamily="34" charset="0"/>
              </a:rPr>
              <a:t>Arrays vs. Vectors</a:t>
            </a:r>
          </a:p>
        </p:txBody>
      </p:sp>
      <p:pic>
        <p:nvPicPr>
          <p:cNvPr id="6" name="Picture 5" descr="A squirrel on a computer on a horse">
            <a:extLst>
              <a:ext uri="{FF2B5EF4-FFF2-40B4-BE49-F238E27FC236}">
                <a16:creationId xmlns:a16="http://schemas.microsoft.com/office/drawing/2014/main" id="{A7C1CFAC-CDA4-3A39-4E3C-08CCB6FCE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2465666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Advantages in Arrays vs. Vectors</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fontScale="62500" lnSpcReduction="20000"/>
          </a:bodyPr>
          <a:lstStyle/>
          <a:p>
            <a:pPr marL="0" indent="0">
              <a:buNone/>
            </a:pPr>
            <a:r>
              <a:rPr lang="en-US" sz="3300" b="1" dirty="0">
                <a:solidFill>
                  <a:schemeClr val="bg1"/>
                </a:solidFill>
              </a:rPr>
              <a:t>Advantage of Arrays</a:t>
            </a:r>
          </a:p>
          <a:p>
            <a:pPr marL="457200" indent="-457200">
              <a:buFont typeface="Wingdings" panose="05000000000000000000" pitchFamily="2" charset="2"/>
              <a:buChar char="§"/>
            </a:pPr>
            <a:r>
              <a:rPr lang="en-US" sz="3300" dirty="0">
                <a:solidFill>
                  <a:schemeClr val="bg1"/>
                </a:solidFill>
              </a:rPr>
              <a:t>Any C++ compiler will be able to handle arrays, because it is part of the C++ language.</a:t>
            </a:r>
          </a:p>
          <a:p>
            <a:pPr marL="457200" indent="-457200">
              <a:buFont typeface="Wingdings" panose="05000000000000000000" pitchFamily="2" charset="2"/>
              <a:buChar char="§"/>
            </a:pPr>
            <a:r>
              <a:rPr lang="en-US" sz="3300" dirty="0">
                <a:solidFill>
                  <a:schemeClr val="bg1"/>
                </a:solidFill>
              </a:rPr>
              <a:t>Simpler syntax</a:t>
            </a:r>
          </a:p>
          <a:p>
            <a:pPr marL="457200" indent="-457200">
              <a:buFont typeface="Wingdings" panose="05000000000000000000" pitchFamily="2" charset="2"/>
              <a:buChar char="§"/>
            </a:pPr>
            <a:r>
              <a:rPr lang="en-US" sz="3300" dirty="0">
                <a:solidFill>
                  <a:schemeClr val="bg1"/>
                </a:solidFill>
              </a:rPr>
              <a:t>Slightly more compact (uses less space in memory) and more time efficient when working with large amounts of data.</a:t>
            </a:r>
          </a:p>
          <a:p>
            <a:pPr marL="0" indent="0">
              <a:buNone/>
            </a:pPr>
            <a:r>
              <a:rPr lang="en-US" sz="3300" b="1" dirty="0">
                <a:solidFill>
                  <a:schemeClr val="bg1"/>
                </a:solidFill>
              </a:rPr>
              <a:t>Advantage of Vectors</a:t>
            </a:r>
          </a:p>
          <a:p>
            <a:pPr marL="457200" indent="-457200">
              <a:buFont typeface="Wingdings" panose="05000000000000000000" pitchFamily="2" charset="2"/>
              <a:buChar char="§"/>
            </a:pPr>
            <a:r>
              <a:rPr lang="en-US" sz="3300" dirty="0">
                <a:solidFill>
                  <a:schemeClr val="bg1"/>
                </a:solidFill>
              </a:rPr>
              <a:t>You can resize a vector.</a:t>
            </a:r>
          </a:p>
          <a:p>
            <a:pPr marL="457200" indent="-457200">
              <a:buFont typeface="Wingdings" panose="05000000000000000000" pitchFamily="2" charset="2"/>
              <a:buChar char="§"/>
            </a:pPr>
            <a:r>
              <a:rPr lang="en-US" sz="3300" dirty="0">
                <a:solidFill>
                  <a:schemeClr val="bg1"/>
                </a:solidFill>
              </a:rPr>
              <a:t>You can use functions like </a:t>
            </a:r>
            <a:r>
              <a:rPr lang="en-US" sz="3300" dirty="0" err="1">
                <a:solidFill>
                  <a:schemeClr val="bg1"/>
                </a:solidFill>
              </a:rPr>
              <a:t>push_back</a:t>
            </a:r>
            <a:r>
              <a:rPr lang="en-US" sz="3300" dirty="0">
                <a:solidFill>
                  <a:schemeClr val="bg1"/>
                </a:solidFill>
              </a:rPr>
              <a:t>, </a:t>
            </a:r>
            <a:r>
              <a:rPr lang="en-US" sz="3300" dirty="0" err="1">
                <a:solidFill>
                  <a:schemeClr val="bg1"/>
                </a:solidFill>
              </a:rPr>
              <a:t>pop_back</a:t>
            </a:r>
            <a:r>
              <a:rPr lang="en-US" sz="3300" dirty="0">
                <a:solidFill>
                  <a:schemeClr val="bg1"/>
                </a:solidFill>
              </a:rPr>
              <a:t>, back</a:t>
            </a:r>
          </a:p>
          <a:p>
            <a:pPr marL="457200" indent="-457200">
              <a:buFont typeface="Wingdings" panose="05000000000000000000" pitchFamily="2" charset="2"/>
              <a:buChar char="§"/>
            </a:pPr>
            <a:r>
              <a:rPr lang="en-US" sz="3300" dirty="0">
                <a:solidFill>
                  <a:schemeClr val="bg1"/>
                </a:solidFill>
              </a:rPr>
              <a:t>Safer to use (makes sure not to access memory that is out of range)</a:t>
            </a:r>
          </a:p>
          <a:p>
            <a:pPr marL="749808" lvl="1" indent="-457200">
              <a:buFont typeface="Wingdings" panose="05000000000000000000" pitchFamily="2" charset="2"/>
              <a:buChar char="§"/>
            </a:pPr>
            <a:r>
              <a:rPr lang="en-US" sz="3300" dirty="0">
                <a:solidFill>
                  <a:schemeClr val="bg1"/>
                </a:solidFill>
              </a:rPr>
              <a:t>It doesn’t produce a syntax error, but a runtime error saying “terminate called after throwing an instance of ‘std::</a:t>
            </a:r>
            <a:r>
              <a:rPr lang="en-US" sz="3300" dirty="0" err="1">
                <a:solidFill>
                  <a:schemeClr val="bg1"/>
                </a:solidFill>
              </a:rPr>
              <a:t>out_of_range</a:t>
            </a:r>
            <a:r>
              <a:rPr lang="en-US" sz="3300" dirty="0">
                <a:solidFill>
                  <a:schemeClr val="bg1"/>
                </a:solidFill>
              </a:rPr>
              <a:t>’”</a:t>
            </a:r>
          </a:p>
          <a:p>
            <a:pPr marL="749808" lvl="1" indent="-457200">
              <a:buFont typeface="Wingdings" panose="05000000000000000000" pitchFamily="2" charset="2"/>
              <a:buChar char="§"/>
            </a:pPr>
            <a:r>
              <a:rPr lang="en-US" sz="3300" dirty="0">
                <a:solidFill>
                  <a:schemeClr val="bg1"/>
                </a:solidFill>
              </a:rPr>
              <a:t>Example:  </a:t>
            </a:r>
            <a:r>
              <a:rPr lang="en-US" sz="3300" b="1" dirty="0">
                <a:solidFill>
                  <a:schemeClr val="bg1"/>
                </a:solidFill>
                <a:highlight>
                  <a:srgbClr val="FFFF00"/>
                </a:highlight>
                <a:latin typeface="Courier New" panose="02070309020205020404" pitchFamily="49" charset="0"/>
                <a:cs typeface="Courier New" panose="02070309020205020404" pitchFamily="49" charset="0"/>
              </a:rPr>
              <a:t>vector6.cpp</a:t>
            </a:r>
            <a:r>
              <a:rPr lang="en-US" sz="2900" dirty="0">
                <a:solidFill>
                  <a:schemeClr val="bg1"/>
                </a:solidFill>
              </a:rPr>
              <a:t> </a:t>
            </a:r>
            <a:r>
              <a:rPr lang="en-US" sz="3300" dirty="0">
                <a:solidFill>
                  <a:schemeClr val="bg1"/>
                </a:solidFill>
              </a:rPr>
              <a:t>(demonstrates going out of bounds and will produce a runtime error)</a:t>
            </a:r>
          </a:p>
          <a:p>
            <a:pPr lvl="1"/>
            <a:endParaRPr lang="en-US" altLang="en-US" sz="2600" dirty="0">
              <a:solidFill>
                <a:schemeClr val="bg1"/>
              </a:solidFill>
              <a:cs typeface="Courier New" panose="02070309020205020404" pitchFamily="49" charset="0"/>
            </a:endParaRPr>
          </a:p>
        </p:txBody>
      </p:sp>
    </p:spTree>
    <p:extLst>
      <p:ext uri="{BB962C8B-B14F-4D97-AF65-F5344CB8AC3E}">
        <p14:creationId xmlns:p14="http://schemas.microsoft.com/office/powerpoint/2010/main" val="21558313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2825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B8FF-D2F7-38D0-20EA-3F5029F7ACA3}"/>
              </a:ext>
            </a:extLst>
          </p:cNvPr>
          <p:cNvSpPr>
            <a:spLocks noGrp="1"/>
          </p:cNvSpPr>
          <p:nvPr>
            <p:ph type="title"/>
          </p:nvPr>
        </p:nvSpPr>
        <p:spPr>
          <a:xfrm>
            <a:off x="685800" y="2057400"/>
            <a:ext cx="3886200" cy="2743200"/>
          </a:xfrm>
          <a:noFill/>
          <a:ln>
            <a:noFill/>
          </a:ln>
        </p:spPr>
        <p:style>
          <a:lnRef idx="1">
            <a:schemeClr val="accent2"/>
          </a:lnRef>
          <a:fillRef idx="3">
            <a:schemeClr val="accent2"/>
          </a:fillRef>
          <a:effectRef idx="2">
            <a:schemeClr val="accent2"/>
          </a:effectRef>
          <a:fontRef idx="minor">
            <a:schemeClr val="lt1"/>
          </a:fontRef>
        </p:style>
        <p:txBody>
          <a:bodyPr anchor="ctr"/>
          <a:lstStyle/>
          <a:p>
            <a:pPr algn="ctr"/>
            <a:r>
              <a:rPr lang="en-US" dirty="0">
                <a:latin typeface="Berlin Sans FB Demi" panose="020E0802020502020306" pitchFamily="34" charset="0"/>
              </a:rPr>
              <a:t>Data Parallelism</a:t>
            </a:r>
          </a:p>
        </p:txBody>
      </p:sp>
      <p:pic>
        <p:nvPicPr>
          <p:cNvPr id="4" name="Picture 3" descr="A squirrel wearing headphones and using a computer">
            <a:extLst>
              <a:ext uri="{FF2B5EF4-FFF2-40B4-BE49-F238E27FC236}">
                <a16:creationId xmlns:a16="http://schemas.microsoft.com/office/drawing/2014/main" id="{74B6D3A6-B685-2488-C855-E63BF79F2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9862" y="0"/>
            <a:ext cx="6858000" cy="6858000"/>
          </a:xfrm>
          <a:prstGeom prst="rect">
            <a:avLst/>
          </a:prstGeom>
        </p:spPr>
      </p:pic>
    </p:spTree>
    <p:extLst>
      <p:ext uri="{BB962C8B-B14F-4D97-AF65-F5344CB8AC3E}">
        <p14:creationId xmlns:p14="http://schemas.microsoft.com/office/powerpoint/2010/main" val="19157337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Parallel Computing – Task &amp; Data Parallelism</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53975" lvl="1" indent="0">
              <a:buNone/>
            </a:pPr>
            <a:r>
              <a:rPr lang="en-US" altLang="en-US" sz="2600" b="1" dirty="0">
                <a:solidFill>
                  <a:srgbClr val="FF0000"/>
                </a:solidFill>
                <a:cs typeface="Courier New" panose="02070309020205020404" pitchFamily="49" charset="0"/>
              </a:rPr>
              <a:t>Parallel</a:t>
            </a:r>
            <a:r>
              <a:rPr lang="en-US" altLang="en-US" sz="2600" dirty="0">
                <a:solidFill>
                  <a:schemeClr val="bg1"/>
                </a:solidFill>
                <a:cs typeface="Courier New" panose="02070309020205020404" pitchFamily="49" charset="0"/>
              </a:rPr>
              <a:t> </a:t>
            </a:r>
            <a:r>
              <a:rPr lang="en-US" altLang="en-US" sz="2600" b="1" dirty="0">
                <a:solidFill>
                  <a:srgbClr val="FF0000"/>
                </a:solidFill>
                <a:cs typeface="Courier New" panose="02070309020205020404" pitchFamily="49" charset="0"/>
              </a:rPr>
              <a:t>computing</a:t>
            </a:r>
            <a:r>
              <a:rPr lang="en-US" altLang="en-US" sz="2600" dirty="0">
                <a:solidFill>
                  <a:schemeClr val="bg1"/>
                </a:solidFill>
                <a:cs typeface="Courier New" panose="02070309020205020404" pitchFamily="49" charset="0"/>
              </a:rPr>
              <a:t>  is when you divide work among </a:t>
            </a:r>
            <a:r>
              <a:rPr lang="en-US" altLang="en-US" sz="2600" b="1" dirty="0">
                <a:solidFill>
                  <a:schemeClr val="bg1"/>
                </a:solidFill>
                <a:cs typeface="Courier New" panose="02070309020205020404" pitchFamily="49" charset="0"/>
              </a:rPr>
              <a:t>multiple processors </a:t>
            </a:r>
            <a:r>
              <a:rPr lang="en-US" altLang="en-US" sz="2600" dirty="0">
                <a:solidFill>
                  <a:schemeClr val="bg1"/>
                </a:solidFill>
                <a:cs typeface="Courier New" panose="02070309020205020404" pitchFamily="49" charset="0"/>
              </a:rPr>
              <a:t>(cores) to speed up processing. </a:t>
            </a:r>
          </a:p>
          <a:p>
            <a:pPr marL="53975" lvl="1" indent="0">
              <a:buNone/>
            </a:pPr>
            <a:r>
              <a:rPr lang="en-US" altLang="en-US" sz="2600" b="1" dirty="0">
                <a:solidFill>
                  <a:schemeClr val="bg1"/>
                </a:solidFill>
                <a:cs typeface="Courier New" panose="02070309020205020404" pitchFamily="49" charset="0"/>
              </a:rPr>
              <a:t>Two ways to do this:</a:t>
            </a:r>
          </a:p>
        </p:txBody>
      </p:sp>
      <p:sp>
        <p:nvSpPr>
          <p:cNvPr id="2" name="TextBox 1">
            <a:extLst>
              <a:ext uri="{FF2B5EF4-FFF2-40B4-BE49-F238E27FC236}">
                <a16:creationId xmlns:a16="http://schemas.microsoft.com/office/drawing/2014/main" id="{016C67D6-514F-3F35-8F68-91BB4FBC099F}"/>
              </a:ext>
            </a:extLst>
          </p:cNvPr>
          <p:cNvSpPr txBox="1"/>
          <p:nvPr/>
        </p:nvSpPr>
        <p:spPr>
          <a:xfrm>
            <a:off x="533400" y="3200400"/>
            <a:ext cx="5410197" cy="2554545"/>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en-US" sz="2000" b="1" dirty="0">
                <a:solidFill>
                  <a:schemeClr val="bg1"/>
                </a:solidFill>
                <a:cs typeface="Courier New" panose="02070309020205020404" pitchFamily="49" charset="0"/>
              </a:rPr>
              <a:t>Task parallelism:</a:t>
            </a:r>
          </a:p>
          <a:p>
            <a:endParaRPr lang="en-US" altLang="en-US" sz="2000" b="1" dirty="0">
              <a:solidFill>
                <a:schemeClr val="bg1"/>
              </a:solidFill>
              <a:cs typeface="Courier New" panose="02070309020205020404" pitchFamily="49" charset="0"/>
            </a:endParaRPr>
          </a:p>
          <a:p>
            <a:pPr marL="342900" indent="-342900">
              <a:buFont typeface="Arial" panose="020B0604020202020204" pitchFamily="34" charset="0"/>
              <a:buChar char="•"/>
            </a:pPr>
            <a:r>
              <a:rPr lang="en-US" altLang="en-US" sz="2000" b="1" u="sng" dirty="0">
                <a:solidFill>
                  <a:schemeClr val="bg1"/>
                </a:solidFill>
                <a:cs typeface="Courier New" panose="02070309020205020404" pitchFamily="49" charset="0"/>
              </a:rPr>
              <a:t>Different tasks</a:t>
            </a:r>
            <a:r>
              <a:rPr lang="en-US" altLang="en-US" sz="2000" b="1" dirty="0">
                <a:solidFill>
                  <a:schemeClr val="bg1"/>
                </a:solidFill>
                <a:cs typeface="Courier New" panose="02070309020205020404" pitchFamily="49" charset="0"/>
              </a:rPr>
              <a:t> </a:t>
            </a:r>
            <a:r>
              <a:rPr lang="en-US" altLang="en-US" sz="2000" dirty="0">
                <a:solidFill>
                  <a:schemeClr val="bg1"/>
                </a:solidFill>
                <a:cs typeface="Courier New" panose="02070309020205020404" pitchFamily="49" charset="0"/>
              </a:rPr>
              <a:t>are performed simultaneously across different computing units. </a:t>
            </a:r>
          </a:p>
          <a:p>
            <a:pPr marL="342900" indent="-342900">
              <a:buFont typeface="Arial" panose="020B0604020202020204" pitchFamily="34" charset="0"/>
              <a:buChar char="•"/>
            </a:pPr>
            <a:r>
              <a:rPr lang="en-US" altLang="en-US" sz="2000" dirty="0">
                <a:solidFill>
                  <a:schemeClr val="bg1"/>
                </a:solidFill>
                <a:cs typeface="Courier New" panose="02070309020205020404" pitchFamily="49" charset="0"/>
              </a:rPr>
              <a:t>Each task can have its own unique instructions and </a:t>
            </a:r>
            <a:r>
              <a:rPr lang="en-US" altLang="en-US" sz="2000" b="1" dirty="0">
                <a:solidFill>
                  <a:schemeClr val="bg1"/>
                </a:solidFill>
                <a:cs typeface="Courier New" panose="02070309020205020404" pitchFamily="49" charset="0"/>
              </a:rPr>
              <a:t>may be </a:t>
            </a:r>
            <a:r>
              <a:rPr lang="en-US" altLang="en-US" sz="2000" dirty="0">
                <a:solidFill>
                  <a:schemeClr val="bg1"/>
                </a:solidFill>
                <a:cs typeface="Courier New" panose="02070309020205020404" pitchFamily="49" charset="0"/>
              </a:rPr>
              <a:t>working with </a:t>
            </a:r>
            <a:r>
              <a:rPr lang="en-US" altLang="en-US" sz="2000" b="1" u="sng" dirty="0">
                <a:solidFill>
                  <a:schemeClr val="bg1"/>
                </a:solidFill>
                <a:cs typeface="Courier New" panose="02070309020205020404" pitchFamily="49" charset="0"/>
              </a:rPr>
              <a:t>different pieces of data</a:t>
            </a:r>
            <a:r>
              <a:rPr lang="en-US" altLang="en-US" sz="2000" b="1" dirty="0">
                <a:solidFill>
                  <a:schemeClr val="bg1"/>
                </a:solidFill>
                <a:cs typeface="Courier New" panose="02070309020205020404" pitchFamily="49" charset="0"/>
              </a:rPr>
              <a:t> </a:t>
            </a:r>
            <a:r>
              <a:rPr lang="en-US" altLang="en-US" sz="2000" dirty="0">
                <a:solidFill>
                  <a:schemeClr val="bg1"/>
                </a:solidFill>
                <a:cs typeface="Courier New" panose="02070309020205020404" pitchFamily="49" charset="0"/>
              </a:rPr>
              <a:t>or resources.</a:t>
            </a:r>
            <a:endParaRPr lang="en-US" dirty="0"/>
          </a:p>
        </p:txBody>
      </p:sp>
      <p:sp>
        <p:nvSpPr>
          <p:cNvPr id="3" name="TextBox 2">
            <a:extLst>
              <a:ext uri="{FF2B5EF4-FFF2-40B4-BE49-F238E27FC236}">
                <a16:creationId xmlns:a16="http://schemas.microsoft.com/office/drawing/2014/main" id="{520F3958-1AC4-1A8A-5FF8-445A0AD13D74}"/>
              </a:ext>
            </a:extLst>
          </p:cNvPr>
          <p:cNvSpPr txBox="1"/>
          <p:nvPr/>
        </p:nvSpPr>
        <p:spPr>
          <a:xfrm>
            <a:off x="6553202" y="3200399"/>
            <a:ext cx="5410198" cy="2554545"/>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altLang="en-US" sz="2000" b="1" dirty="0">
                <a:solidFill>
                  <a:schemeClr val="bg1"/>
                </a:solidFill>
                <a:cs typeface="Courier New" panose="02070309020205020404" pitchFamily="49" charset="0"/>
              </a:rPr>
              <a:t>Data parallelism:</a:t>
            </a:r>
          </a:p>
          <a:p>
            <a:endParaRPr lang="en-US" altLang="en-US" sz="2000" b="1" dirty="0">
              <a:solidFill>
                <a:schemeClr val="bg1"/>
              </a:solidFill>
              <a:cs typeface="Courier New" panose="02070309020205020404" pitchFamily="49" charset="0"/>
            </a:endParaRPr>
          </a:p>
          <a:p>
            <a:pPr marL="342900" indent="-342900">
              <a:buFont typeface="Arial" panose="020B0604020202020204" pitchFamily="34" charset="0"/>
              <a:buChar char="•"/>
            </a:pPr>
            <a:r>
              <a:rPr lang="en-US" altLang="en-US" sz="2000" dirty="0">
                <a:solidFill>
                  <a:schemeClr val="bg1"/>
                </a:solidFill>
                <a:cs typeface="Courier New" panose="02070309020205020404" pitchFamily="49" charset="0"/>
              </a:rPr>
              <a:t>The </a:t>
            </a:r>
            <a:r>
              <a:rPr lang="en-US" altLang="en-US" sz="2000" b="1" u="sng" dirty="0">
                <a:solidFill>
                  <a:schemeClr val="bg1"/>
                </a:solidFill>
                <a:cs typeface="Courier New" panose="02070309020205020404" pitchFamily="49" charset="0"/>
              </a:rPr>
              <a:t>same task</a:t>
            </a:r>
            <a:r>
              <a:rPr lang="en-US" altLang="en-US" sz="2000" b="1" dirty="0">
                <a:solidFill>
                  <a:schemeClr val="bg1"/>
                </a:solidFill>
                <a:cs typeface="Courier New" panose="02070309020205020404" pitchFamily="49" charset="0"/>
              </a:rPr>
              <a:t> </a:t>
            </a:r>
            <a:r>
              <a:rPr lang="en-US" altLang="en-US" sz="2000" dirty="0">
                <a:solidFill>
                  <a:schemeClr val="bg1"/>
                </a:solidFill>
                <a:cs typeface="Courier New" panose="02070309020205020404" pitchFamily="49" charset="0"/>
              </a:rPr>
              <a:t>or operation is applied to </a:t>
            </a:r>
            <a:r>
              <a:rPr lang="en-US" altLang="en-US" sz="2000" b="1" u="sng" dirty="0">
                <a:solidFill>
                  <a:schemeClr val="bg1"/>
                </a:solidFill>
                <a:cs typeface="Courier New" panose="02070309020205020404" pitchFamily="49" charset="0"/>
              </a:rPr>
              <a:t>different pieces of data</a:t>
            </a:r>
            <a:r>
              <a:rPr lang="en-US" altLang="en-US" sz="2000" b="1" dirty="0">
                <a:solidFill>
                  <a:schemeClr val="bg1"/>
                </a:solidFill>
                <a:cs typeface="Courier New" panose="02070309020205020404" pitchFamily="49" charset="0"/>
              </a:rPr>
              <a:t> </a:t>
            </a:r>
            <a:r>
              <a:rPr lang="en-US" altLang="en-US" sz="2000" dirty="0">
                <a:solidFill>
                  <a:schemeClr val="bg1"/>
                </a:solidFill>
                <a:cs typeface="Courier New" panose="02070309020205020404" pitchFamily="49" charset="0"/>
              </a:rPr>
              <a:t>across multiple processing units. </a:t>
            </a:r>
          </a:p>
          <a:p>
            <a:pPr marL="342900" indent="-342900">
              <a:buFont typeface="Arial" panose="020B0604020202020204" pitchFamily="34" charset="0"/>
              <a:buChar char="•"/>
            </a:pPr>
            <a:r>
              <a:rPr lang="en-US" altLang="en-US" sz="2000" dirty="0">
                <a:solidFill>
                  <a:schemeClr val="bg1"/>
                </a:solidFill>
                <a:cs typeface="Courier New" panose="02070309020205020404" pitchFamily="49" charset="0"/>
              </a:rPr>
              <a:t>This is common where you have a large data set and want to perform the same calculations on each chunk independently.</a:t>
            </a:r>
            <a:endParaRPr lang="en-US" sz="2000" dirty="0"/>
          </a:p>
        </p:txBody>
      </p:sp>
    </p:spTree>
    <p:extLst>
      <p:ext uri="{BB962C8B-B14F-4D97-AF65-F5344CB8AC3E}">
        <p14:creationId xmlns:p14="http://schemas.microsoft.com/office/powerpoint/2010/main" val="1454912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Parallel Computing: Task Parallelism</a:t>
            </a:r>
            <a:endParaRPr b="1" dirty="0">
              <a:solidFill>
                <a:srgbClr val="4F2984"/>
              </a:solidFill>
              <a:latin typeface="Amasis MT Pro Black" panose="02040A04050005020304" pitchFamily="18" charset="0"/>
            </a:endParaRPr>
          </a:p>
        </p:txBody>
      </p:sp>
      <p:sp>
        <p:nvSpPr>
          <p:cNvPr id="9" name="TextBox 8">
            <a:extLst>
              <a:ext uri="{FF2B5EF4-FFF2-40B4-BE49-F238E27FC236}">
                <a16:creationId xmlns:a16="http://schemas.microsoft.com/office/drawing/2014/main" id="{AB739FF1-69E8-06CD-5541-45901AE7B9EA}"/>
              </a:ext>
            </a:extLst>
          </p:cNvPr>
          <p:cNvSpPr txBox="1"/>
          <p:nvPr/>
        </p:nvSpPr>
        <p:spPr>
          <a:xfrm>
            <a:off x="381000" y="1533465"/>
            <a:ext cx="3993776" cy="4401205"/>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en-US" sz="2000" b="1" dirty="0">
                <a:solidFill>
                  <a:schemeClr val="bg1"/>
                </a:solidFill>
                <a:cs typeface="Courier New" panose="02070309020205020404" pitchFamily="49" charset="0"/>
              </a:rPr>
              <a:t>Task parallelism real life example:</a:t>
            </a:r>
          </a:p>
          <a:p>
            <a:pPr marL="342900" indent="-342900">
              <a:buFont typeface="Arial" panose="020B0604020202020204" pitchFamily="34" charset="0"/>
              <a:buChar char="•"/>
            </a:pPr>
            <a:r>
              <a:rPr lang="en-US" sz="2000" dirty="0"/>
              <a:t>You’re managing a restaurant kitchen where different chefs specialize in specific tasks to prepare a meal simultaneously. </a:t>
            </a:r>
          </a:p>
          <a:p>
            <a:pPr marL="342900" indent="-342900">
              <a:buFont typeface="Arial" panose="020B0604020202020204" pitchFamily="34" charset="0"/>
              <a:buChar char="•"/>
            </a:pPr>
            <a:r>
              <a:rPr lang="en-US" sz="2000" dirty="0"/>
              <a:t>One chef is grilling, another is chopping vegetables, and a third is making sauces. </a:t>
            </a:r>
          </a:p>
          <a:p>
            <a:pPr marL="342900" indent="-342900">
              <a:buFont typeface="Arial" panose="020B0604020202020204" pitchFamily="34" charset="0"/>
              <a:buChar char="•"/>
            </a:pPr>
            <a:r>
              <a:rPr lang="en-US" sz="2000" b="1" dirty="0"/>
              <a:t>Each chef (task) performs a different action on different ingredients (data)</a:t>
            </a:r>
            <a:r>
              <a:rPr lang="en-US" sz="2000" dirty="0"/>
              <a:t>. </a:t>
            </a:r>
          </a:p>
          <a:p>
            <a:pPr marL="342900" indent="-342900">
              <a:buFont typeface="Arial" panose="020B0604020202020204" pitchFamily="34" charset="0"/>
              <a:buChar char="•"/>
            </a:pPr>
            <a:r>
              <a:rPr lang="en-US" sz="2000" dirty="0"/>
              <a:t>They don’t need to wait on each other, but together they speed up the meal preparation.</a:t>
            </a:r>
            <a:endParaRPr lang="en-US" altLang="en-US" sz="2000" dirty="0">
              <a:solidFill>
                <a:schemeClr val="bg1"/>
              </a:solidFill>
              <a:cs typeface="Courier New" panose="02070309020205020404" pitchFamily="49" charset="0"/>
            </a:endParaRPr>
          </a:p>
        </p:txBody>
      </p:sp>
      <p:sp>
        <p:nvSpPr>
          <p:cNvPr id="5" name="TextBox 4">
            <a:extLst>
              <a:ext uri="{FF2B5EF4-FFF2-40B4-BE49-F238E27FC236}">
                <a16:creationId xmlns:a16="http://schemas.microsoft.com/office/drawing/2014/main" id="{6F1E677B-3FDB-C281-8F3B-3D4E362D7325}"/>
              </a:ext>
            </a:extLst>
          </p:cNvPr>
          <p:cNvSpPr txBox="1"/>
          <p:nvPr/>
        </p:nvSpPr>
        <p:spPr>
          <a:xfrm>
            <a:off x="8045824" y="1512865"/>
            <a:ext cx="3931023" cy="4370427"/>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en-US" sz="2000" b="1" dirty="0">
                <a:solidFill>
                  <a:schemeClr val="bg1"/>
                </a:solidFill>
                <a:cs typeface="Courier New" panose="02070309020205020404" pitchFamily="49" charset="0"/>
              </a:rPr>
              <a:t>Task parallelism computing example:</a:t>
            </a:r>
          </a:p>
          <a:p>
            <a:pPr marL="342900" indent="-342900">
              <a:buFont typeface="Arial" panose="020B0604020202020204" pitchFamily="34" charset="0"/>
              <a:buChar char="•"/>
            </a:pPr>
            <a:r>
              <a:rPr lang="en-US" sz="2000" dirty="0">
                <a:solidFill>
                  <a:schemeClr val="bg1"/>
                </a:solidFill>
                <a:cs typeface="Courier New" panose="02070309020205020404" pitchFamily="49" charset="0"/>
              </a:rPr>
              <a:t>A web server handling various client requests. </a:t>
            </a:r>
          </a:p>
          <a:p>
            <a:pPr marL="342900" indent="-342900">
              <a:buFont typeface="Arial" panose="020B0604020202020204" pitchFamily="34" charset="0"/>
              <a:buChar char="•"/>
            </a:pPr>
            <a:r>
              <a:rPr lang="en-US" sz="2000" dirty="0">
                <a:solidFill>
                  <a:schemeClr val="bg1"/>
                </a:solidFill>
                <a:cs typeface="Courier New" panose="02070309020205020404" pitchFamily="49" charset="0"/>
              </a:rPr>
              <a:t>Some tasks involve processing images, others work on database queries, and others handle user authentication. </a:t>
            </a:r>
          </a:p>
          <a:p>
            <a:pPr marL="342900" indent="-342900">
              <a:buFont typeface="Arial" panose="020B0604020202020204" pitchFamily="34" charset="0"/>
              <a:buChar char="•"/>
            </a:pPr>
            <a:r>
              <a:rPr lang="en-US" sz="2000" b="1" dirty="0">
                <a:solidFill>
                  <a:schemeClr val="bg1"/>
                </a:solidFill>
                <a:cs typeface="Courier New" panose="02070309020205020404" pitchFamily="49" charset="0"/>
              </a:rPr>
              <a:t>Each task can run concurrently &amp; deals with different resources &amp; operations</a:t>
            </a:r>
            <a:r>
              <a:rPr lang="en-US" sz="2000" dirty="0">
                <a:solidFill>
                  <a:schemeClr val="bg1"/>
                </a:solidFill>
                <a:cs typeface="Courier New" panose="02070309020205020404" pitchFamily="49" charset="0"/>
              </a:rPr>
              <a:t>.</a:t>
            </a:r>
          </a:p>
          <a:p>
            <a:pPr marL="342900" indent="-342900">
              <a:buFont typeface="Arial" panose="020B0604020202020204" pitchFamily="34" charset="0"/>
              <a:buChar char="•"/>
            </a:pPr>
            <a:endParaRPr lang="en-US" sz="2000" dirty="0">
              <a:solidFill>
                <a:schemeClr val="bg1"/>
              </a:solidFill>
              <a:cs typeface="Courier New" panose="02070309020205020404" pitchFamily="49" charset="0"/>
            </a:endParaRPr>
          </a:p>
          <a:p>
            <a:pPr marL="342900" indent="-342900">
              <a:buFont typeface="Arial" panose="020B0604020202020204" pitchFamily="34" charset="0"/>
              <a:buChar char="•"/>
            </a:pPr>
            <a:endParaRPr lang="en-US" sz="2000" dirty="0">
              <a:solidFill>
                <a:schemeClr val="bg1"/>
              </a:solidFill>
              <a:cs typeface="Courier New" panose="02070309020205020404" pitchFamily="49" charset="0"/>
            </a:endParaRPr>
          </a:p>
          <a:p>
            <a:pPr marL="342900" indent="-342900">
              <a:buFont typeface="Arial" panose="020B0604020202020204" pitchFamily="34" charset="0"/>
              <a:buChar char="•"/>
            </a:pPr>
            <a:endParaRPr lang="en-US" dirty="0">
              <a:solidFill>
                <a:schemeClr val="bg1"/>
              </a:solidFill>
            </a:endParaRPr>
          </a:p>
        </p:txBody>
      </p:sp>
      <p:pic>
        <p:nvPicPr>
          <p:cNvPr id="11" name="Picture 10">
            <a:extLst>
              <a:ext uri="{FF2B5EF4-FFF2-40B4-BE49-F238E27FC236}">
                <a16:creationId xmlns:a16="http://schemas.microsoft.com/office/drawing/2014/main" id="{FC2CEE96-188E-D06B-BB3F-BA4EFE7439FC}"/>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2353" y="1533464"/>
            <a:ext cx="3455894" cy="1974797"/>
          </a:xfrm>
          <a:prstGeom prst="rect">
            <a:avLst/>
          </a:prstGeom>
        </p:spPr>
      </p:pic>
      <p:pic>
        <p:nvPicPr>
          <p:cNvPr id="14" name="Picture 13">
            <a:extLst>
              <a:ext uri="{FF2B5EF4-FFF2-40B4-BE49-F238E27FC236}">
                <a16:creationId xmlns:a16="http://schemas.microsoft.com/office/drawing/2014/main" id="{A022CA7D-760B-AA5B-0592-B2C513D9034F}"/>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2353" y="3598407"/>
            <a:ext cx="3455897" cy="1974798"/>
          </a:xfrm>
          <a:prstGeom prst="rect">
            <a:avLst/>
          </a:prstGeom>
        </p:spPr>
      </p:pic>
    </p:spTree>
    <p:extLst>
      <p:ext uri="{BB962C8B-B14F-4D97-AF65-F5344CB8AC3E}">
        <p14:creationId xmlns:p14="http://schemas.microsoft.com/office/powerpoint/2010/main" val="25306100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Parallel Computing: Data Parallelism</a:t>
            </a:r>
            <a:endParaRPr b="1" dirty="0">
              <a:solidFill>
                <a:srgbClr val="4F2984"/>
              </a:solidFill>
              <a:latin typeface="Amasis MT Pro Black" panose="02040A04050005020304" pitchFamily="18" charset="0"/>
            </a:endParaRPr>
          </a:p>
        </p:txBody>
      </p:sp>
      <p:sp>
        <p:nvSpPr>
          <p:cNvPr id="15" name="TextBox 14">
            <a:extLst>
              <a:ext uri="{FF2B5EF4-FFF2-40B4-BE49-F238E27FC236}">
                <a16:creationId xmlns:a16="http://schemas.microsoft.com/office/drawing/2014/main" id="{E95E2428-58A0-2BEC-7584-46B09A2B6711}"/>
              </a:ext>
            </a:extLst>
          </p:cNvPr>
          <p:cNvSpPr txBox="1"/>
          <p:nvPr/>
        </p:nvSpPr>
        <p:spPr>
          <a:xfrm>
            <a:off x="398929" y="1576377"/>
            <a:ext cx="5697071" cy="2554545"/>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altLang="en-US" sz="2000" b="1" dirty="0">
                <a:solidFill>
                  <a:schemeClr val="bg1"/>
                </a:solidFill>
                <a:cs typeface="Courier New" panose="02070309020205020404" pitchFamily="49" charset="0"/>
              </a:rPr>
              <a:t>Data parallelism real life example:</a:t>
            </a:r>
          </a:p>
          <a:p>
            <a:r>
              <a:rPr lang="en-US" sz="2000" dirty="0"/>
              <a:t>Suppose you’re organizing a fundraiser by mailing out invitations. You have a team of volunteers, and each person is assigned a stack of invitations to stuff and label. All volunteers are performing the </a:t>
            </a:r>
            <a:r>
              <a:rPr lang="en-US" sz="2000" b="1" dirty="0"/>
              <a:t>same task </a:t>
            </a:r>
            <a:r>
              <a:rPr lang="en-US" sz="2000" dirty="0"/>
              <a:t>(preparing an invitation) but working on </a:t>
            </a:r>
            <a:r>
              <a:rPr lang="en-US" sz="2000" b="1" dirty="0"/>
              <a:t>different data</a:t>
            </a:r>
            <a:r>
              <a:rPr lang="en-US" sz="2000" dirty="0"/>
              <a:t> (each invitation). By working in parallel, they finish the task faster.</a:t>
            </a:r>
            <a:endParaRPr lang="en-US" dirty="0">
              <a:solidFill>
                <a:schemeClr val="bg1"/>
              </a:solidFill>
            </a:endParaRPr>
          </a:p>
        </p:txBody>
      </p:sp>
      <p:sp>
        <p:nvSpPr>
          <p:cNvPr id="6" name="TextBox 5">
            <a:extLst>
              <a:ext uri="{FF2B5EF4-FFF2-40B4-BE49-F238E27FC236}">
                <a16:creationId xmlns:a16="http://schemas.microsoft.com/office/drawing/2014/main" id="{26BF1187-A60C-0407-0AD7-D8682D8EB89C}"/>
              </a:ext>
            </a:extLst>
          </p:cNvPr>
          <p:cNvSpPr txBox="1"/>
          <p:nvPr/>
        </p:nvSpPr>
        <p:spPr>
          <a:xfrm>
            <a:off x="6553203" y="1576377"/>
            <a:ext cx="5410197" cy="2554545"/>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altLang="en-US" sz="2000" b="1" dirty="0">
                <a:solidFill>
                  <a:schemeClr val="bg1"/>
                </a:solidFill>
                <a:cs typeface="Courier New" panose="02070309020205020404" pitchFamily="49" charset="0"/>
              </a:rPr>
              <a:t>Data parallelism computing example:</a:t>
            </a:r>
          </a:p>
          <a:p>
            <a:r>
              <a:rPr lang="en-US" sz="2000" dirty="0">
                <a:solidFill>
                  <a:schemeClr val="bg1"/>
                </a:solidFill>
                <a:cs typeface="Courier New" panose="02070309020205020404" pitchFamily="49" charset="0"/>
              </a:rPr>
              <a:t>In image processing, if you want to apply a filter to every pixel in a large image, you can break the image into smaller chunks and have </a:t>
            </a:r>
            <a:r>
              <a:rPr lang="en-US" sz="2000" b="1" dirty="0">
                <a:solidFill>
                  <a:schemeClr val="bg1"/>
                </a:solidFill>
                <a:cs typeface="Courier New" panose="02070309020205020404" pitchFamily="49" charset="0"/>
              </a:rPr>
              <a:t>each processor apply the filter</a:t>
            </a:r>
            <a:r>
              <a:rPr lang="en-US" sz="2000" dirty="0">
                <a:solidFill>
                  <a:schemeClr val="bg1"/>
                </a:solidFill>
                <a:cs typeface="Courier New" panose="02070309020205020404" pitchFamily="49" charset="0"/>
              </a:rPr>
              <a:t> to a </a:t>
            </a:r>
            <a:r>
              <a:rPr lang="en-US" sz="2000" b="1" dirty="0">
                <a:solidFill>
                  <a:schemeClr val="bg1"/>
                </a:solidFill>
                <a:cs typeface="Courier New" panose="02070309020205020404" pitchFamily="49" charset="0"/>
              </a:rPr>
              <a:t>different chunk</a:t>
            </a:r>
            <a:r>
              <a:rPr lang="en-US" sz="2000" dirty="0">
                <a:solidFill>
                  <a:schemeClr val="bg1"/>
                </a:solidFill>
                <a:cs typeface="Courier New" panose="02070309020205020404" pitchFamily="49" charset="0"/>
              </a:rPr>
              <a:t>. Each processor applies the same filtering operation, but on different parts of the image data.</a:t>
            </a:r>
            <a:endParaRPr lang="en-US" dirty="0">
              <a:solidFill>
                <a:schemeClr val="bg1"/>
              </a:solidFill>
            </a:endParaRPr>
          </a:p>
        </p:txBody>
      </p:sp>
      <p:pic>
        <p:nvPicPr>
          <p:cNvPr id="18" name="Picture 17">
            <a:extLst>
              <a:ext uri="{FF2B5EF4-FFF2-40B4-BE49-F238E27FC236}">
                <a16:creationId xmlns:a16="http://schemas.microsoft.com/office/drawing/2014/main" id="{6FB4C666-5DCA-5BBB-5C09-45CC52797E66}"/>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 y="4190999"/>
            <a:ext cx="4572000" cy="2612571"/>
          </a:xfrm>
          <a:prstGeom prst="rect">
            <a:avLst/>
          </a:prstGeom>
        </p:spPr>
      </p:pic>
      <p:pic>
        <p:nvPicPr>
          <p:cNvPr id="11" name="Picture 10">
            <a:extLst>
              <a:ext uri="{FF2B5EF4-FFF2-40B4-BE49-F238E27FC236}">
                <a16:creationId xmlns:a16="http://schemas.microsoft.com/office/drawing/2014/main" id="{D715E97E-0ED4-C071-FD04-8FF38F498C4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53400" y="4222773"/>
            <a:ext cx="2560767" cy="2498478"/>
          </a:xfrm>
          <a:prstGeom prst="rect">
            <a:avLst/>
          </a:prstGeom>
        </p:spPr>
      </p:pic>
    </p:spTree>
    <p:extLst>
      <p:ext uri="{BB962C8B-B14F-4D97-AF65-F5344CB8AC3E}">
        <p14:creationId xmlns:p14="http://schemas.microsoft.com/office/powerpoint/2010/main" val="25207346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Data Parallelism Information</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lvl="1"/>
            <a:r>
              <a:rPr lang="en-US" altLang="en-US" sz="2600" dirty="0">
                <a:solidFill>
                  <a:schemeClr val="bg1"/>
                </a:solidFill>
                <a:cs typeface="Courier New" panose="02070309020205020404" pitchFamily="49" charset="0"/>
              </a:rPr>
              <a:t>When you </a:t>
            </a:r>
            <a:r>
              <a:rPr lang="en-US" altLang="en-US" sz="2600" b="1" dirty="0">
                <a:solidFill>
                  <a:schemeClr val="bg1"/>
                </a:solidFill>
                <a:cs typeface="Courier New" panose="02070309020205020404" pitchFamily="49" charset="0"/>
              </a:rPr>
              <a:t>dividing data </a:t>
            </a:r>
            <a:r>
              <a:rPr lang="en-US" altLang="en-US" sz="2600" dirty="0">
                <a:solidFill>
                  <a:schemeClr val="bg1"/>
                </a:solidFill>
                <a:cs typeface="Courier New" panose="02070309020205020404" pitchFamily="49" charset="0"/>
              </a:rPr>
              <a:t>across different processors. The processors are doing the </a:t>
            </a:r>
            <a:r>
              <a:rPr lang="en-US" altLang="en-US" sz="2600" u="sng" dirty="0">
                <a:solidFill>
                  <a:schemeClr val="bg1"/>
                </a:solidFill>
                <a:cs typeface="Courier New" panose="02070309020205020404" pitchFamily="49" charset="0"/>
              </a:rPr>
              <a:t>same computation</a:t>
            </a:r>
            <a:r>
              <a:rPr lang="en-US" altLang="en-US" sz="2600" dirty="0">
                <a:solidFill>
                  <a:schemeClr val="bg1"/>
                </a:solidFill>
                <a:cs typeface="Courier New" panose="02070309020205020404" pitchFamily="49" charset="0"/>
              </a:rPr>
              <a:t>, but on </a:t>
            </a:r>
            <a:r>
              <a:rPr lang="en-US" altLang="en-US" sz="2600" u="sng" dirty="0">
                <a:solidFill>
                  <a:schemeClr val="bg1"/>
                </a:solidFill>
                <a:cs typeface="Courier New" panose="02070309020205020404" pitchFamily="49" charset="0"/>
              </a:rPr>
              <a:t>different pieces of data</a:t>
            </a:r>
            <a:r>
              <a:rPr lang="en-US" altLang="en-US" sz="2600" dirty="0">
                <a:solidFill>
                  <a:schemeClr val="bg1"/>
                </a:solidFill>
                <a:cs typeface="Courier New" panose="02070309020205020404" pitchFamily="49" charset="0"/>
              </a:rPr>
              <a:t>. This is called </a:t>
            </a:r>
            <a:r>
              <a:rPr lang="en-US" altLang="en-US" sz="2600" b="1" dirty="0">
                <a:solidFill>
                  <a:schemeClr val="bg1"/>
                </a:solidFill>
                <a:cs typeface="Courier New" panose="02070309020205020404" pitchFamily="49" charset="0"/>
              </a:rPr>
              <a:t>data parallel</a:t>
            </a:r>
            <a:r>
              <a:rPr lang="en-US" altLang="en-US" sz="2600" dirty="0">
                <a:solidFill>
                  <a:schemeClr val="bg1"/>
                </a:solidFill>
                <a:cs typeface="Courier New" panose="02070309020205020404" pitchFamily="49" charset="0"/>
              </a:rPr>
              <a:t>.</a:t>
            </a:r>
          </a:p>
          <a:p>
            <a:pPr lvl="1"/>
            <a:r>
              <a:rPr lang="en-US" altLang="en-US" sz="2600" dirty="0">
                <a:solidFill>
                  <a:schemeClr val="bg1"/>
                </a:solidFill>
                <a:cs typeface="Courier New" panose="02070309020205020404" pitchFamily="49" charset="0"/>
              </a:rPr>
              <a:t>Data parallelism can be applied on </a:t>
            </a:r>
            <a:r>
              <a:rPr lang="en-US" altLang="en-US" sz="2600" b="1" dirty="0">
                <a:solidFill>
                  <a:schemeClr val="bg1"/>
                </a:solidFill>
                <a:cs typeface="Courier New" panose="02070309020205020404" pitchFamily="49" charset="0"/>
              </a:rPr>
              <a:t>arrays</a:t>
            </a:r>
            <a:r>
              <a:rPr lang="en-US" altLang="en-US" sz="2600" dirty="0">
                <a:solidFill>
                  <a:schemeClr val="bg1"/>
                </a:solidFill>
                <a:cs typeface="Courier New" panose="02070309020205020404" pitchFamily="49" charset="0"/>
              </a:rPr>
              <a:t>, </a:t>
            </a:r>
            <a:r>
              <a:rPr lang="en-US" altLang="en-US" sz="2600" b="1" dirty="0">
                <a:solidFill>
                  <a:schemeClr val="bg1"/>
                </a:solidFill>
                <a:cs typeface="Courier New" panose="02070309020205020404" pitchFamily="49" charset="0"/>
              </a:rPr>
              <a:t>vectors</a:t>
            </a:r>
            <a:r>
              <a:rPr lang="en-US" altLang="en-US" sz="2600" dirty="0">
                <a:solidFill>
                  <a:schemeClr val="bg1"/>
                </a:solidFill>
                <a:cs typeface="Courier New" panose="02070309020205020404" pitchFamily="49" charset="0"/>
              </a:rPr>
              <a:t>, and </a:t>
            </a:r>
            <a:r>
              <a:rPr lang="en-US" altLang="en-US" sz="2600" b="1" dirty="0">
                <a:solidFill>
                  <a:schemeClr val="bg1"/>
                </a:solidFill>
                <a:cs typeface="Courier New" panose="02070309020205020404" pitchFamily="49" charset="0"/>
              </a:rPr>
              <a:t>matrices</a:t>
            </a:r>
            <a:r>
              <a:rPr lang="en-US" altLang="en-US" sz="2600" dirty="0">
                <a:solidFill>
                  <a:schemeClr val="bg1"/>
                </a:solidFill>
                <a:cs typeface="Courier New" panose="02070309020205020404" pitchFamily="49" charset="0"/>
              </a:rPr>
              <a:t> by working on each element in parallel.</a:t>
            </a:r>
          </a:p>
        </p:txBody>
      </p:sp>
    </p:spTree>
    <p:extLst>
      <p:ext uri="{BB962C8B-B14F-4D97-AF65-F5344CB8AC3E}">
        <p14:creationId xmlns:p14="http://schemas.microsoft.com/office/powerpoint/2010/main" val="26018818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Data Parallelism Example, Slide 1 of 2</a:t>
            </a:r>
            <a:endParaRPr b="1" dirty="0">
              <a:solidFill>
                <a:srgbClr val="4F2984"/>
              </a:solidFill>
              <a:latin typeface="Amasis MT Pro Black" panose="02040A04050005020304" pitchFamily="18" charset="0"/>
            </a:endParaRPr>
          </a:p>
        </p:txBody>
      </p:sp>
      <p:graphicFrame>
        <p:nvGraphicFramePr>
          <p:cNvPr id="2" name="Content Placeholder 1">
            <a:extLst>
              <a:ext uri="{FF2B5EF4-FFF2-40B4-BE49-F238E27FC236}">
                <a16:creationId xmlns:a16="http://schemas.microsoft.com/office/drawing/2014/main" id="{D071982F-326C-68D8-A3DA-ABD9661E6425}"/>
              </a:ext>
            </a:extLst>
          </p:cNvPr>
          <p:cNvGraphicFramePr>
            <a:graphicFrameLocks noGrp="1"/>
          </p:cNvGraphicFramePr>
          <p:nvPr>
            <p:ph idx="1"/>
            <p:extLst>
              <p:ext uri="{D42A27DB-BD31-4B8C-83A1-F6EECF244321}">
                <p14:modId xmlns:p14="http://schemas.microsoft.com/office/powerpoint/2010/main" val="370195645"/>
              </p:ext>
            </p:extLst>
          </p:nvPr>
        </p:nvGraphicFramePr>
        <p:xfrm>
          <a:off x="1524000" y="1828800"/>
          <a:ext cx="9144000" cy="365760"/>
        </p:xfrm>
        <a:graphic>
          <a:graphicData uri="http://schemas.openxmlformats.org/drawingml/2006/table">
            <a:tbl>
              <a:tblPr firstRow="1" bandRow="1">
                <a:tableStyleId>{00A15C55-8517-42AA-B614-E9B94910E393}</a:tableStyleId>
              </a:tblPr>
              <a:tblGrid>
                <a:gridCol w="762000">
                  <a:extLst>
                    <a:ext uri="{9D8B030D-6E8A-4147-A177-3AD203B41FA5}">
                      <a16:colId xmlns:a16="http://schemas.microsoft.com/office/drawing/2014/main" val="3195377282"/>
                    </a:ext>
                  </a:extLst>
                </a:gridCol>
                <a:gridCol w="762000">
                  <a:extLst>
                    <a:ext uri="{9D8B030D-6E8A-4147-A177-3AD203B41FA5}">
                      <a16:colId xmlns:a16="http://schemas.microsoft.com/office/drawing/2014/main" val="3255346349"/>
                    </a:ext>
                  </a:extLst>
                </a:gridCol>
                <a:gridCol w="762000">
                  <a:extLst>
                    <a:ext uri="{9D8B030D-6E8A-4147-A177-3AD203B41FA5}">
                      <a16:colId xmlns:a16="http://schemas.microsoft.com/office/drawing/2014/main" val="1494031577"/>
                    </a:ext>
                  </a:extLst>
                </a:gridCol>
                <a:gridCol w="762000">
                  <a:extLst>
                    <a:ext uri="{9D8B030D-6E8A-4147-A177-3AD203B41FA5}">
                      <a16:colId xmlns:a16="http://schemas.microsoft.com/office/drawing/2014/main" val="4106783646"/>
                    </a:ext>
                  </a:extLst>
                </a:gridCol>
                <a:gridCol w="762000">
                  <a:extLst>
                    <a:ext uri="{9D8B030D-6E8A-4147-A177-3AD203B41FA5}">
                      <a16:colId xmlns:a16="http://schemas.microsoft.com/office/drawing/2014/main" val="4104332779"/>
                    </a:ext>
                  </a:extLst>
                </a:gridCol>
                <a:gridCol w="762000">
                  <a:extLst>
                    <a:ext uri="{9D8B030D-6E8A-4147-A177-3AD203B41FA5}">
                      <a16:colId xmlns:a16="http://schemas.microsoft.com/office/drawing/2014/main" val="512476500"/>
                    </a:ext>
                  </a:extLst>
                </a:gridCol>
                <a:gridCol w="762000">
                  <a:extLst>
                    <a:ext uri="{9D8B030D-6E8A-4147-A177-3AD203B41FA5}">
                      <a16:colId xmlns:a16="http://schemas.microsoft.com/office/drawing/2014/main" val="516626812"/>
                    </a:ext>
                  </a:extLst>
                </a:gridCol>
                <a:gridCol w="762000">
                  <a:extLst>
                    <a:ext uri="{9D8B030D-6E8A-4147-A177-3AD203B41FA5}">
                      <a16:colId xmlns:a16="http://schemas.microsoft.com/office/drawing/2014/main" val="4157862830"/>
                    </a:ext>
                  </a:extLst>
                </a:gridCol>
                <a:gridCol w="762000">
                  <a:extLst>
                    <a:ext uri="{9D8B030D-6E8A-4147-A177-3AD203B41FA5}">
                      <a16:colId xmlns:a16="http://schemas.microsoft.com/office/drawing/2014/main" val="2810297174"/>
                    </a:ext>
                  </a:extLst>
                </a:gridCol>
                <a:gridCol w="762000">
                  <a:extLst>
                    <a:ext uri="{9D8B030D-6E8A-4147-A177-3AD203B41FA5}">
                      <a16:colId xmlns:a16="http://schemas.microsoft.com/office/drawing/2014/main" val="4263572461"/>
                    </a:ext>
                  </a:extLst>
                </a:gridCol>
                <a:gridCol w="762000">
                  <a:extLst>
                    <a:ext uri="{9D8B030D-6E8A-4147-A177-3AD203B41FA5}">
                      <a16:colId xmlns:a16="http://schemas.microsoft.com/office/drawing/2014/main" val="635234767"/>
                    </a:ext>
                  </a:extLst>
                </a:gridCol>
                <a:gridCol w="762000">
                  <a:extLst>
                    <a:ext uri="{9D8B030D-6E8A-4147-A177-3AD203B41FA5}">
                      <a16:colId xmlns:a16="http://schemas.microsoft.com/office/drawing/2014/main" val="3191764414"/>
                    </a:ext>
                  </a:extLst>
                </a:gridCol>
              </a:tblGrid>
              <a:tr h="152400">
                <a:tc>
                  <a:txBody>
                    <a:bodyPr/>
                    <a:lstStyle/>
                    <a:p>
                      <a:pPr algn="ctr"/>
                      <a:r>
                        <a:rPr lang="en-US" dirty="0"/>
                        <a:t>2</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6</a:t>
                      </a:r>
                    </a:p>
                  </a:txBody>
                  <a:tcPr/>
                </a:tc>
                <a:tc>
                  <a:txBody>
                    <a:bodyPr/>
                    <a:lstStyle/>
                    <a:p>
                      <a:pPr algn="ctr"/>
                      <a:r>
                        <a:rPr lang="en-US" dirty="0"/>
                        <a:t>3</a:t>
                      </a:r>
                    </a:p>
                  </a:txBody>
                  <a:tcPr/>
                </a:tc>
                <a:tc>
                  <a:txBody>
                    <a:bodyPr/>
                    <a:lstStyle/>
                    <a:p>
                      <a:pPr algn="ctr"/>
                      <a:r>
                        <a:rPr lang="en-US" dirty="0"/>
                        <a:t>8</a:t>
                      </a:r>
                    </a:p>
                  </a:txBody>
                  <a:tcPr/>
                </a:tc>
                <a:tc>
                  <a:txBody>
                    <a:bodyPr/>
                    <a:lstStyle/>
                    <a:p>
                      <a:pPr algn="ctr"/>
                      <a:r>
                        <a:rPr lang="en-US" dirty="0"/>
                        <a:t>7</a:t>
                      </a:r>
                    </a:p>
                  </a:txBody>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8</a:t>
                      </a:r>
                    </a:p>
                  </a:txBody>
                  <a:tcPr/>
                </a:tc>
                <a:tc>
                  <a:txBody>
                    <a:bodyPr/>
                    <a:lstStyle/>
                    <a:p>
                      <a:pPr algn="ctr"/>
                      <a:r>
                        <a:rPr lang="en-US" dirty="0"/>
                        <a:t>3</a:t>
                      </a:r>
                    </a:p>
                  </a:txBody>
                  <a:tcPr/>
                </a:tc>
                <a:extLst>
                  <a:ext uri="{0D108BD9-81ED-4DB2-BD59-A6C34878D82A}">
                    <a16:rowId xmlns:a16="http://schemas.microsoft.com/office/drawing/2014/main" val="3833558726"/>
                  </a:ext>
                </a:extLst>
              </a:tr>
            </a:tbl>
          </a:graphicData>
        </a:graphic>
      </p:graphicFrame>
      <p:sp>
        <p:nvSpPr>
          <p:cNvPr id="3" name="TextBox 2">
            <a:extLst>
              <a:ext uri="{FF2B5EF4-FFF2-40B4-BE49-F238E27FC236}">
                <a16:creationId xmlns:a16="http://schemas.microsoft.com/office/drawing/2014/main" id="{0740F92F-46E4-797D-8BE1-D9F5610E1EEA}"/>
              </a:ext>
            </a:extLst>
          </p:cNvPr>
          <p:cNvSpPr txBox="1"/>
          <p:nvPr/>
        </p:nvSpPr>
        <p:spPr>
          <a:xfrm>
            <a:off x="381000" y="2514600"/>
            <a:ext cx="11582400" cy="3539430"/>
          </a:xfrm>
          <a:prstGeom prst="rect">
            <a:avLst/>
          </a:prstGeom>
          <a:noFill/>
        </p:spPr>
        <p:txBody>
          <a:bodyPr wrap="square" rtlCol="0">
            <a:spAutoFit/>
          </a:bodyPr>
          <a:lstStyle/>
          <a:p>
            <a:r>
              <a:rPr lang="en-US" sz="2800" dirty="0">
                <a:solidFill>
                  <a:schemeClr val="bg1"/>
                </a:solidFill>
              </a:rPr>
              <a:t>If we had the array above with 12 elements and we wanted to write code to add all the array elements, we could either have our code</a:t>
            </a:r>
          </a:p>
          <a:p>
            <a:pPr marL="457200" indent="-457200">
              <a:buFont typeface="Arial" panose="020B0604020202020204" pitchFamily="34" charset="0"/>
              <a:buChar char="•"/>
            </a:pPr>
            <a:r>
              <a:rPr lang="en-US" sz="2800" dirty="0">
                <a:solidFill>
                  <a:schemeClr val="bg1"/>
                </a:solidFill>
              </a:rPr>
              <a:t>perform the addition sequentially (serially), which is one addition at-a-time or </a:t>
            </a:r>
          </a:p>
          <a:p>
            <a:pPr marL="457200" indent="-457200">
              <a:buFont typeface="Arial" panose="020B0604020202020204" pitchFamily="34" charset="0"/>
              <a:buChar char="•"/>
            </a:pPr>
            <a:r>
              <a:rPr lang="en-US" sz="2800" dirty="0">
                <a:solidFill>
                  <a:schemeClr val="bg1"/>
                </a:solidFill>
              </a:rPr>
              <a:t>Divide the data between processors, and each processor will add its part of the answer. Once the data is divided, the processors can add their elements independently without need to share any part of the answer until the end, when the results are added together to get the final total.</a:t>
            </a:r>
          </a:p>
        </p:txBody>
      </p:sp>
    </p:spTree>
    <p:extLst>
      <p:ext uri="{BB962C8B-B14F-4D97-AF65-F5344CB8AC3E}">
        <p14:creationId xmlns:p14="http://schemas.microsoft.com/office/powerpoint/2010/main" val="5970977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Data Parallelism Example, Slide 2 of 2</a:t>
            </a:r>
          </a:p>
        </p:txBody>
      </p:sp>
      <p:graphicFrame>
        <p:nvGraphicFramePr>
          <p:cNvPr id="2" name="Content Placeholder 1">
            <a:extLst>
              <a:ext uri="{FF2B5EF4-FFF2-40B4-BE49-F238E27FC236}">
                <a16:creationId xmlns:a16="http://schemas.microsoft.com/office/drawing/2014/main" id="{D071982F-326C-68D8-A3DA-ABD9661E6425}"/>
              </a:ext>
            </a:extLst>
          </p:cNvPr>
          <p:cNvGraphicFramePr>
            <a:graphicFrameLocks noGrp="1"/>
          </p:cNvGraphicFramePr>
          <p:nvPr>
            <p:ph idx="1"/>
            <p:extLst>
              <p:ext uri="{D42A27DB-BD31-4B8C-83A1-F6EECF244321}">
                <p14:modId xmlns:p14="http://schemas.microsoft.com/office/powerpoint/2010/main" val="3070327952"/>
              </p:ext>
            </p:extLst>
          </p:nvPr>
        </p:nvGraphicFramePr>
        <p:xfrm>
          <a:off x="1524000" y="1600200"/>
          <a:ext cx="9144000" cy="370840"/>
        </p:xfrm>
        <a:graphic>
          <a:graphicData uri="http://schemas.openxmlformats.org/drawingml/2006/table">
            <a:tbl>
              <a:tblPr firstRow="1" bandRow="1">
                <a:tableStyleId>{00A15C55-8517-42AA-B614-E9B94910E393}</a:tableStyleId>
              </a:tblPr>
              <a:tblGrid>
                <a:gridCol w="762000">
                  <a:extLst>
                    <a:ext uri="{9D8B030D-6E8A-4147-A177-3AD203B41FA5}">
                      <a16:colId xmlns:a16="http://schemas.microsoft.com/office/drawing/2014/main" val="3195377282"/>
                    </a:ext>
                  </a:extLst>
                </a:gridCol>
                <a:gridCol w="762000">
                  <a:extLst>
                    <a:ext uri="{9D8B030D-6E8A-4147-A177-3AD203B41FA5}">
                      <a16:colId xmlns:a16="http://schemas.microsoft.com/office/drawing/2014/main" val="3255346349"/>
                    </a:ext>
                  </a:extLst>
                </a:gridCol>
                <a:gridCol w="762000">
                  <a:extLst>
                    <a:ext uri="{9D8B030D-6E8A-4147-A177-3AD203B41FA5}">
                      <a16:colId xmlns:a16="http://schemas.microsoft.com/office/drawing/2014/main" val="1494031577"/>
                    </a:ext>
                  </a:extLst>
                </a:gridCol>
                <a:gridCol w="762000">
                  <a:extLst>
                    <a:ext uri="{9D8B030D-6E8A-4147-A177-3AD203B41FA5}">
                      <a16:colId xmlns:a16="http://schemas.microsoft.com/office/drawing/2014/main" val="4106783646"/>
                    </a:ext>
                  </a:extLst>
                </a:gridCol>
                <a:gridCol w="762000">
                  <a:extLst>
                    <a:ext uri="{9D8B030D-6E8A-4147-A177-3AD203B41FA5}">
                      <a16:colId xmlns:a16="http://schemas.microsoft.com/office/drawing/2014/main" val="4104332779"/>
                    </a:ext>
                  </a:extLst>
                </a:gridCol>
                <a:gridCol w="762000">
                  <a:extLst>
                    <a:ext uri="{9D8B030D-6E8A-4147-A177-3AD203B41FA5}">
                      <a16:colId xmlns:a16="http://schemas.microsoft.com/office/drawing/2014/main" val="512476500"/>
                    </a:ext>
                  </a:extLst>
                </a:gridCol>
                <a:gridCol w="762000">
                  <a:extLst>
                    <a:ext uri="{9D8B030D-6E8A-4147-A177-3AD203B41FA5}">
                      <a16:colId xmlns:a16="http://schemas.microsoft.com/office/drawing/2014/main" val="516626812"/>
                    </a:ext>
                  </a:extLst>
                </a:gridCol>
                <a:gridCol w="762000">
                  <a:extLst>
                    <a:ext uri="{9D8B030D-6E8A-4147-A177-3AD203B41FA5}">
                      <a16:colId xmlns:a16="http://schemas.microsoft.com/office/drawing/2014/main" val="4157862830"/>
                    </a:ext>
                  </a:extLst>
                </a:gridCol>
                <a:gridCol w="762000">
                  <a:extLst>
                    <a:ext uri="{9D8B030D-6E8A-4147-A177-3AD203B41FA5}">
                      <a16:colId xmlns:a16="http://schemas.microsoft.com/office/drawing/2014/main" val="2810297174"/>
                    </a:ext>
                  </a:extLst>
                </a:gridCol>
                <a:gridCol w="762000">
                  <a:extLst>
                    <a:ext uri="{9D8B030D-6E8A-4147-A177-3AD203B41FA5}">
                      <a16:colId xmlns:a16="http://schemas.microsoft.com/office/drawing/2014/main" val="4263572461"/>
                    </a:ext>
                  </a:extLst>
                </a:gridCol>
                <a:gridCol w="762000">
                  <a:extLst>
                    <a:ext uri="{9D8B030D-6E8A-4147-A177-3AD203B41FA5}">
                      <a16:colId xmlns:a16="http://schemas.microsoft.com/office/drawing/2014/main" val="635234767"/>
                    </a:ext>
                  </a:extLst>
                </a:gridCol>
                <a:gridCol w="762000">
                  <a:extLst>
                    <a:ext uri="{9D8B030D-6E8A-4147-A177-3AD203B41FA5}">
                      <a16:colId xmlns:a16="http://schemas.microsoft.com/office/drawing/2014/main" val="3191764414"/>
                    </a:ext>
                  </a:extLst>
                </a:gridCol>
              </a:tblGrid>
              <a:tr h="370840">
                <a:tc>
                  <a:txBody>
                    <a:bodyPr/>
                    <a:lstStyle/>
                    <a:p>
                      <a:pPr algn="ctr"/>
                      <a:r>
                        <a:rPr lang="en-US" dirty="0"/>
                        <a:t>2</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6</a:t>
                      </a:r>
                    </a:p>
                  </a:txBody>
                  <a:tcPr/>
                </a:tc>
                <a:tc>
                  <a:txBody>
                    <a:bodyPr/>
                    <a:lstStyle/>
                    <a:p>
                      <a:pPr algn="ctr"/>
                      <a:r>
                        <a:rPr lang="en-US" dirty="0"/>
                        <a:t>3</a:t>
                      </a:r>
                    </a:p>
                  </a:txBody>
                  <a:tcPr/>
                </a:tc>
                <a:tc>
                  <a:txBody>
                    <a:bodyPr/>
                    <a:lstStyle/>
                    <a:p>
                      <a:pPr algn="ctr"/>
                      <a:r>
                        <a:rPr lang="en-US" dirty="0"/>
                        <a:t>8</a:t>
                      </a:r>
                    </a:p>
                  </a:txBody>
                  <a:tcPr/>
                </a:tc>
                <a:tc>
                  <a:txBody>
                    <a:bodyPr/>
                    <a:lstStyle/>
                    <a:p>
                      <a:pPr algn="ctr"/>
                      <a:r>
                        <a:rPr lang="en-US" dirty="0"/>
                        <a:t>7</a:t>
                      </a:r>
                    </a:p>
                  </a:txBody>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8</a:t>
                      </a:r>
                    </a:p>
                  </a:txBody>
                  <a:tcPr/>
                </a:tc>
                <a:tc>
                  <a:txBody>
                    <a:bodyPr/>
                    <a:lstStyle/>
                    <a:p>
                      <a:pPr algn="ctr"/>
                      <a:r>
                        <a:rPr lang="en-US" dirty="0"/>
                        <a:t>3</a:t>
                      </a:r>
                    </a:p>
                  </a:txBody>
                  <a:tcPr/>
                </a:tc>
                <a:extLst>
                  <a:ext uri="{0D108BD9-81ED-4DB2-BD59-A6C34878D82A}">
                    <a16:rowId xmlns:a16="http://schemas.microsoft.com/office/drawing/2014/main" val="3833558726"/>
                  </a:ext>
                </a:extLst>
              </a:tr>
            </a:tbl>
          </a:graphicData>
        </a:graphic>
      </p:graphicFrame>
      <p:sp>
        <p:nvSpPr>
          <p:cNvPr id="3" name="TextBox 2">
            <a:extLst>
              <a:ext uri="{FF2B5EF4-FFF2-40B4-BE49-F238E27FC236}">
                <a16:creationId xmlns:a16="http://schemas.microsoft.com/office/drawing/2014/main" id="{0740F92F-46E4-797D-8BE1-D9F5610E1EEA}"/>
              </a:ext>
            </a:extLst>
          </p:cNvPr>
          <p:cNvSpPr txBox="1"/>
          <p:nvPr/>
        </p:nvSpPr>
        <p:spPr>
          <a:xfrm>
            <a:off x="76200" y="2286000"/>
            <a:ext cx="4953000" cy="4524315"/>
          </a:xfrm>
          <a:prstGeom prst="rect">
            <a:avLst/>
          </a:prstGeom>
          <a:solidFill>
            <a:schemeClr val="accent4">
              <a:lumMod val="20000"/>
              <a:lumOff val="80000"/>
            </a:schemeClr>
          </a:solidFill>
        </p:spPr>
        <p:txBody>
          <a:bodyPr wrap="square" rtlCol="0">
            <a:spAutoFit/>
          </a:bodyPr>
          <a:lstStyle/>
          <a:p>
            <a:pPr algn="ctr"/>
            <a:r>
              <a:rPr lang="en-US" sz="2000" b="1" dirty="0">
                <a:solidFill>
                  <a:srgbClr val="4F2984"/>
                </a:solidFill>
              </a:rPr>
              <a:t>Serial Operations:</a:t>
            </a:r>
          </a:p>
          <a:p>
            <a:r>
              <a:rPr lang="en-US" sz="2000" dirty="0">
                <a:solidFill>
                  <a:schemeClr val="bg1"/>
                </a:solidFill>
                <a:latin typeface="Courier New" panose="02070309020205020404" pitchFamily="49" charset="0"/>
                <a:cs typeface="Courier New" panose="02070309020205020404" pitchFamily="49" charset="0"/>
              </a:rPr>
              <a:t> 2 +  4 =  6</a:t>
            </a:r>
          </a:p>
          <a:p>
            <a:r>
              <a:rPr lang="en-US" sz="2000" dirty="0">
                <a:solidFill>
                  <a:schemeClr val="bg1"/>
                </a:solidFill>
                <a:latin typeface="Courier New" panose="02070309020205020404" pitchFamily="49" charset="0"/>
                <a:cs typeface="Courier New" panose="02070309020205020404" pitchFamily="49" charset="0"/>
              </a:rPr>
              <a:t> 6 +  1 =  7</a:t>
            </a:r>
          </a:p>
          <a:p>
            <a:r>
              <a:rPr lang="en-US" sz="2000" dirty="0">
                <a:solidFill>
                  <a:schemeClr val="bg1"/>
                </a:solidFill>
                <a:latin typeface="Courier New" panose="02070309020205020404" pitchFamily="49" charset="0"/>
                <a:cs typeface="Courier New" panose="02070309020205020404" pitchFamily="49" charset="0"/>
              </a:rPr>
              <a:t> 7 +  6 = 13</a:t>
            </a:r>
          </a:p>
          <a:p>
            <a:r>
              <a:rPr lang="en-US" sz="2000" dirty="0">
                <a:solidFill>
                  <a:schemeClr val="bg1"/>
                </a:solidFill>
                <a:latin typeface="Courier New" panose="02070309020205020404" pitchFamily="49" charset="0"/>
                <a:cs typeface="Courier New" panose="02070309020205020404" pitchFamily="49" charset="0"/>
              </a:rPr>
              <a:t>13 +  3 = 16</a:t>
            </a:r>
          </a:p>
          <a:p>
            <a:r>
              <a:rPr lang="en-US" sz="2000" dirty="0">
                <a:solidFill>
                  <a:schemeClr val="bg1"/>
                </a:solidFill>
                <a:latin typeface="Courier New" panose="02070309020205020404" pitchFamily="49" charset="0"/>
                <a:cs typeface="Courier New" panose="02070309020205020404" pitchFamily="49" charset="0"/>
              </a:rPr>
              <a:t>16 +  8 = 24</a:t>
            </a:r>
          </a:p>
          <a:p>
            <a:r>
              <a:rPr lang="en-US" sz="2000" dirty="0">
                <a:solidFill>
                  <a:schemeClr val="bg1"/>
                </a:solidFill>
                <a:latin typeface="Courier New" panose="02070309020205020404" pitchFamily="49" charset="0"/>
                <a:cs typeface="Courier New" panose="02070309020205020404" pitchFamily="49" charset="0"/>
              </a:rPr>
              <a:t>24 +  7 = 31</a:t>
            </a:r>
          </a:p>
          <a:p>
            <a:r>
              <a:rPr lang="en-US" sz="2000" dirty="0">
                <a:solidFill>
                  <a:schemeClr val="bg1"/>
                </a:solidFill>
                <a:latin typeface="Courier New" panose="02070309020205020404" pitchFamily="49" charset="0"/>
                <a:cs typeface="Courier New" panose="02070309020205020404" pitchFamily="49" charset="0"/>
              </a:rPr>
              <a:t>31 +  2 = 33</a:t>
            </a:r>
          </a:p>
          <a:p>
            <a:r>
              <a:rPr lang="en-US" sz="2000" dirty="0">
                <a:solidFill>
                  <a:schemeClr val="bg1"/>
                </a:solidFill>
                <a:latin typeface="Courier New" panose="02070309020205020404" pitchFamily="49" charset="0"/>
                <a:cs typeface="Courier New" panose="02070309020205020404" pitchFamily="49" charset="0"/>
              </a:rPr>
              <a:t>33 +  1 = 34</a:t>
            </a:r>
          </a:p>
          <a:p>
            <a:r>
              <a:rPr lang="en-US" sz="2000" dirty="0">
                <a:solidFill>
                  <a:schemeClr val="bg1"/>
                </a:solidFill>
                <a:latin typeface="Courier New" panose="02070309020205020404" pitchFamily="49" charset="0"/>
                <a:cs typeface="Courier New" panose="02070309020205020404" pitchFamily="49" charset="0"/>
              </a:rPr>
              <a:t>34 +  1 = 35</a:t>
            </a:r>
          </a:p>
          <a:p>
            <a:r>
              <a:rPr lang="en-US" sz="2000" dirty="0">
                <a:solidFill>
                  <a:schemeClr val="bg1"/>
                </a:solidFill>
                <a:latin typeface="Courier New" panose="02070309020205020404" pitchFamily="49" charset="0"/>
                <a:cs typeface="Courier New" panose="02070309020205020404" pitchFamily="49" charset="0"/>
              </a:rPr>
              <a:t>35 +  8 = 43</a:t>
            </a:r>
          </a:p>
          <a:p>
            <a:r>
              <a:rPr lang="en-US" sz="2000" dirty="0">
                <a:solidFill>
                  <a:schemeClr val="bg1"/>
                </a:solidFill>
                <a:latin typeface="Courier New" panose="02070309020205020404" pitchFamily="49" charset="0"/>
                <a:cs typeface="Courier New" panose="02070309020205020404" pitchFamily="49" charset="0"/>
              </a:rPr>
              <a:t>43 +  3 = </a:t>
            </a:r>
            <a:r>
              <a:rPr lang="en-US" sz="2000" b="1" dirty="0">
                <a:solidFill>
                  <a:schemeClr val="bg1"/>
                </a:solidFill>
                <a:latin typeface="Courier New" panose="02070309020205020404" pitchFamily="49" charset="0"/>
                <a:cs typeface="Courier New" panose="02070309020205020404" pitchFamily="49" charset="0"/>
              </a:rPr>
              <a:t>46</a:t>
            </a:r>
          </a:p>
          <a:p>
            <a:r>
              <a:rPr lang="en-US" sz="2000" dirty="0">
                <a:solidFill>
                  <a:schemeClr val="bg1"/>
                </a:solidFill>
                <a:cs typeface="Courier New" panose="02070309020205020404" pitchFamily="49" charset="0"/>
              </a:rPr>
              <a:t>If each operation takes 1 millisecond, this would take </a:t>
            </a:r>
            <a:r>
              <a:rPr lang="en-US" sz="2000" b="1" dirty="0">
                <a:solidFill>
                  <a:srgbClr val="0000FF"/>
                </a:solidFill>
                <a:cs typeface="Courier New" panose="02070309020205020404" pitchFamily="49" charset="0"/>
              </a:rPr>
              <a:t>13 milliseconds </a:t>
            </a:r>
            <a:r>
              <a:rPr lang="en-US" sz="2000" dirty="0">
                <a:solidFill>
                  <a:schemeClr val="bg1"/>
                </a:solidFill>
                <a:cs typeface="Courier New" panose="02070309020205020404" pitchFamily="49" charset="0"/>
              </a:rPr>
              <a:t>total.</a:t>
            </a:r>
          </a:p>
        </p:txBody>
      </p:sp>
      <p:sp>
        <p:nvSpPr>
          <p:cNvPr id="4" name="TextBox 3">
            <a:extLst>
              <a:ext uri="{FF2B5EF4-FFF2-40B4-BE49-F238E27FC236}">
                <a16:creationId xmlns:a16="http://schemas.microsoft.com/office/drawing/2014/main" id="{4344C1F9-A292-D012-33C0-DEE15B05B33E}"/>
              </a:ext>
            </a:extLst>
          </p:cNvPr>
          <p:cNvSpPr txBox="1"/>
          <p:nvPr/>
        </p:nvSpPr>
        <p:spPr>
          <a:xfrm>
            <a:off x="5181600" y="2286000"/>
            <a:ext cx="6934200" cy="4401205"/>
          </a:xfrm>
          <a:prstGeom prst="rect">
            <a:avLst/>
          </a:prstGeom>
          <a:solidFill>
            <a:schemeClr val="accent2">
              <a:lumMod val="20000"/>
              <a:lumOff val="80000"/>
            </a:schemeClr>
          </a:solidFill>
        </p:spPr>
        <p:txBody>
          <a:bodyPr wrap="square" rtlCol="0">
            <a:spAutoFit/>
          </a:bodyPr>
          <a:lstStyle/>
          <a:p>
            <a:pPr algn="ctr"/>
            <a:r>
              <a:rPr lang="en-US" sz="2000" b="1" dirty="0">
                <a:solidFill>
                  <a:srgbClr val="4F2984"/>
                </a:solidFill>
              </a:rPr>
              <a:t>Parallel Operations:</a:t>
            </a:r>
          </a:p>
          <a:p>
            <a:r>
              <a:rPr lang="en-US" sz="2000" dirty="0">
                <a:solidFill>
                  <a:schemeClr val="bg1"/>
                </a:solidFill>
                <a:latin typeface="Courier New" panose="02070309020205020404" pitchFamily="49" charset="0"/>
                <a:cs typeface="Courier New" panose="02070309020205020404" pitchFamily="49" charset="0"/>
              </a:rPr>
              <a:t>Divide array in 3 equal sections of 4 elements each.</a:t>
            </a:r>
          </a:p>
          <a:p>
            <a:r>
              <a:rPr lang="en-US" sz="2000" b="1" dirty="0">
                <a:solidFill>
                  <a:srgbClr val="0000FF"/>
                </a:solidFill>
                <a:latin typeface="Cooper Black" panose="0208090404030B020404" pitchFamily="18" charset="0"/>
                <a:cs typeface="Courier New" panose="02070309020205020404" pitchFamily="49" charset="0"/>
              </a:rPr>
              <a:t>PHASE 1</a:t>
            </a:r>
            <a:r>
              <a:rPr lang="en-US" sz="2000" dirty="0">
                <a:solidFill>
                  <a:srgbClr val="0000FF"/>
                </a:solidFill>
                <a:latin typeface="Courier New" panose="02070309020205020404" pitchFamily="49" charset="0"/>
                <a:cs typeface="Courier New" panose="02070309020205020404" pitchFamily="49" charset="0"/>
              </a:rPr>
              <a:t> </a:t>
            </a:r>
            <a:r>
              <a:rPr lang="en-US" sz="2000" dirty="0">
                <a:solidFill>
                  <a:schemeClr val="bg1"/>
                </a:solidFill>
                <a:latin typeface="Courier New" panose="02070309020205020404" pitchFamily="49" charset="0"/>
                <a:cs typeface="Courier New" panose="02070309020205020404" pitchFamily="49" charset="0"/>
              </a:rPr>
              <a:t>– each processer adds up a portion of the array.</a:t>
            </a:r>
          </a:p>
          <a:p>
            <a:r>
              <a:rPr lang="en-US" sz="2000" dirty="0">
                <a:solidFill>
                  <a:schemeClr val="bg1"/>
                </a:solidFill>
                <a:latin typeface="Courier New" panose="02070309020205020404" pitchFamily="49" charset="0"/>
                <a:cs typeface="Courier New" panose="02070309020205020404" pitchFamily="49" charset="0"/>
              </a:rPr>
              <a:t> 2 +  4 =  6 </a:t>
            </a:r>
            <a:r>
              <a:rPr lang="en-US" sz="2000" b="1" dirty="0">
                <a:solidFill>
                  <a:schemeClr val="bg1"/>
                </a:solidFill>
                <a:latin typeface="Courier New" panose="02070309020205020404" pitchFamily="49" charset="0"/>
                <a:cs typeface="Courier New" panose="02070309020205020404" pitchFamily="49" charset="0"/>
              </a:rPr>
              <a:t>|</a:t>
            </a:r>
            <a:r>
              <a:rPr lang="en-US" sz="2000" dirty="0">
                <a:solidFill>
                  <a:schemeClr val="bg1"/>
                </a:solidFill>
                <a:latin typeface="Courier New" panose="02070309020205020404" pitchFamily="49" charset="0"/>
                <a:cs typeface="Courier New" panose="02070309020205020404" pitchFamily="49" charset="0"/>
              </a:rPr>
              <a:t>  3 +  8 = 11 </a:t>
            </a:r>
            <a:r>
              <a:rPr lang="en-US" sz="2000" b="1" dirty="0">
                <a:solidFill>
                  <a:schemeClr val="bg1"/>
                </a:solidFill>
                <a:latin typeface="Courier New" panose="02070309020205020404" pitchFamily="49" charset="0"/>
                <a:cs typeface="Courier New" panose="02070309020205020404" pitchFamily="49" charset="0"/>
              </a:rPr>
              <a:t>|</a:t>
            </a:r>
            <a:r>
              <a:rPr lang="en-US" sz="2000" dirty="0">
                <a:solidFill>
                  <a:schemeClr val="bg1"/>
                </a:solidFill>
                <a:latin typeface="Courier New" panose="02070309020205020404" pitchFamily="49" charset="0"/>
                <a:cs typeface="Courier New" panose="02070309020205020404" pitchFamily="49" charset="0"/>
              </a:rPr>
              <a:t>  1 +  1 =  1</a:t>
            </a:r>
          </a:p>
          <a:p>
            <a:r>
              <a:rPr lang="en-US" sz="2000" dirty="0">
                <a:solidFill>
                  <a:schemeClr val="bg1"/>
                </a:solidFill>
                <a:latin typeface="Courier New" panose="02070309020205020404" pitchFamily="49" charset="0"/>
                <a:cs typeface="Courier New" panose="02070309020205020404" pitchFamily="49" charset="0"/>
              </a:rPr>
              <a:t> 6 +  1 =  7 </a:t>
            </a:r>
            <a:r>
              <a:rPr lang="en-US" sz="2000" b="1" dirty="0">
                <a:solidFill>
                  <a:schemeClr val="bg1"/>
                </a:solidFill>
                <a:latin typeface="Courier New" panose="02070309020205020404" pitchFamily="49" charset="0"/>
                <a:cs typeface="Courier New" panose="02070309020205020404" pitchFamily="49" charset="0"/>
              </a:rPr>
              <a:t>|</a:t>
            </a:r>
            <a:r>
              <a:rPr lang="en-US" sz="2000" dirty="0">
                <a:solidFill>
                  <a:schemeClr val="bg1"/>
                </a:solidFill>
                <a:latin typeface="Courier New" panose="02070309020205020404" pitchFamily="49" charset="0"/>
                <a:cs typeface="Courier New" panose="02070309020205020404" pitchFamily="49" charset="0"/>
              </a:rPr>
              <a:t> 11 +  7 = 18 </a:t>
            </a:r>
            <a:r>
              <a:rPr lang="en-US" sz="2000" b="1" dirty="0">
                <a:solidFill>
                  <a:schemeClr val="bg1"/>
                </a:solidFill>
                <a:latin typeface="Courier New" panose="02070309020205020404" pitchFamily="49" charset="0"/>
                <a:cs typeface="Courier New" panose="02070309020205020404" pitchFamily="49" charset="0"/>
              </a:rPr>
              <a:t>|</a:t>
            </a:r>
            <a:r>
              <a:rPr lang="en-US" sz="2000" dirty="0">
                <a:solidFill>
                  <a:schemeClr val="bg1"/>
                </a:solidFill>
                <a:latin typeface="Courier New" panose="02070309020205020404" pitchFamily="49" charset="0"/>
                <a:cs typeface="Courier New" panose="02070309020205020404" pitchFamily="49" charset="0"/>
              </a:rPr>
              <a:t>  2 +  8 = 10</a:t>
            </a:r>
          </a:p>
          <a:p>
            <a:r>
              <a:rPr lang="en-US" sz="2000" dirty="0">
                <a:solidFill>
                  <a:schemeClr val="bg1"/>
                </a:solidFill>
                <a:latin typeface="Courier New" panose="02070309020205020404" pitchFamily="49" charset="0"/>
                <a:cs typeface="Courier New" panose="02070309020205020404" pitchFamily="49" charset="0"/>
              </a:rPr>
              <a:t> 7 +  6 = 13 </a:t>
            </a:r>
            <a:r>
              <a:rPr lang="en-US" sz="2000" b="1" dirty="0">
                <a:solidFill>
                  <a:schemeClr val="bg1"/>
                </a:solidFill>
                <a:latin typeface="Courier New" panose="02070309020205020404" pitchFamily="49" charset="0"/>
                <a:cs typeface="Courier New" panose="02070309020205020404" pitchFamily="49" charset="0"/>
              </a:rPr>
              <a:t>|</a:t>
            </a:r>
            <a:r>
              <a:rPr lang="en-US" sz="2000" dirty="0">
                <a:solidFill>
                  <a:schemeClr val="bg1"/>
                </a:solidFill>
                <a:latin typeface="Courier New" panose="02070309020205020404" pitchFamily="49" charset="0"/>
                <a:cs typeface="Courier New" panose="02070309020205020404" pitchFamily="49" charset="0"/>
              </a:rPr>
              <a:t> 18 +  2 = 20 </a:t>
            </a:r>
            <a:r>
              <a:rPr lang="en-US" sz="2000" b="1" dirty="0">
                <a:solidFill>
                  <a:schemeClr val="bg1"/>
                </a:solidFill>
                <a:latin typeface="Courier New" panose="02070309020205020404" pitchFamily="49" charset="0"/>
                <a:cs typeface="Courier New" panose="02070309020205020404" pitchFamily="49" charset="0"/>
              </a:rPr>
              <a:t>| </a:t>
            </a:r>
            <a:r>
              <a:rPr lang="en-US" sz="2000" dirty="0">
                <a:solidFill>
                  <a:schemeClr val="bg1"/>
                </a:solidFill>
                <a:latin typeface="Courier New" panose="02070309020205020404" pitchFamily="49" charset="0"/>
                <a:cs typeface="Courier New" panose="02070309020205020404" pitchFamily="49" charset="0"/>
              </a:rPr>
              <a:t>10 +  3 = 13</a:t>
            </a:r>
          </a:p>
          <a:p>
            <a:endParaRPr lang="en-US" sz="2000" dirty="0">
              <a:solidFill>
                <a:schemeClr val="bg1"/>
              </a:solidFill>
              <a:latin typeface="Courier New" panose="02070309020205020404" pitchFamily="49" charset="0"/>
              <a:cs typeface="Courier New" panose="02070309020205020404" pitchFamily="49" charset="0"/>
            </a:endParaRPr>
          </a:p>
          <a:p>
            <a:r>
              <a:rPr lang="en-US" sz="2000" b="1" dirty="0">
                <a:solidFill>
                  <a:srgbClr val="0000FF"/>
                </a:solidFill>
                <a:latin typeface="Cooper Black" panose="0208090404030B020404" pitchFamily="18" charset="0"/>
                <a:cs typeface="Courier New" panose="02070309020205020404" pitchFamily="49" charset="0"/>
              </a:rPr>
              <a:t>PHASE 2 </a:t>
            </a:r>
            <a:r>
              <a:rPr lang="en-US" sz="2000" dirty="0">
                <a:solidFill>
                  <a:schemeClr val="bg1"/>
                </a:solidFill>
                <a:latin typeface="Courier New" panose="02070309020205020404" pitchFamily="49" charset="0"/>
                <a:cs typeface="Courier New" panose="02070309020205020404" pitchFamily="49" charset="0"/>
              </a:rPr>
              <a:t>A “master processor” adds the 3 results 13 + 20 + 13 = </a:t>
            </a:r>
            <a:r>
              <a:rPr lang="en-US" sz="2000" b="1" dirty="0">
                <a:solidFill>
                  <a:schemeClr val="bg1"/>
                </a:solidFill>
                <a:latin typeface="Courier New" panose="02070309020205020404" pitchFamily="49" charset="0"/>
                <a:cs typeface="Courier New" panose="02070309020205020404" pitchFamily="49" charset="0"/>
              </a:rPr>
              <a:t>46</a:t>
            </a:r>
          </a:p>
          <a:p>
            <a:endParaRPr lang="en-US" sz="2000" dirty="0">
              <a:solidFill>
                <a:schemeClr val="bg1"/>
              </a:solidFill>
              <a:latin typeface="Courier New" panose="02070309020205020404" pitchFamily="49" charset="0"/>
              <a:cs typeface="Courier New" panose="02070309020205020404" pitchFamily="49" charset="0"/>
            </a:endParaRPr>
          </a:p>
          <a:p>
            <a:r>
              <a:rPr lang="en-US" sz="2000" dirty="0">
                <a:solidFill>
                  <a:schemeClr val="bg1"/>
                </a:solidFill>
                <a:cs typeface="Courier New" panose="02070309020205020404" pitchFamily="49" charset="0"/>
              </a:rPr>
              <a:t>If each operation takes 1 millisecond, this would take </a:t>
            </a:r>
            <a:br>
              <a:rPr lang="en-US" sz="2000" dirty="0">
                <a:solidFill>
                  <a:schemeClr val="bg1"/>
                </a:solidFill>
                <a:cs typeface="Courier New" panose="02070309020205020404" pitchFamily="49" charset="0"/>
              </a:rPr>
            </a:br>
            <a:r>
              <a:rPr lang="en-US" sz="2000" b="1" dirty="0">
                <a:solidFill>
                  <a:srgbClr val="0000FF"/>
                </a:solidFill>
                <a:cs typeface="Courier New" panose="02070309020205020404" pitchFamily="49" charset="0"/>
              </a:rPr>
              <a:t>4 milliseconds</a:t>
            </a:r>
            <a:r>
              <a:rPr lang="en-US" sz="2000" dirty="0">
                <a:solidFill>
                  <a:srgbClr val="0000FF"/>
                </a:solidFill>
                <a:cs typeface="Courier New" panose="02070309020205020404" pitchFamily="49" charset="0"/>
              </a:rPr>
              <a:t> </a:t>
            </a:r>
            <a:r>
              <a:rPr lang="en-US" sz="2000" dirty="0">
                <a:solidFill>
                  <a:schemeClr val="bg1"/>
                </a:solidFill>
                <a:cs typeface="Courier New" panose="02070309020205020404" pitchFamily="49" charset="0"/>
              </a:rPr>
              <a:t>total (instead of 13)</a:t>
            </a:r>
          </a:p>
        </p:txBody>
      </p:sp>
      <p:cxnSp>
        <p:nvCxnSpPr>
          <p:cNvPr id="6" name="Straight Connector 5">
            <a:extLst>
              <a:ext uri="{FF2B5EF4-FFF2-40B4-BE49-F238E27FC236}">
                <a16:creationId xmlns:a16="http://schemas.microsoft.com/office/drawing/2014/main" id="{E265B10C-1DD2-2BE6-FB7C-83FD2A1B8709}"/>
              </a:ext>
              <a:ext uri="{C183D7F6-B498-43B3-948B-1728B52AA6E4}">
                <adec:decorative xmlns:adec="http://schemas.microsoft.com/office/drawing/2017/decorative" val="1"/>
              </a:ext>
            </a:extLst>
          </p:cNvPr>
          <p:cNvCxnSpPr>
            <a:cxnSpLocks/>
          </p:cNvCxnSpPr>
          <p:nvPr/>
        </p:nvCxnSpPr>
        <p:spPr>
          <a:xfrm>
            <a:off x="7315200" y="3886200"/>
            <a:ext cx="0" cy="838200"/>
          </a:xfrm>
          <a:prstGeom prst="line">
            <a:avLst/>
          </a:prstGeom>
          <a:ln w="57150"/>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3D295AEE-8D35-ABA7-03FF-314DD4997EF1}"/>
              </a:ext>
              <a:ext uri="{C183D7F6-B498-43B3-948B-1728B52AA6E4}">
                <adec:decorative xmlns:adec="http://schemas.microsoft.com/office/drawing/2017/decorative" val="1"/>
              </a:ext>
            </a:extLst>
          </p:cNvPr>
          <p:cNvCxnSpPr>
            <a:cxnSpLocks/>
          </p:cNvCxnSpPr>
          <p:nvPr/>
        </p:nvCxnSpPr>
        <p:spPr>
          <a:xfrm>
            <a:off x="9601200" y="3886200"/>
            <a:ext cx="0" cy="838200"/>
          </a:xfrm>
          <a:prstGeom prst="line">
            <a:avLst/>
          </a:prstGeom>
          <a:ln w="57150"/>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9E498112-D9F8-FDD1-3C87-73568C710B1E}"/>
              </a:ext>
              <a:ext uri="{C183D7F6-B498-43B3-948B-1728B52AA6E4}">
                <adec:decorative xmlns:adec="http://schemas.microsoft.com/office/drawing/2017/decorative" val="1"/>
              </a:ext>
            </a:extLst>
          </p:cNvPr>
          <p:cNvCxnSpPr>
            <a:cxnSpLocks/>
          </p:cNvCxnSpPr>
          <p:nvPr/>
        </p:nvCxnSpPr>
        <p:spPr>
          <a:xfrm>
            <a:off x="4572000" y="1521460"/>
            <a:ext cx="0" cy="528320"/>
          </a:xfrm>
          <a:prstGeom prst="line">
            <a:avLst/>
          </a:prstGeom>
          <a:ln w="5715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78FC6137-4715-1BCE-76F1-313F131C7541}"/>
              </a:ext>
              <a:ext uri="{C183D7F6-B498-43B3-948B-1728B52AA6E4}">
                <adec:decorative xmlns:adec="http://schemas.microsoft.com/office/drawing/2017/decorative" val="1"/>
              </a:ext>
            </a:extLst>
          </p:cNvPr>
          <p:cNvCxnSpPr>
            <a:cxnSpLocks/>
          </p:cNvCxnSpPr>
          <p:nvPr/>
        </p:nvCxnSpPr>
        <p:spPr>
          <a:xfrm>
            <a:off x="7620000" y="1533525"/>
            <a:ext cx="0" cy="52832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64025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Data Parallelism Terminology</a:t>
            </a:r>
          </a:p>
        </p:txBody>
      </p:sp>
      <p:pic>
        <p:nvPicPr>
          <p:cNvPr id="10" name="Content Placeholder 9">
            <a:extLst>
              <a:ext uri="{FF2B5EF4-FFF2-40B4-BE49-F238E27FC236}">
                <a16:creationId xmlns:a16="http://schemas.microsoft.com/office/drawing/2014/main" id="{66A38755-892E-F298-3DDB-9344FA31AD0F}"/>
              </a:ext>
              <a:ext uri="{C183D7F6-B498-43B3-948B-1728B52AA6E4}">
                <adec:decorative xmlns:adec="http://schemas.microsoft.com/office/drawing/2017/decorative" val="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1000" y="1576267"/>
            <a:ext cx="7772400" cy="4976933"/>
          </a:xfrm>
          <a:prstGeom prst="rect">
            <a:avLst/>
          </a:prstGeom>
          <a:noFill/>
          <a:ln>
            <a:noFill/>
          </a:ln>
        </p:spPr>
      </p:pic>
      <p:sp>
        <p:nvSpPr>
          <p:cNvPr id="12" name="TextBox 11">
            <a:extLst>
              <a:ext uri="{FF2B5EF4-FFF2-40B4-BE49-F238E27FC236}">
                <a16:creationId xmlns:a16="http://schemas.microsoft.com/office/drawing/2014/main" id="{04B8B4AE-F7B6-E126-7B69-E7F0986D01A3}"/>
              </a:ext>
            </a:extLst>
          </p:cNvPr>
          <p:cNvSpPr txBox="1"/>
          <p:nvPr/>
        </p:nvSpPr>
        <p:spPr>
          <a:xfrm>
            <a:off x="8305800" y="1552959"/>
            <a:ext cx="3657600" cy="5232202"/>
          </a:xfrm>
          <a:prstGeom prst="rect">
            <a:avLst/>
          </a:prstGeom>
          <a:noFill/>
        </p:spPr>
        <p:txBody>
          <a:bodyPr wrap="square" rtlCol="0">
            <a:spAutoFit/>
          </a:bodyPr>
          <a:lstStyle/>
          <a:p>
            <a:r>
              <a:rPr lang="en-US" sz="2000" dirty="0">
                <a:solidFill>
                  <a:schemeClr val="bg1"/>
                </a:solidFill>
              </a:rPr>
              <a:t>The overall </a:t>
            </a:r>
            <a:r>
              <a:rPr lang="en-US" sz="2000" b="1" dirty="0">
                <a:solidFill>
                  <a:schemeClr val="bg1"/>
                </a:solidFill>
              </a:rPr>
              <a:t>total</a:t>
            </a:r>
            <a:r>
              <a:rPr lang="en-US" sz="2000" dirty="0">
                <a:solidFill>
                  <a:schemeClr val="bg1"/>
                </a:solidFill>
              </a:rPr>
              <a:t> (calculated in </a:t>
            </a:r>
            <a:r>
              <a:rPr lang="en-US" sz="2000" b="1" dirty="0">
                <a:solidFill>
                  <a:schemeClr val="bg1"/>
                </a:solidFill>
              </a:rPr>
              <a:t>phase 2 </a:t>
            </a:r>
            <a:r>
              <a:rPr lang="en-US" sz="2000" dirty="0">
                <a:solidFill>
                  <a:schemeClr val="bg1"/>
                </a:solidFill>
              </a:rPr>
              <a:t>in the image on the left) cannot be computed before the completion of computing the local sum by the individual processor. This is called </a:t>
            </a:r>
            <a:r>
              <a:rPr lang="en-US" sz="2000" b="1" dirty="0">
                <a:solidFill>
                  <a:srgbClr val="FF0000"/>
                </a:solidFill>
              </a:rPr>
              <a:t>sequential dependency</a:t>
            </a:r>
            <a:r>
              <a:rPr lang="en-US" sz="2000" dirty="0">
                <a:solidFill>
                  <a:schemeClr val="bg1"/>
                </a:solidFill>
              </a:rPr>
              <a:t>.</a:t>
            </a:r>
          </a:p>
          <a:p>
            <a:endParaRPr lang="en-US" sz="2000" dirty="0">
              <a:solidFill>
                <a:schemeClr val="bg1"/>
              </a:solidFill>
            </a:endParaRPr>
          </a:p>
          <a:p>
            <a:r>
              <a:rPr lang="en-US" sz="2000" dirty="0">
                <a:solidFill>
                  <a:schemeClr val="bg1"/>
                </a:solidFill>
              </a:rPr>
              <a:t>The different processors in </a:t>
            </a:r>
            <a:r>
              <a:rPr lang="en-US" sz="2000" b="1" dirty="0">
                <a:solidFill>
                  <a:schemeClr val="bg1"/>
                </a:solidFill>
              </a:rPr>
              <a:t>phase 1</a:t>
            </a:r>
            <a:r>
              <a:rPr lang="en-US" sz="2000" dirty="0">
                <a:solidFill>
                  <a:schemeClr val="bg1"/>
                </a:solidFill>
              </a:rPr>
              <a:t> are doing the same computation, but on different pieces of data. This is called </a:t>
            </a:r>
            <a:r>
              <a:rPr lang="en-US" sz="2000" b="1" dirty="0">
                <a:solidFill>
                  <a:srgbClr val="FF0000"/>
                </a:solidFill>
              </a:rPr>
              <a:t>data parallel</a:t>
            </a:r>
            <a:r>
              <a:rPr lang="en-US" sz="2000" dirty="0">
                <a:solidFill>
                  <a:schemeClr val="bg1"/>
                </a:solidFill>
              </a:rPr>
              <a:t>.</a:t>
            </a:r>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sz="1000" b="1" dirty="0">
                <a:solidFill>
                  <a:schemeClr val="bg1"/>
                </a:solidFill>
              </a:rPr>
              <a:t>[Image taken from </a:t>
            </a:r>
            <a:r>
              <a:rPr lang="en-US" sz="1000" b="1" dirty="0">
                <a:solidFill>
                  <a:schemeClr val="bg1"/>
                </a:solidFill>
                <a:hlinkClick r:id="rId4"/>
              </a:rPr>
              <a:t>https://www.csc.tntech.edu/pdcincs/index.php/ipdc-modules/</a:t>
            </a:r>
            <a:r>
              <a:rPr lang="en-US" sz="1000" b="1" dirty="0">
                <a:solidFill>
                  <a:schemeClr val="bg1"/>
                </a:solidFill>
              </a:rPr>
              <a:t>] </a:t>
            </a:r>
          </a:p>
        </p:txBody>
      </p:sp>
    </p:spTree>
    <p:extLst>
      <p:ext uri="{BB962C8B-B14F-4D97-AF65-F5344CB8AC3E}">
        <p14:creationId xmlns:p14="http://schemas.microsoft.com/office/powerpoint/2010/main" val="19329379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When Use Data Parallelism?</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365760" lvl="1" indent="0">
              <a:buNone/>
            </a:pPr>
            <a:r>
              <a:rPr lang="en-US" altLang="en-US" sz="2600" b="1" dirty="0">
                <a:solidFill>
                  <a:schemeClr val="bg1"/>
                </a:solidFill>
                <a:cs typeface="Courier New" panose="02070309020205020404" pitchFamily="49" charset="0"/>
              </a:rPr>
              <a:t>What algorithms can take advantage of data parallelism?</a:t>
            </a:r>
          </a:p>
          <a:p>
            <a:pPr marL="1143000" lvl="2" indent="-457200">
              <a:buClr>
                <a:schemeClr val="bg1"/>
              </a:buClr>
              <a:buFont typeface="+mj-lt"/>
              <a:buAutoNum type="arabicPeriod"/>
            </a:pPr>
            <a:r>
              <a:rPr lang="en-US" altLang="en-US" sz="2400" dirty="0">
                <a:solidFill>
                  <a:schemeClr val="bg1"/>
                </a:solidFill>
                <a:cs typeface="Courier New" panose="02070309020205020404" pitchFamily="49" charset="0"/>
              </a:rPr>
              <a:t>Algorithms on arrays, vectors, or matrix</a:t>
            </a:r>
          </a:p>
          <a:p>
            <a:pPr marL="1143000" lvl="2" indent="-457200">
              <a:buClr>
                <a:schemeClr val="bg1"/>
              </a:buClr>
              <a:buFont typeface="+mj-lt"/>
              <a:buAutoNum type="arabicPeriod"/>
            </a:pPr>
            <a:r>
              <a:rPr lang="en-US" altLang="en-US" sz="2400" dirty="0">
                <a:solidFill>
                  <a:schemeClr val="bg1"/>
                </a:solidFill>
                <a:cs typeface="Courier New" panose="02070309020205020404" pitchFamily="49" charset="0"/>
              </a:rPr>
              <a:t>When data of one element doesn’t depend on the value of another element.</a:t>
            </a:r>
            <a:br>
              <a:rPr lang="en-US" altLang="en-US" sz="2400" dirty="0">
                <a:solidFill>
                  <a:schemeClr val="bg1"/>
                </a:solidFill>
                <a:cs typeface="Courier New" panose="02070309020205020404" pitchFamily="49" charset="0"/>
              </a:rPr>
            </a:br>
            <a:endParaRPr lang="en-US" altLang="en-US" sz="2400" dirty="0">
              <a:solidFill>
                <a:schemeClr val="bg1"/>
              </a:solidFill>
              <a:cs typeface="Courier New" panose="02070309020205020404" pitchFamily="49" charset="0"/>
            </a:endParaRPr>
          </a:p>
          <a:p>
            <a:pPr marL="365760" lvl="1" indent="0">
              <a:buNone/>
            </a:pPr>
            <a:r>
              <a:rPr lang="en-US" altLang="en-US" sz="2600" b="1" dirty="0">
                <a:solidFill>
                  <a:schemeClr val="bg1"/>
                </a:solidFill>
                <a:cs typeface="Courier New" panose="02070309020205020404" pitchFamily="49" charset="0"/>
              </a:rPr>
              <a:t>What is an example algorithm where data parallelism wouldn’t help?</a:t>
            </a:r>
          </a:p>
          <a:p>
            <a:pPr marL="365760" lvl="1" indent="0">
              <a:buNone/>
            </a:pPr>
            <a:r>
              <a:rPr lang="en-US" altLang="en-US" sz="2400" dirty="0">
                <a:solidFill>
                  <a:schemeClr val="bg1"/>
                </a:solidFill>
                <a:cs typeface="Courier New" panose="02070309020205020404" pitchFamily="49" charset="0"/>
              </a:rPr>
              <a:t>Fibonacci sequence - a sequence that follows the rule that each number is equal to the sum of the preceding two numbers. </a:t>
            </a:r>
            <a:br>
              <a:rPr lang="en-US" altLang="en-US" sz="2400" dirty="0">
                <a:solidFill>
                  <a:schemeClr val="bg1"/>
                </a:solidFill>
                <a:cs typeface="Courier New" panose="02070309020205020404" pitchFamily="49" charset="0"/>
              </a:rPr>
            </a:br>
            <a:r>
              <a:rPr lang="en-US" altLang="en-US" sz="2400" dirty="0">
                <a:solidFill>
                  <a:schemeClr val="bg1"/>
                </a:solidFill>
                <a:cs typeface="Courier New" panose="02070309020205020404" pitchFamily="49" charset="0"/>
              </a:rPr>
              <a:t>0, 1, 1, 2, 3, 5, 8, 13, 21……</a:t>
            </a:r>
          </a:p>
          <a:p>
            <a:pPr marL="365760" lvl="1" indent="0">
              <a:buNone/>
            </a:pPr>
            <a:endParaRPr lang="en-US" altLang="en-US" sz="2400" dirty="0">
              <a:solidFill>
                <a:schemeClr val="bg1"/>
              </a:solidFill>
              <a:cs typeface="Courier New" panose="02070309020205020404" pitchFamily="49" charset="0"/>
            </a:endParaRPr>
          </a:p>
          <a:p>
            <a:pPr marL="365760" lvl="1" indent="0">
              <a:buNone/>
            </a:pPr>
            <a:r>
              <a:rPr lang="en-US" altLang="en-US" sz="2400" dirty="0">
                <a:solidFill>
                  <a:schemeClr val="bg1"/>
                </a:solidFill>
                <a:cs typeface="Courier New" panose="02070309020205020404" pitchFamily="49" charset="0"/>
              </a:rPr>
              <a:t>Although the Fibonacci sequence algorithm uses an array or vector to store a sequence of numbers, this wouldn’t be a good algorithm because data values depend on other values in the sequence.</a:t>
            </a:r>
          </a:p>
          <a:p>
            <a:pPr lvl="2"/>
            <a:endParaRPr lang="en-US" altLang="en-US" sz="2400" dirty="0">
              <a:solidFill>
                <a:schemeClr val="bg1"/>
              </a:solidFill>
              <a:cs typeface="Courier New" panose="02070309020205020404" pitchFamily="49" charset="0"/>
            </a:endParaRPr>
          </a:p>
        </p:txBody>
      </p:sp>
    </p:spTree>
    <p:extLst>
      <p:ext uri="{BB962C8B-B14F-4D97-AF65-F5344CB8AC3E}">
        <p14:creationId xmlns:p14="http://schemas.microsoft.com/office/powerpoint/2010/main" val="1826786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381000" y="304800"/>
            <a:ext cx="11582400" cy="1143000"/>
          </a:xfrm>
          <a:solidFill>
            <a:srgbClr val="FFDD00"/>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lgn="ctr"/>
            <a:r>
              <a:rPr lang="en-US" b="1" dirty="0">
                <a:solidFill>
                  <a:srgbClr val="4F2984"/>
                </a:solidFill>
                <a:latin typeface="Amasis MT Pro Black" panose="02040A04050005020304" pitchFamily="18" charset="0"/>
              </a:rPr>
              <a:t>Data Parallelism in C++</a:t>
            </a:r>
            <a:endParaRPr b="1" dirty="0">
              <a:solidFill>
                <a:srgbClr val="4F2984"/>
              </a:solidFill>
              <a:latin typeface="Amasis MT Pro Black" panose="02040A04050005020304" pitchFamily="18" charset="0"/>
            </a:endParaRPr>
          </a:p>
        </p:txBody>
      </p:sp>
      <p:sp>
        <p:nvSpPr>
          <p:cNvPr id="4" name="Content Placeholder 3">
            <a:extLst>
              <a:ext uri="{FF2B5EF4-FFF2-40B4-BE49-F238E27FC236}">
                <a16:creationId xmlns:a16="http://schemas.microsoft.com/office/drawing/2014/main" id="{467132A2-588D-101C-620C-F52D34EC42E1}"/>
              </a:ext>
            </a:extLst>
          </p:cNvPr>
          <p:cNvSpPr>
            <a:spLocks noGrp="1"/>
          </p:cNvSpPr>
          <p:nvPr>
            <p:ph idx="1"/>
          </p:nvPr>
        </p:nvSpPr>
        <p:spPr>
          <a:xfrm>
            <a:off x="381000" y="1600200"/>
            <a:ext cx="11582400" cy="5079374"/>
          </a:xfrm>
        </p:spPr>
        <p:txBody>
          <a:bodyPr>
            <a:normAutofit/>
          </a:bodyPr>
          <a:lstStyle/>
          <a:p>
            <a:pPr marL="365760" lvl="1" indent="0">
              <a:buNone/>
            </a:pPr>
            <a:r>
              <a:rPr lang="en-US" altLang="en-US" sz="2600" dirty="0">
                <a:solidFill>
                  <a:schemeClr val="bg1"/>
                </a:solidFill>
                <a:cs typeface="Courier New" panose="02070309020205020404" pitchFamily="49" charset="0"/>
              </a:rPr>
              <a:t>There are two primary options (depending on your development environment) for writing parallel algorithms to accomplish data parallelism in your C++ code.</a:t>
            </a:r>
          </a:p>
          <a:p>
            <a:pPr lvl="1"/>
            <a:r>
              <a:rPr lang="en-US" altLang="en-US" sz="2600" dirty="0">
                <a:solidFill>
                  <a:schemeClr val="bg1"/>
                </a:solidFill>
                <a:cs typeface="Courier New" panose="02070309020205020404" pitchFamily="49" charset="0"/>
              </a:rPr>
              <a:t> If you are using Microsoft </a:t>
            </a:r>
            <a:r>
              <a:rPr lang="en-US" altLang="en-US" sz="2600" b="1" dirty="0">
                <a:solidFill>
                  <a:schemeClr val="bg1"/>
                </a:solidFill>
                <a:cs typeface="Courier New" panose="02070309020205020404" pitchFamily="49" charset="0"/>
              </a:rPr>
              <a:t>Visual Studio 2022 </a:t>
            </a:r>
            <a:r>
              <a:rPr lang="en-US" altLang="en-US" sz="2600" dirty="0">
                <a:solidFill>
                  <a:schemeClr val="bg1"/>
                </a:solidFill>
                <a:cs typeface="Courier New" panose="02070309020205020404" pitchFamily="49" charset="0"/>
              </a:rPr>
              <a:t>(not Visual Studio Code [VSCode]), then you can take advantage of the </a:t>
            </a:r>
            <a:r>
              <a:rPr lang="en-US" altLang="en-US" sz="2600" b="1" dirty="0">
                <a:solidFill>
                  <a:schemeClr val="bg1"/>
                </a:solidFill>
                <a:cs typeface="Courier New" panose="02070309020205020404" pitchFamily="49" charset="0"/>
              </a:rPr>
              <a:t>C++ 17 parallel algorithms</a:t>
            </a:r>
            <a:r>
              <a:rPr lang="en-US" altLang="en-US" sz="2600" dirty="0">
                <a:solidFill>
                  <a:schemeClr val="bg1"/>
                </a:solidFill>
                <a:cs typeface="Courier New" panose="02070309020205020404" pitchFamily="49" charset="0"/>
              </a:rPr>
              <a:t>: </a:t>
            </a:r>
            <a:r>
              <a:rPr lang="en-US" altLang="en-US" sz="2600" dirty="0">
                <a:solidFill>
                  <a:srgbClr val="0070C0"/>
                </a:solidFill>
                <a:cs typeface="Courier New" panose="02070309020205020404" pitchFamily="49" charset="0"/>
                <a:hlinkClick r:id="rId3">
                  <a:extLst>
                    <a:ext uri="{A12FA001-AC4F-418D-AE19-62706E023703}">
                      <ahyp:hlinkClr xmlns:ahyp="http://schemas.microsoft.com/office/drawing/2018/hyperlinkcolor" val="tx"/>
                    </a:ext>
                  </a:extLst>
                </a:hlinkClick>
              </a:rPr>
              <a:t>https://devblogs.microsoft.com/cppblog/using-c17-parallel-algorithms-for-better-performance/</a:t>
            </a:r>
            <a:r>
              <a:rPr lang="en-US" altLang="en-US" sz="2600" dirty="0">
                <a:solidFill>
                  <a:srgbClr val="0070C0"/>
                </a:solidFill>
                <a:cs typeface="Courier New" panose="02070309020205020404" pitchFamily="49" charset="0"/>
              </a:rPr>
              <a:t> </a:t>
            </a:r>
            <a:r>
              <a:rPr lang="en-US" altLang="en-US" sz="2600" dirty="0">
                <a:solidFill>
                  <a:schemeClr val="bg1"/>
                </a:solidFill>
                <a:cs typeface="Courier New" panose="02070309020205020404" pitchFamily="49" charset="0"/>
              </a:rPr>
              <a:t>such as </a:t>
            </a:r>
            <a:r>
              <a:rPr lang="en-US" altLang="en-US" sz="2600" dirty="0" err="1">
                <a:solidFill>
                  <a:schemeClr val="bg1"/>
                </a:solidFill>
                <a:cs typeface="Courier New" panose="02070309020205020404" pitchFamily="49" charset="0"/>
              </a:rPr>
              <a:t>for_each</a:t>
            </a:r>
            <a:r>
              <a:rPr lang="en-US" altLang="en-US" sz="2600" dirty="0">
                <a:solidFill>
                  <a:schemeClr val="bg1"/>
                </a:solidFill>
                <a:cs typeface="Courier New" panose="02070309020205020404" pitchFamily="49" charset="0"/>
              </a:rPr>
              <a:t> and use the parallel execution policy.</a:t>
            </a:r>
          </a:p>
          <a:p>
            <a:pPr lvl="1"/>
            <a:r>
              <a:rPr lang="en-US" altLang="en-US" sz="2600" dirty="0">
                <a:solidFill>
                  <a:schemeClr val="bg1"/>
                </a:solidFill>
                <a:cs typeface="Courier New" panose="02070309020205020404" pitchFamily="49" charset="0"/>
              </a:rPr>
              <a:t>Otherwise, there is an excellent, widely used API for parallel programming in C++ called </a:t>
            </a:r>
            <a:r>
              <a:rPr lang="en-US" altLang="en-US" sz="2600" b="1" dirty="0">
                <a:solidFill>
                  <a:srgbClr val="0000FF"/>
                </a:solidFill>
                <a:cs typeface="Courier New" panose="02070309020205020404" pitchFamily="49" charset="0"/>
              </a:rPr>
              <a:t>OpenMP</a:t>
            </a:r>
            <a:r>
              <a:rPr lang="en-US" altLang="en-US" sz="2600" dirty="0">
                <a:solidFill>
                  <a:schemeClr val="bg1"/>
                </a:solidFill>
                <a:cs typeface="Courier New" panose="02070309020205020404" pitchFamily="49" charset="0"/>
              </a:rPr>
              <a:t>: </a:t>
            </a:r>
          </a:p>
          <a:p>
            <a:pPr lvl="2"/>
            <a:r>
              <a:rPr lang="en-US" altLang="en-US" sz="2400" dirty="0">
                <a:solidFill>
                  <a:srgbClr val="0070C0"/>
                </a:solidFill>
                <a:cs typeface="Courier New" panose="02070309020205020404" pitchFamily="49" charset="0"/>
                <a:hlinkClick r:id="rId4">
                  <a:extLst>
                    <a:ext uri="{A12FA001-AC4F-418D-AE19-62706E023703}">
                      <ahyp:hlinkClr xmlns:ahyp="http://schemas.microsoft.com/office/drawing/2018/hyperlinkcolor" val="tx"/>
                    </a:ext>
                  </a:extLst>
                </a:hlinkClick>
              </a:rPr>
              <a:t>https://www.openmp.org/</a:t>
            </a:r>
          </a:p>
          <a:p>
            <a:pPr lvl="2"/>
            <a:r>
              <a:rPr lang="en-US" altLang="en-US" sz="2400" dirty="0">
                <a:solidFill>
                  <a:srgbClr val="0070C0"/>
                </a:solidFill>
                <a:cs typeface="Courier New" panose="02070309020205020404" pitchFamily="49" charset="0"/>
                <a:hlinkClick r:id="rId4">
                  <a:extLst>
                    <a:ext uri="{A12FA001-AC4F-418D-AE19-62706E023703}">
                      <ahyp:hlinkClr xmlns:ahyp="http://schemas.microsoft.com/office/drawing/2018/hyperlinkcolor" val="tx"/>
                    </a:ext>
                  </a:extLst>
                </a:hlinkClick>
              </a:rPr>
              <a:t>https://www.geeksforgeeks.org/introduction-to-parallel-programming-with-openmp-in-cpp/#</a:t>
            </a:r>
            <a:r>
              <a:rPr lang="en-US" altLang="en-US" sz="2400" dirty="0">
                <a:solidFill>
                  <a:srgbClr val="0070C0"/>
                </a:solidFill>
                <a:cs typeface="Courier New" panose="02070309020205020404" pitchFamily="49" charset="0"/>
              </a:rPr>
              <a:t> </a:t>
            </a:r>
          </a:p>
        </p:txBody>
      </p:sp>
    </p:spTree>
    <p:extLst>
      <p:ext uri="{BB962C8B-B14F-4D97-AF65-F5344CB8AC3E}">
        <p14:creationId xmlns:p14="http://schemas.microsoft.com/office/powerpoint/2010/main" val="34690762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1C5F79"/>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82E455-4439-C897-8581-298FD0F11136}"/>
              </a:ext>
            </a:extLst>
          </p:cNvPr>
          <p:cNvSpPr>
            <a:spLocks noGrp="1"/>
          </p:cNvSpPr>
          <p:nvPr>
            <p:ph type="title" idx="4294967295"/>
          </p:nvPr>
        </p:nvSpPr>
        <p:spPr>
          <a:xfrm rot="20399456">
            <a:off x="7437837" y="2438701"/>
            <a:ext cx="3972124" cy="230832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w="22225">
                  <a:solidFill>
                    <a:schemeClr val="accent5">
                      <a:lumMod val="40000"/>
                      <a:lumOff val="60000"/>
                    </a:schemeClr>
                  </a:solidFill>
                  <a:prstDash val="solid"/>
                </a:ln>
                <a:solidFill>
                  <a:schemeClr val="accent5">
                    <a:lumMod val="20000"/>
                    <a:lumOff val="80000"/>
                  </a:schemeClr>
                </a:solidFill>
                <a:effectLst/>
                <a:uLnTx/>
                <a:uFillTx/>
                <a:latin typeface="+mn-lt"/>
                <a:ea typeface="+mn-ea"/>
                <a:cs typeface="+mn-cs"/>
              </a:rPr>
              <a:t>END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w="22225">
                  <a:solidFill>
                    <a:schemeClr val="accent5">
                      <a:lumMod val="40000"/>
                      <a:lumOff val="60000"/>
                    </a:schemeClr>
                  </a:solidFill>
                  <a:prstDash val="solid"/>
                </a:ln>
                <a:solidFill>
                  <a:schemeClr val="accent5">
                    <a:lumMod val="20000"/>
                    <a:lumOff val="80000"/>
                  </a:schemeClr>
                </a:solidFill>
                <a:effectLst/>
                <a:uLnTx/>
                <a:uFillTx/>
                <a:latin typeface="+mn-lt"/>
                <a:ea typeface="+mn-ea"/>
                <a:cs typeface="+mn-cs"/>
              </a:rPr>
              <a:t>Module 8</a:t>
            </a:r>
          </a:p>
        </p:txBody>
      </p:sp>
      <p:pic>
        <p:nvPicPr>
          <p:cNvPr id="5" name="Picture 4" descr="A squirrel riding a pig">
            <a:extLst>
              <a:ext uri="{FF2B5EF4-FFF2-40B4-BE49-F238E27FC236}">
                <a16:creationId xmlns:a16="http://schemas.microsoft.com/office/drawing/2014/main" id="{E550E181-A1A6-07F0-569A-4F3609B31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84"/>
            <a:ext cx="6858000" cy="6858000"/>
          </a:xfrm>
          <a:prstGeom prst="rect">
            <a:avLst/>
          </a:prstGeom>
        </p:spPr>
      </p:pic>
    </p:spTree>
    <p:extLst>
      <p:ext uri="{BB962C8B-B14F-4D97-AF65-F5344CB8AC3E}">
        <p14:creationId xmlns:p14="http://schemas.microsoft.com/office/powerpoint/2010/main" val="4064702798"/>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SLIDES_Module 1 Introduction.pptx" id="{B5FD89DB-7F67-4F4B-96B0-D41FA4B05874}" vid="{7A36F394-356C-4D06-A8D0-BA5D68A74538}"/>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d82335c-2c29-423a-8e1d-221b76a59c5a">
      <Terms xmlns="http://schemas.microsoft.com/office/infopath/2007/PartnerControls"/>
    </lcf76f155ced4ddcb4097134ff3c332f>
    <TaxCatchAll xmlns="71a01256-664b-4da4-b4dd-5beed58790e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230C191A4F5C54BAC11196ACFD065C0" ma:contentTypeVersion="12" ma:contentTypeDescription="Create a new document." ma:contentTypeScope="" ma:versionID="92d787d678dd6f3764932783920f5cce">
  <xsd:schema xmlns:xsd="http://www.w3.org/2001/XMLSchema" xmlns:xs="http://www.w3.org/2001/XMLSchema" xmlns:p="http://schemas.microsoft.com/office/2006/metadata/properties" xmlns:ns2="7d82335c-2c29-423a-8e1d-221b76a59c5a" xmlns:ns3="71a01256-664b-4da4-b4dd-5beed58790e5" targetNamespace="http://schemas.microsoft.com/office/2006/metadata/properties" ma:root="true" ma:fieldsID="b835db4a27cac5e0123106fad97b6cee" ns2:_="" ns3:_="">
    <xsd:import namespace="7d82335c-2c29-423a-8e1d-221b76a59c5a"/>
    <xsd:import namespace="71a01256-664b-4da4-b4dd-5beed58790e5"/>
    <xsd:element name="properties">
      <xsd:complexType>
        <xsd:sequence>
          <xsd:element name="documentManagement">
            <xsd:complexType>
              <xsd:all>
                <xsd:element ref="ns2:MediaServiceMetadata" minOccurs="0"/>
                <xsd:element ref="ns2:MediaServiceFastMetadata" minOccurs="0"/>
                <xsd:element ref="ns2:MediaLengthInSecond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82335c-2c29-423a-8e1d-221b76a59c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1ec41815-f866-473a-a3ba-291165dbb83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a01256-664b-4da4-b4dd-5beed58790e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4797d56-e4a9-4631-963f-93f44e72cd01}" ma:internalName="TaxCatchAll" ma:showField="CatchAllData" ma:web="71a01256-664b-4da4-b4dd-5beed58790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866364-902B-4F2A-B5BC-683E9DD7652E}">
  <ds:schemaRefs>
    <ds:schemaRef ds:uri="http://schemas.microsoft.com/office/2006/metadata/properties"/>
    <ds:schemaRef ds:uri="http://schemas.microsoft.com/office/infopath/2007/PartnerControls"/>
    <ds:schemaRef ds:uri="7d82335c-2c29-423a-8e1d-221b76a59c5a"/>
    <ds:schemaRef ds:uri="71a01256-664b-4da4-b4dd-5beed58790e5"/>
  </ds:schemaRefs>
</ds:datastoreItem>
</file>

<file path=customXml/itemProps2.xml><?xml version="1.0" encoding="utf-8"?>
<ds:datastoreItem xmlns:ds="http://schemas.openxmlformats.org/officeDocument/2006/customXml" ds:itemID="{50ECB743-0712-4BF7-B412-DF893B7C91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82335c-2c29-423a-8e1d-221b76a59c5a"/>
    <ds:schemaRef ds:uri="71a01256-664b-4da4-b4dd-5beed58790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878C1C-CF14-4B72-B2AC-80A8BB7369C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1542</TotalTime>
  <Words>7305</Words>
  <Application>Microsoft Office PowerPoint</Application>
  <PresentationFormat>Widescreen</PresentationFormat>
  <Paragraphs>751</Paragraphs>
  <Slides>93</Slides>
  <Notes>76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93</vt:i4>
      </vt:variant>
    </vt:vector>
  </HeadingPairs>
  <TitlesOfParts>
    <vt:vector size="103" baseType="lpstr">
      <vt:lpstr>Amasis MT Pro Black</vt:lpstr>
      <vt:lpstr>Arial</vt:lpstr>
      <vt:lpstr>Berlin Sans FB Demi</vt:lpstr>
      <vt:lpstr>Candara</vt:lpstr>
      <vt:lpstr>Consolas</vt:lpstr>
      <vt:lpstr>Cooper Black</vt:lpstr>
      <vt:lpstr>Courier New</vt:lpstr>
      <vt:lpstr>Times</vt:lpstr>
      <vt:lpstr>Wingdings</vt:lpstr>
      <vt:lpstr>Tech Computer 16x9</vt:lpstr>
      <vt:lpstr>Module 8: Arrays, Vectors, &amp;  Data Parallelism</vt:lpstr>
      <vt:lpstr>What is an Array?</vt:lpstr>
      <vt:lpstr>Array Concept</vt:lpstr>
      <vt:lpstr>Array Declaration</vt:lpstr>
      <vt:lpstr>Array Terminology: Size Declarator</vt:lpstr>
      <vt:lpstr>Size of Array in Memory</vt:lpstr>
      <vt:lpstr>Named Constants as Size Declarators</vt:lpstr>
      <vt:lpstr>Accessing Array Elements with an Index</vt:lpstr>
      <vt:lpstr>Accessing Array Elements with Index Value</vt:lpstr>
      <vt:lpstr>Array Example</vt:lpstr>
      <vt:lpstr>Iterating Through Arrays</vt:lpstr>
      <vt:lpstr>Iterating Through Arrays with For Loop</vt:lpstr>
      <vt:lpstr>Array Example with For Loop</vt:lpstr>
      <vt:lpstr>No Bounds Checking in C++</vt:lpstr>
      <vt:lpstr>Off-By-One Errors</vt:lpstr>
      <vt:lpstr>Iterating Through Array Examples</vt:lpstr>
      <vt:lpstr>Module 8 In-Class Practice 1</vt:lpstr>
      <vt:lpstr>Foreach Loop</vt:lpstr>
      <vt:lpstr>Using auto with Foreach Loop</vt:lpstr>
      <vt:lpstr>Assignment in a Foreach Loop</vt:lpstr>
      <vt:lpstr>Foreach Example</vt:lpstr>
      <vt:lpstr>Common Array Algorithms</vt:lpstr>
      <vt:lpstr>Find Maximum Value Algorithm</vt:lpstr>
      <vt:lpstr>Find Minimum Value Algorithm</vt:lpstr>
      <vt:lpstr>Find Sum of All Elements Algorithm</vt:lpstr>
      <vt:lpstr>Array Examples</vt:lpstr>
      <vt:lpstr>Array Initialization</vt:lpstr>
      <vt:lpstr>Array Initialization with an Initialization List</vt:lpstr>
      <vt:lpstr>Partial Array Initialization</vt:lpstr>
      <vt:lpstr>Implicit Array Sizing</vt:lpstr>
      <vt:lpstr>Array Initialization Examples</vt:lpstr>
      <vt:lpstr>Passing Arrays to Functions</vt:lpstr>
      <vt:lpstr>Arrays are Passed by Reference to Functions</vt:lpstr>
      <vt:lpstr>Passing Array to Function Example, Slide 1 of 3</vt:lpstr>
      <vt:lpstr>Passing Array to Function Example, Slide 2 of 3</vt:lpstr>
      <vt:lpstr>Passing Array to Function Example, Slide 3 of 3</vt:lpstr>
      <vt:lpstr>Passing Arrays to Function Code Example</vt:lpstr>
      <vt:lpstr>Module 8 In-Class Practice 2</vt:lpstr>
      <vt:lpstr>Parallel Arrays</vt:lpstr>
      <vt:lpstr>What are Parallel Arrays?</vt:lpstr>
      <vt:lpstr>Parallel Array Code Example</vt:lpstr>
      <vt:lpstr>Two-Dimensional Arrays</vt:lpstr>
      <vt:lpstr>What are Two-Dimensional Arrays?</vt:lpstr>
      <vt:lpstr>Two-Dimensional Array Declaration</vt:lpstr>
      <vt:lpstr>Assigning a Value in a 2D Array</vt:lpstr>
      <vt:lpstr>Passing Two-Dimensional Arrays to a Function, slide 1 of 3</vt:lpstr>
      <vt:lpstr>Passing Two-Dimensional Arrays to a Function, slide 2 of 3</vt:lpstr>
      <vt:lpstr>Passing Two-Dimensional Arrays to a Function, slide 3 of 3</vt:lpstr>
      <vt:lpstr>2D Array Examples</vt:lpstr>
      <vt:lpstr>Character Arrays (C-Strings)</vt:lpstr>
      <vt:lpstr>Character Array (C-String) Declaration</vt:lpstr>
      <vt:lpstr>Character Arrays (C-Strings) end in a  Null Terminator</vt:lpstr>
      <vt:lpstr>Output a C-String</vt:lpstr>
      <vt:lpstr>Input with C-Strings</vt:lpstr>
      <vt:lpstr>Getline Function for C-Strings</vt:lpstr>
      <vt:lpstr>C-String Examples</vt:lpstr>
      <vt:lpstr>C-String Library Functions</vt:lpstr>
      <vt:lpstr>C-String Library Functions - strlen</vt:lpstr>
      <vt:lpstr>C-String Library Functions - strcmp</vt:lpstr>
      <vt:lpstr>C-String Library Functions - strcpy</vt:lpstr>
      <vt:lpstr>C-String Library Functions - strncpy</vt:lpstr>
      <vt:lpstr>C-String Library Functions - strcat</vt:lpstr>
      <vt:lpstr>C-String Library Functions - strncat</vt:lpstr>
      <vt:lpstr>C-String Library Function Examples</vt:lpstr>
      <vt:lpstr>Module 8 In-Class Practice 3</vt:lpstr>
      <vt:lpstr>Vectors</vt:lpstr>
      <vt:lpstr>Vectors are Similar to Arrays</vt:lpstr>
      <vt:lpstr>Create a Vector</vt:lpstr>
      <vt:lpstr>Access Vector Elements</vt:lpstr>
      <vt:lpstr>Initializing a Vector</vt:lpstr>
      <vt:lpstr>Iterating Through Vectors – For Loop</vt:lpstr>
      <vt:lpstr>Iterating Through Vectors – foreach loop</vt:lpstr>
      <vt:lpstr>Iterating Through Vectors – for_each function</vt:lpstr>
      <vt:lpstr>Example Programs</vt:lpstr>
      <vt:lpstr>Resizing a Vector</vt:lpstr>
      <vt:lpstr>Resizing a Vector Example</vt:lpstr>
      <vt:lpstr>Example Program</vt:lpstr>
      <vt:lpstr>Vector Functions</vt:lpstr>
      <vt:lpstr>Example Program with Vector Functions</vt:lpstr>
      <vt:lpstr>Sort Function in Algorithm Library</vt:lpstr>
      <vt:lpstr>Arrays vs. Vectors</vt:lpstr>
      <vt:lpstr>Advantages in Arrays vs. Vectors</vt:lpstr>
      <vt:lpstr>Data Parallelism</vt:lpstr>
      <vt:lpstr>Parallel Computing – Task &amp; Data Parallelism</vt:lpstr>
      <vt:lpstr>Parallel Computing: Task Parallelism</vt:lpstr>
      <vt:lpstr>Parallel Computing: Data Parallelism</vt:lpstr>
      <vt:lpstr>Data Parallelism Information</vt:lpstr>
      <vt:lpstr>Data Parallelism Example, Slide 1 of 2</vt:lpstr>
      <vt:lpstr>Data Parallelism Example, Slide 2 of 2</vt:lpstr>
      <vt:lpstr>Data Parallelism Terminology</vt:lpstr>
      <vt:lpstr>When Use Data Parallelism?</vt:lpstr>
      <vt:lpstr>Data Parallelism in C++</vt:lpstr>
      <vt:lpstr>END of Module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Crockett, April</dc:creator>
  <cp:lastModifiedBy>Crockett, April</cp:lastModifiedBy>
  <cp:revision>123</cp:revision>
  <dcterms:created xsi:type="dcterms:W3CDTF">2022-06-27T15:30:11Z</dcterms:created>
  <dcterms:modified xsi:type="dcterms:W3CDTF">2026-03-07T23:08:46Z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0x0101005230C191A4F5C54BAC11196ACFD065C0</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
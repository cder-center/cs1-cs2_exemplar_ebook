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3">
  <p:sldMasterIdLst>
    <p:sldMasterId id="2147483677" r:id="rId4"/>
  </p:sldMasterIdLst>
  <p:notesMasterIdLst>
    <p:notesMasterId r:id="rId17"/>
  </p:notesMasterIdLst>
  <p:sldIdLst>
    <p:sldId id="278" r:id="rId5"/>
    <p:sldId id="371" r:id="rId6"/>
    <p:sldId id="372" r:id="rId7"/>
    <p:sldId id="373" r:id="rId8"/>
    <p:sldId id="374" r:id="rId9"/>
    <p:sldId id="375" r:id="rId10"/>
    <p:sldId id="376" r:id="rId11"/>
    <p:sldId id="367" r:id="rId12"/>
    <p:sldId id="340" r:id="rId13"/>
    <p:sldId id="336" r:id="rId14"/>
    <p:sldId id="341" r:id="rId15"/>
    <p:sldId id="293" r:id="rId16"/>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96" y="76"/>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a:t>#2 question should lead to a discussion about load balancing and how the performance of parallel tasks can be uneven if processors work at different speeds.</a:t>
            </a:r>
          </a:p>
          <a:p>
            <a:r>
              <a:rPr lang="en-US"/>
              <a:t>#3 question can encourage students to think about scalability in parallel programs and the potential diminishing returns when adding more workers. </a:t>
            </a:r>
          </a:p>
        </p:txBody>
      </p:sp>
    </p:spTree>
    <p:extLst>
      <p:ext uri="{BB962C8B-B14F-4D97-AF65-F5344CB8AC3E}">
        <p14:creationId xmlns:p14="http://schemas.microsoft.com/office/powerpoint/2010/main" val="3424137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7" name="Freeform: Shape 6">
            <a:extLst>
              <a:ext uri="{FF2B5EF4-FFF2-40B4-BE49-F238E27FC236}">
                <a16:creationId xmlns:a16="http://schemas.microsoft.com/office/drawing/2014/main" id="{55E50C96-8402-DA5F-4AEF-6494DDAA09F4}"/>
              </a:ext>
            </a:extLst>
          </p:cNvPr>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8" name="Freeform: Shape 7">
            <a:extLst>
              <a:ext uri="{FF2B5EF4-FFF2-40B4-BE49-F238E27FC236}">
                <a16:creationId xmlns:a16="http://schemas.microsoft.com/office/drawing/2014/main" id="{D58A71CA-D3E9-462B-12E4-01FF434076D7}"/>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Tree>
    <p:extLst>
      <p:ext uri="{BB962C8B-B14F-4D97-AF65-F5344CB8AC3E}">
        <p14:creationId xmlns:p14="http://schemas.microsoft.com/office/powerpoint/2010/main" val="643235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a:xfrm>
            <a:off x="10951856" y="5867131"/>
            <a:ext cx="551167" cy="365125"/>
          </a:xfrm>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543800358"/>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7" name="Freeform: Shape 6">
            <a:extLst>
              <a:ext uri="{FF2B5EF4-FFF2-40B4-BE49-F238E27FC236}">
                <a16:creationId xmlns:a16="http://schemas.microsoft.com/office/drawing/2014/main" id="{32A809A8-1ACE-F100-1E7F-3A1B94301F9F}"/>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8" name="Freeform: Shape 7">
            <a:extLst>
              <a:ext uri="{FF2B5EF4-FFF2-40B4-BE49-F238E27FC236}">
                <a16:creationId xmlns:a16="http://schemas.microsoft.com/office/drawing/2014/main" id="{953C67E5-B4B7-C410-DEF9-CBF3493CCD18}"/>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9" name="Freeform: Shape 8">
            <a:extLst>
              <a:ext uri="{FF2B5EF4-FFF2-40B4-BE49-F238E27FC236}">
                <a16:creationId xmlns:a16="http://schemas.microsoft.com/office/drawing/2014/main" id="{B1BA6E4B-A0C3-B87D-1A94-96BAE683CF64}"/>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5895A2E2-2668-E241-1772-96C57B0BCBFC}"/>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1" name="Freeform: Shape 10">
            <a:extLst>
              <a:ext uri="{FF2B5EF4-FFF2-40B4-BE49-F238E27FC236}">
                <a16:creationId xmlns:a16="http://schemas.microsoft.com/office/drawing/2014/main" id="{63608BD4-1338-A3C7-9C0A-402646C9EF8B}"/>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D2ADF73E-84C4-392E-507D-0E4390ED611E}"/>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1497887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5/20/2026</a:t>
            </a:fld>
            <a:endParaRPr lang="en-US"/>
          </a:p>
        </p:txBody>
      </p:sp>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08361158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a:p>
        </p:txBody>
      </p:sp>
      <p:sp>
        <p:nvSpPr>
          <p:cNvPr id="10" name="Image 0" descr="preencoded.png">
            <a:extLst>
              <a:ext uri="{FF2B5EF4-FFF2-40B4-BE49-F238E27FC236}">
                <a16:creationId xmlns:a16="http://schemas.microsoft.com/office/drawing/2014/main" id="{0F94930E-C21C-9684-D1B3-77338D2E01E6}"/>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a:p>
        </p:txBody>
      </p:sp>
      <p:pic>
        <p:nvPicPr>
          <p:cNvPr id="11" name="Image 1" descr="preencoded.png">
            <a:extLst>
              <a:ext uri="{FF2B5EF4-FFF2-40B4-BE49-F238E27FC236}">
                <a16:creationId xmlns:a16="http://schemas.microsoft.com/office/drawing/2014/main" id="{2DB70DEC-7866-9A9A-2CFB-06CF70CC4A6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12" name="Image 5" descr="preencoded.png">
            <a:extLst>
              <a:ext uri="{FF2B5EF4-FFF2-40B4-BE49-F238E27FC236}">
                <a16:creationId xmlns:a16="http://schemas.microsoft.com/office/drawing/2014/main" id="{E168525C-B288-948E-90E3-285A8CE83CB6}"/>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a:p>
        </p:txBody>
      </p:sp>
      <p:pic>
        <p:nvPicPr>
          <p:cNvPr id="13" name="Image 6" descr="preencoded.png">
            <a:extLst>
              <a:ext uri="{FF2B5EF4-FFF2-40B4-BE49-F238E27FC236}">
                <a16:creationId xmlns:a16="http://schemas.microsoft.com/office/drawing/2014/main" id="{D100EFC8-4AFF-7539-7B38-4ED8C914BB3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Tree>
    <p:extLst>
      <p:ext uri="{BB962C8B-B14F-4D97-AF65-F5344CB8AC3E}">
        <p14:creationId xmlns:p14="http://schemas.microsoft.com/office/powerpoint/2010/main" val="3545570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5/20/2026</a:t>
            </a:fld>
            <a:endParaRPr lang="en-US"/>
          </a:p>
        </p:txBody>
      </p:sp>
      <p:sp>
        <p:nvSpPr>
          <p:cNvPr id="4" name="Footer Placeholder 3"/>
          <p:cNvSpPr>
            <a:spLocks noGrp="1"/>
          </p:cNvSpPr>
          <p:nvPr>
            <p:ph type="ftr" sz="quarter" idx="11"/>
          </p:nvPr>
        </p:nvSpPr>
        <p:spPr/>
        <p:txBody>
          <a:bodyPr/>
          <a:lstStyle/>
          <a:p>
            <a:r>
              <a:rPr lang="en-US"/>
              <a:t>Presentation title</a:t>
            </a:r>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a:p>
        </p:txBody>
      </p:sp>
      <p:sp>
        <p:nvSpPr>
          <p:cNvPr id="6" name="Freeform: Shape 5">
            <a:extLst>
              <a:ext uri="{FF2B5EF4-FFF2-40B4-BE49-F238E27FC236}">
                <a16:creationId xmlns:a16="http://schemas.microsoft.com/office/drawing/2014/main" id="{B958E158-3D5D-E69D-4FCA-27EBCFC0E4DD}"/>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7" name="Freeform: Shape 6">
            <a:extLst>
              <a:ext uri="{FF2B5EF4-FFF2-40B4-BE49-F238E27FC236}">
                <a16:creationId xmlns:a16="http://schemas.microsoft.com/office/drawing/2014/main" id="{52F4D94F-F140-5A82-86CA-3EF5C939D25A}"/>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Tree>
    <p:extLst>
      <p:ext uri="{BB962C8B-B14F-4D97-AF65-F5344CB8AC3E}">
        <p14:creationId xmlns:p14="http://schemas.microsoft.com/office/powerpoint/2010/main" val="4067723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5/20/2026</a:t>
            </a:fld>
            <a:endParaRPr lang="en-US"/>
          </a:p>
        </p:txBody>
      </p:sp>
      <p:sp>
        <p:nvSpPr>
          <p:cNvPr id="3" name="Footer Placeholder 2"/>
          <p:cNvSpPr>
            <a:spLocks noGrp="1"/>
          </p:cNvSpPr>
          <p:nvPr>
            <p:ph type="ftr" sz="quarter" idx="11"/>
          </p:nvPr>
        </p:nvSpPr>
        <p:spPr/>
        <p:txBody>
          <a:bodyPr/>
          <a:lstStyle/>
          <a:p>
            <a:r>
              <a:rPr lang="en-US"/>
              <a:t>Presentation title</a:t>
            </a:r>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a:p>
        </p:txBody>
      </p:sp>
      <p:sp>
        <p:nvSpPr>
          <p:cNvPr id="5" name="Freeform: Shape 4">
            <a:extLst>
              <a:ext uri="{FF2B5EF4-FFF2-40B4-BE49-F238E27FC236}">
                <a16:creationId xmlns:a16="http://schemas.microsoft.com/office/drawing/2014/main" id="{37F80B4E-0219-87B8-71C4-300F3BB9D5F6}"/>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6" name="Freeform: Shape 5">
            <a:extLst>
              <a:ext uri="{FF2B5EF4-FFF2-40B4-BE49-F238E27FC236}">
                <a16:creationId xmlns:a16="http://schemas.microsoft.com/office/drawing/2014/main" id="{C22BFCE7-6622-4546-6186-800B28949437}"/>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Tree>
    <p:extLst>
      <p:ext uri="{BB962C8B-B14F-4D97-AF65-F5344CB8AC3E}">
        <p14:creationId xmlns:p14="http://schemas.microsoft.com/office/powerpoint/2010/main" val="819808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5/20/2026</a:t>
            </a:fld>
            <a:endParaRPr lang="en-US"/>
          </a:p>
        </p:txBody>
      </p:sp>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
        <p:nvSpPr>
          <p:cNvPr id="8" name="Freeform: Shape 7">
            <a:extLst>
              <a:ext uri="{FF2B5EF4-FFF2-40B4-BE49-F238E27FC236}">
                <a16:creationId xmlns:a16="http://schemas.microsoft.com/office/drawing/2014/main" id="{9640E8C3-77E5-918F-329E-4FF4938EC826}"/>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Tree>
    <p:extLst>
      <p:ext uri="{BB962C8B-B14F-4D97-AF65-F5344CB8AC3E}">
        <p14:creationId xmlns:p14="http://schemas.microsoft.com/office/powerpoint/2010/main" val="2094078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5/20/2026</a:t>
            </a:fld>
            <a:endParaRPr lang="en-US"/>
          </a:p>
        </p:txBody>
      </p:sp>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
        <p:nvSpPr>
          <p:cNvPr id="3" name="Freeform: Shape 2">
            <a:extLst>
              <a:ext uri="{FF2B5EF4-FFF2-40B4-BE49-F238E27FC236}">
                <a16:creationId xmlns:a16="http://schemas.microsoft.com/office/drawing/2014/main" id="{ACC41567-4809-1046-2ECF-3C15E777C72C}"/>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Tree>
    <p:extLst>
      <p:ext uri="{BB962C8B-B14F-4D97-AF65-F5344CB8AC3E}">
        <p14:creationId xmlns:p14="http://schemas.microsoft.com/office/powerpoint/2010/main" val="2252017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5/20/2026</a:t>
            </a:fld>
            <a:endParaRPr lang="en-US"/>
          </a:p>
        </p:txBody>
      </p:sp>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818873446"/>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523444855"/>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644103981"/>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723921300"/>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79336936"/>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909025952"/>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237220969"/>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5/20/2026</a:t>
            </a:fld>
            <a:endParaRPr lang="en-US"/>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55554552"/>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p>
        </p:txBody>
      </p:sp>
      <p:sp>
        <p:nvSpPr>
          <p:cNvPr id="11"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a:p>
        </p:txBody>
      </p:sp>
      <p:pic>
        <p:nvPicPr>
          <p:cNvPr id="13"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a:p>
        </p:txBody>
      </p:sp>
      <p:sp>
        <p:nvSpPr>
          <p:cNvPr id="17"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a:p>
        </p:txBody>
      </p:sp>
      <p:pic>
        <p:nvPicPr>
          <p:cNvPr id="19"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t>‹#›</a:t>
            </a:fld>
            <a:endParaRPr lang="en-US"/>
          </a:p>
        </p:txBody>
      </p:sp>
    </p:spTree>
    <p:extLst>
      <p:ext uri="{BB962C8B-B14F-4D97-AF65-F5344CB8AC3E}">
        <p14:creationId xmlns:p14="http://schemas.microsoft.com/office/powerpoint/2010/main" val="3871031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9" name="Image 0" descr="preencoded.png">
            <a:extLst>
              <a:ext uri="{FF2B5EF4-FFF2-40B4-BE49-F238E27FC236}">
                <a16:creationId xmlns:a16="http://schemas.microsoft.com/office/drawing/2014/main" id="{8D5D10FF-3DE5-39CA-FA9A-29A09DC47BF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a:p>
        </p:txBody>
      </p:sp>
      <p:pic>
        <p:nvPicPr>
          <p:cNvPr id="11" name="Image 1" descr="preencoded.png">
            <a:extLst>
              <a:ext uri="{FF2B5EF4-FFF2-40B4-BE49-F238E27FC236}">
                <a16:creationId xmlns:a16="http://schemas.microsoft.com/office/drawing/2014/main" id="{BFA89E6A-8342-AE30-45E0-BC1DFE3276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a:p>
        </p:txBody>
      </p:sp>
      <p:sp>
        <p:nvSpPr>
          <p:cNvPr id="15" name="Image 5" descr="preencoded.png">
            <a:extLst>
              <a:ext uri="{FF2B5EF4-FFF2-40B4-BE49-F238E27FC236}">
                <a16:creationId xmlns:a16="http://schemas.microsoft.com/office/drawing/2014/main" id="{D9D7EB49-4BC9-040F-C4CC-5771C5FB312B}"/>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a:p>
        </p:txBody>
      </p:sp>
      <p:pic>
        <p:nvPicPr>
          <p:cNvPr id="17" name="Image 6" descr="preencoded.png">
            <a:extLst>
              <a:ext uri="{FF2B5EF4-FFF2-40B4-BE49-F238E27FC236}">
                <a16:creationId xmlns:a16="http://schemas.microsoft.com/office/drawing/2014/main" id="{3CE04498-C285-EFB8-340C-1A064078152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
        <p:nvSpPr>
          <p:cNvPr id="18" name="Title 19">
            <a:extLst>
              <a:ext uri="{FF2B5EF4-FFF2-40B4-BE49-F238E27FC236}">
                <a16:creationId xmlns:a16="http://schemas.microsoft.com/office/drawing/2014/main" id="{9CBE0ADC-7FA0-F7E3-96EF-BBACB6A9076E}"/>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0832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5/20/2026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Presentation title</a:t>
            </a:r>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99794941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55" r:id="rId18"/>
    <p:sldLayoutId id="2147483654" r:id="rId19"/>
  </p:sldLayoutIdLst>
  <p:hf hd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8348C3-6249-4952-AA86-C63DB35EA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DE6174AD-DBB0-43E6-98C2-738DB3A152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59100" y="-4763"/>
            <a:ext cx="5014912" cy="6862763"/>
            <a:chOff x="2928938" y="-4763"/>
            <a:chExt cx="5014912" cy="6862763"/>
          </a:xfrm>
        </p:grpSpPr>
        <p:sp>
          <p:nvSpPr>
            <p:cNvPr id="12" name="Freeform 6">
              <a:extLst>
                <a:ext uri="{FF2B5EF4-FFF2-40B4-BE49-F238E27FC236}">
                  <a16:creationId xmlns:a16="http://schemas.microsoft.com/office/drawing/2014/main" id="{50A59800-3661-4778-9D8A-F816C85C4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3" name="Freeform 7">
              <a:extLst>
                <a:ext uri="{FF2B5EF4-FFF2-40B4-BE49-F238E27FC236}">
                  <a16:creationId xmlns:a16="http://schemas.microsoft.com/office/drawing/2014/main" id="{7A810977-C816-4698-B7E7-0E6BDED79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4" name="Freeform 9">
              <a:extLst>
                <a:ext uri="{FF2B5EF4-FFF2-40B4-BE49-F238E27FC236}">
                  <a16:creationId xmlns:a16="http://schemas.microsoft.com/office/drawing/2014/main" id="{181E4B1B-2437-4A14-8927-817FC7AED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5" name="Freeform 10">
              <a:extLst>
                <a:ext uri="{FF2B5EF4-FFF2-40B4-BE49-F238E27FC236}">
                  <a16:creationId xmlns:a16="http://schemas.microsoft.com/office/drawing/2014/main" id="{3F98AD26-9FF7-44EA-B876-9C857F8ED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6" name="Freeform 11">
              <a:extLst>
                <a:ext uri="{FF2B5EF4-FFF2-40B4-BE49-F238E27FC236}">
                  <a16:creationId xmlns:a16="http://schemas.microsoft.com/office/drawing/2014/main" id="{32EBB12A-A9CE-446F-9462-15DAC0D0F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7" name="Freeform 12">
              <a:extLst>
                <a:ext uri="{FF2B5EF4-FFF2-40B4-BE49-F238E27FC236}">
                  <a16:creationId xmlns:a16="http://schemas.microsoft.com/office/drawing/2014/main" id="{85925599-F99B-48E5-A384-76136C081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a:xfrm>
            <a:off x="5448299" y="1380068"/>
            <a:ext cx="6054723" cy="2616199"/>
          </a:xfrm>
        </p:spPr>
        <p:txBody>
          <a:bodyPr>
            <a:normAutofit/>
          </a:bodyPr>
          <a:lstStyle/>
          <a:p>
            <a:pPr>
              <a:lnSpc>
                <a:spcPct val="90000"/>
              </a:lnSpc>
            </a:pPr>
            <a:r>
              <a:rPr lang="en-US" sz="5100" dirty="0"/>
              <a:t>Penny Search Activity</a:t>
            </a:r>
          </a:p>
        </p:txBody>
      </p:sp>
      <p:pic>
        <p:nvPicPr>
          <p:cNvPr id="4" name="Picture 3" descr="A dog sitting at a computer&#10;&#10;Description automatically generated">
            <a:extLst>
              <a:ext uri="{FF2B5EF4-FFF2-40B4-BE49-F238E27FC236}">
                <a16:creationId xmlns:a16="http://schemas.microsoft.com/office/drawing/2014/main" id="{1D6FB7AC-2870-9457-85AD-B897F7E8AC1F}"/>
              </a:ext>
            </a:extLst>
          </p:cNvPr>
          <p:cNvPicPr>
            <a:picLocks noChangeAspect="1"/>
          </p:cNvPicPr>
          <p:nvPr/>
        </p:nvPicPr>
        <p:blipFill rotWithShape="1">
          <a:blip r:embed="rId3"/>
          <a:srcRect l="26880" r="20398" b="9091"/>
          <a:stretch/>
        </p:blipFill>
        <p:spPr>
          <a:xfrm>
            <a:off x="9525" y="9535"/>
            <a:ext cx="5448280" cy="6857990"/>
          </a:xfrm>
          <a:custGeom>
            <a:avLst/>
            <a:gdLst/>
            <a:ahLst/>
            <a:cxnLst/>
            <a:rect l="l" t="t" r="r" b="b"/>
            <a:pathLst>
              <a:path w="5448300" h="6858000">
                <a:moveTo>
                  <a:pt x="0" y="0"/>
                </a:moveTo>
                <a:lnTo>
                  <a:pt x="3513666" y="0"/>
                </a:lnTo>
                <a:lnTo>
                  <a:pt x="2861733" y="2548466"/>
                </a:lnTo>
                <a:lnTo>
                  <a:pt x="5448300" y="6853767"/>
                </a:lnTo>
                <a:lnTo>
                  <a:pt x="0" y="6858000"/>
                </a:lnTo>
                <a:lnTo>
                  <a:pt x="0" y="0"/>
                </a:lnTo>
                <a:close/>
              </a:path>
            </a:pathLst>
          </a:custGeom>
          <a:ln w="38100">
            <a:noFill/>
          </a:ln>
          <a:effectLst/>
        </p:spPr>
      </p:pic>
    </p:spTree>
    <p:extLst>
      <p:ext uri="{BB962C8B-B14F-4D97-AF65-F5344CB8AC3E}">
        <p14:creationId xmlns:p14="http://schemas.microsoft.com/office/powerpoint/2010/main" val="213156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1391713" y="-373283"/>
            <a:ext cx="10800287" cy="1457366"/>
          </a:xfrm>
        </p:spPr>
        <p:txBody>
          <a:bodyPr/>
          <a:lstStyle/>
          <a:p>
            <a:r>
              <a:rPr lang="en-US" dirty="0"/>
              <a:t>“Find the Oldest Penny” Activity</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1645920" y="805992"/>
            <a:ext cx="10130726" cy="5669083"/>
          </a:xfrm>
        </p:spPr>
        <p:txBody>
          <a:bodyPr anchor="t">
            <a:normAutofit/>
          </a:bodyPr>
          <a:lstStyle/>
          <a:p>
            <a:pPr marL="0" indent="0">
              <a:buNone/>
            </a:pPr>
            <a:r>
              <a:rPr lang="en-US"/>
              <a:t>Divide into groups, hand out lab sheets, group members write your names (legibly) on the group lab sheet.</a:t>
            </a:r>
          </a:p>
          <a:p>
            <a:pPr marL="0" indent="0">
              <a:buNone/>
            </a:pPr>
            <a:endParaRPr lang="en-US"/>
          </a:p>
          <a:p>
            <a:pPr marL="0" indent="0">
              <a:buNone/>
            </a:pPr>
            <a:endParaRPr lang="en-US"/>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2</a:t>
            </a:fld>
            <a:endParaRPr lang="en-US"/>
          </a:p>
        </p:txBody>
      </p:sp>
      <p:graphicFrame>
        <p:nvGraphicFramePr>
          <p:cNvPr id="4" name="Table 3">
            <a:extLst>
              <a:ext uri="{FF2B5EF4-FFF2-40B4-BE49-F238E27FC236}">
                <a16:creationId xmlns:a16="http://schemas.microsoft.com/office/drawing/2014/main" id="{B89AC951-639D-541B-EDBE-19478F7F674C}"/>
              </a:ext>
            </a:extLst>
          </p:cNvPr>
          <p:cNvGraphicFramePr>
            <a:graphicFrameLocks noGrp="1"/>
          </p:cNvGraphicFramePr>
          <p:nvPr/>
        </p:nvGraphicFramePr>
        <p:xfrm>
          <a:off x="1645920" y="1757386"/>
          <a:ext cx="10130726" cy="5100614"/>
        </p:xfrm>
        <a:graphic>
          <a:graphicData uri="http://schemas.openxmlformats.org/drawingml/2006/table">
            <a:tbl>
              <a:tblPr firstRow="1" firstCol="1" bandRow="1">
                <a:tableStyleId>{00A15C55-8517-42AA-B614-E9B94910E393}</a:tableStyleId>
              </a:tblPr>
              <a:tblGrid>
                <a:gridCol w="2281531">
                  <a:extLst>
                    <a:ext uri="{9D8B030D-6E8A-4147-A177-3AD203B41FA5}">
                      <a16:colId xmlns:a16="http://schemas.microsoft.com/office/drawing/2014/main" val="3852771281"/>
                    </a:ext>
                  </a:extLst>
                </a:gridCol>
                <a:gridCol w="2178651">
                  <a:extLst>
                    <a:ext uri="{9D8B030D-6E8A-4147-A177-3AD203B41FA5}">
                      <a16:colId xmlns:a16="http://schemas.microsoft.com/office/drawing/2014/main" val="2815109613"/>
                    </a:ext>
                  </a:extLst>
                </a:gridCol>
                <a:gridCol w="5670544">
                  <a:extLst>
                    <a:ext uri="{9D8B030D-6E8A-4147-A177-3AD203B41FA5}">
                      <a16:colId xmlns:a16="http://schemas.microsoft.com/office/drawing/2014/main" val="3405213853"/>
                    </a:ext>
                  </a:extLst>
                </a:gridCol>
              </a:tblGrid>
              <a:tr h="701842">
                <a:tc>
                  <a:txBody>
                    <a:bodyPr/>
                    <a:lstStyle/>
                    <a:p>
                      <a:pPr marL="0" marR="0" algn="ctr">
                        <a:lnSpc>
                          <a:spcPct val="107000"/>
                        </a:lnSpc>
                        <a:spcBef>
                          <a:spcPts val="0"/>
                        </a:spcBef>
                        <a:spcAft>
                          <a:spcPts val="0"/>
                        </a:spcAft>
                      </a:pPr>
                      <a:r>
                        <a:rPr lang="en-US" sz="2000" kern="100">
                          <a:effectLst/>
                        </a:rPr>
                        <a:t>Number of Students in Class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kern="100">
                          <a:effectLst/>
                        </a:rPr>
                        <a:t>Number of Groups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kern="100">
                          <a:effectLst/>
                        </a:rPr>
                        <a:t>Number of Students in each Group</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71873726"/>
                  </a:ext>
                </a:extLst>
              </a:tr>
              <a:tr h="302239">
                <a:tc>
                  <a:txBody>
                    <a:bodyPr/>
                    <a:lstStyle/>
                    <a:p>
                      <a:pPr marL="0" marR="0">
                        <a:lnSpc>
                          <a:spcPct val="107000"/>
                        </a:lnSpc>
                        <a:spcBef>
                          <a:spcPts val="0"/>
                        </a:spcBef>
                        <a:spcAft>
                          <a:spcPts val="0"/>
                        </a:spcAft>
                      </a:pPr>
                      <a:r>
                        <a:rPr lang="en-US" sz="2000" kern="100">
                          <a:effectLst/>
                        </a:rPr>
                        <a:t>17</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3</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2 groups of 6 students, 1 group of 5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4463097"/>
                  </a:ext>
                </a:extLst>
              </a:tr>
              <a:tr h="302239">
                <a:tc>
                  <a:txBody>
                    <a:bodyPr/>
                    <a:lstStyle/>
                    <a:p>
                      <a:pPr marL="0" marR="0">
                        <a:lnSpc>
                          <a:spcPct val="107000"/>
                        </a:lnSpc>
                        <a:spcBef>
                          <a:spcPts val="0"/>
                        </a:spcBef>
                        <a:spcAft>
                          <a:spcPts val="0"/>
                        </a:spcAft>
                      </a:pPr>
                      <a:r>
                        <a:rPr lang="en-US" sz="2000" kern="100">
                          <a:effectLst/>
                        </a:rPr>
                        <a:t>18</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3</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3 groups of 6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5452798"/>
                  </a:ext>
                </a:extLst>
              </a:tr>
              <a:tr h="302239">
                <a:tc>
                  <a:txBody>
                    <a:bodyPr/>
                    <a:lstStyle/>
                    <a:p>
                      <a:pPr marL="0" marR="0">
                        <a:lnSpc>
                          <a:spcPct val="107000"/>
                        </a:lnSpc>
                        <a:spcBef>
                          <a:spcPts val="0"/>
                        </a:spcBef>
                        <a:spcAft>
                          <a:spcPts val="0"/>
                        </a:spcAft>
                      </a:pPr>
                      <a:r>
                        <a:rPr lang="en-US" sz="2000" kern="100">
                          <a:effectLst/>
                        </a:rPr>
                        <a:t>19</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4</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3 groups of 5 students, 1 group of 4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3163048"/>
                  </a:ext>
                </a:extLst>
              </a:tr>
              <a:tr h="302239">
                <a:tc>
                  <a:txBody>
                    <a:bodyPr/>
                    <a:lstStyle/>
                    <a:p>
                      <a:pPr marL="0" marR="0">
                        <a:lnSpc>
                          <a:spcPct val="107000"/>
                        </a:lnSpc>
                        <a:spcBef>
                          <a:spcPts val="0"/>
                        </a:spcBef>
                        <a:spcAft>
                          <a:spcPts val="0"/>
                        </a:spcAft>
                      </a:pPr>
                      <a:r>
                        <a:rPr lang="en-US" sz="2000" kern="100">
                          <a:effectLst/>
                        </a:rPr>
                        <a:t>20</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4</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4 groups of 5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88346052"/>
                  </a:ext>
                </a:extLst>
              </a:tr>
              <a:tr h="302239">
                <a:tc>
                  <a:txBody>
                    <a:bodyPr/>
                    <a:lstStyle/>
                    <a:p>
                      <a:pPr marL="0" marR="0">
                        <a:lnSpc>
                          <a:spcPct val="107000"/>
                        </a:lnSpc>
                        <a:spcBef>
                          <a:spcPts val="0"/>
                        </a:spcBef>
                        <a:spcAft>
                          <a:spcPts val="0"/>
                        </a:spcAft>
                      </a:pPr>
                      <a:r>
                        <a:rPr lang="en-US" sz="2000" kern="100">
                          <a:effectLst/>
                        </a:rPr>
                        <a:t>21</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4</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3 groups of 5 students, 1 group of 6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1067504"/>
                  </a:ext>
                </a:extLst>
              </a:tr>
              <a:tr h="302239">
                <a:tc>
                  <a:txBody>
                    <a:bodyPr/>
                    <a:lstStyle/>
                    <a:p>
                      <a:pPr marL="0" marR="0">
                        <a:lnSpc>
                          <a:spcPct val="107000"/>
                        </a:lnSpc>
                        <a:spcBef>
                          <a:spcPts val="0"/>
                        </a:spcBef>
                        <a:spcAft>
                          <a:spcPts val="0"/>
                        </a:spcAft>
                      </a:pPr>
                      <a:r>
                        <a:rPr lang="en-US" sz="2000" kern="100">
                          <a:effectLst/>
                        </a:rPr>
                        <a:t>22</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4</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2 groups of 5 students, 2 groups of 6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1427528"/>
                  </a:ext>
                </a:extLst>
              </a:tr>
              <a:tr h="302239">
                <a:tc>
                  <a:txBody>
                    <a:bodyPr/>
                    <a:lstStyle/>
                    <a:p>
                      <a:pPr marL="0" marR="0">
                        <a:lnSpc>
                          <a:spcPct val="107000"/>
                        </a:lnSpc>
                        <a:spcBef>
                          <a:spcPts val="0"/>
                        </a:spcBef>
                        <a:spcAft>
                          <a:spcPts val="0"/>
                        </a:spcAft>
                      </a:pPr>
                      <a:r>
                        <a:rPr lang="en-US" sz="2000" kern="100">
                          <a:effectLst/>
                        </a:rPr>
                        <a:t>23</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4</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3 groups of 6 students, 1 group of 5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23122672"/>
                  </a:ext>
                </a:extLst>
              </a:tr>
              <a:tr h="302239">
                <a:tc>
                  <a:txBody>
                    <a:bodyPr/>
                    <a:lstStyle/>
                    <a:p>
                      <a:pPr marL="0" marR="0">
                        <a:lnSpc>
                          <a:spcPct val="107000"/>
                        </a:lnSpc>
                        <a:spcBef>
                          <a:spcPts val="0"/>
                        </a:spcBef>
                        <a:spcAft>
                          <a:spcPts val="0"/>
                        </a:spcAft>
                      </a:pPr>
                      <a:r>
                        <a:rPr lang="en-US" sz="2000" kern="100">
                          <a:effectLst/>
                        </a:rPr>
                        <a:t>24</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4</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4 groups of 6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7410115"/>
                  </a:ext>
                </a:extLst>
              </a:tr>
              <a:tr h="302239">
                <a:tc>
                  <a:txBody>
                    <a:bodyPr/>
                    <a:lstStyle/>
                    <a:p>
                      <a:pPr marL="0" marR="0">
                        <a:lnSpc>
                          <a:spcPct val="107000"/>
                        </a:lnSpc>
                        <a:spcBef>
                          <a:spcPts val="0"/>
                        </a:spcBef>
                        <a:spcAft>
                          <a:spcPts val="0"/>
                        </a:spcAft>
                      </a:pPr>
                      <a:r>
                        <a:rPr lang="en-US" sz="2000" kern="100">
                          <a:effectLst/>
                        </a:rPr>
                        <a:t>25</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5</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5 groups of 5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63636336"/>
                  </a:ext>
                </a:extLst>
              </a:tr>
              <a:tr h="302239">
                <a:tc>
                  <a:txBody>
                    <a:bodyPr/>
                    <a:lstStyle/>
                    <a:p>
                      <a:pPr marL="0" marR="0">
                        <a:lnSpc>
                          <a:spcPct val="107000"/>
                        </a:lnSpc>
                        <a:spcBef>
                          <a:spcPts val="0"/>
                        </a:spcBef>
                        <a:spcAft>
                          <a:spcPts val="0"/>
                        </a:spcAft>
                      </a:pPr>
                      <a:r>
                        <a:rPr lang="en-US" sz="2000" kern="100">
                          <a:effectLst/>
                        </a:rPr>
                        <a:t>26</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5</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4 groups of 5 students, 1 group of 6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72851777"/>
                  </a:ext>
                </a:extLst>
              </a:tr>
              <a:tr h="302239">
                <a:tc>
                  <a:txBody>
                    <a:bodyPr/>
                    <a:lstStyle/>
                    <a:p>
                      <a:pPr marL="0" marR="0">
                        <a:lnSpc>
                          <a:spcPct val="107000"/>
                        </a:lnSpc>
                        <a:spcBef>
                          <a:spcPts val="0"/>
                        </a:spcBef>
                        <a:spcAft>
                          <a:spcPts val="0"/>
                        </a:spcAft>
                      </a:pPr>
                      <a:r>
                        <a:rPr lang="en-US" sz="2000" kern="100">
                          <a:effectLst/>
                        </a:rPr>
                        <a:t>27</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5</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3 groups of 5 students, 2 groups of 6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9473686"/>
                  </a:ext>
                </a:extLst>
              </a:tr>
              <a:tr h="302239">
                <a:tc>
                  <a:txBody>
                    <a:bodyPr/>
                    <a:lstStyle/>
                    <a:p>
                      <a:pPr marL="0" marR="0">
                        <a:lnSpc>
                          <a:spcPct val="107000"/>
                        </a:lnSpc>
                        <a:spcBef>
                          <a:spcPts val="0"/>
                        </a:spcBef>
                        <a:spcAft>
                          <a:spcPts val="0"/>
                        </a:spcAft>
                      </a:pPr>
                      <a:r>
                        <a:rPr lang="en-US" sz="2000" kern="100">
                          <a:effectLst/>
                        </a:rPr>
                        <a:t>28</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5</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3 groups of 6 students, 2 groups of 5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7665419"/>
                  </a:ext>
                </a:extLst>
              </a:tr>
              <a:tr h="302239">
                <a:tc>
                  <a:txBody>
                    <a:bodyPr/>
                    <a:lstStyle/>
                    <a:p>
                      <a:pPr marL="0" marR="0">
                        <a:lnSpc>
                          <a:spcPct val="107000"/>
                        </a:lnSpc>
                        <a:spcBef>
                          <a:spcPts val="0"/>
                        </a:spcBef>
                        <a:spcAft>
                          <a:spcPts val="0"/>
                        </a:spcAft>
                      </a:pPr>
                      <a:r>
                        <a:rPr lang="en-US" sz="2000" kern="100">
                          <a:effectLst/>
                        </a:rPr>
                        <a:t>29</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5</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4 groups of 6 students, 1 group of 5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89254582"/>
                  </a:ext>
                </a:extLst>
              </a:tr>
              <a:tr h="302239">
                <a:tc>
                  <a:txBody>
                    <a:bodyPr/>
                    <a:lstStyle/>
                    <a:p>
                      <a:pPr marL="0" marR="0">
                        <a:lnSpc>
                          <a:spcPct val="107000"/>
                        </a:lnSpc>
                        <a:spcBef>
                          <a:spcPts val="0"/>
                        </a:spcBef>
                        <a:spcAft>
                          <a:spcPts val="0"/>
                        </a:spcAft>
                      </a:pPr>
                      <a:r>
                        <a:rPr lang="en-US" sz="2000" kern="100">
                          <a:effectLst/>
                        </a:rPr>
                        <a:t>30</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5</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kern="100">
                          <a:effectLst/>
                        </a:rPr>
                        <a:t>5 groups of 6 students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0072886"/>
                  </a:ext>
                </a:extLst>
              </a:tr>
            </a:tbl>
          </a:graphicData>
        </a:graphic>
      </p:graphicFrame>
    </p:spTree>
    <p:extLst>
      <p:ext uri="{BB962C8B-B14F-4D97-AF65-F5344CB8AC3E}">
        <p14:creationId xmlns:p14="http://schemas.microsoft.com/office/powerpoint/2010/main" val="1435177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8441639-4884-7B72-2D30-43877EE230B9}"/>
              </a:ext>
            </a:extLst>
          </p:cNvPr>
          <p:cNvSpPr txBox="1">
            <a:spLocks/>
          </p:cNvSpPr>
          <p:nvPr/>
        </p:nvSpPr>
        <p:spPr>
          <a:xfrm>
            <a:off x="1391713" y="1590520"/>
            <a:ext cx="4976093" cy="4276611"/>
          </a:xfrm>
          <a:prstGeom prst="rect">
            <a:avLst/>
          </a:prstGeom>
          <a:solidFill>
            <a:schemeClr val="bg1"/>
          </a:solidFill>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endParaRPr lang="en-US"/>
          </a:p>
        </p:txBody>
      </p:sp>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1391713" y="0"/>
            <a:ext cx="10800287" cy="1457366"/>
          </a:xfrm>
        </p:spPr>
        <p:txBody>
          <a:bodyPr/>
          <a:lstStyle/>
          <a:p>
            <a:r>
              <a:rPr lang="en-US" dirty="0"/>
              <a:t>Penny Search Activity</a:t>
            </a:r>
            <a:br>
              <a:rPr lang="en-US" dirty="0"/>
            </a:br>
            <a:r>
              <a:rPr lang="en-US" dirty="0">
                <a:highlight>
                  <a:srgbClr val="FFFF00"/>
                </a:highlight>
              </a:rPr>
              <a:t>PHASE 1</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2606511" y="2238866"/>
            <a:ext cx="4590854" cy="3628265"/>
          </a:xfrm>
        </p:spPr>
        <p:txBody>
          <a:bodyPr anchor="t">
            <a:normAutofit fontScale="92500" lnSpcReduction="10000"/>
          </a:bodyPr>
          <a:lstStyle/>
          <a:p>
            <a:pPr marL="0" indent="0">
              <a:buNone/>
            </a:pPr>
            <a:r>
              <a:rPr lang="en-US" sz="3200" b="1"/>
              <a:t>Student 1 – </a:t>
            </a:r>
            <a:r>
              <a:rPr lang="en-US" sz="3200" b="1">
                <a:solidFill>
                  <a:schemeClr val="accent6">
                    <a:lumMod val="75000"/>
                  </a:schemeClr>
                </a:solidFill>
              </a:rPr>
              <a:t>sorter</a:t>
            </a:r>
          </a:p>
          <a:p>
            <a:pPr marL="0" indent="0">
              <a:buNone/>
            </a:pPr>
            <a:r>
              <a:rPr lang="en-US" sz="3200" b="1"/>
              <a:t>Student 2 – </a:t>
            </a:r>
            <a:r>
              <a:rPr lang="en-US" sz="3200" b="1">
                <a:solidFill>
                  <a:schemeClr val="accent4"/>
                </a:solidFill>
              </a:rPr>
              <a:t>timer</a:t>
            </a:r>
          </a:p>
          <a:p>
            <a:pPr marL="0" indent="0">
              <a:buNone/>
            </a:pPr>
            <a:r>
              <a:rPr lang="en-US" sz="3200" b="1"/>
              <a:t>Student 3 – </a:t>
            </a:r>
            <a:r>
              <a:rPr lang="en-US" sz="3200" b="1">
                <a:solidFill>
                  <a:schemeClr val="accent1"/>
                </a:solidFill>
              </a:rPr>
              <a:t>observer</a:t>
            </a:r>
          </a:p>
          <a:p>
            <a:pPr marL="0" indent="0">
              <a:buNone/>
            </a:pPr>
            <a:r>
              <a:rPr lang="en-US" sz="3200" b="1"/>
              <a:t>Student 4 – </a:t>
            </a:r>
            <a:r>
              <a:rPr lang="en-US" sz="3200" b="1">
                <a:solidFill>
                  <a:schemeClr val="accent1"/>
                </a:solidFill>
              </a:rPr>
              <a:t>observer</a:t>
            </a:r>
          </a:p>
          <a:p>
            <a:pPr marL="0" indent="0">
              <a:buNone/>
            </a:pPr>
            <a:r>
              <a:rPr lang="en-US" sz="3200" b="1"/>
              <a:t>Student 5 – </a:t>
            </a:r>
            <a:r>
              <a:rPr lang="en-US" sz="3200" b="1">
                <a:solidFill>
                  <a:schemeClr val="accent1"/>
                </a:solidFill>
              </a:rPr>
              <a:t>observer</a:t>
            </a:r>
          </a:p>
          <a:p>
            <a:pPr marL="0" indent="0">
              <a:buNone/>
            </a:pPr>
            <a:r>
              <a:rPr lang="en-US" sz="3200" b="1"/>
              <a:t>Student 6 - </a:t>
            </a:r>
            <a:r>
              <a:rPr lang="en-US" sz="3200" b="1">
                <a:solidFill>
                  <a:schemeClr val="accent1"/>
                </a:solidFill>
              </a:rPr>
              <a:t>observer</a:t>
            </a:r>
          </a:p>
          <a:p>
            <a:pPr marL="0" indent="0">
              <a:buNone/>
            </a:pPr>
            <a:endParaRPr lang="en-US"/>
          </a:p>
          <a:p>
            <a:pPr marL="0" indent="0">
              <a:buNone/>
            </a:pPr>
            <a:endParaRPr lang="en-US"/>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a:t>
            </a:fld>
            <a:endParaRPr lang="en-US"/>
          </a:p>
        </p:txBody>
      </p:sp>
      <p:pic>
        <p:nvPicPr>
          <p:cNvPr id="2054"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EDD75625-7B07-4124-12CF-14CFA40344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1999" y="3383902"/>
            <a:ext cx="1023125" cy="53162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9B2616E7-F37F-DDF0-F912-313BE7D61F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2000" y="3960655"/>
            <a:ext cx="1023125" cy="5316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E4852510-E52C-D867-834B-95F1C4C9AF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2940" y="4557256"/>
            <a:ext cx="1023125" cy="53162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C7AC0290-5B3D-D796-049F-4964ED0EB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652" y="1773866"/>
            <a:ext cx="178383" cy="9268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2024 Lincoln Head Cent">
            <a:extLst>
              <a:ext uri="{FF2B5EF4-FFF2-40B4-BE49-F238E27FC236}">
                <a16:creationId xmlns:a16="http://schemas.microsoft.com/office/drawing/2014/main" id="{A8E6BB6C-F716-7D61-463C-277A1B5512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2227" y="2198207"/>
            <a:ext cx="484284" cy="48428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6 Second Stopwatch - Marathon Watch Company">
            <a:extLst>
              <a:ext uri="{FF2B5EF4-FFF2-40B4-BE49-F238E27FC236}">
                <a16:creationId xmlns:a16="http://schemas.microsoft.com/office/drawing/2014/main" id="{2E55E437-FAE2-7597-CBCE-ABC36BB3BF2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912" t="18865" r="23717" b="9306"/>
          <a:stretch/>
        </p:blipFill>
        <p:spPr bwMode="auto">
          <a:xfrm>
            <a:off x="2114502" y="2682491"/>
            <a:ext cx="490623" cy="63643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Set Of Realistic Human Eyeball Isolated Or Close Up Human Eyeball Retina  With Pupil And Iris Eps Vector Stock Illustration - Download Image Now -  iStock">
            <a:extLst>
              <a:ext uri="{FF2B5EF4-FFF2-40B4-BE49-F238E27FC236}">
                <a16:creationId xmlns:a16="http://schemas.microsoft.com/office/drawing/2014/main" id="{99A9D9CF-3EF7-C6A5-CC0C-39EABC855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2493" y="5129539"/>
            <a:ext cx="1023125" cy="531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4C468AA-A3F8-F8EC-0EB4-136B3B2C8020}"/>
              </a:ext>
            </a:extLst>
          </p:cNvPr>
          <p:cNvSpPr txBox="1"/>
          <p:nvPr/>
        </p:nvSpPr>
        <p:spPr>
          <a:xfrm>
            <a:off x="1391713" y="1571233"/>
            <a:ext cx="4976093" cy="461665"/>
          </a:xfrm>
          <a:prstGeom prst="rect">
            <a:avLst/>
          </a:prstGeom>
          <a:solidFill>
            <a:schemeClr val="tx1"/>
          </a:solidFill>
        </p:spPr>
        <p:txBody>
          <a:bodyPr wrap="square" rtlCol="0">
            <a:spAutoFit/>
          </a:bodyPr>
          <a:lstStyle/>
          <a:p>
            <a:pPr algn="ctr"/>
            <a:r>
              <a:rPr lang="en-US" sz="2400" b="1">
                <a:solidFill>
                  <a:schemeClr val="bg1"/>
                </a:solidFill>
              </a:rPr>
              <a:t>GROUP MEMBER ROLES</a:t>
            </a:r>
          </a:p>
        </p:txBody>
      </p:sp>
      <p:sp>
        <p:nvSpPr>
          <p:cNvPr id="11" name="Content Placeholder 2">
            <a:extLst>
              <a:ext uri="{FF2B5EF4-FFF2-40B4-BE49-F238E27FC236}">
                <a16:creationId xmlns:a16="http://schemas.microsoft.com/office/drawing/2014/main" id="{46371DB4-FB3E-52E4-70CC-1B3ED5DFED5B}"/>
              </a:ext>
            </a:extLst>
          </p:cNvPr>
          <p:cNvSpPr txBox="1">
            <a:spLocks/>
          </p:cNvSpPr>
          <p:nvPr/>
        </p:nvSpPr>
        <p:spPr>
          <a:xfrm>
            <a:off x="6628739" y="1590520"/>
            <a:ext cx="4976093" cy="4276611"/>
          </a:xfrm>
          <a:prstGeom prst="rect">
            <a:avLst/>
          </a:prstGeom>
          <a:solidFill>
            <a:schemeClr val="bg1"/>
          </a:solidFill>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endParaRPr lang="en-US"/>
          </a:p>
        </p:txBody>
      </p:sp>
      <p:sp>
        <p:nvSpPr>
          <p:cNvPr id="12" name="Content Placeholder 2">
            <a:extLst>
              <a:ext uri="{FF2B5EF4-FFF2-40B4-BE49-F238E27FC236}">
                <a16:creationId xmlns:a16="http://schemas.microsoft.com/office/drawing/2014/main" id="{CD500DC3-8926-C899-4C16-304D2A2E7536}"/>
              </a:ext>
            </a:extLst>
          </p:cNvPr>
          <p:cNvSpPr txBox="1">
            <a:spLocks/>
          </p:cNvSpPr>
          <p:nvPr/>
        </p:nvSpPr>
        <p:spPr>
          <a:xfrm>
            <a:off x="6674613" y="2126455"/>
            <a:ext cx="4590854" cy="3628265"/>
          </a:xfrm>
          <a:prstGeom prst="rect">
            <a:avLst/>
          </a:prstGeom>
        </p:spPr>
        <p:txBody>
          <a:bodyPr vert="horz" lIns="91440" tIns="45720" rIns="91440" bIns="45720" rtlCol="0" anchor="t">
            <a:normAutofit fontScale="85000" lnSpcReduction="200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r>
              <a:rPr lang="en-US" sz="3200" b="1">
                <a:solidFill>
                  <a:schemeClr val="accent6">
                    <a:lumMod val="75000"/>
                  </a:schemeClr>
                </a:solidFill>
              </a:rPr>
              <a:t>Sorter – look at each penny in your bag one at a time to find the oldest penny. You can’t get help from other students.</a:t>
            </a:r>
          </a:p>
          <a:p>
            <a:pPr marL="0" indent="0">
              <a:buFont typeface="Arial"/>
              <a:buNone/>
            </a:pPr>
            <a:r>
              <a:rPr lang="en-US" sz="3200" b="1">
                <a:solidFill>
                  <a:schemeClr val="accent4"/>
                </a:solidFill>
              </a:rPr>
              <a:t>Timer – time how long it takes for the sorter to find the oldest penny. Then, write the time on your group’s lab sheet beside PHASE 1.</a:t>
            </a:r>
          </a:p>
          <a:p>
            <a:pPr marL="0" indent="0">
              <a:buFont typeface="Arial"/>
              <a:buNone/>
            </a:pPr>
            <a:endParaRPr lang="en-US"/>
          </a:p>
          <a:p>
            <a:pPr marL="0" indent="0">
              <a:buFont typeface="Arial"/>
              <a:buNone/>
            </a:pPr>
            <a:endParaRPr lang="en-US"/>
          </a:p>
        </p:txBody>
      </p:sp>
      <p:sp>
        <p:nvSpPr>
          <p:cNvPr id="13" name="TextBox 12">
            <a:extLst>
              <a:ext uri="{FF2B5EF4-FFF2-40B4-BE49-F238E27FC236}">
                <a16:creationId xmlns:a16="http://schemas.microsoft.com/office/drawing/2014/main" id="{26CAABBC-6E6D-A595-7EB1-D782C4BDC312}"/>
              </a:ext>
            </a:extLst>
          </p:cNvPr>
          <p:cNvSpPr txBox="1"/>
          <p:nvPr/>
        </p:nvSpPr>
        <p:spPr>
          <a:xfrm>
            <a:off x="6628739" y="1571233"/>
            <a:ext cx="4976093" cy="461665"/>
          </a:xfrm>
          <a:prstGeom prst="rect">
            <a:avLst/>
          </a:prstGeom>
          <a:solidFill>
            <a:schemeClr val="tx1"/>
          </a:solidFill>
        </p:spPr>
        <p:txBody>
          <a:bodyPr wrap="square" rtlCol="0">
            <a:spAutoFit/>
          </a:bodyPr>
          <a:lstStyle/>
          <a:p>
            <a:pPr algn="ctr"/>
            <a:r>
              <a:rPr lang="en-US" sz="2400" b="1">
                <a:solidFill>
                  <a:schemeClr val="bg1"/>
                </a:solidFill>
              </a:rPr>
              <a:t>What You Do</a:t>
            </a:r>
          </a:p>
        </p:txBody>
      </p:sp>
      <p:sp>
        <p:nvSpPr>
          <p:cNvPr id="14" name="Oval 13">
            <a:extLst>
              <a:ext uri="{FF2B5EF4-FFF2-40B4-BE49-F238E27FC236}">
                <a16:creationId xmlns:a16="http://schemas.microsoft.com/office/drawing/2014/main" id="{2D86EDC3-8802-BD00-656C-0320529CF90A}"/>
              </a:ext>
            </a:extLst>
          </p:cNvPr>
          <p:cNvSpPr/>
          <p:nvPr/>
        </p:nvSpPr>
        <p:spPr>
          <a:xfrm>
            <a:off x="9681328" y="169682"/>
            <a:ext cx="2276573" cy="1253765"/>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b="1"/>
              <a:t>Each group gets 1 bag of 50 pennies!</a:t>
            </a:r>
          </a:p>
        </p:txBody>
      </p:sp>
    </p:spTree>
    <p:extLst>
      <p:ext uri="{BB962C8B-B14F-4D97-AF65-F5344CB8AC3E}">
        <p14:creationId xmlns:p14="http://schemas.microsoft.com/office/powerpoint/2010/main" val="607840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1391713" y="0"/>
            <a:ext cx="10800287" cy="1457366"/>
          </a:xfrm>
        </p:spPr>
        <p:txBody>
          <a:bodyPr/>
          <a:lstStyle/>
          <a:p>
            <a:r>
              <a:rPr lang="en-US" dirty="0"/>
              <a:t>Penny Search Activity</a:t>
            </a:r>
            <a:br>
              <a:rPr lang="en-US" dirty="0"/>
            </a:br>
            <a:r>
              <a:rPr lang="en-US" dirty="0">
                <a:highlight>
                  <a:srgbClr val="FFFF00"/>
                </a:highlight>
              </a:rPr>
              <a:t>PHASE 1 - Discussion</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4</a:t>
            </a:fld>
            <a:endParaRPr lang="en-US"/>
          </a:p>
        </p:txBody>
      </p:sp>
      <p:pic>
        <p:nvPicPr>
          <p:cNvPr id="8"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C7AC0290-5B3D-D796-049F-4964ED0EB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652" y="1773866"/>
            <a:ext cx="178383" cy="9268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1lb Bag of Lincoln Wheat-Ear Pennies ...">
            <a:extLst>
              <a:ext uri="{FF2B5EF4-FFF2-40B4-BE49-F238E27FC236}">
                <a16:creationId xmlns:a16="http://schemas.microsoft.com/office/drawing/2014/main" id="{B32CB3B8-D361-039C-5C81-4F3FF8EA8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85" y="145336"/>
            <a:ext cx="1905328" cy="190532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DF5FAE-BC2C-914A-ADFC-342824D45866}"/>
              </a:ext>
            </a:extLst>
          </p:cNvPr>
          <p:cNvSpPr txBox="1"/>
          <p:nvPr/>
        </p:nvSpPr>
        <p:spPr>
          <a:xfrm>
            <a:off x="1791228" y="2196000"/>
            <a:ext cx="7116601" cy="4597003"/>
          </a:xfrm>
          <a:prstGeom prst="roundRect">
            <a:avLst/>
          </a:prstGeom>
          <a:solidFill>
            <a:schemeClr val="accent1">
              <a:lumMod val="20000"/>
              <a:lumOff val="80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sz="2200" b="1">
                <a:ln w="0"/>
                <a:solidFill>
                  <a:schemeClr val="tx1"/>
                </a:solidFill>
                <a:effectLst>
                  <a:outerShdw blurRad="38100" dist="19050" dir="2700000" algn="tl" rotWithShape="0">
                    <a:schemeClr val="dk1">
                      <a:alpha val="40000"/>
                    </a:schemeClr>
                  </a:outerShdw>
                </a:effectLst>
              </a:rPr>
              <a:t>What did PHASE 1 represent?</a:t>
            </a:r>
          </a:p>
          <a:p>
            <a:r>
              <a:rPr lang="en-US" sz="2200">
                <a:ln w="0"/>
                <a:solidFill>
                  <a:schemeClr val="tx1"/>
                </a:solidFill>
                <a:effectLst>
                  <a:outerShdw blurRad="38100" dist="19050" dir="2700000" algn="tl" rotWithShape="0">
                    <a:schemeClr val="dk1">
                      <a:alpha val="40000"/>
                    </a:schemeClr>
                  </a:outerShdw>
                </a:effectLst>
              </a:rPr>
              <a:t>This phase represents a purely sequential algorithm where there is only one thread (or worker) performing the task. There is no parallelism, and the task is completed by a single worker from start to finish. This is akin to a </a:t>
            </a:r>
            <a:r>
              <a:rPr lang="en-US" sz="2200" b="1">
                <a:ln w="0"/>
                <a:solidFill>
                  <a:schemeClr val="tx1"/>
                </a:solidFill>
                <a:effectLst>
                  <a:outerShdw blurRad="38100" dist="19050" dir="2700000" algn="tl" rotWithShape="0">
                    <a:schemeClr val="dk1">
                      <a:alpha val="40000"/>
                    </a:schemeClr>
                  </a:outerShdw>
                </a:effectLst>
              </a:rPr>
              <a:t>single-core processing </a:t>
            </a:r>
            <a:r>
              <a:rPr lang="en-US" sz="2200">
                <a:ln w="0"/>
                <a:solidFill>
                  <a:schemeClr val="tx1"/>
                </a:solidFill>
                <a:effectLst>
                  <a:outerShdw blurRad="38100" dist="19050" dir="2700000" algn="tl" rotWithShape="0">
                    <a:schemeClr val="dk1">
                      <a:alpha val="40000"/>
                    </a:schemeClr>
                  </a:outerShdw>
                </a:effectLst>
              </a:rPr>
              <a:t>model in computing where no parallel execution takes place.</a:t>
            </a:r>
          </a:p>
          <a:p>
            <a:endParaRPr lang="en-US" sz="2200" b="1">
              <a:ln w="0"/>
              <a:solidFill>
                <a:schemeClr val="tx1"/>
              </a:solidFill>
              <a:effectLst>
                <a:outerShdw blurRad="38100" dist="19050" dir="2700000" algn="tl" rotWithShape="0">
                  <a:schemeClr val="dk1">
                    <a:alpha val="40000"/>
                  </a:schemeClr>
                </a:outerShdw>
              </a:effectLst>
            </a:endParaRPr>
          </a:p>
          <a:p>
            <a:r>
              <a:rPr lang="en-US" sz="2200" b="1">
                <a:ln w="0"/>
                <a:solidFill>
                  <a:schemeClr val="tx1"/>
                </a:solidFill>
                <a:effectLst>
                  <a:outerShdw blurRad="38100" dist="19050" dir="2700000" algn="tl" rotWithShape="0">
                    <a:schemeClr val="dk1">
                      <a:alpha val="40000"/>
                    </a:schemeClr>
                  </a:outerShdw>
                </a:effectLst>
              </a:rPr>
              <a:t>Question:</a:t>
            </a:r>
          </a:p>
          <a:p>
            <a:r>
              <a:rPr lang="en-US" sz="2200">
                <a:ln w="0"/>
                <a:solidFill>
                  <a:schemeClr val="tx1"/>
                </a:solidFill>
                <a:effectLst>
                  <a:outerShdw blurRad="38100" dist="19050" dir="2700000" algn="tl" rotWithShape="0">
                    <a:schemeClr val="dk1">
                      <a:alpha val="40000"/>
                    </a:schemeClr>
                  </a:outerShdw>
                </a:effectLst>
              </a:rPr>
              <a:t>If we were to divide the pennies up in the beginning and have multiple sorters, do you think this would take more or less time?</a:t>
            </a:r>
          </a:p>
        </p:txBody>
      </p:sp>
      <p:sp>
        <p:nvSpPr>
          <p:cNvPr id="13" name="TextBox 12">
            <a:extLst>
              <a:ext uri="{FF2B5EF4-FFF2-40B4-BE49-F238E27FC236}">
                <a16:creationId xmlns:a16="http://schemas.microsoft.com/office/drawing/2014/main" id="{26CAABBC-6E6D-A595-7EB1-D782C4BDC312}"/>
              </a:ext>
            </a:extLst>
          </p:cNvPr>
          <p:cNvSpPr txBox="1"/>
          <p:nvPr/>
        </p:nvSpPr>
        <p:spPr>
          <a:xfrm>
            <a:off x="1791228" y="1638348"/>
            <a:ext cx="10001253" cy="442674"/>
          </a:xfrm>
          <a:prstGeom prst="roundRect">
            <a:avLst/>
          </a:prstGeom>
          <a:solidFill>
            <a:schemeClr val="tx1"/>
          </a:solidFill>
        </p:spPr>
        <p:txBody>
          <a:bodyPr wrap="square" rtlCol="0">
            <a:spAutoFit/>
          </a:bodyPr>
          <a:lstStyle/>
          <a:p>
            <a:r>
              <a:rPr lang="en-US" sz="2000" b="1">
                <a:solidFill>
                  <a:schemeClr val="bg1"/>
                </a:solidFill>
              </a:rPr>
              <a:t>Return your bag of pennies to the lab instructors.</a:t>
            </a:r>
          </a:p>
        </p:txBody>
      </p:sp>
      <p:grpSp>
        <p:nvGrpSpPr>
          <p:cNvPr id="17" name="Group 16">
            <a:extLst>
              <a:ext uri="{FF2B5EF4-FFF2-40B4-BE49-F238E27FC236}">
                <a16:creationId xmlns:a16="http://schemas.microsoft.com/office/drawing/2014/main" id="{D6CBA59C-BD8D-9CA4-FD54-5A164970242A}"/>
              </a:ext>
            </a:extLst>
          </p:cNvPr>
          <p:cNvGrpSpPr/>
          <p:nvPr/>
        </p:nvGrpSpPr>
        <p:grpSpPr>
          <a:xfrm>
            <a:off x="9256050" y="2635891"/>
            <a:ext cx="2721809" cy="3564465"/>
            <a:chOff x="9322661" y="2196000"/>
            <a:chExt cx="2721809" cy="3564465"/>
          </a:xfrm>
        </p:grpSpPr>
        <p:sp>
          <p:nvSpPr>
            <p:cNvPr id="5" name="Rectangle: Rounded Corners 4">
              <a:extLst>
                <a:ext uri="{FF2B5EF4-FFF2-40B4-BE49-F238E27FC236}">
                  <a16:creationId xmlns:a16="http://schemas.microsoft.com/office/drawing/2014/main" id="{EE13805E-A019-E548-BDBB-FE8D3463C51A}"/>
                </a:ext>
              </a:extLst>
            </p:cNvPr>
            <p:cNvSpPr/>
            <p:nvPr/>
          </p:nvSpPr>
          <p:spPr>
            <a:xfrm>
              <a:off x="9322661" y="2196000"/>
              <a:ext cx="2721809" cy="2801064"/>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a:t>CPU</a:t>
              </a:r>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p:txBody>
        </p:sp>
        <p:sp>
          <p:nvSpPr>
            <p:cNvPr id="4" name="Oval 3">
              <a:extLst>
                <a:ext uri="{FF2B5EF4-FFF2-40B4-BE49-F238E27FC236}">
                  <a16:creationId xmlns:a16="http://schemas.microsoft.com/office/drawing/2014/main" id="{1565B860-30F2-86F4-5C47-B00BAC15926F}"/>
                </a:ext>
              </a:extLst>
            </p:cNvPr>
            <p:cNvSpPr/>
            <p:nvPr/>
          </p:nvSpPr>
          <p:spPr>
            <a:xfrm>
              <a:off x="10134925" y="2617154"/>
              <a:ext cx="1097280" cy="1097280"/>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CORE</a:t>
              </a:r>
            </a:p>
          </p:txBody>
        </p:sp>
        <p:sp>
          <p:nvSpPr>
            <p:cNvPr id="6" name="Rectangle 5">
              <a:extLst>
                <a:ext uri="{FF2B5EF4-FFF2-40B4-BE49-F238E27FC236}">
                  <a16:creationId xmlns:a16="http://schemas.microsoft.com/office/drawing/2014/main" id="{39177BDB-B10B-6BFA-5FD0-C584D4B63567}"/>
                </a:ext>
              </a:extLst>
            </p:cNvPr>
            <p:cNvSpPr/>
            <p:nvPr/>
          </p:nvSpPr>
          <p:spPr>
            <a:xfrm>
              <a:off x="9885706" y="4157108"/>
              <a:ext cx="1595717" cy="4888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L2 Cache</a:t>
              </a:r>
            </a:p>
          </p:txBody>
        </p:sp>
        <p:sp>
          <p:nvSpPr>
            <p:cNvPr id="7" name="Rectangle 6">
              <a:extLst>
                <a:ext uri="{FF2B5EF4-FFF2-40B4-BE49-F238E27FC236}">
                  <a16:creationId xmlns:a16="http://schemas.microsoft.com/office/drawing/2014/main" id="{7DB254AB-03DC-B39F-82C6-F0CBC17628EC}"/>
                </a:ext>
              </a:extLst>
            </p:cNvPr>
            <p:cNvSpPr/>
            <p:nvPr/>
          </p:nvSpPr>
          <p:spPr>
            <a:xfrm>
              <a:off x="9885706" y="5271605"/>
              <a:ext cx="1595717" cy="48886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Memory</a:t>
              </a:r>
            </a:p>
          </p:txBody>
        </p:sp>
        <p:cxnSp>
          <p:nvCxnSpPr>
            <p:cNvPr id="10" name="Straight Arrow Connector 9">
              <a:extLst>
                <a:ext uri="{FF2B5EF4-FFF2-40B4-BE49-F238E27FC236}">
                  <a16:creationId xmlns:a16="http://schemas.microsoft.com/office/drawing/2014/main" id="{5ECD2451-8A80-2A7B-AAB2-57E7E80AA955}"/>
                </a:ext>
              </a:extLst>
            </p:cNvPr>
            <p:cNvCxnSpPr>
              <a:stCxn id="4" idx="4"/>
              <a:endCxn id="6" idx="0"/>
            </p:cNvCxnSpPr>
            <p:nvPr/>
          </p:nvCxnSpPr>
          <p:spPr>
            <a:xfrm>
              <a:off x="10683565" y="3714434"/>
              <a:ext cx="0" cy="442674"/>
            </a:xfrm>
            <a:prstGeom prst="straightConnector1">
              <a:avLst/>
            </a:prstGeom>
            <a:ln w="381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44F2990-870D-A7C5-DF1A-A22CD4F03353}"/>
                </a:ext>
              </a:extLst>
            </p:cNvPr>
            <p:cNvCxnSpPr>
              <a:cxnSpLocks/>
              <a:stCxn id="6" idx="2"/>
              <a:endCxn id="7" idx="0"/>
            </p:cNvCxnSpPr>
            <p:nvPr/>
          </p:nvCxnSpPr>
          <p:spPr>
            <a:xfrm>
              <a:off x="10683565" y="4645968"/>
              <a:ext cx="0" cy="625637"/>
            </a:xfrm>
            <a:prstGeom prst="straightConnector1">
              <a:avLst/>
            </a:prstGeom>
            <a:ln w="381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76A5A1FA-60BE-0BA1-6987-1892E01489B1}"/>
              </a:ext>
            </a:extLst>
          </p:cNvPr>
          <p:cNvSpPr txBox="1"/>
          <p:nvPr/>
        </p:nvSpPr>
        <p:spPr>
          <a:xfrm>
            <a:off x="9256048" y="2231344"/>
            <a:ext cx="2721809" cy="369332"/>
          </a:xfrm>
          <a:prstGeom prst="rect">
            <a:avLst/>
          </a:prstGeom>
          <a:noFill/>
        </p:spPr>
        <p:txBody>
          <a:bodyPr wrap="square" rtlCol="0">
            <a:spAutoFit/>
          </a:bodyPr>
          <a:lstStyle/>
          <a:p>
            <a:pPr algn="ctr"/>
            <a:r>
              <a:rPr lang="en-US" b="1"/>
              <a:t>Single-Core Architecture</a:t>
            </a:r>
          </a:p>
        </p:txBody>
      </p:sp>
    </p:spTree>
    <p:extLst>
      <p:ext uri="{BB962C8B-B14F-4D97-AF65-F5344CB8AC3E}">
        <p14:creationId xmlns:p14="http://schemas.microsoft.com/office/powerpoint/2010/main" val="1597951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8441639-4884-7B72-2D30-43877EE230B9}"/>
              </a:ext>
            </a:extLst>
          </p:cNvPr>
          <p:cNvSpPr txBox="1">
            <a:spLocks/>
          </p:cNvSpPr>
          <p:nvPr/>
        </p:nvSpPr>
        <p:spPr>
          <a:xfrm>
            <a:off x="1391713" y="1590520"/>
            <a:ext cx="4976093" cy="4276611"/>
          </a:xfrm>
          <a:prstGeom prst="rect">
            <a:avLst/>
          </a:prstGeom>
          <a:solidFill>
            <a:schemeClr val="bg1"/>
          </a:solidFill>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endParaRPr lang="en-US"/>
          </a:p>
        </p:txBody>
      </p:sp>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1391713" y="0"/>
            <a:ext cx="10800287" cy="1457366"/>
          </a:xfrm>
        </p:spPr>
        <p:txBody>
          <a:bodyPr/>
          <a:lstStyle/>
          <a:p>
            <a:r>
              <a:rPr lang="en-US" dirty="0"/>
              <a:t>Penny Search Activity</a:t>
            </a:r>
            <a:br>
              <a:rPr lang="en-US" dirty="0"/>
            </a:br>
            <a:r>
              <a:rPr lang="en-US" dirty="0">
                <a:highlight>
                  <a:srgbClr val="FFFF00"/>
                </a:highlight>
              </a:rPr>
              <a:t>PHASE 2</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2606511" y="2238866"/>
            <a:ext cx="4590854" cy="3628265"/>
          </a:xfrm>
        </p:spPr>
        <p:txBody>
          <a:bodyPr anchor="t">
            <a:normAutofit fontScale="92500" lnSpcReduction="10000"/>
          </a:bodyPr>
          <a:lstStyle/>
          <a:p>
            <a:pPr marL="0" indent="0">
              <a:buNone/>
            </a:pPr>
            <a:r>
              <a:rPr lang="en-US" sz="3200" b="1"/>
              <a:t>Student 1 – </a:t>
            </a:r>
            <a:r>
              <a:rPr lang="en-US" sz="3200" b="1">
                <a:solidFill>
                  <a:schemeClr val="accent6">
                    <a:lumMod val="75000"/>
                  </a:schemeClr>
                </a:solidFill>
              </a:rPr>
              <a:t>sorter</a:t>
            </a:r>
          </a:p>
          <a:p>
            <a:pPr marL="0" indent="0">
              <a:buNone/>
            </a:pPr>
            <a:r>
              <a:rPr lang="en-US" sz="3200" b="1"/>
              <a:t>Student 2 – </a:t>
            </a:r>
            <a:r>
              <a:rPr lang="en-US" sz="3200" b="1">
                <a:solidFill>
                  <a:schemeClr val="accent6">
                    <a:lumMod val="75000"/>
                  </a:schemeClr>
                </a:solidFill>
              </a:rPr>
              <a:t>sorter</a:t>
            </a:r>
            <a:endParaRPr lang="en-US" sz="3200" b="1">
              <a:solidFill>
                <a:schemeClr val="accent4"/>
              </a:solidFill>
            </a:endParaRPr>
          </a:p>
          <a:p>
            <a:pPr marL="0" indent="0">
              <a:buNone/>
            </a:pPr>
            <a:r>
              <a:rPr lang="en-US" sz="3200" b="1"/>
              <a:t>Student 3 – </a:t>
            </a:r>
            <a:r>
              <a:rPr lang="en-US" sz="3200" b="1">
                <a:solidFill>
                  <a:schemeClr val="accent4"/>
                </a:solidFill>
              </a:rPr>
              <a:t>timer</a:t>
            </a:r>
            <a:endParaRPr lang="en-US" sz="3200" b="1">
              <a:solidFill>
                <a:schemeClr val="accent1"/>
              </a:solidFill>
            </a:endParaRPr>
          </a:p>
          <a:p>
            <a:pPr marL="0" indent="0">
              <a:buNone/>
            </a:pPr>
            <a:r>
              <a:rPr lang="en-US" sz="3200" b="1"/>
              <a:t>Student 4 – </a:t>
            </a:r>
            <a:r>
              <a:rPr lang="en-US" sz="3200" b="1">
                <a:solidFill>
                  <a:schemeClr val="accent1"/>
                </a:solidFill>
              </a:rPr>
              <a:t>observer</a:t>
            </a:r>
          </a:p>
          <a:p>
            <a:pPr marL="0" indent="0">
              <a:buNone/>
            </a:pPr>
            <a:r>
              <a:rPr lang="en-US" sz="3200" b="1"/>
              <a:t>Student 5 – </a:t>
            </a:r>
            <a:r>
              <a:rPr lang="en-US" sz="3200" b="1">
                <a:solidFill>
                  <a:schemeClr val="accent1"/>
                </a:solidFill>
              </a:rPr>
              <a:t>observer</a:t>
            </a:r>
          </a:p>
          <a:p>
            <a:pPr marL="0" indent="0">
              <a:buNone/>
            </a:pPr>
            <a:r>
              <a:rPr lang="en-US" sz="3200" b="1"/>
              <a:t>Student 6 - </a:t>
            </a:r>
            <a:r>
              <a:rPr lang="en-US" sz="3200" b="1">
                <a:solidFill>
                  <a:schemeClr val="accent1"/>
                </a:solidFill>
              </a:rPr>
              <a:t>observer</a:t>
            </a:r>
          </a:p>
          <a:p>
            <a:pPr marL="0" indent="0">
              <a:buNone/>
            </a:pPr>
            <a:endParaRPr lang="en-US"/>
          </a:p>
          <a:p>
            <a:pPr marL="0" indent="0">
              <a:buNone/>
            </a:pPr>
            <a:endParaRPr lang="en-US"/>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5</a:t>
            </a:fld>
            <a:endParaRPr lang="en-US"/>
          </a:p>
        </p:txBody>
      </p:sp>
      <p:pic>
        <p:nvPicPr>
          <p:cNvPr id="6"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9B2616E7-F37F-DDF0-F912-313BE7D61F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2000" y="3960655"/>
            <a:ext cx="1023125" cy="5316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E4852510-E52C-D867-834B-95F1C4C9AF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2940" y="4557256"/>
            <a:ext cx="1023125" cy="53162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C7AC0290-5B3D-D796-049F-4964ED0EB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652" y="1773866"/>
            <a:ext cx="178383" cy="9268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2024 Lincoln Head Cent">
            <a:extLst>
              <a:ext uri="{FF2B5EF4-FFF2-40B4-BE49-F238E27FC236}">
                <a16:creationId xmlns:a16="http://schemas.microsoft.com/office/drawing/2014/main" id="{A8E6BB6C-F716-7D61-463C-277A1B5512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2227" y="2198207"/>
            <a:ext cx="484284" cy="48428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6 Second Stopwatch - Marathon Watch Company">
            <a:extLst>
              <a:ext uri="{FF2B5EF4-FFF2-40B4-BE49-F238E27FC236}">
                <a16:creationId xmlns:a16="http://schemas.microsoft.com/office/drawing/2014/main" id="{2E55E437-FAE2-7597-CBCE-ABC36BB3BF2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912" t="18865" r="23717" b="9306"/>
          <a:stretch/>
        </p:blipFill>
        <p:spPr bwMode="auto">
          <a:xfrm>
            <a:off x="2114502" y="3259244"/>
            <a:ext cx="490623" cy="63643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Set Of Realistic Human Eyeball Isolated Or Close Up Human Eyeball Retina  With Pupil And Iris Eps Vector Stock Illustration - Download Image Now -  iStock">
            <a:extLst>
              <a:ext uri="{FF2B5EF4-FFF2-40B4-BE49-F238E27FC236}">
                <a16:creationId xmlns:a16="http://schemas.microsoft.com/office/drawing/2014/main" id="{99A9D9CF-3EF7-C6A5-CC0C-39EABC855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2493" y="5129539"/>
            <a:ext cx="1023125" cy="5316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4C468AA-A3F8-F8EC-0EB4-136B3B2C8020}"/>
              </a:ext>
            </a:extLst>
          </p:cNvPr>
          <p:cNvSpPr txBox="1"/>
          <p:nvPr/>
        </p:nvSpPr>
        <p:spPr>
          <a:xfrm>
            <a:off x="1391713" y="1571233"/>
            <a:ext cx="4976093" cy="461665"/>
          </a:xfrm>
          <a:prstGeom prst="rect">
            <a:avLst/>
          </a:prstGeom>
          <a:solidFill>
            <a:schemeClr val="tx1"/>
          </a:solidFill>
        </p:spPr>
        <p:txBody>
          <a:bodyPr wrap="square" rtlCol="0">
            <a:spAutoFit/>
          </a:bodyPr>
          <a:lstStyle/>
          <a:p>
            <a:pPr algn="ctr"/>
            <a:r>
              <a:rPr lang="en-US" sz="2400" b="1">
                <a:solidFill>
                  <a:schemeClr val="bg1"/>
                </a:solidFill>
              </a:rPr>
              <a:t>GROUP MEMBER ROLES</a:t>
            </a:r>
          </a:p>
        </p:txBody>
      </p:sp>
      <p:sp>
        <p:nvSpPr>
          <p:cNvPr id="11" name="Content Placeholder 2">
            <a:extLst>
              <a:ext uri="{FF2B5EF4-FFF2-40B4-BE49-F238E27FC236}">
                <a16:creationId xmlns:a16="http://schemas.microsoft.com/office/drawing/2014/main" id="{46371DB4-FB3E-52E4-70CC-1B3ED5DFED5B}"/>
              </a:ext>
            </a:extLst>
          </p:cNvPr>
          <p:cNvSpPr txBox="1">
            <a:spLocks/>
          </p:cNvSpPr>
          <p:nvPr/>
        </p:nvSpPr>
        <p:spPr>
          <a:xfrm>
            <a:off x="6628739" y="1590520"/>
            <a:ext cx="4976093" cy="4276611"/>
          </a:xfrm>
          <a:prstGeom prst="rect">
            <a:avLst/>
          </a:prstGeom>
          <a:solidFill>
            <a:schemeClr val="bg1"/>
          </a:solidFill>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endParaRPr lang="en-US"/>
          </a:p>
        </p:txBody>
      </p:sp>
      <p:sp>
        <p:nvSpPr>
          <p:cNvPr id="12" name="Content Placeholder 2">
            <a:extLst>
              <a:ext uri="{FF2B5EF4-FFF2-40B4-BE49-F238E27FC236}">
                <a16:creationId xmlns:a16="http://schemas.microsoft.com/office/drawing/2014/main" id="{CD500DC3-8926-C899-4C16-304D2A2E7536}"/>
              </a:ext>
            </a:extLst>
          </p:cNvPr>
          <p:cNvSpPr txBox="1">
            <a:spLocks/>
          </p:cNvSpPr>
          <p:nvPr/>
        </p:nvSpPr>
        <p:spPr>
          <a:xfrm>
            <a:off x="6674613" y="2126455"/>
            <a:ext cx="4590854" cy="3628265"/>
          </a:xfrm>
          <a:prstGeom prst="rect">
            <a:avLst/>
          </a:prstGeom>
        </p:spPr>
        <p:txBody>
          <a:bodyPr vert="horz" lIns="91440" tIns="45720" rIns="91440" bIns="45720" rtlCol="0" anchor="t">
            <a:normAutofit fontScale="70000" lnSpcReduction="200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r>
              <a:rPr lang="en-US" sz="3200" b="1">
                <a:solidFill>
                  <a:schemeClr val="accent6">
                    <a:lumMod val="75000"/>
                  </a:schemeClr>
                </a:solidFill>
              </a:rPr>
              <a:t>Sorters – look at each penny in your individual bags one at a time to find the oldest penny. You can’t get help from other students. Then, when you have BOTH found the oldest in your bags, compare your oldest and select the oldest between the two.</a:t>
            </a:r>
          </a:p>
          <a:p>
            <a:pPr marL="0" indent="0">
              <a:buFont typeface="Arial"/>
              <a:buNone/>
            </a:pPr>
            <a:r>
              <a:rPr lang="en-US" sz="3200" b="1">
                <a:solidFill>
                  <a:schemeClr val="accent4"/>
                </a:solidFill>
              </a:rPr>
              <a:t>Timer – time how long it takes for the sorters to find the oldest penny. Then, write the time on your group’s lab sheet beside PHASE 2.</a:t>
            </a:r>
          </a:p>
          <a:p>
            <a:pPr marL="0" indent="0">
              <a:buFont typeface="Arial"/>
              <a:buNone/>
            </a:pPr>
            <a:endParaRPr lang="en-US"/>
          </a:p>
          <a:p>
            <a:pPr marL="0" indent="0">
              <a:buFont typeface="Arial"/>
              <a:buNone/>
            </a:pPr>
            <a:endParaRPr lang="en-US"/>
          </a:p>
        </p:txBody>
      </p:sp>
      <p:sp>
        <p:nvSpPr>
          <p:cNvPr id="13" name="TextBox 12">
            <a:extLst>
              <a:ext uri="{FF2B5EF4-FFF2-40B4-BE49-F238E27FC236}">
                <a16:creationId xmlns:a16="http://schemas.microsoft.com/office/drawing/2014/main" id="{26CAABBC-6E6D-A595-7EB1-D782C4BDC312}"/>
              </a:ext>
            </a:extLst>
          </p:cNvPr>
          <p:cNvSpPr txBox="1"/>
          <p:nvPr/>
        </p:nvSpPr>
        <p:spPr>
          <a:xfrm>
            <a:off x="6628739" y="1571233"/>
            <a:ext cx="4976093" cy="461665"/>
          </a:xfrm>
          <a:prstGeom prst="rect">
            <a:avLst/>
          </a:prstGeom>
          <a:solidFill>
            <a:schemeClr val="tx1"/>
          </a:solidFill>
        </p:spPr>
        <p:txBody>
          <a:bodyPr wrap="square" rtlCol="0">
            <a:spAutoFit/>
          </a:bodyPr>
          <a:lstStyle/>
          <a:p>
            <a:pPr algn="ctr"/>
            <a:r>
              <a:rPr lang="en-US" sz="2400" b="1">
                <a:solidFill>
                  <a:schemeClr val="bg1"/>
                </a:solidFill>
              </a:rPr>
              <a:t>What You Do</a:t>
            </a:r>
          </a:p>
        </p:txBody>
      </p:sp>
      <p:pic>
        <p:nvPicPr>
          <p:cNvPr id="4" name="Picture 8" descr="2024 Lincoln Head Cent">
            <a:extLst>
              <a:ext uri="{FF2B5EF4-FFF2-40B4-BE49-F238E27FC236}">
                <a16:creationId xmlns:a16="http://schemas.microsoft.com/office/drawing/2014/main" id="{245F1532-9C99-9FA9-DDB1-8FD7121590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7067" y="2754634"/>
            <a:ext cx="484284" cy="484284"/>
          </a:xfrm>
          <a:prstGeom prst="rect">
            <a:avLst/>
          </a:prstGeom>
          <a:noFill/>
          <a:extLst>
            <a:ext uri="{909E8E84-426E-40DD-AFC4-6F175D3DCCD1}">
              <a14:hiddenFill xmlns:a14="http://schemas.microsoft.com/office/drawing/2010/main">
                <a:solidFill>
                  <a:srgbClr val="FFFFFF"/>
                </a:solidFill>
              </a14:hiddenFill>
            </a:ext>
          </a:extLst>
        </p:spPr>
      </p:pic>
      <p:sp>
        <p:nvSpPr>
          <p:cNvPr id="14" name="Callout: Right Arrow 13">
            <a:extLst>
              <a:ext uri="{FF2B5EF4-FFF2-40B4-BE49-F238E27FC236}">
                <a16:creationId xmlns:a16="http://schemas.microsoft.com/office/drawing/2014/main" id="{89479388-35B4-D47D-95CC-6C8CBAD4FD15}"/>
              </a:ext>
            </a:extLst>
          </p:cNvPr>
          <p:cNvSpPr/>
          <p:nvPr/>
        </p:nvSpPr>
        <p:spPr>
          <a:xfrm>
            <a:off x="42421" y="1156735"/>
            <a:ext cx="1913641" cy="2656407"/>
          </a:xfrm>
          <a:prstGeom prst="rightArrowCallou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b="1">
                <a:solidFill>
                  <a:sysClr val="windowText" lastClr="000000"/>
                </a:solidFill>
              </a:rPr>
              <a:t>Suggest making observers from Phase 1 be sorters/ timer in Phase 2!</a:t>
            </a:r>
          </a:p>
        </p:txBody>
      </p:sp>
      <p:sp>
        <p:nvSpPr>
          <p:cNvPr id="16" name="Oval 15">
            <a:extLst>
              <a:ext uri="{FF2B5EF4-FFF2-40B4-BE49-F238E27FC236}">
                <a16:creationId xmlns:a16="http://schemas.microsoft.com/office/drawing/2014/main" id="{034A7871-BD42-D9DA-9488-0D78566AA070}"/>
              </a:ext>
            </a:extLst>
          </p:cNvPr>
          <p:cNvSpPr/>
          <p:nvPr/>
        </p:nvSpPr>
        <p:spPr>
          <a:xfrm>
            <a:off x="9681328" y="169682"/>
            <a:ext cx="2276573" cy="1253765"/>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b="1"/>
              <a:t>Each group gets 2 bags of 25 pennies!</a:t>
            </a:r>
          </a:p>
        </p:txBody>
      </p:sp>
    </p:spTree>
    <p:extLst>
      <p:ext uri="{BB962C8B-B14F-4D97-AF65-F5344CB8AC3E}">
        <p14:creationId xmlns:p14="http://schemas.microsoft.com/office/powerpoint/2010/main" val="3804518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1391713" y="0"/>
            <a:ext cx="10800287" cy="1457366"/>
          </a:xfrm>
        </p:spPr>
        <p:txBody>
          <a:bodyPr/>
          <a:lstStyle/>
          <a:p>
            <a:r>
              <a:rPr lang="en-US" dirty="0"/>
              <a:t>Penny Search Activity</a:t>
            </a:r>
            <a:br>
              <a:rPr lang="en-US" dirty="0"/>
            </a:br>
            <a:r>
              <a:rPr lang="en-US" dirty="0">
                <a:highlight>
                  <a:srgbClr val="FFFF00"/>
                </a:highlight>
              </a:rPr>
              <a:t>PHASE 2 - Discussion</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6</a:t>
            </a:fld>
            <a:endParaRPr lang="en-US"/>
          </a:p>
        </p:txBody>
      </p:sp>
      <p:pic>
        <p:nvPicPr>
          <p:cNvPr id="8"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C7AC0290-5B3D-D796-049F-4964ED0EB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652" y="1773866"/>
            <a:ext cx="178383" cy="9268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1lb Bag of Lincoln Wheat-Ear Pennies ...">
            <a:extLst>
              <a:ext uri="{FF2B5EF4-FFF2-40B4-BE49-F238E27FC236}">
                <a16:creationId xmlns:a16="http://schemas.microsoft.com/office/drawing/2014/main" id="{B32CB3B8-D361-039C-5C81-4F3FF8EA8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85" y="145336"/>
            <a:ext cx="1905328" cy="190532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DF5FAE-BC2C-914A-ADFC-342824D45866}"/>
              </a:ext>
            </a:extLst>
          </p:cNvPr>
          <p:cNvSpPr txBox="1"/>
          <p:nvPr/>
        </p:nvSpPr>
        <p:spPr>
          <a:xfrm>
            <a:off x="1791229" y="2196000"/>
            <a:ext cx="5760142" cy="4562951"/>
          </a:xfrm>
          <a:prstGeom prst="roundRect">
            <a:avLst/>
          </a:prstGeom>
          <a:solidFill>
            <a:schemeClr val="accent1">
              <a:lumMod val="20000"/>
              <a:lumOff val="80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sz="2200" b="1">
                <a:ln w="0"/>
                <a:solidFill>
                  <a:schemeClr val="tx1"/>
                </a:solidFill>
                <a:effectLst>
                  <a:outerShdw blurRad="38100" dist="19050" dir="2700000" algn="tl" rotWithShape="0">
                    <a:schemeClr val="dk1">
                      <a:alpha val="40000"/>
                    </a:schemeClr>
                  </a:outerShdw>
                </a:effectLst>
              </a:rPr>
              <a:t>What did PHASE 2 represent?</a:t>
            </a:r>
          </a:p>
          <a:p>
            <a:r>
              <a:rPr lang="en-US" sz="2400">
                <a:solidFill>
                  <a:schemeClr val="tx1"/>
                </a:solidFill>
              </a:rPr>
              <a:t>In this phase, two independent tasks (sorting two separate bags) are executed </a:t>
            </a:r>
            <a:r>
              <a:rPr lang="en-US" sz="2400" b="1" u="sng">
                <a:solidFill>
                  <a:schemeClr val="tx1"/>
                </a:solidFill>
              </a:rPr>
              <a:t>concurrently</a:t>
            </a:r>
            <a:r>
              <a:rPr lang="en-US" sz="2400">
                <a:solidFill>
                  <a:schemeClr val="tx1"/>
                </a:solidFill>
              </a:rPr>
              <a:t>. This represents </a:t>
            </a:r>
            <a:r>
              <a:rPr lang="en-US" sz="2400" b="1" u="sng">
                <a:solidFill>
                  <a:schemeClr val="tx1"/>
                </a:solidFill>
              </a:rPr>
              <a:t>task parallelism</a:t>
            </a:r>
            <a:r>
              <a:rPr lang="en-US" sz="2400">
                <a:solidFill>
                  <a:schemeClr val="tx1"/>
                </a:solidFill>
              </a:rPr>
              <a:t>, where multiple workers perform tasks in parallel and then synchronize (compare results) at the end. The </a:t>
            </a:r>
            <a:r>
              <a:rPr lang="en-US" sz="2400" b="1" u="sng">
                <a:solidFill>
                  <a:schemeClr val="tx1"/>
                </a:solidFill>
              </a:rPr>
              <a:t>synchronization</a:t>
            </a:r>
            <a:r>
              <a:rPr lang="en-US" sz="2400">
                <a:solidFill>
                  <a:schemeClr val="tx1"/>
                </a:solidFill>
              </a:rPr>
              <a:t> step is the comparison of the oldest pennies from the two bags, which ensures that the final result is the overall oldest penny.</a:t>
            </a:r>
          </a:p>
        </p:txBody>
      </p:sp>
      <p:sp>
        <p:nvSpPr>
          <p:cNvPr id="13" name="TextBox 12">
            <a:extLst>
              <a:ext uri="{FF2B5EF4-FFF2-40B4-BE49-F238E27FC236}">
                <a16:creationId xmlns:a16="http://schemas.microsoft.com/office/drawing/2014/main" id="{26CAABBC-6E6D-A595-7EB1-D782C4BDC312}"/>
              </a:ext>
            </a:extLst>
          </p:cNvPr>
          <p:cNvSpPr txBox="1"/>
          <p:nvPr/>
        </p:nvSpPr>
        <p:spPr>
          <a:xfrm>
            <a:off x="1791228" y="1638348"/>
            <a:ext cx="10001253" cy="442674"/>
          </a:xfrm>
          <a:prstGeom prst="roundRect">
            <a:avLst/>
          </a:prstGeom>
          <a:solidFill>
            <a:schemeClr val="tx1"/>
          </a:solidFill>
        </p:spPr>
        <p:txBody>
          <a:bodyPr wrap="square" rtlCol="0">
            <a:spAutoFit/>
          </a:bodyPr>
          <a:lstStyle/>
          <a:p>
            <a:r>
              <a:rPr lang="en-US" sz="2000" b="1">
                <a:solidFill>
                  <a:schemeClr val="bg1"/>
                </a:solidFill>
              </a:rPr>
              <a:t>Return your bags of pennies to the lab instructors.</a:t>
            </a:r>
          </a:p>
        </p:txBody>
      </p:sp>
      <p:sp>
        <p:nvSpPr>
          <p:cNvPr id="5" name="Rectangle: Rounded Corners 4">
            <a:extLst>
              <a:ext uri="{FF2B5EF4-FFF2-40B4-BE49-F238E27FC236}">
                <a16:creationId xmlns:a16="http://schemas.microsoft.com/office/drawing/2014/main" id="{EE13805E-A019-E548-BDBB-FE8D3463C51A}"/>
              </a:ext>
            </a:extLst>
          </p:cNvPr>
          <p:cNvSpPr/>
          <p:nvPr/>
        </p:nvSpPr>
        <p:spPr>
          <a:xfrm>
            <a:off x="7708816" y="2569882"/>
            <a:ext cx="4269043" cy="2896197"/>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a:t>CPU</a:t>
            </a:r>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p:txBody>
      </p:sp>
      <p:sp>
        <p:nvSpPr>
          <p:cNvPr id="4" name="Oval 3">
            <a:extLst>
              <a:ext uri="{FF2B5EF4-FFF2-40B4-BE49-F238E27FC236}">
                <a16:creationId xmlns:a16="http://schemas.microsoft.com/office/drawing/2014/main" id="{1565B860-30F2-86F4-5C47-B00BAC15926F}"/>
              </a:ext>
            </a:extLst>
          </p:cNvPr>
          <p:cNvSpPr/>
          <p:nvPr/>
        </p:nvSpPr>
        <p:spPr>
          <a:xfrm>
            <a:off x="10262094" y="3067805"/>
            <a:ext cx="1097280" cy="1097280"/>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CORE 1</a:t>
            </a:r>
          </a:p>
        </p:txBody>
      </p:sp>
      <p:sp>
        <p:nvSpPr>
          <p:cNvPr id="6" name="Rectangle 5">
            <a:extLst>
              <a:ext uri="{FF2B5EF4-FFF2-40B4-BE49-F238E27FC236}">
                <a16:creationId xmlns:a16="http://schemas.microsoft.com/office/drawing/2014/main" id="{39177BDB-B10B-6BFA-5FD0-C584D4B63567}"/>
              </a:ext>
            </a:extLst>
          </p:cNvPr>
          <p:cNvSpPr/>
          <p:nvPr/>
        </p:nvSpPr>
        <p:spPr>
          <a:xfrm>
            <a:off x="10012875" y="4596999"/>
            <a:ext cx="1595717" cy="4888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L2 Cache</a:t>
            </a:r>
          </a:p>
        </p:txBody>
      </p:sp>
      <p:sp>
        <p:nvSpPr>
          <p:cNvPr id="7" name="Rectangle 6">
            <a:extLst>
              <a:ext uri="{FF2B5EF4-FFF2-40B4-BE49-F238E27FC236}">
                <a16:creationId xmlns:a16="http://schemas.microsoft.com/office/drawing/2014/main" id="{7DB254AB-03DC-B39F-82C6-F0CBC17628EC}"/>
              </a:ext>
            </a:extLst>
          </p:cNvPr>
          <p:cNvSpPr/>
          <p:nvPr/>
        </p:nvSpPr>
        <p:spPr>
          <a:xfrm>
            <a:off x="8144656" y="5685243"/>
            <a:ext cx="3463936" cy="48886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Memory</a:t>
            </a:r>
          </a:p>
        </p:txBody>
      </p:sp>
      <p:cxnSp>
        <p:nvCxnSpPr>
          <p:cNvPr id="10" name="Straight Arrow Connector 9">
            <a:extLst>
              <a:ext uri="{FF2B5EF4-FFF2-40B4-BE49-F238E27FC236}">
                <a16:creationId xmlns:a16="http://schemas.microsoft.com/office/drawing/2014/main" id="{5ECD2451-8A80-2A7B-AAB2-57E7E80AA955}"/>
              </a:ext>
            </a:extLst>
          </p:cNvPr>
          <p:cNvCxnSpPr>
            <a:stCxn id="4" idx="4"/>
            <a:endCxn id="6" idx="0"/>
          </p:cNvCxnSpPr>
          <p:nvPr/>
        </p:nvCxnSpPr>
        <p:spPr>
          <a:xfrm>
            <a:off x="10810734" y="4165085"/>
            <a:ext cx="0" cy="431914"/>
          </a:xfrm>
          <a:prstGeom prst="straightConnector1">
            <a:avLst/>
          </a:prstGeom>
          <a:ln w="381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44F2990-870D-A7C5-DF1A-A22CD4F03353}"/>
              </a:ext>
            </a:extLst>
          </p:cNvPr>
          <p:cNvCxnSpPr>
            <a:cxnSpLocks/>
            <a:stCxn id="9" idx="4"/>
            <a:endCxn id="12" idx="0"/>
          </p:cNvCxnSpPr>
          <p:nvPr/>
        </p:nvCxnSpPr>
        <p:spPr>
          <a:xfrm>
            <a:off x="8901859" y="4154325"/>
            <a:ext cx="0" cy="442674"/>
          </a:xfrm>
          <a:prstGeom prst="straightConnector1">
            <a:avLst/>
          </a:prstGeom>
          <a:ln w="381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6A5A1FA-60BE-0BA1-6987-1892E01489B1}"/>
              </a:ext>
            </a:extLst>
          </p:cNvPr>
          <p:cNvSpPr txBox="1"/>
          <p:nvPr/>
        </p:nvSpPr>
        <p:spPr>
          <a:xfrm>
            <a:off x="7708816" y="2231344"/>
            <a:ext cx="4269042" cy="369332"/>
          </a:xfrm>
          <a:prstGeom prst="rect">
            <a:avLst/>
          </a:prstGeom>
          <a:noFill/>
        </p:spPr>
        <p:txBody>
          <a:bodyPr wrap="square" rtlCol="0">
            <a:spAutoFit/>
          </a:bodyPr>
          <a:lstStyle/>
          <a:p>
            <a:pPr algn="ctr"/>
            <a:r>
              <a:rPr lang="en-US" b="1"/>
              <a:t>Multi-Core Architecture</a:t>
            </a:r>
          </a:p>
        </p:txBody>
      </p:sp>
      <p:sp>
        <p:nvSpPr>
          <p:cNvPr id="9" name="Oval 8">
            <a:extLst>
              <a:ext uri="{FF2B5EF4-FFF2-40B4-BE49-F238E27FC236}">
                <a16:creationId xmlns:a16="http://schemas.microsoft.com/office/drawing/2014/main" id="{323FF613-9A40-6F0D-45CF-17A586192EF2}"/>
              </a:ext>
            </a:extLst>
          </p:cNvPr>
          <p:cNvSpPr/>
          <p:nvPr/>
        </p:nvSpPr>
        <p:spPr>
          <a:xfrm>
            <a:off x="8353219" y="3057045"/>
            <a:ext cx="1097280" cy="1097280"/>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CORE 0</a:t>
            </a:r>
          </a:p>
        </p:txBody>
      </p:sp>
      <p:sp>
        <p:nvSpPr>
          <p:cNvPr id="12" name="Rectangle 11">
            <a:extLst>
              <a:ext uri="{FF2B5EF4-FFF2-40B4-BE49-F238E27FC236}">
                <a16:creationId xmlns:a16="http://schemas.microsoft.com/office/drawing/2014/main" id="{2BFAD6FA-D25C-0EFC-F693-9C61A268B988}"/>
              </a:ext>
            </a:extLst>
          </p:cNvPr>
          <p:cNvSpPr/>
          <p:nvPr/>
        </p:nvSpPr>
        <p:spPr>
          <a:xfrm>
            <a:off x="8104000" y="4596999"/>
            <a:ext cx="1595717" cy="4888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L2 Cache</a:t>
            </a:r>
          </a:p>
        </p:txBody>
      </p:sp>
      <p:cxnSp>
        <p:nvCxnSpPr>
          <p:cNvPr id="29" name="Connector: Elbow 28">
            <a:extLst>
              <a:ext uri="{FF2B5EF4-FFF2-40B4-BE49-F238E27FC236}">
                <a16:creationId xmlns:a16="http://schemas.microsoft.com/office/drawing/2014/main" id="{B725E90E-6E3A-9CE2-2302-BB740ACD80D4}"/>
              </a:ext>
            </a:extLst>
          </p:cNvPr>
          <p:cNvCxnSpPr>
            <a:cxnSpLocks/>
            <a:stCxn id="12" idx="2"/>
            <a:endCxn id="7" idx="0"/>
          </p:cNvCxnSpPr>
          <p:nvPr/>
        </p:nvCxnSpPr>
        <p:spPr>
          <a:xfrm rot="16200000" flipH="1">
            <a:off x="9089549" y="4898168"/>
            <a:ext cx="599384" cy="974765"/>
          </a:xfrm>
          <a:prstGeom prst="bentConnector3">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D094409C-0891-8F28-A6C6-B67A5B96DA0A}"/>
              </a:ext>
            </a:extLst>
          </p:cNvPr>
          <p:cNvCxnSpPr>
            <a:cxnSpLocks/>
            <a:stCxn id="6" idx="2"/>
            <a:endCxn id="7" idx="0"/>
          </p:cNvCxnSpPr>
          <p:nvPr/>
        </p:nvCxnSpPr>
        <p:spPr>
          <a:xfrm rot="5400000">
            <a:off x="10043987" y="4918496"/>
            <a:ext cx="599384" cy="934110"/>
          </a:xfrm>
          <a:prstGeom prst="bentConnector3">
            <a:avLst>
              <a:gd name="adj1" fmla="val 50000"/>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0647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1391713" y="0"/>
            <a:ext cx="10800287" cy="1457366"/>
          </a:xfrm>
        </p:spPr>
        <p:txBody>
          <a:bodyPr/>
          <a:lstStyle/>
          <a:p>
            <a:r>
              <a:rPr lang="en-US" dirty="0"/>
              <a:t>Penny Search Activity </a:t>
            </a:r>
            <a:br>
              <a:rPr lang="en-US" dirty="0"/>
            </a:br>
            <a:r>
              <a:rPr lang="en-US" dirty="0">
                <a:highlight>
                  <a:srgbClr val="FFFF00"/>
                </a:highlight>
              </a:rPr>
              <a:t>PHASE 2 - Discussion</a:t>
            </a:r>
          </a:p>
        </p:txBody>
      </p:sp>
      <p:pic>
        <p:nvPicPr>
          <p:cNvPr id="3076" name="Picture 4" descr="1lb Bag of Lincoln Wheat-Ear Pennies ...">
            <a:extLst>
              <a:ext uri="{FF2B5EF4-FFF2-40B4-BE49-F238E27FC236}">
                <a16:creationId xmlns:a16="http://schemas.microsoft.com/office/drawing/2014/main" id="{B32CB3B8-D361-039C-5C81-4F3FF8EA8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85" y="145336"/>
            <a:ext cx="1905328" cy="190532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DF5FAE-BC2C-914A-ADFC-342824D45866}"/>
              </a:ext>
            </a:extLst>
          </p:cNvPr>
          <p:cNvSpPr txBox="1"/>
          <p:nvPr/>
        </p:nvSpPr>
        <p:spPr>
          <a:xfrm>
            <a:off x="1791228" y="2196000"/>
            <a:ext cx="10001253" cy="4494848"/>
          </a:xfrm>
          <a:prstGeom prst="roundRect">
            <a:avLst/>
          </a:prstGeom>
          <a:solidFill>
            <a:schemeClr val="accent1">
              <a:lumMod val="20000"/>
              <a:lumOff val="80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sz="2200" b="1">
                <a:ln w="0"/>
                <a:solidFill>
                  <a:schemeClr val="tx1"/>
                </a:solidFill>
                <a:effectLst>
                  <a:outerShdw blurRad="38100" dist="19050" dir="2700000" algn="tl" rotWithShape="0">
                    <a:schemeClr val="dk1">
                      <a:alpha val="40000"/>
                    </a:schemeClr>
                  </a:outerShdw>
                </a:effectLst>
              </a:rPr>
              <a:t>Discussion Questions:</a:t>
            </a:r>
          </a:p>
          <a:p>
            <a:pPr marL="457200" indent="-457200">
              <a:buFont typeface="+mj-lt"/>
              <a:buAutoNum type="arabicPeriod"/>
            </a:pPr>
            <a:r>
              <a:rPr lang="en-US" sz="2400">
                <a:ln w="0"/>
                <a:solidFill>
                  <a:schemeClr val="tx1"/>
                </a:solidFill>
                <a:effectLst>
                  <a:outerShdw blurRad="38100" dist="19050" dir="2700000" algn="tl" rotWithShape="0">
                    <a:schemeClr val="dk1">
                      <a:alpha val="40000"/>
                    </a:schemeClr>
                  </a:outerShdw>
                </a:effectLst>
              </a:rPr>
              <a:t>How did dividing the task between two people (parallel sorting) affect the overall time compared to Phase 1 (sequential sorting)? Did you experience speedup?</a:t>
            </a:r>
            <a:br>
              <a:rPr lang="en-US" sz="2400">
                <a:ln w="0"/>
                <a:solidFill>
                  <a:schemeClr val="tx1"/>
                </a:solidFill>
                <a:effectLst>
                  <a:outerShdw blurRad="38100" dist="19050" dir="2700000" algn="tl" rotWithShape="0">
                    <a:schemeClr val="dk1">
                      <a:alpha val="40000"/>
                    </a:schemeClr>
                  </a:outerShdw>
                </a:effectLst>
              </a:rPr>
            </a:br>
            <a:endParaRPr lang="en-US" sz="2400">
              <a:ln w="0"/>
              <a:solidFill>
                <a:schemeClr val="tx1"/>
              </a:solidFill>
              <a:effectLst>
                <a:outerShdw blurRad="38100" dist="19050" dir="2700000" algn="tl" rotWithShape="0">
                  <a:schemeClr val="dk1">
                    <a:alpha val="40000"/>
                  </a:schemeClr>
                </a:outerShdw>
              </a:effectLst>
            </a:endParaRPr>
          </a:p>
          <a:p>
            <a:pPr marL="457200" indent="-457200">
              <a:buFont typeface="+mj-lt"/>
              <a:buAutoNum type="arabicPeriod"/>
            </a:pPr>
            <a:r>
              <a:rPr lang="en-US" sz="2400">
                <a:ln w="0"/>
                <a:solidFill>
                  <a:schemeClr val="tx1"/>
                </a:solidFill>
                <a:effectLst>
                  <a:outerShdw blurRad="38100" dist="19050" dir="2700000" algn="tl" rotWithShape="0">
                    <a:schemeClr val="dk1">
                      <a:alpha val="40000"/>
                    </a:schemeClr>
                  </a:outerShdw>
                </a:effectLst>
              </a:rPr>
              <a:t>If each person worked at different speeds, how might that affect the overall time it takes to find the oldest penny?</a:t>
            </a:r>
            <a:br>
              <a:rPr lang="en-US" sz="2400">
                <a:ln w="0"/>
                <a:solidFill>
                  <a:schemeClr val="tx1"/>
                </a:solidFill>
                <a:effectLst>
                  <a:outerShdw blurRad="38100" dist="19050" dir="2700000" algn="tl" rotWithShape="0">
                    <a:schemeClr val="dk1">
                      <a:alpha val="40000"/>
                    </a:schemeClr>
                  </a:outerShdw>
                </a:effectLst>
              </a:rPr>
            </a:br>
            <a:endParaRPr lang="en-US" sz="2400">
              <a:ln w="0"/>
              <a:solidFill>
                <a:schemeClr val="tx1"/>
              </a:solidFill>
              <a:effectLst>
                <a:outerShdw blurRad="38100" dist="19050" dir="2700000" algn="tl" rotWithShape="0">
                  <a:schemeClr val="dk1">
                    <a:alpha val="40000"/>
                  </a:schemeClr>
                </a:outerShdw>
              </a:effectLst>
            </a:endParaRPr>
          </a:p>
          <a:p>
            <a:pPr marL="457200" indent="-457200">
              <a:buFont typeface="+mj-lt"/>
              <a:buAutoNum type="arabicPeriod"/>
            </a:pPr>
            <a:r>
              <a:rPr lang="en-US" sz="2400">
                <a:ln w="0"/>
                <a:solidFill>
                  <a:schemeClr val="tx1"/>
                </a:solidFill>
                <a:effectLst>
                  <a:outerShdw blurRad="38100" dist="19050" dir="2700000" algn="tl" rotWithShape="0">
                    <a:schemeClr val="dk1">
                      <a:alpha val="40000"/>
                    </a:schemeClr>
                  </a:outerShdw>
                </a:effectLst>
              </a:rPr>
              <a:t>Would adding more people (more sorters with smaller bags of pennies) make this task faster? Why or why not?</a:t>
            </a:r>
          </a:p>
          <a:p>
            <a:pPr marL="457200" indent="-457200">
              <a:buFont typeface="+mj-lt"/>
              <a:buAutoNum type="arabicPeriod"/>
            </a:pPr>
            <a:endParaRPr lang="en-US" sz="2000">
              <a:ln w="0"/>
              <a:solidFill>
                <a:schemeClr val="tx1"/>
              </a:solidFill>
              <a:effectLst>
                <a:outerShdw blurRad="38100" dist="19050" dir="2700000" algn="tl" rotWithShape="0">
                  <a:schemeClr val="dk1">
                    <a:alpha val="40000"/>
                  </a:schemeClr>
                </a:outerShdw>
              </a:effectLst>
            </a:endParaRPr>
          </a:p>
        </p:txBody>
      </p:sp>
      <p:sp>
        <p:nvSpPr>
          <p:cNvPr id="13" name="TextBox 12">
            <a:extLst>
              <a:ext uri="{FF2B5EF4-FFF2-40B4-BE49-F238E27FC236}">
                <a16:creationId xmlns:a16="http://schemas.microsoft.com/office/drawing/2014/main" id="{26CAABBC-6E6D-A595-7EB1-D782C4BDC312}"/>
              </a:ext>
            </a:extLst>
          </p:cNvPr>
          <p:cNvSpPr txBox="1"/>
          <p:nvPr/>
        </p:nvSpPr>
        <p:spPr>
          <a:xfrm>
            <a:off x="1791228" y="1638348"/>
            <a:ext cx="10001253" cy="442674"/>
          </a:xfrm>
          <a:prstGeom prst="roundRect">
            <a:avLst/>
          </a:prstGeom>
          <a:solidFill>
            <a:schemeClr val="tx1"/>
          </a:solidFill>
        </p:spPr>
        <p:txBody>
          <a:bodyPr wrap="square" rtlCol="0">
            <a:spAutoFit/>
          </a:bodyPr>
          <a:lstStyle/>
          <a:p>
            <a:r>
              <a:rPr lang="en-US" sz="2000" b="1">
                <a:solidFill>
                  <a:schemeClr val="bg1"/>
                </a:solidFill>
              </a:rPr>
              <a:t>Return your bags of pennies to the lab instructors.</a:t>
            </a:r>
          </a:p>
        </p:txBody>
      </p:sp>
    </p:spTree>
    <p:extLst>
      <p:ext uri="{BB962C8B-B14F-4D97-AF65-F5344CB8AC3E}">
        <p14:creationId xmlns:p14="http://schemas.microsoft.com/office/powerpoint/2010/main" val="1904764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9D2C3-1023-20F6-4FE7-CBFBA8A2DA0B}"/>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BE59F3CD-6C28-A7E1-B637-FCB38F4E87E6}"/>
              </a:ext>
            </a:extLst>
          </p:cNvPr>
          <p:cNvSpPr txBox="1">
            <a:spLocks/>
          </p:cNvSpPr>
          <p:nvPr/>
        </p:nvSpPr>
        <p:spPr>
          <a:xfrm>
            <a:off x="1590988" y="1667191"/>
            <a:ext cx="5333228" cy="4212895"/>
          </a:xfrm>
          <a:prstGeom prst="rect">
            <a:avLst/>
          </a:prstGeom>
          <a:solidFill>
            <a:schemeClr val="bg1"/>
          </a:solidFill>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endParaRPr lang="en-US"/>
          </a:p>
        </p:txBody>
      </p:sp>
      <p:sp>
        <p:nvSpPr>
          <p:cNvPr id="2" name="Title 1">
            <a:extLst>
              <a:ext uri="{FF2B5EF4-FFF2-40B4-BE49-F238E27FC236}">
                <a16:creationId xmlns:a16="http://schemas.microsoft.com/office/drawing/2014/main" id="{337B4DE5-81F8-35D2-6415-5ECFC8458AE2}"/>
              </a:ext>
            </a:extLst>
          </p:cNvPr>
          <p:cNvSpPr>
            <a:spLocks noGrp="1"/>
          </p:cNvSpPr>
          <p:nvPr>
            <p:ph type="title"/>
          </p:nvPr>
        </p:nvSpPr>
        <p:spPr>
          <a:xfrm>
            <a:off x="1391713" y="0"/>
            <a:ext cx="10800287" cy="1457366"/>
          </a:xfrm>
        </p:spPr>
        <p:txBody>
          <a:bodyPr/>
          <a:lstStyle/>
          <a:p>
            <a:r>
              <a:rPr lang="en-US" dirty="0"/>
              <a:t>Penny Search Activity</a:t>
            </a:r>
            <a:br>
              <a:rPr lang="en-US" dirty="0"/>
            </a:br>
            <a:r>
              <a:rPr lang="en-US" dirty="0">
                <a:highlight>
                  <a:srgbClr val="FFFF00"/>
                </a:highlight>
              </a:rPr>
              <a:t>PHASE 3</a:t>
            </a:r>
          </a:p>
        </p:txBody>
      </p:sp>
      <p:sp>
        <p:nvSpPr>
          <p:cNvPr id="3" name="Content Placeholder 2">
            <a:extLst>
              <a:ext uri="{FF2B5EF4-FFF2-40B4-BE49-F238E27FC236}">
                <a16:creationId xmlns:a16="http://schemas.microsoft.com/office/drawing/2014/main" id="{72EAC6BB-A263-F8D9-DB1F-21ED98623F50}"/>
              </a:ext>
            </a:extLst>
          </p:cNvPr>
          <p:cNvSpPr>
            <a:spLocks noGrp="1"/>
          </p:cNvSpPr>
          <p:nvPr>
            <p:ph idx="1"/>
          </p:nvPr>
        </p:nvSpPr>
        <p:spPr>
          <a:xfrm>
            <a:off x="2305262" y="2336280"/>
            <a:ext cx="4590854" cy="3628265"/>
          </a:xfrm>
        </p:spPr>
        <p:txBody>
          <a:bodyPr anchor="t">
            <a:normAutofit fontScale="92500" lnSpcReduction="10000"/>
          </a:bodyPr>
          <a:lstStyle/>
          <a:p>
            <a:pPr marL="0" indent="0">
              <a:buNone/>
            </a:pPr>
            <a:r>
              <a:rPr lang="en-US" sz="3200" b="1"/>
              <a:t>Student 1 – </a:t>
            </a:r>
            <a:r>
              <a:rPr lang="en-US" sz="3200" b="1">
                <a:solidFill>
                  <a:schemeClr val="accent4"/>
                </a:solidFill>
              </a:rPr>
              <a:t>timer</a:t>
            </a:r>
            <a:r>
              <a:rPr lang="en-US" sz="3200" b="1">
                <a:solidFill>
                  <a:schemeClr val="accent6">
                    <a:lumMod val="75000"/>
                  </a:schemeClr>
                </a:solidFill>
              </a:rPr>
              <a:t> </a:t>
            </a:r>
          </a:p>
          <a:p>
            <a:pPr marL="0" indent="0">
              <a:buNone/>
            </a:pPr>
            <a:r>
              <a:rPr lang="en-US" sz="3200" b="1"/>
              <a:t>Student 2 – </a:t>
            </a:r>
            <a:r>
              <a:rPr lang="en-US" sz="3200" b="1">
                <a:solidFill>
                  <a:schemeClr val="accent6">
                    <a:lumMod val="75000"/>
                  </a:schemeClr>
                </a:solidFill>
              </a:rPr>
              <a:t>large-sorter</a:t>
            </a:r>
          </a:p>
          <a:p>
            <a:pPr marL="0" indent="0">
              <a:buNone/>
            </a:pPr>
            <a:r>
              <a:rPr lang="en-US" sz="3200" b="1"/>
              <a:t>Student 3 – </a:t>
            </a:r>
            <a:r>
              <a:rPr lang="en-US" sz="3200" b="1">
                <a:solidFill>
                  <a:schemeClr val="accent6">
                    <a:lumMod val="75000"/>
                  </a:schemeClr>
                </a:solidFill>
              </a:rPr>
              <a:t>mini-sorter</a:t>
            </a:r>
            <a:endParaRPr lang="en-US" sz="3200" b="1">
              <a:solidFill>
                <a:schemeClr val="accent1"/>
              </a:solidFill>
            </a:endParaRPr>
          </a:p>
          <a:p>
            <a:pPr marL="0" indent="0">
              <a:buNone/>
            </a:pPr>
            <a:r>
              <a:rPr lang="en-US" sz="3200" b="1"/>
              <a:t>Student 4 – </a:t>
            </a:r>
            <a:r>
              <a:rPr lang="en-US" sz="3200" b="1">
                <a:solidFill>
                  <a:schemeClr val="accent6">
                    <a:lumMod val="75000"/>
                  </a:schemeClr>
                </a:solidFill>
              </a:rPr>
              <a:t>mini-sorter</a:t>
            </a:r>
            <a:endParaRPr lang="en-US" sz="3200" b="1">
              <a:solidFill>
                <a:schemeClr val="accent1"/>
              </a:solidFill>
            </a:endParaRPr>
          </a:p>
          <a:p>
            <a:pPr marL="0" indent="0">
              <a:buNone/>
            </a:pPr>
            <a:r>
              <a:rPr lang="en-US" sz="3200" b="1"/>
              <a:t>Student 5 – </a:t>
            </a:r>
            <a:r>
              <a:rPr lang="en-US" sz="3200" b="1">
                <a:solidFill>
                  <a:schemeClr val="accent6">
                    <a:lumMod val="75000"/>
                  </a:schemeClr>
                </a:solidFill>
              </a:rPr>
              <a:t>mini-sorter</a:t>
            </a:r>
          </a:p>
          <a:p>
            <a:pPr marL="0" indent="0">
              <a:buNone/>
            </a:pPr>
            <a:r>
              <a:rPr lang="en-US" sz="3200" b="1"/>
              <a:t>Student 6 – </a:t>
            </a:r>
            <a:r>
              <a:rPr lang="en-US" sz="3200" b="1">
                <a:solidFill>
                  <a:schemeClr val="accent6">
                    <a:lumMod val="75000"/>
                  </a:schemeClr>
                </a:solidFill>
              </a:rPr>
              <a:t>mini-sorter </a:t>
            </a:r>
          </a:p>
          <a:p>
            <a:pPr marL="0" indent="0">
              <a:buNone/>
            </a:pPr>
            <a:endParaRPr lang="en-US"/>
          </a:p>
          <a:p>
            <a:pPr marL="0" indent="0">
              <a:buNone/>
            </a:pPr>
            <a:endParaRPr lang="en-US"/>
          </a:p>
        </p:txBody>
      </p:sp>
      <p:sp>
        <p:nvSpPr>
          <p:cNvPr id="15" name="Slide Number Placeholder 14">
            <a:extLst>
              <a:ext uri="{FF2B5EF4-FFF2-40B4-BE49-F238E27FC236}">
                <a16:creationId xmlns:a16="http://schemas.microsoft.com/office/drawing/2014/main" id="{7A537C7C-23E4-1A83-B8CD-6086E5C47674}"/>
              </a:ext>
            </a:extLst>
          </p:cNvPr>
          <p:cNvSpPr>
            <a:spLocks noGrp="1"/>
          </p:cNvSpPr>
          <p:nvPr>
            <p:ph type="sldNum" sz="quarter" idx="12"/>
          </p:nvPr>
        </p:nvSpPr>
        <p:spPr/>
        <p:txBody>
          <a:bodyPr/>
          <a:lstStyle/>
          <a:p>
            <a:fld id="{48F63A3B-78C7-47BE-AE5E-E10140E04643}" type="slidenum">
              <a:rPr lang="en-US" smtClean="0"/>
              <a:t>8</a:t>
            </a:fld>
            <a:endParaRPr lang="en-US"/>
          </a:p>
        </p:txBody>
      </p:sp>
      <p:pic>
        <p:nvPicPr>
          <p:cNvPr id="8"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6AC4116C-027B-7CEF-0A58-BAE7E23345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652" y="1773866"/>
            <a:ext cx="178383" cy="92689"/>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6 Second Stopwatch - Marathon Watch Company">
            <a:extLst>
              <a:ext uri="{FF2B5EF4-FFF2-40B4-BE49-F238E27FC236}">
                <a16:creationId xmlns:a16="http://schemas.microsoft.com/office/drawing/2014/main" id="{4319D01D-1D1B-E8F9-3D3C-2FAE48948F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912" t="18865" r="23717" b="9306"/>
          <a:stretch/>
        </p:blipFill>
        <p:spPr bwMode="auto">
          <a:xfrm>
            <a:off x="1869190" y="2159349"/>
            <a:ext cx="490623" cy="6364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CB40871-0BDE-47B7-D817-C04082777B91}"/>
              </a:ext>
            </a:extLst>
          </p:cNvPr>
          <p:cNvSpPr txBox="1"/>
          <p:nvPr/>
        </p:nvSpPr>
        <p:spPr>
          <a:xfrm>
            <a:off x="1581999" y="1577525"/>
            <a:ext cx="4785807" cy="461665"/>
          </a:xfrm>
          <a:prstGeom prst="rect">
            <a:avLst/>
          </a:prstGeom>
          <a:solidFill>
            <a:schemeClr val="tx1"/>
          </a:solidFill>
        </p:spPr>
        <p:txBody>
          <a:bodyPr wrap="square" rtlCol="0">
            <a:spAutoFit/>
          </a:bodyPr>
          <a:lstStyle/>
          <a:p>
            <a:pPr algn="ctr"/>
            <a:r>
              <a:rPr lang="en-US" sz="2400" b="1">
                <a:solidFill>
                  <a:schemeClr val="bg1"/>
                </a:solidFill>
              </a:rPr>
              <a:t>GROUP MEMBER ROLES</a:t>
            </a:r>
          </a:p>
        </p:txBody>
      </p:sp>
      <p:sp>
        <p:nvSpPr>
          <p:cNvPr id="11" name="Content Placeholder 2">
            <a:extLst>
              <a:ext uri="{FF2B5EF4-FFF2-40B4-BE49-F238E27FC236}">
                <a16:creationId xmlns:a16="http://schemas.microsoft.com/office/drawing/2014/main" id="{2EC9CC03-BEF3-3F73-5AF9-BFA71234DCD5}"/>
              </a:ext>
            </a:extLst>
          </p:cNvPr>
          <p:cNvSpPr txBox="1">
            <a:spLocks/>
          </p:cNvSpPr>
          <p:nvPr/>
        </p:nvSpPr>
        <p:spPr>
          <a:xfrm>
            <a:off x="6628739" y="1590520"/>
            <a:ext cx="4976093" cy="4276611"/>
          </a:xfrm>
          <a:prstGeom prst="rect">
            <a:avLst/>
          </a:prstGeom>
          <a:solidFill>
            <a:schemeClr val="bg1"/>
          </a:solidFill>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endParaRPr lang="en-US"/>
          </a:p>
        </p:txBody>
      </p:sp>
      <p:sp>
        <p:nvSpPr>
          <p:cNvPr id="12" name="Content Placeholder 2">
            <a:extLst>
              <a:ext uri="{FF2B5EF4-FFF2-40B4-BE49-F238E27FC236}">
                <a16:creationId xmlns:a16="http://schemas.microsoft.com/office/drawing/2014/main" id="{63A93A6F-3D08-6CEF-63EB-66B3D4926B85}"/>
              </a:ext>
            </a:extLst>
          </p:cNvPr>
          <p:cNvSpPr txBox="1">
            <a:spLocks/>
          </p:cNvSpPr>
          <p:nvPr/>
        </p:nvSpPr>
        <p:spPr>
          <a:xfrm>
            <a:off x="6674613" y="2126455"/>
            <a:ext cx="4590854" cy="3628265"/>
          </a:xfrm>
          <a:prstGeom prst="rect">
            <a:avLst/>
          </a:prstGeom>
        </p:spPr>
        <p:txBody>
          <a:bodyPr vert="horz" lIns="91440" tIns="45720" rIns="91440" bIns="45720" rtlCol="0" anchor="t">
            <a:normAutofit fontScale="70000" lnSpcReduction="200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r>
              <a:rPr lang="en-US" sz="3200" b="1">
                <a:solidFill>
                  <a:schemeClr val="accent6">
                    <a:lumMod val="75000"/>
                  </a:schemeClr>
                </a:solidFill>
              </a:rPr>
              <a:t>Sorters – look at each penny one at a time to find the oldest penny. You can’t get help from other students. Then, when you have ALL found the oldest out of your pennies, compare your oldest and select the oldest between the sorters.</a:t>
            </a:r>
          </a:p>
          <a:p>
            <a:pPr marL="0" indent="0">
              <a:buFont typeface="Arial"/>
              <a:buNone/>
            </a:pPr>
            <a:r>
              <a:rPr lang="en-US" sz="3200" b="1">
                <a:solidFill>
                  <a:schemeClr val="accent4"/>
                </a:solidFill>
              </a:rPr>
              <a:t>Timer – time how long it takes for the sorters to find the oldest penny. Then, write the time on your group’s lab sheet beside PHASE 3.</a:t>
            </a:r>
          </a:p>
          <a:p>
            <a:pPr marL="0" indent="0">
              <a:buFont typeface="Arial"/>
              <a:buNone/>
            </a:pPr>
            <a:endParaRPr lang="en-US"/>
          </a:p>
          <a:p>
            <a:pPr marL="0" indent="0">
              <a:buFont typeface="Arial"/>
              <a:buNone/>
            </a:pPr>
            <a:endParaRPr lang="en-US"/>
          </a:p>
        </p:txBody>
      </p:sp>
      <p:sp>
        <p:nvSpPr>
          <p:cNvPr id="13" name="TextBox 12">
            <a:extLst>
              <a:ext uri="{FF2B5EF4-FFF2-40B4-BE49-F238E27FC236}">
                <a16:creationId xmlns:a16="http://schemas.microsoft.com/office/drawing/2014/main" id="{19377878-F2AA-9D85-FE2A-EC5059E0562C}"/>
              </a:ext>
            </a:extLst>
          </p:cNvPr>
          <p:cNvSpPr txBox="1"/>
          <p:nvPr/>
        </p:nvSpPr>
        <p:spPr>
          <a:xfrm>
            <a:off x="6628739" y="1571233"/>
            <a:ext cx="4976093" cy="461665"/>
          </a:xfrm>
          <a:prstGeom prst="rect">
            <a:avLst/>
          </a:prstGeom>
          <a:solidFill>
            <a:schemeClr val="tx1"/>
          </a:solidFill>
        </p:spPr>
        <p:txBody>
          <a:bodyPr wrap="square" rtlCol="0">
            <a:spAutoFit/>
          </a:bodyPr>
          <a:lstStyle/>
          <a:p>
            <a:pPr algn="ctr"/>
            <a:r>
              <a:rPr lang="en-US" sz="2400" b="1">
                <a:solidFill>
                  <a:schemeClr val="bg1"/>
                </a:solidFill>
              </a:rPr>
              <a:t>What You Do</a:t>
            </a:r>
          </a:p>
        </p:txBody>
      </p:sp>
      <p:pic>
        <p:nvPicPr>
          <p:cNvPr id="4" name="Picture 8" descr="2024 Lincoln Head Cent">
            <a:extLst>
              <a:ext uri="{FF2B5EF4-FFF2-40B4-BE49-F238E27FC236}">
                <a16:creationId xmlns:a16="http://schemas.microsoft.com/office/drawing/2014/main" id="{837CA288-DBA3-2BD6-2272-ED4D152005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5529" y="2910394"/>
            <a:ext cx="484284" cy="48428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2024 Lincoln Head Cent">
            <a:extLst>
              <a:ext uri="{FF2B5EF4-FFF2-40B4-BE49-F238E27FC236}">
                <a16:creationId xmlns:a16="http://schemas.microsoft.com/office/drawing/2014/main" id="{FDAF773D-BC20-4DFB-AEC9-1896181F14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5529" y="3499590"/>
            <a:ext cx="484284" cy="48428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2024 Lincoln Head Cent">
            <a:extLst>
              <a:ext uri="{FF2B5EF4-FFF2-40B4-BE49-F238E27FC236}">
                <a16:creationId xmlns:a16="http://schemas.microsoft.com/office/drawing/2014/main" id="{AC2FA218-DF70-A5BD-7897-61DADF5F4D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9190" y="4073540"/>
            <a:ext cx="484284" cy="48428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8" descr="2024 Lincoln Head Cent">
            <a:extLst>
              <a:ext uri="{FF2B5EF4-FFF2-40B4-BE49-F238E27FC236}">
                <a16:creationId xmlns:a16="http://schemas.microsoft.com/office/drawing/2014/main" id="{08E629FF-55CA-222E-DFD3-ED177C54B3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5529" y="4662736"/>
            <a:ext cx="484284" cy="48428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descr="2024 Lincoln Head Cent">
            <a:extLst>
              <a:ext uri="{FF2B5EF4-FFF2-40B4-BE49-F238E27FC236}">
                <a16:creationId xmlns:a16="http://schemas.microsoft.com/office/drawing/2014/main" id="{F46CA0DA-40FF-4A99-6F1C-49295D6EB2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5529" y="5218588"/>
            <a:ext cx="484284" cy="484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5494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1391713" y="0"/>
            <a:ext cx="10800287" cy="1457366"/>
          </a:xfrm>
        </p:spPr>
        <p:txBody>
          <a:bodyPr/>
          <a:lstStyle/>
          <a:p>
            <a:r>
              <a:rPr lang="en-US" dirty="0"/>
              <a:t>Penny Search Activity</a:t>
            </a:r>
            <a:br>
              <a:rPr lang="en-US" dirty="0"/>
            </a:br>
            <a:r>
              <a:rPr lang="en-US" dirty="0">
                <a:highlight>
                  <a:srgbClr val="FFFF00"/>
                </a:highlight>
              </a:rPr>
              <a:t>PHASE 3 - Discussion</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9</a:t>
            </a:fld>
            <a:endParaRPr lang="en-US"/>
          </a:p>
        </p:txBody>
      </p:sp>
      <p:pic>
        <p:nvPicPr>
          <p:cNvPr id="8"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C7AC0290-5B3D-D796-049F-4964ED0EB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652" y="1773866"/>
            <a:ext cx="178383" cy="9268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1lb Bag of Lincoln Wheat-Ear Pennies ...">
            <a:extLst>
              <a:ext uri="{FF2B5EF4-FFF2-40B4-BE49-F238E27FC236}">
                <a16:creationId xmlns:a16="http://schemas.microsoft.com/office/drawing/2014/main" id="{B32CB3B8-D361-039C-5C81-4F3FF8EA8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85" y="145336"/>
            <a:ext cx="1905328" cy="190532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DF5FAE-BC2C-914A-ADFC-342824D45866}"/>
              </a:ext>
            </a:extLst>
          </p:cNvPr>
          <p:cNvSpPr txBox="1"/>
          <p:nvPr/>
        </p:nvSpPr>
        <p:spPr>
          <a:xfrm>
            <a:off x="1791229" y="2196000"/>
            <a:ext cx="5760142" cy="4409718"/>
          </a:xfrm>
          <a:prstGeom prst="roundRect">
            <a:avLst/>
          </a:prstGeom>
          <a:solidFill>
            <a:schemeClr val="accent1">
              <a:lumMod val="20000"/>
              <a:lumOff val="80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sz="2200" b="1">
                <a:ln w="0"/>
                <a:solidFill>
                  <a:schemeClr val="tx1"/>
                </a:solidFill>
                <a:effectLst>
                  <a:outerShdw blurRad="38100" dist="19050" dir="2700000" algn="tl" rotWithShape="0">
                    <a:schemeClr val="dk1">
                      <a:alpha val="40000"/>
                    </a:schemeClr>
                  </a:outerShdw>
                </a:effectLst>
              </a:rPr>
              <a:t>What did PHASE 3 represent?</a:t>
            </a:r>
          </a:p>
          <a:p>
            <a:r>
              <a:rPr lang="en-US" sz="2100">
                <a:solidFill>
                  <a:schemeClr val="tx1"/>
                </a:solidFill>
              </a:rPr>
              <a:t>This phase introduces </a:t>
            </a:r>
            <a:r>
              <a:rPr lang="en-US" sz="2100" b="1" u="sng">
                <a:solidFill>
                  <a:schemeClr val="tx1"/>
                </a:solidFill>
              </a:rPr>
              <a:t>data parallelism</a:t>
            </a:r>
            <a:r>
              <a:rPr lang="en-US" sz="2100">
                <a:solidFill>
                  <a:schemeClr val="tx1"/>
                </a:solidFill>
              </a:rPr>
              <a:t>, where the dataset (pennies) is divided among multiple workers. However, there is </a:t>
            </a:r>
            <a:r>
              <a:rPr lang="en-US" sz="2100" b="1" u="sng">
                <a:solidFill>
                  <a:schemeClr val="tx1"/>
                </a:solidFill>
              </a:rPr>
              <a:t>load imbalance</a:t>
            </a:r>
            <a:r>
              <a:rPr lang="en-US" sz="2100">
                <a:solidFill>
                  <a:schemeClr val="tx1"/>
                </a:solidFill>
              </a:rPr>
              <a:t>, as one student has significantly more pennies to sort than the others. This imbalance reflects real-world scenarios where tasks are unevenly distributed among parallel workers, which can lead to inefficiencies. After sorting, the students must communicate (</a:t>
            </a:r>
            <a:r>
              <a:rPr lang="en-US" sz="2100" b="1" u="sng">
                <a:solidFill>
                  <a:schemeClr val="tx1"/>
                </a:solidFill>
              </a:rPr>
              <a:t>synchronize</a:t>
            </a:r>
            <a:r>
              <a:rPr lang="en-US" sz="2100">
                <a:solidFill>
                  <a:schemeClr val="tx1"/>
                </a:solidFill>
              </a:rPr>
              <a:t>) to combine their results and identify the oldest penny.</a:t>
            </a:r>
          </a:p>
        </p:txBody>
      </p:sp>
      <p:sp>
        <p:nvSpPr>
          <p:cNvPr id="13" name="TextBox 12">
            <a:extLst>
              <a:ext uri="{FF2B5EF4-FFF2-40B4-BE49-F238E27FC236}">
                <a16:creationId xmlns:a16="http://schemas.microsoft.com/office/drawing/2014/main" id="{26CAABBC-6E6D-A595-7EB1-D782C4BDC312}"/>
              </a:ext>
            </a:extLst>
          </p:cNvPr>
          <p:cNvSpPr txBox="1"/>
          <p:nvPr/>
        </p:nvSpPr>
        <p:spPr>
          <a:xfrm>
            <a:off x="1791228" y="1638348"/>
            <a:ext cx="10001253" cy="442674"/>
          </a:xfrm>
          <a:prstGeom prst="roundRect">
            <a:avLst/>
          </a:prstGeom>
          <a:solidFill>
            <a:schemeClr val="tx1"/>
          </a:solidFill>
        </p:spPr>
        <p:txBody>
          <a:bodyPr wrap="square" rtlCol="0">
            <a:spAutoFit/>
          </a:bodyPr>
          <a:lstStyle/>
          <a:p>
            <a:r>
              <a:rPr lang="en-US" sz="2000" b="1">
                <a:solidFill>
                  <a:schemeClr val="bg1"/>
                </a:solidFill>
              </a:rPr>
              <a:t>Return your bags of pennies to the lab instructors.</a:t>
            </a:r>
          </a:p>
        </p:txBody>
      </p:sp>
      <p:sp>
        <p:nvSpPr>
          <p:cNvPr id="5" name="Rectangle: Rounded Corners 4">
            <a:extLst>
              <a:ext uri="{FF2B5EF4-FFF2-40B4-BE49-F238E27FC236}">
                <a16:creationId xmlns:a16="http://schemas.microsoft.com/office/drawing/2014/main" id="{EE13805E-A019-E548-BDBB-FE8D3463C51A}"/>
              </a:ext>
            </a:extLst>
          </p:cNvPr>
          <p:cNvSpPr/>
          <p:nvPr/>
        </p:nvSpPr>
        <p:spPr>
          <a:xfrm>
            <a:off x="7708816" y="2569883"/>
            <a:ext cx="4269043" cy="2874128"/>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a:t>CPU</a:t>
            </a:r>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p:txBody>
      </p:sp>
      <p:sp>
        <p:nvSpPr>
          <p:cNvPr id="6" name="Rectangle 5">
            <a:extLst>
              <a:ext uri="{FF2B5EF4-FFF2-40B4-BE49-F238E27FC236}">
                <a16:creationId xmlns:a16="http://schemas.microsoft.com/office/drawing/2014/main" id="{39177BDB-B10B-6BFA-5FD0-C584D4B63567}"/>
              </a:ext>
            </a:extLst>
          </p:cNvPr>
          <p:cNvSpPr/>
          <p:nvPr/>
        </p:nvSpPr>
        <p:spPr>
          <a:xfrm>
            <a:off x="8926084" y="4287520"/>
            <a:ext cx="857394" cy="4888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L2 Cache</a:t>
            </a:r>
          </a:p>
        </p:txBody>
      </p:sp>
      <p:sp>
        <p:nvSpPr>
          <p:cNvPr id="7" name="Rectangle 6">
            <a:extLst>
              <a:ext uri="{FF2B5EF4-FFF2-40B4-BE49-F238E27FC236}">
                <a16:creationId xmlns:a16="http://schemas.microsoft.com/office/drawing/2014/main" id="{7DB254AB-03DC-B39F-82C6-F0CBC17628EC}"/>
              </a:ext>
            </a:extLst>
          </p:cNvPr>
          <p:cNvSpPr/>
          <p:nvPr/>
        </p:nvSpPr>
        <p:spPr>
          <a:xfrm>
            <a:off x="8144656" y="5685243"/>
            <a:ext cx="3463936" cy="48886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Memory</a:t>
            </a:r>
          </a:p>
        </p:txBody>
      </p:sp>
      <p:cxnSp>
        <p:nvCxnSpPr>
          <p:cNvPr id="10" name="Straight Arrow Connector 9">
            <a:extLst>
              <a:ext uri="{FF2B5EF4-FFF2-40B4-BE49-F238E27FC236}">
                <a16:creationId xmlns:a16="http://schemas.microsoft.com/office/drawing/2014/main" id="{5ECD2451-8A80-2A7B-AAB2-57E7E80AA955}"/>
              </a:ext>
            </a:extLst>
          </p:cNvPr>
          <p:cNvCxnSpPr>
            <a:cxnSpLocks/>
            <a:stCxn id="25" idx="4"/>
            <a:endCxn id="6" idx="0"/>
          </p:cNvCxnSpPr>
          <p:nvPr/>
        </p:nvCxnSpPr>
        <p:spPr>
          <a:xfrm>
            <a:off x="9352154" y="3777877"/>
            <a:ext cx="2627" cy="509643"/>
          </a:xfrm>
          <a:prstGeom prst="straightConnector1">
            <a:avLst/>
          </a:prstGeom>
          <a:ln w="381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44F2990-870D-A7C5-DF1A-A22CD4F03353}"/>
              </a:ext>
            </a:extLst>
          </p:cNvPr>
          <p:cNvCxnSpPr>
            <a:cxnSpLocks/>
            <a:stCxn id="9" idx="4"/>
            <a:endCxn id="12" idx="0"/>
          </p:cNvCxnSpPr>
          <p:nvPr/>
        </p:nvCxnSpPr>
        <p:spPr>
          <a:xfrm>
            <a:off x="8297832" y="3793078"/>
            <a:ext cx="0" cy="492894"/>
          </a:xfrm>
          <a:prstGeom prst="straightConnector1">
            <a:avLst/>
          </a:prstGeom>
          <a:ln w="381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6A5A1FA-60BE-0BA1-6987-1892E01489B1}"/>
              </a:ext>
            </a:extLst>
          </p:cNvPr>
          <p:cNvSpPr txBox="1"/>
          <p:nvPr/>
        </p:nvSpPr>
        <p:spPr>
          <a:xfrm>
            <a:off x="7708816" y="2231344"/>
            <a:ext cx="4269042" cy="369332"/>
          </a:xfrm>
          <a:prstGeom prst="rect">
            <a:avLst/>
          </a:prstGeom>
          <a:noFill/>
        </p:spPr>
        <p:txBody>
          <a:bodyPr wrap="square" rtlCol="0">
            <a:spAutoFit/>
          </a:bodyPr>
          <a:lstStyle/>
          <a:p>
            <a:pPr algn="ctr"/>
            <a:r>
              <a:rPr lang="en-US" b="1"/>
              <a:t>Multi-Core Architecture</a:t>
            </a:r>
          </a:p>
        </p:txBody>
      </p:sp>
      <p:sp>
        <p:nvSpPr>
          <p:cNvPr id="9" name="Oval 8">
            <a:extLst>
              <a:ext uri="{FF2B5EF4-FFF2-40B4-BE49-F238E27FC236}">
                <a16:creationId xmlns:a16="http://schemas.microsoft.com/office/drawing/2014/main" id="{323FF613-9A40-6F0D-45CF-17A586192EF2}"/>
              </a:ext>
            </a:extLst>
          </p:cNvPr>
          <p:cNvSpPr/>
          <p:nvPr/>
        </p:nvSpPr>
        <p:spPr>
          <a:xfrm>
            <a:off x="7869135" y="2986632"/>
            <a:ext cx="857393" cy="80644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n w="0"/>
                <a:solidFill>
                  <a:schemeClr val="tx1"/>
                </a:solidFill>
                <a:effectLst>
                  <a:outerShdw blurRad="38100" dist="19050" dir="2700000" algn="tl" rotWithShape="0">
                    <a:schemeClr val="dk1">
                      <a:alpha val="40000"/>
                    </a:schemeClr>
                  </a:outerShdw>
                </a:effectLst>
              </a:rPr>
              <a:t>CORE 0</a:t>
            </a:r>
          </a:p>
        </p:txBody>
      </p:sp>
      <p:sp>
        <p:nvSpPr>
          <p:cNvPr id="12" name="Rectangle 11">
            <a:extLst>
              <a:ext uri="{FF2B5EF4-FFF2-40B4-BE49-F238E27FC236}">
                <a16:creationId xmlns:a16="http://schemas.microsoft.com/office/drawing/2014/main" id="{2BFAD6FA-D25C-0EFC-F693-9C61A268B988}"/>
              </a:ext>
            </a:extLst>
          </p:cNvPr>
          <p:cNvSpPr/>
          <p:nvPr/>
        </p:nvSpPr>
        <p:spPr>
          <a:xfrm>
            <a:off x="7869135" y="4285972"/>
            <a:ext cx="857393" cy="4888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L2 Cache</a:t>
            </a:r>
          </a:p>
        </p:txBody>
      </p:sp>
      <p:cxnSp>
        <p:nvCxnSpPr>
          <p:cNvPr id="29" name="Connector: Elbow 28">
            <a:extLst>
              <a:ext uri="{FF2B5EF4-FFF2-40B4-BE49-F238E27FC236}">
                <a16:creationId xmlns:a16="http://schemas.microsoft.com/office/drawing/2014/main" id="{B725E90E-6E3A-9CE2-2302-BB740ACD80D4}"/>
              </a:ext>
            </a:extLst>
          </p:cNvPr>
          <p:cNvCxnSpPr>
            <a:cxnSpLocks/>
            <a:stCxn id="12" idx="2"/>
            <a:endCxn id="7" idx="0"/>
          </p:cNvCxnSpPr>
          <p:nvPr/>
        </p:nvCxnSpPr>
        <p:spPr>
          <a:xfrm rot="16200000" flipH="1">
            <a:off x="8632023" y="4440641"/>
            <a:ext cx="910411" cy="1578792"/>
          </a:xfrm>
          <a:prstGeom prst="bentConnector3">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D094409C-0891-8F28-A6C6-B67A5B96DA0A}"/>
              </a:ext>
            </a:extLst>
          </p:cNvPr>
          <p:cNvCxnSpPr>
            <a:cxnSpLocks/>
            <a:stCxn id="6" idx="2"/>
            <a:endCxn id="7" idx="0"/>
          </p:cNvCxnSpPr>
          <p:nvPr/>
        </p:nvCxnSpPr>
        <p:spPr>
          <a:xfrm rot="16200000" flipH="1">
            <a:off x="9161271" y="4969889"/>
            <a:ext cx="908863" cy="521843"/>
          </a:xfrm>
          <a:prstGeom prst="bentConnector3">
            <a:avLst>
              <a:gd name="adj1" fmla="val 50000"/>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658AA82B-38AE-E9E3-1DBD-9468A9F76464}"/>
              </a:ext>
            </a:extLst>
          </p:cNvPr>
          <p:cNvSpPr/>
          <p:nvPr/>
        </p:nvSpPr>
        <p:spPr>
          <a:xfrm>
            <a:off x="8923457" y="2971431"/>
            <a:ext cx="857393" cy="80644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n w="0"/>
                <a:solidFill>
                  <a:schemeClr val="tx1"/>
                </a:solidFill>
                <a:effectLst>
                  <a:outerShdw blurRad="38100" dist="19050" dir="2700000" algn="tl" rotWithShape="0">
                    <a:schemeClr val="dk1">
                      <a:alpha val="40000"/>
                    </a:schemeClr>
                  </a:outerShdw>
                </a:effectLst>
              </a:rPr>
              <a:t>CORE 1</a:t>
            </a:r>
          </a:p>
        </p:txBody>
      </p:sp>
      <p:sp>
        <p:nvSpPr>
          <p:cNvPr id="26" name="Oval 25">
            <a:extLst>
              <a:ext uri="{FF2B5EF4-FFF2-40B4-BE49-F238E27FC236}">
                <a16:creationId xmlns:a16="http://schemas.microsoft.com/office/drawing/2014/main" id="{20335780-B480-6AD1-E296-6B8D849ABEA6}"/>
              </a:ext>
            </a:extLst>
          </p:cNvPr>
          <p:cNvSpPr/>
          <p:nvPr/>
        </p:nvSpPr>
        <p:spPr>
          <a:xfrm>
            <a:off x="9976387" y="2979657"/>
            <a:ext cx="857393" cy="80644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n w="0"/>
                <a:solidFill>
                  <a:schemeClr val="tx1"/>
                </a:solidFill>
                <a:effectLst>
                  <a:outerShdw blurRad="38100" dist="19050" dir="2700000" algn="tl" rotWithShape="0">
                    <a:schemeClr val="dk1">
                      <a:alpha val="40000"/>
                    </a:schemeClr>
                  </a:outerShdw>
                </a:effectLst>
              </a:rPr>
              <a:t>CORE 2</a:t>
            </a:r>
          </a:p>
        </p:txBody>
      </p:sp>
      <p:sp>
        <p:nvSpPr>
          <p:cNvPr id="27" name="Oval 26">
            <a:extLst>
              <a:ext uri="{FF2B5EF4-FFF2-40B4-BE49-F238E27FC236}">
                <a16:creationId xmlns:a16="http://schemas.microsoft.com/office/drawing/2014/main" id="{9E3764F8-F0B9-1A2F-5022-7B7BB538C462}"/>
              </a:ext>
            </a:extLst>
          </p:cNvPr>
          <p:cNvSpPr/>
          <p:nvPr/>
        </p:nvSpPr>
        <p:spPr>
          <a:xfrm>
            <a:off x="11029317" y="2976426"/>
            <a:ext cx="857393" cy="80644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n w="0"/>
                <a:solidFill>
                  <a:schemeClr val="tx1"/>
                </a:solidFill>
                <a:effectLst>
                  <a:outerShdw blurRad="38100" dist="19050" dir="2700000" algn="tl" rotWithShape="0">
                    <a:schemeClr val="dk1">
                      <a:alpha val="40000"/>
                    </a:schemeClr>
                  </a:outerShdw>
                </a:effectLst>
              </a:rPr>
              <a:t>CORE 3</a:t>
            </a:r>
          </a:p>
        </p:txBody>
      </p:sp>
      <p:sp>
        <p:nvSpPr>
          <p:cNvPr id="36" name="Rectangle 35">
            <a:extLst>
              <a:ext uri="{FF2B5EF4-FFF2-40B4-BE49-F238E27FC236}">
                <a16:creationId xmlns:a16="http://schemas.microsoft.com/office/drawing/2014/main" id="{C9178709-07CF-F8A0-80D6-B43556EEC059}"/>
              </a:ext>
            </a:extLst>
          </p:cNvPr>
          <p:cNvSpPr/>
          <p:nvPr/>
        </p:nvSpPr>
        <p:spPr>
          <a:xfrm>
            <a:off x="9972074" y="4285971"/>
            <a:ext cx="857394" cy="4888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L2 Cache</a:t>
            </a:r>
          </a:p>
        </p:txBody>
      </p:sp>
      <p:cxnSp>
        <p:nvCxnSpPr>
          <p:cNvPr id="37" name="Straight Arrow Connector 36">
            <a:extLst>
              <a:ext uri="{FF2B5EF4-FFF2-40B4-BE49-F238E27FC236}">
                <a16:creationId xmlns:a16="http://schemas.microsoft.com/office/drawing/2014/main" id="{A6271226-A4A2-8816-95E8-593AE0CE8F76}"/>
              </a:ext>
            </a:extLst>
          </p:cNvPr>
          <p:cNvCxnSpPr>
            <a:cxnSpLocks/>
            <a:stCxn id="26" idx="4"/>
            <a:endCxn id="36" idx="0"/>
          </p:cNvCxnSpPr>
          <p:nvPr/>
        </p:nvCxnSpPr>
        <p:spPr>
          <a:xfrm flipH="1">
            <a:off x="10400771" y="3786103"/>
            <a:ext cx="4313" cy="499868"/>
          </a:xfrm>
          <a:prstGeom prst="straightConnector1">
            <a:avLst/>
          </a:prstGeom>
          <a:ln w="381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AD133BB9-8012-AC12-0AC4-9EB0E93E5552}"/>
              </a:ext>
            </a:extLst>
          </p:cNvPr>
          <p:cNvSpPr/>
          <p:nvPr/>
        </p:nvSpPr>
        <p:spPr>
          <a:xfrm>
            <a:off x="11029317" y="4285971"/>
            <a:ext cx="857394" cy="4888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rPr>
              <a:t>L2 Cache</a:t>
            </a:r>
          </a:p>
        </p:txBody>
      </p:sp>
      <p:cxnSp>
        <p:nvCxnSpPr>
          <p:cNvPr id="41" name="Straight Arrow Connector 40">
            <a:extLst>
              <a:ext uri="{FF2B5EF4-FFF2-40B4-BE49-F238E27FC236}">
                <a16:creationId xmlns:a16="http://schemas.microsoft.com/office/drawing/2014/main" id="{1E354E86-0348-242A-5FA1-3EBDC8578433}"/>
              </a:ext>
            </a:extLst>
          </p:cNvPr>
          <p:cNvCxnSpPr>
            <a:cxnSpLocks/>
            <a:stCxn id="27" idx="4"/>
            <a:endCxn id="40" idx="0"/>
          </p:cNvCxnSpPr>
          <p:nvPr/>
        </p:nvCxnSpPr>
        <p:spPr>
          <a:xfrm>
            <a:off x="11458014" y="3782872"/>
            <a:ext cx="0" cy="503099"/>
          </a:xfrm>
          <a:prstGeom prst="straightConnector1">
            <a:avLst/>
          </a:prstGeom>
          <a:ln w="381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11F1F417-89B3-C8B6-1EE8-112D927C4058}"/>
              </a:ext>
            </a:extLst>
          </p:cNvPr>
          <p:cNvCxnSpPr>
            <a:cxnSpLocks/>
            <a:stCxn id="36" idx="2"/>
            <a:endCxn id="7" idx="0"/>
          </p:cNvCxnSpPr>
          <p:nvPr/>
        </p:nvCxnSpPr>
        <p:spPr>
          <a:xfrm rot="5400000">
            <a:off x="9683492" y="4967964"/>
            <a:ext cx="910412" cy="524147"/>
          </a:xfrm>
          <a:prstGeom prst="bentConnector3">
            <a:avLst>
              <a:gd name="adj1" fmla="val 50000"/>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7D4EE7E6-843C-F592-D171-3B64213F1FEA}"/>
              </a:ext>
            </a:extLst>
          </p:cNvPr>
          <p:cNvCxnSpPr>
            <a:cxnSpLocks/>
            <a:stCxn id="40" idx="2"/>
            <a:endCxn id="7" idx="0"/>
          </p:cNvCxnSpPr>
          <p:nvPr/>
        </p:nvCxnSpPr>
        <p:spPr>
          <a:xfrm rot="5400000">
            <a:off x="10212113" y="4439342"/>
            <a:ext cx="910412" cy="1581390"/>
          </a:xfrm>
          <a:prstGeom prst="bentConnector3">
            <a:avLst>
              <a:gd name="adj1" fmla="val 50000"/>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1652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8441639-4884-7B72-2D30-43877EE230B9}"/>
              </a:ext>
            </a:extLst>
          </p:cNvPr>
          <p:cNvSpPr txBox="1">
            <a:spLocks/>
          </p:cNvSpPr>
          <p:nvPr/>
        </p:nvSpPr>
        <p:spPr>
          <a:xfrm>
            <a:off x="1590988" y="1667191"/>
            <a:ext cx="4776818" cy="4212895"/>
          </a:xfrm>
          <a:prstGeom prst="rect">
            <a:avLst/>
          </a:prstGeom>
          <a:solidFill>
            <a:schemeClr val="bg1"/>
          </a:solidFill>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endParaRPr lang="en-US"/>
          </a:p>
        </p:txBody>
      </p:sp>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1391713" y="0"/>
            <a:ext cx="10800287" cy="1457366"/>
          </a:xfrm>
        </p:spPr>
        <p:txBody>
          <a:bodyPr/>
          <a:lstStyle/>
          <a:p>
            <a:r>
              <a:rPr lang="en-US" dirty="0"/>
              <a:t>Penny Search Activity</a:t>
            </a:r>
            <a:br>
              <a:rPr lang="en-US" dirty="0"/>
            </a:br>
            <a:r>
              <a:rPr lang="en-US" dirty="0">
                <a:highlight>
                  <a:srgbClr val="FFFF00"/>
                </a:highlight>
              </a:rPr>
              <a:t>PHASE 4</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2305262" y="2336280"/>
            <a:ext cx="4590854" cy="3628265"/>
          </a:xfrm>
        </p:spPr>
        <p:txBody>
          <a:bodyPr anchor="t">
            <a:normAutofit/>
          </a:bodyPr>
          <a:lstStyle/>
          <a:p>
            <a:pPr marL="0" indent="0">
              <a:buNone/>
            </a:pPr>
            <a:r>
              <a:rPr lang="en-US" sz="3200" b="1"/>
              <a:t>Student 1 – </a:t>
            </a:r>
            <a:r>
              <a:rPr lang="en-US" sz="3200" b="1">
                <a:solidFill>
                  <a:schemeClr val="accent6">
                    <a:lumMod val="75000"/>
                  </a:schemeClr>
                </a:solidFill>
              </a:rPr>
              <a:t>sorter</a:t>
            </a:r>
          </a:p>
          <a:p>
            <a:pPr marL="0" indent="0">
              <a:buNone/>
            </a:pPr>
            <a:endParaRPr lang="en-US" sz="3200" b="1">
              <a:solidFill>
                <a:schemeClr val="accent6">
                  <a:lumMod val="75000"/>
                </a:schemeClr>
              </a:solidFill>
            </a:endParaRPr>
          </a:p>
          <a:p>
            <a:pPr marL="0" indent="0">
              <a:buNone/>
            </a:pPr>
            <a:r>
              <a:rPr lang="en-US" sz="3200" b="1"/>
              <a:t>Lab Instructor -</a:t>
            </a:r>
            <a:r>
              <a:rPr lang="en-US" sz="3200" b="1">
                <a:solidFill>
                  <a:schemeClr val="accent6">
                    <a:lumMod val="75000"/>
                  </a:schemeClr>
                </a:solidFill>
              </a:rPr>
              <a:t> </a:t>
            </a:r>
            <a:r>
              <a:rPr lang="en-US" sz="3200" b="1">
                <a:solidFill>
                  <a:schemeClr val="accent4"/>
                </a:solidFill>
              </a:rPr>
              <a:t>timer</a:t>
            </a:r>
          </a:p>
          <a:p>
            <a:pPr marL="0" indent="0">
              <a:buNone/>
            </a:pPr>
            <a:endParaRPr lang="en-US"/>
          </a:p>
          <a:p>
            <a:pPr marL="0" indent="0">
              <a:buNone/>
            </a:pPr>
            <a:endParaRPr lang="en-US"/>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10</a:t>
            </a:fld>
            <a:endParaRPr lang="en-US"/>
          </a:p>
        </p:txBody>
      </p:sp>
      <p:pic>
        <p:nvPicPr>
          <p:cNvPr id="8"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C7AC0290-5B3D-D796-049F-4964ED0EB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652" y="1773866"/>
            <a:ext cx="178383" cy="92689"/>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6 Second Stopwatch - Marathon Watch Company">
            <a:extLst>
              <a:ext uri="{FF2B5EF4-FFF2-40B4-BE49-F238E27FC236}">
                <a16:creationId xmlns:a16="http://schemas.microsoft.com/office/drawing/2014/main" id="{2E55E437-FAE2-7597-CBCE-ABC36BB3BF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912" t="18865" r="23717" b="9306"/>
          <a:stretch/>
        </p:blipFill>
        <p:spPr bwMode="auto">
          <a:xfrm>
            <a:off x="1800122" y="3622370"/>
            <a:ext cx="490623" cy="6364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4C468AA-A3F8-F8EC-0EB4-136B3B2C8020}"/>
              </a:ext>
            </a:extLst>
          </p:cNvPr>
          <p:cNvSpPr txBox="1"/>
          <p:nvPr/>
        </p:nvSpPr>
        <p:spPr>
          <a:xfrm>
            <a:off x="1581999" y="1577525"/>
            <a:ext cx="4785807" cy="461665"/>
          </a:xfrm>
          <a:prstGeom prst="rect">
            <a:avLst/>
          </a:prstGeom>
          <a:solidFill>
            <a:schemeClr val="tx1"/>
          </a:solidFill>
        </p:spPr>
        <p:txBody>
          <a:bodyPr wrap="square" rtlCol="0">
            <a:spAutoFit/>
          </a:bodyPr>
          <a:lstStyle/>
          <a:p>
            <a:pPr algn="ctr"/>
            <a:r>
              <a:rPr lang="en-US" sz="2400" b="1">
                <a:solidFill>
                  <a:schemeClr val="bg1"/>
                </a:solidFill>
              </a:rPr>
              <a:t>GROUP MEMBER ROLES</a:t>
            </a:r>
          </a:p>
        </p:txBody>
      </p:sp>
      <p:sp>
        <p:nvSpPr>
          <p:cNvPr id="11" name="Content Placeholder 2">
            <a:extLst>
              <a:ext uri="{FF2B5EF4-FFF2-40B4-BE49-F238E27FC236}">
                <a16:creationId xmlns:a16="http://schemas.microsoft.com/office/drawing/2014/main" id="{46371DB4-FB3E-52E4-70CC-1B3ED5DFED5B}"/>
              </a:ext>
            </a:extLst>
          </p:cNvPr>
          <p:cNvSpPr txBox="1">
            <a:spLocks/>
          </p:cNvSpPr>
          <p:nvPr/>
        </p:nvSpPr>
        <p:spPr>
          <a:xfrm>
            <a:off x="6628739" y="1590520"/>
            <a:ext cx="4976093" cy="4276611"/>
          </a:xfrm>
          <a:prstGeom prst="rect">
            <a:avLst/>
          </a:prstGeom>
          <a:solidFill>
            <a:schemeClr val="bg1"/>
          </a:solidFill>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endParaRPr lang="en-US"/>
          </a:p>
        </p:txBody>
      </p:sp>
      <p:sp>
        <p:nvSpPr>
          <p:cNvPr id="12" name="Content Placeholder 2">
            <a:extLst>
              <a:ext uri="{FF2B5EF4-FFF2-40B4-BE49-F238E27FC236}">
                <a16:creationId xmlns:a16="http://schemas.microsoft.com/office/drawing/2014/main" id="{CD500DC3-8926-C899-4C16-304D2A2E7536}"/>
              </a:ext>
            </a:extLst>
          </p:cNvPr>
          <p:cNvSpPr txBox="1">
            <a:spLocks/>
          </p:cNvSpPr>
          <p:nvPr/>
        </p:nvSpPr>
        <p:spPr>
          <a:xfrm>
            <a:off x="6674613" y="2126455"/>
            <a:ext cx="4590854" cy="3628265"/>
          </a:xfrm>
          <a:prstGeom prst="rect">
            <a:avLst/>
          </a:prstGeom>
        </p:spPr>
        <p:txBody>
          <a:bodyPr vert="horz" lIns="91440" tIns="45720" rIns="91440" bIns="45720" rtlCol="0" anchor="t">
            <a:normAutofit fontScale="70000" lnSpcReduction="200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Font typeface="Arial"/>
              <a:buNone/>
            </a:pPr>
            <a:r>
              <a:rPr lang="en-US" sz="3200" b="1">
                <a:solidFill>
                  <a:schemeClr val="accent6">
                    <a:lumMod val="75000"/>
                  </a:schemeClr>
                </a:solidFill>
              </a:rPr>
              <a:t>Sorter – without yelling across the room and with only talking to 1 other student at a time, compare each of your pennies to find the oldest penny in the class.</a:t>
            </a:r>
          </a:p>
          <a:p>
            <a:pPr marL="0" indent="0">
              <a:buFont typeface="Arial"/>
              <a:buNone/>
            </a:pPr>
            <a:r>
              <a:rPr lang="en-US" sz="3200" b="1">
                <a:solidFill>
                  <a:schemeClr val="accent4"/>
                </a:solidFill>
              </a:rPr>
              <a:t>Timer – time how long it takes the class to find the oldest penny. Then, tell the students so the student with the group lab sheet can write that down.</a:t>
            </a:r>
          </a:p>
          <a:p>
            <a:pPr marL="0" indent="0">
              <a:buFont typeface="Arial"/>
              <a:buNone/>
            </a:pPr>
            <a:endParaRPr lang="en-US"/>
          </a:p>
          <a:p>
            <a:pPr marL="0" indent="0">
              <a:buFont typeface="Arial"/>
              <a:buNone/>
            </a:pPr>
            <a:endParaRPr lang="en-US"/>
          </a:p>
        </p:txBody>
      </p:sp>
      <p:sp>
        <p:nvSpPr>
          <p:cNvPr id="13" name="TextBox 12">
            <a:extLst>
              <a:ext uri="{FF2B5EF4-FFF2-40B4-BE49-F238E27FC236}">
                <a16:creationId xmlns:a16="http://schemas.microsoft.com/office/drawing/2014/main" id="{26CAABBC-6E6D-A595-7EB1-D782C4BDC312}"/>
              </a:ext>
            </a:extLst>
          </p:cNvPr>
          <p:cNvSpPr txBox="1"/>
          <p:nvPr/>
        </p:nvSpPr>
        <p:spPr>
          <a:xfrm>
            <a:off x="6628739" y="1571233"/>
            <a:ext cx="4976093" cy="461665"/>
          </a:xfrm>
          <a:prstGeom prst="rect">
            <a:avLst/>
          </a:prstGeom>
          <a:solidFill>
            <a:schemeClr val="tx1"/>
          </a:solidFill>
        </p:spPr>
        <p:txBody>
          <a:bodyPr wrap="square" rtlCol="0">
            <a:spAutoFit/>
          </a:bodyPr>
          <a:lstStyle/>
          <a:p>
            <a:pPr algn="ctr"/>
            <a:r>
              <a:rPr lang="en-US" sz="2400" b="1">
                <a:solidFill>
                  <a:schemeClr val="bg1"/>
                </a:solidFill>
              </a:rPr>
              <a:t>What You Do</a:t>
            </a:r>
          </a:p>
        </p:txBody>
      </p:sp>
      <p:pic>
        <p:nvPicPr>
          <p:cNvPr id="4" name="Picture 8" descr="2024 Lincoln Head Cent">
            <a:extLst>
              <a:ext uri="{FF2B5EF4-FFF2-40B4-BE49-F238E27FC236}">
                <a16:creationId xmlns:a16="http://schemas.microsoft.com/office/drawing/2014/main" id="{245F1532-9C99-9FA9-DDB1-8FD7121590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461" y="2430025"/>
            <a:ext cx="484284" cy="484284"/>
          </a:xfrm>
          <a:prstGeom prst="rect">
            <a:avLst/>
          </a:prstGeom>
          <a:noFill/>
          <a:extLst>
            <a:ext uri="{909E8E84-426E-40DD-AFC4-6F175D3DCCD1}">
              <a14:hiddenFill xmlns:a14="http://schemas.microsoft.com/office/drawing/2010/main">
                <a:solidFill>
                  <a:srgbClr val="FFFFFF"/>
                </a:solidFill>
              </a14:hiddenFill>
            </a:ext>
          </a:extLst>
        </p:spPr>
      </p:pic>
      <p:sp>
        <p:nvSpPr>
          <p:cNvPr id="16" name="Oval 15">
            <a:extLst>
              <a:ext uri="{FF2B5EF4-FFF2-40B4-BE49-F238E27FC236}">
                <a16:creationId xmlns:a16="http://schemas.microsoft.com/office/drawing/2014/main" id="{034A7871-BD42-D9DA-9488-0D78566AA070}"/>
              </a:ext>
            </a:extLst>
          </p:cNvPr>
          <p:cNvSpPr/>
          <p:nvPr/>
        </p:nvSpPr>
        <p:spPr>
          <a:xfrm>
            <a:off x="9681328" y="169682"/>
            <a:ext cx="2276573" cy="1253765"/>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b="1"/>
              <a:t>Each person gets 1 penny.</a:t>
            </a:r>
          </a:p>
        </p:txBody>
      </p:sp>
    </p:spTree>
    <p:extLst>
      <p:ext uri="{BB962C8B-B14F-4D97-AF65-F5344CB8AC3E}">
        <p14:creationId xmlns:p14="http://schemas.microsoft.com/office/powerpoint/2010/main" val="2382049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1391713" y="0"/>
            <a:ext cx="10800287" cy="1457366"/>
          </a:xfrm>
        </p:spPr>
        <p:txBody>
          <a:bodyPr/>
          <a:lstStyle/>
          <a:p>
            <a:r>
              <a:rPr lang="en-US" dirty="0"/>
              <a:t>Penny Search Activity</a:t>
            </a:r>
            <a:br>
              <a:rPr lang="en-US" dirty="0"/>
            </a:br>
            <a:r>
              <a:rPr lang="en-US" dirty="0">
                <a:highlight>
                  <a:srgbClr val="FFFF00"/>
                </a:highlight>
              </a:rPr>
              <a:t>PHASE 4 - Discussion</a:t>
            </a:r>
          </a:p>
        </p:txBody>
      </p:sp>
      <p:pic>
        <p:nvPicPr>
          <p:cNvPr id="8" name="Picture 6" descr="Set Of Realistic Human Eyeball Isolated Or Close Up Human Eyeball Retina  With Pupil And Iris Eps Vector Stock Illustration - Download Image Now -  iStock">
            <a:extLst>
              <a:ext uri="{FF2B5EF4-FFF2-40B4-BE49-F238E27FC236}">
                <a16:creationId xmlns:a16="http://schemas.microsoft.com/office/drawing/2014/main" id="{C7AC0290-5B3D-D796-049F-4964ED0EB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652" y="1773866"/>
            <a:ext cx="178383" cy="9268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1lb Bag of Lincoln Wheat-Ear Pennies ...">
            <a:extLst>
              <a:ext uri="{FF2B5EF4-FFF2-40B4-BE49-F238E27FC236}">
                <a16:creationId xmlns:a16="http://schemas.microsoft.com/office/drawing/2014/main" id="{B32CB3B8-D361-039C-5C81-4F3FF8EA8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85" y="145336"/>
            <a:ext cx="1905328" cy="190532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DF5FAE-BC2C-914A-ADFC-342824D45866}"/>
              </a:ext>
            </a:extLst>
          </p:cNvPr>
          <p:cNvSpPr txBox="1"/>
          <p:nvPr/>
        </p:nvSpPr>
        <p:spPr>
          <a:xfrm>
            <a:off x="1791229" y="2196000"/>
            <a:ext cx="9956692" cy="2519839"/>
          </a:xfrm>
          <a:prstGeom prst="roundRect">
            <a:avLst/>
          </a:prstGeom>
          <a:solidFill>
            <a:schemeClr val="accent1">
              <a:lumMod val="20000"/>
              <a:lumOff val="80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sz="2200" b="1">
                <a:ln w="0"/>
                <a:solidFill>
                  <a:schemeClr val="tx1"/>
                </a:solidFill>
                <a:effectLst>
                  <a:outerShdw blurRad="38100" dist="19050" dir="2700000" algn="tl" rotWithShape="0">
                    <a:schemeClr val="dk1">
                      <a:alpha val="40000"/>
                    </a:schemeClr>
                  </a:outerShdw>
                </a:effectLst>
              </a:rPr>
              <a:t>What did PHASE 4 represent?</a:t>
            </a:r>
          </a:p>
          <a:p>
            <a:r>
              <a:rPr lang="en-US" sz="2400">
                <a:solidFill>
                  <a:schemeClr val="tx1"/>
                </a:solidFill>
              </a:rPr>
              <a:t>This phase also represents </a:t>
            </a:r>
            <a:r>
              <a:rPr lang="en-US" sz="2400" b="1" u="sng">
                <a:solidFill>
                  <a:schemeClr val="tx1"/>
                </a:solidFill>
              </a:rPr>
              <a:t>data parallelism</a:t>
            </a:r>
            <a:r>
              <a:rPr lang="en-US" sz="2400">
                <a:solidFill>
                  <a:schemeClr val="tx1"/>
                </a:solidFill>
              </a:rPr>
              <a:t>, where the dataset (pennies) is divided among multiple workers (each worker only has one penny). With the data being spread across so many workers, the synchronization step where results need to be merged ends up taking more time than the actual work, and this affects speed-up.</a:t>
            </a:r>
            <a:endParaRPr lang="en-US" sz="2200" b="1">
              <a:ln w="0"/>
              <a:solidFill>
                <a:schemeClr val="tx1"/>
              </a:solidFill>
              <a:effectLst>
                <a:outerShdw blurRad="38100" dist="19050" dir="2700000" algn="tl" rotWithShape="0">
                  <a:schemeClr val="dk1">
                    <a:alpha val="40000"/>
                  </a:schemeClr>
                </a:outerShdw>
              </a:effectLst>
            </a:endParaRPr>
          </a:p>
        </p:txBody>
      </p:sp>
      <p:sp>
        <p:nvSpPr>
          <p:cNvPr id="13" name="TextBox 12">
            <a:extLst>
              <a:ext uri="{FF2B5EF4-FFF2-40B4-BE49-F238E27FC236}">
                <a16:creationId xmlns:a16="http://schemas.microsoft.com/office/drawing/2014/main" id="{26CAABBC-6E6D-A595-7EB1-D782C4BDC312}"/>
              </a:ext>
            </a:extLst>
          </p:cNvPr>
          <p:cNvSpPr txBox="1"/>
          <p:nvPr/>
        </p:nvSpPr>
        <p:spPr>
          <a:xfrm>
            <a:off x="1791228" y="1638348"/>
            <a:ext cx="10001253" cy="442674"/>
          </a:xfrm>
          <a:prstGeom prst="roundRect">
            <a:avLst/>
          </a:prstGeom>
          <a:solidFill>
            <a:schemeClr val="tx1"/>
          </a:solidFill>
        </p:spPr>
        <p:txBody>
          <a:bodyPr wrap="square" rtlCol="0">
            <a:spAutoFit/>
          </a:bodyPr>
          <a:lstStyle/>
          <a:p>
            <a:r>
              <a:rPr lang="en-US" sz="2000" b="1">
                <a:solidFill>
                  <a:schemeClr val="bg1"/>
                </a:solidFill>
              </a:rPr>
              <a:t>Return your bags of pennies to the lab instructors.</a:t>
            </a:r>
          </a:p>
        </p:txBody>
      </p:sp>
    </p:spTree>
    <p:extLst>
      <p:ext uri="{BB962C8B-B14F-4D97-AF65-F5344CB8AC3E}">
        <p14:creationId xmlns:p14="http://schemas.microsoft.com/office/powerpoint/2010/main" val="447544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2630320-8970-0CF5-1519-F9C2FC039C45}"/>
              </a:ext>
            </a:extLst>
          </p:cNvPr>
          <p:cNvSpPr>
            <a:spLocks noGrp="1"/>
          </p:cNvSpPr>
          <p:nvPr>
            <p:ph type="ctrTitle"/>
          </p:nvPr>
        </p:nvSpPr>
        <p:spPr>
          <a:xfrm>
            <a:off x="5311916" y="2479592"/>
            <a:ext cx="1851162" cy="2616199"/>
          </a:xfrm>
        </p:spPr>
        <p:txBody>
          <a:bodyPr/>
          <a:lstStyle/>
          <a:p>
            <a:r>
              <a:rPr lang="en-US"/>
              <a:t>END</a:t>
            </a:r>
          </a:p>
        </p:txBody>
      </p:sp>
    </p:spTree>
    <p:extLst>
      <p:ext uri="{BB962C8B-B14F-4D97-AF65-F5344CB8AC3E}">
        <p14:creationId xmlns:p14="http://schemas.microsoft.com/office/powerpoint/2010/main" val="10039624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07176e9-1a7d-4a95-bc91-0fc8ab704018">
      <Terms xmlns="http://schemas.microsoft.com/office/infopath/2007/PartnerControls"/>
    </lcf76f155ced4ddcb4097134ff3c332f>
    <TaxCatchAll xmlns="b0a827fa-27a2-4478-95c6-f5ae24efc15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101684D946A4F4596819EB36909023F" ma:contentTypeVersion="15" ma:contentTypeDescription="Create a new document." ma:contentTypeScope="" ma:versionID="b915928362b5e2311243c34fc72e065d">
  <xsd:schema xmlns:xsd="http://www.w3.org/2001/XMLSchema" xmlns:xs="http://www.w3.org/2001/XMLSchema" xmlns:p="http://schemas.microsoft.com/office/2006/metadata/properties" xmlns:ns2="c07176e9-1a7d-4a95-bc91-0fc8ab704018" xmlns:ns3="b0a827fa-27a2-4478-95c6-f5ae24efc15e" targetNamespace="http://schemas.microsoft.com/office/2006/metadata/properties" ma:root="true" ma:fieldsID="e24c64f542b06e0980f18a6f72c78a81" ns2:_="" ns3:_="">
    <xsd:import namespace="c07176e9-1a7d-4a95-bc91-0fc8ab704018"/>
    <xsd:import namespace="b0a827fa-27a2-4478-95c6-f5ae24efc15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7176e9-1a7d-4a95-bc91-0fc8ab7040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ec41815-f866-473a-a3ba-291165dbb83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0a827fa-27a2-4478-95c6-f5ae24efc15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5bad646-8907-4ff3-9fce-7907f18f03fa}" ma:internalName="TaxCatchAll" ma:showField="CatchAllData" ma:web="b0a827fa-27a2-4478-95c6-f5ae24efc15e">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7F8357B-AD34-407C-9E20-6994CA6FF242}">
  <ds:schemaRefs>
    <ds:schemaRef ds:uri="http://schemas.microsoft.com/office/2006/documentManagement/types"/>
    <ds:schemaRef ds:uri="http://www.w3.org/XML/1998/namespace"/>
    <ds:schemaRef ds:uri="http://purl.org/dc/elements/1.1/"/>
    <ds:schemaRef ds:uri="http://schemas.microsoft.com/office/infopath/2007/PartnerControls"/>
    <ds:schemaRef ds:uri="http://purl.org/dc/dcmitype/"/>
    <ds:schemaRef ds:uri="http://schemas.microsoft.com/office/2006/metadata/properties"/>
    <ds:schemaRef ds:uri="http://schemas.openxmlformats.org/package/2006/metadata/core-properties"/>
    <ds:schemaRef ds:uri="b0a827fa-27a2-4478-95c6-f5ae24efc15e"/>
    <ds:schemaRef ds:uri="c07176e9-1a7d-4a95-bc91-0fc8ab704018"/>
    <ds:schemaRef ds:uri="http://purl.org/dc/terms/"/>
  </ds:schemaRefs>
</ds:datastoreItem>
</file>

<file path=customXml/itemProps2.xml><?xml version="1.0" encoding="utf-8"?>
<ds:datastoreItem xmlns:ds="http://schemas.openxmlformats.org/officeDocument/2006/customXml" ds:itemID="{39AAF2E0-FE05-4F84-8599-D27432360DDE}">
  <ds:schemaRefs>
    <ds:schemaRef ds:uri="b0a827fa-27a2-4478-95c6-f5ae24efc15e"/>
    <ds:schemaRef ds:uri="c07176e9-1a7d-4a95-bc91-0fc8ab7040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854DD71E-278E-4A00-B3E0-ECD7706A1146}">
  <ds:schemaRefs>
    <ds:schemaRef ds:uri="http://schemas.microsoft.com/sharepoint/v3/contenttype/forms"/>
  </ds:schemaRefs>
</ds:datastoreItem>
</file>

<file path=docMetadata/LabelInfo.xml><?xml version="1.0" encoding="utf-8"?>
<clbl:labelList xmlns:clbl="http://schemas.microsoft.com/office/2020/mipLabelMetadata">
  <clbl:label id="{66fecaf8-3dc0-4d2c-b8b8-eff0ddea46f0}" enabled="0" method="" siteId="{66fecaf8-3dc0-4d2c-b8b8-eff0ddea46f0}" removed="1"/>
</clbl:labelList>
</file>

<file path=docProps/app.xml><?xml version="1.0" encoding="utf-8"?>
<Properties xmlns="http://schemas.openxmlformats.org/officeDocument/2006/extended-properties" xmlns:vt="http://schemas.openxmlformats.org/officeDocument/2006/docPropsVTypes">
  <Template>TM03457496[[fn=Parallax]]</Template>
  <TotalTime>2</TotalTime>
  <Words>1233</Words>
  <Application>Microsoft Office PowerPoint</Application>
  <PresentationFormat>Widescreen</PresentationFormat>
  <Paragraphs>173</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Corbel</vt:lpstr>
      <vt:lpstr>Parallax</vt:lpstr>
      <vt:lpstr>Penny Search Activity</vt:lpstr>
      <vt:lpstr>“Find the Oldest Penny” Activity</vt:lpstr>
      <vt:lpstr>Penny Search Activity PHASE 1</vt:lpstr>
      <vt:lpstr>Penny Search Activity PHASE 1 - Discussion</vt:lpstr>
      <vt:lpstr>Penny Search Activity PHASE 2</vt:lpstr>
      <vt:lpstr>Penny Search Activity PHASE 2 - Discussion</vt:lpstr>
      <vt:lpstr>Penny Search Activity  PHASE 2 - Discussion</vt:lpstr>
      <vt:lpstr>Penny Search Activity PHASE 3</vt:lpstr>
      <vt:lpstr>Penny Search Activity PHASE 3 - Discussion</vt:lpstr>
      <vt:lpstr>Penny Search Activity PHASE 4</vt:lpstr>
      <vt:lpstr>Penny Search Activity PHASE 4 - Discussion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1300 LAB INTRODUCTION</dc:title>
  <dc:subject/>
  <dc:creator>Crockett, April</dc:creator>
  <cp:lastModifiedBy>Crockett, April</cp:lastModifiedBy>
  <cp:revision>4</cp:revision>
  <dcterms:created xsi:type="dcterms:W3CDTF">2023-08-15T21:18:04Z</dcterms:created>
  <dcterms:modified xsi:type="dcterms:W3CDTF">2026-05-20T21:26:05Z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0x0101001101684D946A4F4596819EB36909023F</vt:lpwstr>
  </property>
  <property fmtid="{D5CDD505-2E9C-101B-9397-08002B2CF9AE}" pid="3" name="MediaServiceImageTags">
    <vt:lpwstr/>
  </property>
</Properties>
</file>
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5"/>
  </p:notesMasterIdLst>
  <p:handoutMasterIdLst>
    <p:handoutMasterId r:id="rId36"/>
  </p:handoutMasterIdLst>
  <p:sldIdLst>
    <p:sldId id="327" r:id="rId5"/>
    <p:sldId id="330" r:id="rId6"/>
    <p:sldId id="267" r:id="rId7"/>
    <p:sldId id="321" r:id="rId8"/>
    <p:sldId id="342" r:id="rId9"/>
    <p:sldId id="328" r:id="rId10"/>
    <p:sldId id="340" r:id="rId11"/>
    <p:sldId id="341" r:id="rId12"/>
    <p:sldId id="329" r:id="rId13"/>
    <p:sldId id="332" r:id="rId14"/>
    <p:sldId id="299" r:id="rId15"/>
    <p:sldId id="316" r:id="rId16"/>
    <p:sldId id="335" r:id="rId17"/>
    <p:sldId id="346" r:id="rId18"/>
    <p:sldId id="269" r:id="rId19"/>
    <p:sldId id="271" r:id="rId20"/>
    <p:sldId id="272" r:id="rId21"/>
    <p:sldId id="273" r:id="rId22"/>
    <p:sldId id="302" r:id="rId23"/>
    <p:sldId id="309" r:id="rId24"/>
    <p:sldId id="310" r:id="rId25"/>
    <p:sldId id="312" r:id="rId26"/>
    <p:sldId id="313" r:id="rId27"/>
    <p:sldId id="326" r:id="rId28"/>
    <p:sldId id="303" r:id="rId29"/>
    <p:sldId id="323" r:id="rId30"/>
    <p:sldId id="305" r:id="rId31"/>
    <p:sldId id="307" r:id="rId32"/>
    <p:sldId id="336" r:id="rId33"/>
    <p:sldId id="314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4F2984"/>
    <a:srgbClr val="FFD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3857" autoAdjust="0"/>
  </p:normalViewPr>
  <p:slideViewPr>
    <p:cSldViewPr>
      <p:cViewPr varScale="1">
        <p:scale>
          <a:sx n="72" d="100"/>
          <a:sy n="72" d="100"/>
        </p:scale>
        <p:origin x="348" y="5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2B48F5-BACC-47D6-A0F7-82FBF9C6BC85}" type="datetimeFigureOut">
              <a:rPr lang="en-US"/>
              <a:t>7/7/2026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ACAF8E-318A-4EFE-8633-D9E72ABCE0E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6559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7T15:09:00.21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2395 101 24575,'-1'-1'0,"1"0"0,-1 0 0,0 1 0,1-1 0,-1 0 0,0 0 0,0 1 0,0-1 0,1 0 0,-1 1 0,0-1 0,0 1 0,0-1 0,0 1 0,0 0 0,0-1 0,-1 1 0,-20-4 0,15 3 0,-50-5 0,-86 2 0,78 4 0,-738-1-963,432 1 666,340 1 473,-1 1-1,1 1 1,0 2-1,0 1 1,0 1-1,-41 16 0,-19 12-159,-97 52 0,164-73-16,-42 32 0,-17 25 0,65-55 0,7-7 0,1 1 0,1 0 0,-1 0 0,2 1 0,-1 1 0,2-1 0,0 1 0,0 0 0,1 1 0,-5 13 0,-39 118 0,40-109 0,2 1 0,-6 42 0,10-8 0,4 75 0,2-63 0,-3 7 0,3 86 0,-1-165 0,0 1 0,1-1 0,0 1 0,4 11 0,-4-16 0,0-1 0,0 0 0,1 0 0,-1 0 0,1 0 0,1 0 0,-1-1 0,1 1 0,6 5 0,13 10 0,0-2 0,1 0 0,1-2 0,1-1 0,0-1 0,1-1 0,0-1 0,1-1 0,1-2 0,-1-1 0,1-1 0,48 5 0,81 0 0,185 23 0,-312-28 0,0 1 0,-1 1 0,37 17 0,-51-19 0,16 5 0,1-1 0,0-1 0,1-2 0,0-1 0,60 4 0,118-10 0,-130-2 0,-55 0 0,0-2 0,44-8 0,52-22 0,-92 25 0,-9 1 0,169-49 0,-137 37 0,75-38 0,-97 39 0,-2-2 0,29-24 0,-19 15 0,-13 9 0,-1-1 0,-1-1 0,38-42 0,-55 54 0,0 0 0,-1-1 0,0 1 0,0-1 0,-1-1 0,-1 1 0,0-1 0,-1 0 0,0 0 0,0 0 0,-1-1 0,2-25 0,-6-17 0,0 40 0,0 0 0,1 0 0,1 0 0,4-20 0,2 3 0,2-1 0,-3 0 0,5-47 0,-11-114 0,-1 93 0,-1 74 0,0 0 0,-9-34 0,-1-15 0,9 44 0,-12-45 0,11 64 0,0 0 0,0 0 0,-1 1 0,-1 0 0,0 0 0,-10-15 0,11 21 0,0-1 0,-1 1 0,0 0 0,-1 0 0,1 1 0,-1 0 0,0 0 0,0 0 0,0 1 0,-1 0 0,-9-3 0,-9-2 0,0 1 0,-31-5 0,-18-3-107,-8 0-522,-125-42 0,169 42-6197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1CD00-5424-4675-AB18-2C419B060449}" type="datetimeFigureOut">
              <a:rPr lang="en-US"/>
              <a:t>7/7/2026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E2CF44-2B13-41B4-A334-1CDF534EEBB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5385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Presentation Slides created by April Crockett, Tennessee Tech University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E2CF44-2B13-41B4-A334-1CDF534EEBB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4205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E2CF44-2B13-41B4-A334-1CDF534EEBB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448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 bwMode="gray">
          <a:xfrm>
            <a:off x="0" y="2825016"/>
            <a:ext cx="12188952" cy="3180930"/>
          </a:xfrm>
          <a:prstGeom prst="rect">
            <a:avLst/>
          </a:prstGeom>
          <a:solidFill>
            <a:schemeClr val="bg1">
              <a:lumMod val="85000"/>
              <a:lumOff val="1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 bwMode="black">
          <a:xfrm>
            <a:off x="0" y="3075709"/>
            <a:ext cx="12188952" cy="2639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1066800" y="3165763"/>
            <a:ext cx="10058400" cy="1711037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1066800" y="4953000"/>
            <a:ext cx="10058400" cy="685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828800"/>
            <a:ext cx="9144000" cy="2743200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4589463"/>
            <a:ext cx="9144000" cy="150653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0" y="1825625"/>
            <a:ext cx="4343400" cy="42703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825625"/>
            <a:ext cx="4343400" cy="42703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7048" y="1828800"/>
            <a:ext cx="43434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7048" y="2514600"/>
            <a:ext cx="4343400" cy="3581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7648" y="1828800"/>
            <a:ext cx="43434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7648" y="2514600"/>
            <a:ext cx="4343400" cy="3581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2587" y="1600200"/>
            <a:ext cx="3122613" cy="18288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412" y="762000"/>
            <a:ext cx="6400800" cy="5334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01039" y="3429000"/>
            <a:ext cx="3124161" cy="1828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7952" y="1600200"/>
            <a:ext cx="3127248" cy="18288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81251" y="777240"/>
            <a:ext cx="6400800" cy="530352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97952" y="3429000"/>
            <a:ext cx="3127248" cy="1828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Rectangle 7" descr="An empty placeholder to add an image. Click on the placeholder and select the image that you wish to add."/>
          <p:cNvSpPr/>
          <p:nvPr userDrawn="1"/>
        </p:nvSpPr>
        <p:spPr bwMode="blackWhite">
          <a:xfrm>
            <a:off x="644091" y="640080"/>
            <a:ext cx="6675120" cy="5577840"/>
          </a:xfrm>
          <a:prstGeom prst="rect">
            <a:avLst/>
          </a:prstGeom>
          <a:solidFill>
            <a:srgbClr val="000000"/>
          </a:solidFill>
          <a:ln w="10160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57199"/>
            <a:ext cx="1943100" cy="56388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457199"/>
            <a:ext cx="7048500" cy="56388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0" y="45720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18288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4000" y="6362700"/>
            <a:ext cx="6881553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10600" y="6362700"/>
            <a:ext cx="9906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37CC0096-1860-4642-9CD2-0079EA5E7CD1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9800" y="6362700"/>
            <a:ext cx="8382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15087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3172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6060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customXml" Target="../ink/ink1.xml"/><Relationship Id="rId4" Type="http://schemas.openxmlformats.org/officeDocument/2006/relationships/hyperlink" Target="https://elearn.tntech.edu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gif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odewithmoru.github.io/-OIBSIP-Task3/" TargetMode="External"/><Relationship Id="rId4" Type="http://schemas.openxmlformats.org/officeDocument/2006/relationships/image" Target="../media/image29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hyperlink" Target="https://www.wcpss.net/domain/17003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quora.com/What-does-a-machine-language-code-look-like" TargetMode="External"/><Relationship Id="rId3" Type="http://schemas.openxmlformats.org/officeDocument/2006/relationships/hyperlink" Target="https://happyhomebaking.blogspot.com/2010/07/pages-from-my-recipe-book.html" TargetMode="External"/><Relationship Id="rId7" Type="http://schemas.openxmlformats.org/officeDocument/2006/relationships/hyperlink" Target="https://www.testingdocs.com/c-plus-plus-program-structure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jpeg"/><Relationship Id="rId5" Type="http://schemas.openxmlformats.org/officeDocument/2006/relationships/image" Target="../media/image34.png"/><Relationship Id="rId4" Type="http://schemas.openxmlformats.org/officeDocument/2006/relationships/hyperlink" Target="https://creativecommons.org/licenses/by-nc-nd/3.0/" TargetMode="Externa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140E76-E3B0-2120-F841-C3F185BE6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-1143000"/>
            <a:ext cx="9144000" cy="11430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Module 1: Introduction</a:t>
            </a:r>
          </a:p>
        </p:txBody>
      </p:sp>
    </p:spTree>
    <p:extLst>
      <p:ext uri="{BB962C8B-B14F-4D97-AF65-F5344CB8AC3E}">
        <p14:creationId xmlns:p14="http://schemas.microsoft.com/office/powerpoint/2010/main" val="3392453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90500" y="152400"/>
            <a:ext cx="11811000" cy="1143000"/>
          </a:xfrm>
          <a:solidFill>
            <a:srgbClr val="FFDD0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4F2984"/>
                </a:solidFill>
                <a:latin typeface="Eras Bold ITC" panose="020B0907030504020204" pitchFamily="34" charset="0"/>
              </a:rPr>
              <a:t>CSC 1300 Course Objectives</a:t>
            </a:r>
            <a:endParaRPr sz="4000" b="1" dirty="0">
              <a:solidFill>
                <a:srgbClr val="4F2984"/>
              </a:solidFill>
              <a:latin typeface="Eras Bold ITC" panose="020B0907030504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CFDFCA-BB7E-467D-A931-949119602A40}"/>
              </a:ext>
            </a:extLst>
          </p:cNvPr>
          <p:cNvSpPr txBox="1"/>
          <p:nvPr/>
        </p:nvSpPr>
        <p:spPr>
          <a:xfrm>
            <a:off x="381000" y="1676400"/>
            <a:ext cx="11277600" cy="442178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kern="100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Students will be able to…</a:t>
            </a:r>
            <a:br>
              <a:rPr lang="en-US" sz="3600" b="1" kern="100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3600" b="1" kern="100" dirty="0">
              <a:solidFill>
                <a:srgbClr val="7030A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Develop</a:t>
            </a:r>
            <a:r>
              <a:rPr lang="en-US" sz="24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algorithms</a:t>
            </a:r>
            <a:r>
              <a:rPr lang="en-US" sz="24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using problem-solving techniques.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Write</a:t>
            </a:r>
            <a:r>
              <a:rPr lang="en-US" sz="24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introductory-level procedural </a:t>
            </a:r>
            <a:r>
              <a:rPr lang="en-US" sz="24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programs</a:t>
            </a:r>
            <a:r>
              <a:rPr lang="en-US" sz="24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C++.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Evaluate</a:t>
            </a:r>
            <a:r>
              <a:rPr lang="en-US" sz="24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4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test</a:t>
            </a:r>
            <a:r>
              <a:rPr lang="en-US" sz="24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and </a:t>
            </a:r>
            <a:r>
              <a:rPr lang="en-US" sz="24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debug</a:t>
            </a:r>
            <a:r>
              <a:rPr lang="en-US" sz="24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computer programs.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Demonstrate acceptable </a:t>
            </a:r>
            <a:r>
              <a:rPr lang="en-US" sz="24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computer programming </a:t>
            </a:r>
            <a:r>
              <a:rPr lang="en-US" sz="24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practices</a:t>
            </a:r>
            <a:r>
              <a:rPr lang="en-US" sz="24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</a:t>
            </a:r>
            <a:r>
              <a:rPr lang="en-US" sz="24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US" sz="24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implement</a:t>
            </a:r>
            <a:r>
              <a:rPr lang="en-US" sz="24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algorithmic solutions that use </a:t>
            </a:r>
            <a:r>
              <a:rPr lang="en-US" sz="24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parallel programming</a:t>
            </a:r>
            <a:r>
              <a:rPr lang="en-US" sz="24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</a:t>
            </a:r>
            <a:r>
              <a:rPr lang="en-US" sz="24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US" sz="24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implement</a:t>
            </a:r>
            <a:r>
              <a:rPr lang="en-US" sz="24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algorithmic solutions that interact with a </a:t>
            </a:r>
            <a:r>
              <a:rPr lang="en-US" sz="24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remote service</a:t>
            </a:r>
            <a:r>
              <a:rPr lang="en-US" sz="24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Recognize</a:t>
            </a:r>
            <a:r>
              <a:rPr lang="en-US" sz="24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when an algorithmic solution can benefit from the user of multiple threads that communicate via events or similar means of interaction</a:t>
            </a:r>
          </a:p>
        </p:txBody>
      </p:sp>
    </p:spTree>
    <p:extLst>
      <p:ext uri="{BB962C8B-B14F-4D97-AF65-F5344CB8AC3E}">
        <p14:creationId xmlns:p14="http://schemas.microsoft.com/office/powerpoint/2010/main" val="1418869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90500" y="152400"/>
            <a:ext cx="11811000" cy="1143000"/>
          </a:xfrm>
          <a:solidFill>
            <a:srgbClr val="FFDD0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4F2984"/>
                </a:solidFill>
                <a:latin typeface="Eras Bold ITC" panose="020B0907030504020204" pitchFamily="34" charset="0"/>
              </a:rPr>
              <a:t>Experience-Based Groups</a:t>
            </a:r>
            <a:endParaRPr sz="4000" b="1" dirty="0">
              <a:solidFill>
                <a:srgbClr val="4F2984"/>
              </a:solidFill>
              <a:latin typeface="Eras Bold ITC" panose="020B0907030504020204" pitchFamily="34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C169A43-6196-48E2-9238-6A0FD36DD6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776900"/>
              </p:ext>
            </p:extLst>
          </p:nvPr>
        </p:nvGraphicFramePr>
        <p:xfrm>
          <a:off x="419100" y="3048000"/>
          <a:ext cx="11353800" cy="3583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6900">
                  <a:extLst>
                    <a:ext uri="{9D8B030D-6E8A-4147-A177-3AD203B41FA5}">
                      <a16:colId xmlns:a16="http://schemas.microsoft.com/office/drawing/2014/main" val="1990674165"/>
                    </a:ext>
                  </a:extLst>
                </a:gridCol>
                <a:gridCol w="5676900">
                  <a:extLst>
                    <a:ext uri="{9D8B030D-6E8A-4147-A177-3AD203B41FA5}">
                      <a16:colId xmlns:a16="http://schemas.microsoft.com/office/drawing/2014/main" val="581550306"/>
                    </a:ext>
                  </a:extLst>
                </a:gridCol>
              </a:tblGrid>
              <a:tr h="3583496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bg1"/>
                          </a:solidFill>
                        </a:rPr>
                        <a:t>PURPLE GROUP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You have no or very little previous programming experience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Prefer a gentler, step-by-step pace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You will be ready for CSC 1310 by the end of the semester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Starting </a:t>
                      </a:r>
                      <a:r>
                        <a:rPr lang="en-US" sz="20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</a:rPr>
                        <a:t>Monday, January 26th</a:t>
                      </a:r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, you will be in BRUN 119.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>
                          <a:solidFill>
                            <a:schemeClr val="bg1"/>
                          </a:solidFill>
                        </a:rPr>
                        <a:t>GOLD GROUP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You have some programming experience (any language)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Faster paced, may go a little more in-depth on some topics.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You will be ready for CSC 1310 by the end of the semester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Starting </a:t>
                      </a:r>
                      <a:r>
                        <a:rPr lang="en-US" sz="20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</a:rPr>
                        <a:t>Monday, January 26th</a:t>
                      </a:r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, you will be in BRUN 228.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46346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CCFDFCA-BB7E-467D-A931-949119602A40}"/>
              </a:ext>
            </a:extLst>
          </p:cNvPr>
          <p:cNvSpPr txBox="1"/>
          <p:nvPr/>
        </p:nvSpPr>
        <p:spPr>
          <a:xfrm>
            <a:off x="419100" y="1333500"/>
            <a:ext cx="11277600" cy="1631216"/>
          </a:xfrm>
          <a:prstGeom prst="rect">
            <a:avLst/>
          </a:prstGeom>
          <a:solidFill>
            <a:schemeClr val="tx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You get to select </a:t>
            </a:r>
            <a:r>
              <a:rPr lang="en-US" sz="2000" dirty="0">
                <a:solidFill>
                  <a:schemeClr val="bg1"/>
                </a:solidFill>
              </a:rPr>
              <a:t>which group you want to be in.</a:t>
            </a:r>
            <a:endParaRPr lang="en-US" sz="2000" b="1" dirty="0">
              <a:solidFill>
                <a:schemeClr val="bg1"/>
              </a:solidFill>
              <a:highlight>
                <a:srgbClr val="FFFF0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You aren’t stuck! You will get </a:t>
            </a:r>
            <a:r>
              <a:rPr lang="en-US" sz="2000" b="1" dirty="0">
                <a:solidFill>
                  <a:schemeClr val="bg1"/>
                </a:solidFill>
              </a:rPr>
              <a:t>two</a:t>
            </a:r>
            <a:r>
              <a:rPr lang="en-US" sz="2000" dirty="0">
                <a:solidFill>
                  <a:schemeClr val="bg1"/>
                </a:solidFill>
              </a:rPr>
              <a:t> chances during the semester where you can choose to swap to a different group.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Same programming assignments, same quizzes – no matter which group you choose.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How should you choose?  (more on this later)</a:t>
            </a:r>
          </a:p>
        </p:txBody>
      </p:sp>
    </p:spTree>
    <p:extLst>
      <p:ext uri="{BB962C8B-B14F-4D97-AF65-F5344CB8AC3E}">
        <p14:creationId xmlns:p14="http://schemas.microsoft.com/office/powerpoint/2010/main" val="2565811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E188BE-A698-1446-8B0D-9D5190EB4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483"/>
          <a:stretch>
            <a:fillRect/>
          </a:stretch>
        </p:blipFill>
        <p:spPr>
          <a:xfrm>
            <a:off x="4621306" y="1410149"/>
            <a:ext cx="6965773" cy="5286486"/>
          </a:xfrm>
          <a:prstGeom prst="rect">
            <a:avLst/>
          </a:prstGeom>
        </p:spPr>
      </p:pic>
      <p:sp>
        <p:nvSpPr>
          <p:cNvPr id="13" name="Title 12" descr="URL to eLearn."/>
          <p:cNvSpPr>
            <a:spLocks noGrp="1"/>
          </p:cNvSpPr>
          <p:nvPr>
            <p:ph type="title"/>
          </p:nvPr>
        </p:nvSpPr>
        <p:spPr>
          <a:xfrm>
            <a:off x="152400" y="152400"/>
            <a:ext cx="11734800" cy="1143000"/>
          </a:xfrm>
          <a:solidFill>
            <a:srgbClr val="FFDD00"/>
          </a:solidFill>
        </p:spPr>
        <p:txBody>
          <a:bodyPr anchor="ctr">
            <a:normAutofit fontScale="90000"/>
          </a:bodyPr>
          <a:lstStyle/>
          <a:p>
            <a:pPr algn="ctr"/>
            <a:r>
              <a:rPr lang="en-US" sz="4000" b="1" dirty="0" err="1">
                <a:solidFill>
                  <a:srgbClr val="4F2984"/>
                </a:solidFill>
                <a:latin typeface="Eras Bold ITC" panose="020B0907030504020204" pitchFamily="34" charset="0"/>
              </a:rPr>
              <a:t>iLearn</a:t>
            </a:r>
            <a:r>
              <a:rPr lang="en-US" sz="4000" b="1" dirty="0">
                <a:solidFill>
                  <a:srgbClr val="4F2984"/>
                </a:solidFill>
                <a:latin typeface="Eras Bold ITC" panose="020B0907030504020204" pitchFamily="34" charset="0"/>
              </a:rPr>
              <a:t> Demo</a:t>
            </a:r>
            <a:r>
              <a:rPr lang="en-US" sz="4000" b="1" dirty="0">
                <a:solidFill>
                  <a:srgbClr val="00B050"/>
                </a:solidFill>
                <a:latin typeface="Eras Bold ITC" panose="020B0907030504020204" pitchFamily="34" charset="0"/>
              </a:rPr>
              <a:t> </a:t>
            </a:r>
            <a:r>
              <a:rPr lang="en-US" sz="4000" b="1" dirty="0">
                <a:solidFill>
                  <a:srgbClr val="7030A0"/>
                </a:solidFill>
                <a:latin typeface="Eras Bold ITC" panose="020B0907030504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to Tech's eLearn platform</a:t>
            </a:r>
            <a:br>
              <a:rPr lang="en-US" sz="4000" b="1" dirty="0">
                <a:solidFill>
                  <a:srgbClr val="0070C0"/>
                </a:solidFill>
                <a:latin typeface="Eras Bold ITC" panose="020B0907030504020204" pitchFamily="34" charset="0"/>
              </a:rPr>
            </a:br>
            <a:r>
              <a:rPr lang="en-US" sz="4000" b="1" dirty="0">
                <a:solidFill>
                  <a:srgbClr val="7030A0"/>
                </a:solidFill>
                <a:latin typeface="Eras Bold ITC" panose="020B0907030504020204" pitchFamily="34" charset="0"/>
              </a:rPr>
              <a:t>Syllabus &amp; Schedule</a:t>
            </a:r>
            <a:endParaRPr sz="4000" b="1" dirty="0">
              <a:latin typeface="Eras Bold ITC" panose="020B0907030504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2B47F2B-CF4E-3EBD-C101-D62B956FF42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/>
              <p14:nvPr/>
            </p14:nvContentPartPr>
            <p14:xfrm>
              <a:off x="4532580" y="1395805"/>
              <a:ext cx="993240" cy="6609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2B47F2B-CF4E-3EBD-C101-D62B956FF42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496580" y="1359805"/>
                <a:ext cx="1064880" cy="73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Arrow: Right 6">
            <a:extLst>
              <a:ext uri="{FF2B5EF4-FFF2-40B4-BE49-F238E27FC236}">
                <a16:creationId xmlns:a16="http://schemas.microsoft.com/office/drawing/2014/main" id="{9608974E-6ACA-EFFF-C86F-32F1DEF34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86348" y="2624735"/>
            <a:ext cx="3581400" cy="990600"/>
          </a:xfrm>
          <a:prstGeom prst="rightArrow">
            <a:avLst/>
          </a:prstGeom>
          <a:solidFill>
            <a:srgbClr val="4F2984"/>
          </a:solidFill>
          <a:ln>
            <a:solidFill>
              <a:srgbClr val="4F29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SYLLABUS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CFF5D8BE-A0A1-AD9E-EC58-A545F9020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63956">
            <a:off x="1395505" y="4192269"/>
            <a:ext cx="3581400" cy="990600"/>
          </a:xfrm>
          <a:prstGeom prst="rightArrow">
            <a:avLst/>
          </a:prstGeom>
          <a:solidFill>
            <a:srgbClr val="4F2984"/>
          </a:solidFill>
          <a:ln>
            <a:solidFill>
              <a:srgbClr val="4F29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MASTER SCHEDULE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5B152517-90B1-4A9C-0653-A7A5D973D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04662" y="5732909"/>
            <a:ext cx="3581400" cy="990600"/>
          </a:xfrm>
          <a:prstGeom prst="rightArrow">
            <a:avLst/>
          </a:prstGeom>
          <a:solidFill>
            <a:srgbClr val="4F2984"/>
          </a:solidFill>
          <a:ln>
            <a:solidFill>
              <a:srgbClr val="4F29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TUTORING SCHEDULE</a:t>
            </a:r>
          </a:p>
        </p:txBody>
      </p:sp>
    </p:spTree>
    <p:extLst>
      <p:ext uri="{BB962C8B-B14F-4D97-AF65-F5344CB8AC3E}">
        <p14:creationId xmlns:p14="http://schemas.microsoft.com/office/powerpoint/2010/main" val="3733925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558BF9-A6C0-121F-5085-D5AD26163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F74107D1-091A-0321-F02A-CAB786CDC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52400"/>
            <a:ext cx="11734800" cy="1143000"/>
          </a:xfrm>
          <a:solidFill>
            <a:srgbClr val="FFDD00"/>
          </a:solidFill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rgbClr val="4F2984"/>
                </a:solidFill>
                <a:latin typeface="Eras Bold ITC"/>
              </a:rPr>
              <a:t>TENTATIVE Master Schedule</a:t>
            </a:r>
            <a:endParaRPr sz="4000" b="1" dirty="0">
              <a:solidFill>
                <a:srgbClr val="7030A0"/>
              </a:solidFill>
              <a:latin typeface="Eras Bold ITC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6501CC-1C7B-8F6F-66DE-8103386B30A5}"/>
              </a:ext>
            </a:extLst>
          </p:cNvPr>
          <p:cNvSpPr txBox="1"/>
          <p:nvPr/>
        </p:nvSpPr>
        <p:spPr>
          <a:xfrm>
            <a:off x="318241" y="1786488"/>
            <a:ext cx="2936494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master schedule contains the following: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solidFill>
                  <a:schemeClr val="bg1"/>
                </a:solidFill>
              </a:rPr>
              <a:t>LABS </a:t>
            </a:r>
            <a:r>
              <a:rPr lang="en-US" dirty="0">
                <a:solidFill>
                  <a:schemeClr val="bg1"/>
                </a:solidFill>
              </a:rPr>
              <a:t>– when you have them and what they will cover</a:t>
            </a:r>
          </a:p>
          <a:p>
            <a:pPr marL="285750" indent="-285750">
              <a:buFont typeface="Arial"/>
              <a:buChar char="•"/>
            </a:pPr>
            <a:r>
              <a:rPr lang="en-US" b="1" dirty="0">
                <a:solidFill>
                  <a:schemeClr val="bg1"/>
                </a:solidFill>
              </a:rPr>
              <a:t>LECTURE </a:t>
            </a:r>
            <a:r>
              <a:rPr lang="en-US" dirty="0">
                <a:solidFill>
                  <a:schemeClr val="bg1"/>
                </a:solidFill>
              </a:rPr>
              <a:t>– what is </a:t>
            </a:r>
            <a:r>
              <a:rPr lang="en-US">
                <a:solidFill>
                  <a:schemeClr val="bg1"/>
                </a:solidFill>
              </a:rPr>
              <a:t>covered, what is assigned, what is due</a:t>
            </a:r>
          </a:p>
          <a:p>
            <a:pPr marL="285750" indent="-285750">
              <a:buFont typeface="Arial"/>
              <a:buChar char="•"/>
            </a:pPr>
            <a:r>
              <a:rPr lang="en-US" b="1" dirty="0">
                <a:solidFill>
                  <a:schemeClr val="bg1"/>
                </a:solidFill>
              </a:rPr>
              <a:t>QUIZZES</a:t>
            </a:r>
            <a:r>
              <a:rPr lang="en-US" dirty="0">
                <a:solidFill>
                  <a:schemeClr val="bg1"/>
                </a:solidFill>
              </a:rPr>
              <a:t> - when they are, what they cover</a:t>
            </a:r>
          </a:p>
          <a:p>
            <a:pPr marL="285750" indent="-285750">
              <a:buFont typeface="Arial"/>
              <a:buChar char="•"/>
            </a:pPr>
            <a:r>
              <a:rPr lang="en-US" b="1" dirty="0">
                <a:solidFill>
                  <a:schemeClr val="bg1"/>
                </a:solidFill>
              </a:rPr>
              <a:t>PROGRAMS</a:t>
            </a:r>
            <a:r>
              <a:rPr lang="en-US" dirty="0">
                <a:solidFill>
                  <a:schemeClr val="bg1"/>
                </a:solidFill>
              </a:rPr>
              <a:t> – when assigned &amp; due</a:t>
            </a:r>
          </a:p>
          <a:p>
            <a:pPr marL="285750" indent="-285750">
              <a:buFont typeface="Arial"/>
              <a:buChar char="•"/>
            </a:pPr>
            <a:r>
              <a:rPr lang="en-US" b="1" dirty="0">
                <a:solidFill>
                  <a:schemeClr val="bg1"/>
                </a:solidFill>
              </a:rPr>
              <a:t>HOLIDAYS / NO CLASS</a:t>
            </a:r>
          </a:p>
          <a:p>
            <a:pPr marL="285750" indent="-285750">
              <a:buFont typeface="Arial"/>
              <a:buChar char="•"/>
            </a:pPr>
            <a:r>
              <a:rPr lang="en-US" b="1" dirty="0">
                <a:solidFill>
                  <a:schemeClr val="bg1"/>
                </a:solidFill>
              </a:rPr>
              <a:t>FINAL EXAM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" name="Picture 1" descr="A screenshot of ilearn master schedule web page">
            <a:extLst>
              <a:ext uri="{FF2B5EF4-FFF2-40B4-BE49-F238E27FC236}">
                <a16:creationId xmlns:a16="http://schemas.microsoft.com/office/drawing/2014/main" id="{BA6D8466-E88D-E3AF-9C00-FCD9FCC48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3823" y="1718675"/>
            <a:ext cx="8449519" cy="4443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584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28600" y="108219"/>
            <a:ext cx="11734800" cy="1143000"/>
          </a:xfrm>
          <a:solidFill>
            <a:srgbClr val="FFDD00"/>
          </a:solidFill>
        </p:spPr>
        <p:txBody>
          <a:bodyPr anchor="ctr">
            <a:normAutofit/>
          </a:bodyPr>
          <a:lstStyle/>
          <a:p>
            <a:pPr algn="ctr"/>
            <a:r>
              <a:rPr lang="en-US" sz="4000" b="1" dirty="0">
                <a:solidFill>
                  <a:srgbClr val="4F2984"/>
                </a:solidFill>
                <a:latin typeface="Eras Bold ITC" panose="020B0907030504020204" pitchFamily="34" charset="0"/>
              </a:rPr>
              <a:t>Grade Distribution</a:t>
            </a:r>
            <a:endParaRPr sz="4000" b="1" dirty="0">
              <a:solidFill>
                <a:srgbClr val="0070C0"/>
              </a:solidFill>
              <a:latin typeface="Eras Bold ITC" panose="020B0907030504020204" pitchFamily="34" charset="0"/>
            </a:endParaRPr>
          </a:p>
        </p:txBody>
      </p:sp>
      <p:pic>
        <p:nvPicPr>
          <p:cNvPr id="6" name="Picture 5" descr="A pie chart with distribution text.">
            <a:extLst>
              <a:ext uri="{FF2B5EF4-FFF2-40B4-BE49-F238E27FC236}">
                <a16:creationId xmlns:a16="http://schemas.microsoft.com/office/drawing/2014/main" id="{FFFC9518-8B80-D5A2-373C-870A28473B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587" y="1711486"/>
            <a:ext cx="11172825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587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99A0DE-A1D3-7FE4-EF8D-F32FAEF36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72B9F742-2506-18DA-59BA-B271B5D48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11734800" cy="1143000"/>
          </a:xfrm>
          <a:solidFill>
            <a:srgbClr val="FFDD00"/>
          </a:solidFill>
        </p:spPr>
        <p:txBody>
          <a:bodyPr anchor="ctr">
            <a:normAutofit/>
          </a:bodyPr>
          <a:lstStyle/>
          <a:p>
            <a:pPr algn="ctr"/>
            <a:r>
              <a:rPr lang="en-US" sz="4000" b="1" dirty="0">
                <a:solidFill>
                  <a:srgbClr val="4F2984"/>
                </a:solidFill>
                <a:latin typeface="Eras Bold ITC" panose="020B0907030504020204" pitchFamily="34" charset="0"/>
              </a:rPr>
              <a:t>Quizzes (30% of Grade)</a:t>
            </a:r>
            <a:endParaRPr sz="4000" b="1" dirty="0">
              <a:solidFill>
                <a:srgbClr val="0070C0"/>
              </a:solidFill>
              <a:latin typeface="Eras Bold ITC" panose="020B0907030504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C99D26-868E-D944-CB27-DDA34A4AE7F6}"/>
              </a:ext>
            </a:extLst>
          </p:cNvPr>
          <p:cNvSpPr txBox="1"/>
          <p:nvPr/>
        </p:nvSpPr>
        <p:spPr>
          <a:xfrm>
            <a:off x="229019" y="1430438"/>
            <a:ext cx="11735764" cy="4278094"/>
          </a:xfrm>
          <a:prstGeom prst="rect">
            <a:avLst/>
          </a:prstGeom>
          <a:solidFill>
            <a:schemeClr val="tx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u="sng" dirty="0">
                <a:solidFill>
                  <a:schemeClr val="bg1"/>
                </a:solidFill>
              </a:rPr>
              <a:t>Quiz Information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You will have several quizzes this semester over the modules covered in class.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All quizzes are online in ilearn using the lockdown browser (or you can opt to take it on paper)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You may not use notes on quizzes.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Questions could be multiple choice, multiple select, true/false, or short answer.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The short answer questions may require you to write code.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b="1" u="sng" dirty="0">
                <a:solidFill>
                  <a:schemeClr val="bg1"/>
                </a:solidFill>
              </a:rPr>
              <a:t>Late Quiz Policy (if you  miss a quiz)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highlight>
                  <a:srgbClr val="FFFF00"/>
                </a:highlight>
                <a:ea typeface="+mn-lt"/>
                <a:cs typeface="+mn-lt"/>
              </a:rPr>
              <a:t>You must email Ms. Crockett (001 &amp; 002 purple), Ms. Rainey (001 gold), or Mr. Vandergriff (002 gold) within </a:t>
            </a:r>
            <a:r>
              <a:rPr lang="en-US" sz="2000" b="1" dirty="0">
                <a:solidFill>
                  <a:schemeClr val="bg1"/>
                </a:solidFill>
                <a:highlight>
                  <a:srgbClr val="FFFF00"/>
                </a:highlight>
                <a:ea typeface="+mn-lt"/>
                <a:cs typeface="+mn-lt"/>
              </a:rPr>
              <a:t>ONE DAY</a:t>
            </a:r>
            <a:r>
              <a:rPr lang="en-US" sz="2000" dirty="0">
                <a:solidFill>
                  <a:schemeClr val="bg1"/>
                </a:solidFill>
                <a:highlight>
                  <a:srgbClr val="FFFF00"/>
                </a:highlight>
                <a:ea typeface="+mn-lt"/>
                <a:cs typeface="+mn-lt"/>
              </a:rPr>
              <a:t> of missing a quiz to be eligible to make up the missed quiz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. </a:t>
            </a:r>
            <a:endParaRPr lang="en-US" sz="200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You will know which days there is a quiz because quiz dates are in the MASTER SCHEDULE in </a:t>
            </a:r>
            <a:r>
              <a:rPr lang="en-US" sz="2000" err="1">
                <a:solidFill>
                  <a:schemeClr val="bg1"/>
                </a:solidFill>
                <a:ea typeface="+mn-lt"/>
                <a:cs typeface="+mn-lt"/>
              </a:rPr>
              <a:t>iLearn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en-US" sz="200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6692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F836E7-8E3A-A67B-A54C-CD4A9D239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E72D4333-9DBB-570E-D970-EB4E23771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11734800" cy="1143000"/>
          </a:xfrm>
          <a:solidFill>
            <a:srgbClr val="FFDD00"/>
          </a:solidFill>
        </p:spPr>
        <p:txBody>
          <a:bodyPr anchor="ctr">
            <a:normAutofit/>
          </a:bodyPr>
          <a:lstStyle/>
          <a:p>
            <a:pPr algn="ctr"/>
            <a:r>
              <a:rPr lang="en-US" sz="4000" b="1" dirty="0">
                <a:solidFill>
                  <a:srgbClr val="4F2984"/>
                </a:solidFill>
                <a:latin typeface="Eras Bold ITC" panose="020B0907030504020204" pitchFamily="34" charset="0"/>
              </a:rPr>
              <a:t>Programming Assignments (25% of Grade)</a:t>
            </a:r>
            <a:endParaRPr sz="4000" b="1" dirty="0">
              <a:solidFill>
                <a:srgbClr val="0070C0"/>
              </a:solidFill>
              <a:latin typeface="Eras Bold ITC" panose="020B0907030504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51319-1D62-4FA3-17ED-5D63452202B4}"/>
              </a:ext>
            </a:extLst>
          </p:cNvPr>
          <p:cNvSpPr txBox="1"/>
          <p:nvPr/>
        </p:nvSpPr>
        <p:spPr>
          <a:xfrm>
            <a:off x="304800" y="1524000"/>
            <a:ext cx="11658600" cy="230832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You will have </a:t>
            </a:r>
            <a:r>
              <a:rPr lang="en-US" sz="2400" b="1" dirty="0">
                <a:solidFill>
                  <a:schemeClr val="bg1"/>
                </a:solidFill>
              </a:rPr>
              <a:t>FIVE</a:t>
            </a:r>
            <a:r>
              <a:rPr lang="en-US" sz="2400" dirty="0">
                <a:solidFill>
                  <a:schemeClr val="bg1"/>
                </a:solidFill>
              </a:rPr>
              <a:t> major programming assignments.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You will be given access to the assignment </a:t>
            </a:r>
            <a:r>
              <a:rPr lang="en-US" sz="2400" b="1" dirty="0">
                <a:solidFill>
                  <a:schemeClr val="bg1"/>
                </a:solidFill>
              </a:rPr>
              <a:t>approximately 2 weeks (or more) </a:t>
            </a:r>
            <a:r>
              <a:rPr lang="en-US" sz="2400" dirty="0">
                <a:solidFill>
                  <a:schemeClr val="bg1"/>
                </a:solidFill>
              </a:rPr>
              <a:t>prior to the due date.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You will </a:t>
            </a:r>
            <a:r>
              <a:rPr lang="en-US" sz="2400" b="1" u="sng" dirty="0">
                <a:solidFill>
                  <a:schemeClr val="bg1"/>
                </a:solidFill>
              </a:rPr>
              <a:t>not</a:t>
            </a:r>
            <a:r>
              <a:rPr lang="en-US" sz="2400" dirty="0">
                <a:solidFill>
                  <a:schemeClr val="bg1"/>
                </a:solidFill>
              </a:rPr>
              <a:t> know everything you need to know to complete the assignment the day it is assigned; the point is to work on the assignment throughout the entire 2-3 weeks and do as much as you can in smaller increments (</a:t>
            </a:r>
            <a:r>
              <a:rPr lang="en-US" sz="2400" b="1" dirty="0">
                <a:solidFill>
                  <a:schemeClr val="bg1"/>
                </a:solidFill>
              </a:rPr>
              <a:t>practice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b="1" dirty="0">
                <a:solidFill>
                  <a:srgbClr val="0070C0"/>
                </a:solidFill>
              </a:rPr>
              <a:t>incremental programming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779EF9-0E51-B3E6-7E98-A2DE4C06EC9F}"/>
              </a:ext>
            </a:extLst>
          </p:cNvPr>
          <p:cNvSpPr txBox="1"/>
          <p:nvPr/>
        </p:nvSpPr>
        <p:spPr>
          <a:xfrm>
            <a:off x="308659" y="4123481"/>
            <a:ext cx="11671138" cy="22775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u="sng" dirty="0">
                <a:solidFill>
                  <a:schemeClr val="bg1"/>
                </a:solidFill>
                <a:highlight>
                  <a:srgbClr val="FFFF00"/>
                </a:highlight>
              </a:rPr>
              <a:t>Late Assignment Policy</a:t>
            </a:r>
          </a:p>
          <a:p>
            <a:pPr marL="285750" indent="-285750">
              <a:buFont typeface="Arial"/>
              <a:buChar char="•"/>
            </a:pPr>
            <a:r>
              <a:rPr lang="en-US" sz="2400" b="1" dirty="0">
                <a:solidFill>
                  <a:srgbClr val="000000"/>
                </a:solidFill>
                <a:ea typeface="+mn-lt"/>
                <a:cs typeface="+mn-lt"/>
              </a:rPr>
              <a:t>Lecture programming assignments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 and </a:t>
            </a:r>
            <a:r>
              <a:rPr lang="en-US" sz="2400" b="1" dirty="0">
                <a:solidFill>
                  <a:srgbClr val="000000"/>
                </a:solidFill>
                <a:ea typeface="+mn-lt"/>
                <a:cs typeface="+mn-lt"/>
              </a:rPr>
              <a:t>lab assignments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 may </a:t>
            </a:r>
            <a:r>
              <a:rPr lang="en-US" sz="2400" baseline="0" dirty="0">
                <a:solidFill>
                  <a:srgbClr val="000000"/>
                </a:solidFill>
                <a:ea typeface="+mn-lt"/>
                <a:cs typeface="+mn-lt"/>
              </a:rPr>
              <a:t>be 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completed/submitted </a:t>
            </a:r>
            <a:r>
              <a:rPr lang="en-US" sz="2400" b="1" baseline="0" dirty="0">
                <a:solidFill>
                  <a:srgbClr val="A20000"/>
                </a:solidFill>
                <a:ea typeface="+mn-lt"/>
                <a:cs typeface="+mn-lt"/>
              </a:rPr>
              <a:t>up </a:t>
            </a:r>
            <a:r>
              <a:rPr lang="en-US" sz="2400" b="1" dirty="0">
                <a:solidFill>
                  <a:srgbClr val="A20000"/>
                </a:solidFill>
                <a:ea typeface="+mn-lt"/>
                <a:cs typeface="+mn-lt"/>
              </a:rPr>
              <a:t>to 2 days late</a:t>
            </a:r>
            <a:r>
              <a:rPr lang="en-US" sz="2400" dirty="0">
                <a:solidFill>
                  <a:srgbClr val="A20000"/>
                </a:solidFill>
                <a:ea typeface="+mn-lt"/>
                <a:cs typeface="+mn-lt"/>
              </a:rPr>
              <a:t> 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at a penalty of </a:t>
            </a:r>
            <a:r>
              <a:rPr lang="en-US" sz="2400" b="1" dirty="0">
                <a:solidFill>
                  <a:srgbClr val="A20000"/>
                </a:solidFill>
                <a:ea typeface="+mn-lt"/>
                <a:cs typeface="+mn-lt"/>
              </a:rPr>
              <a:t>10% off per day late</a:t>
            </a:r>
            <a:r>
              <a:rPr lang="en-US" sz="2400" baseline="0" dirty="0">
                <a:solidFill>
                  <a:srgbClr val="000000"/>
                </a:solidFill>
                <a:ea typeface="+mn-lt"/>
                <a:cs typeface="+mn-lt"/>
              </a:rPr>
              <a:t>. 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After 2 days late, the assignment may not be submitted, and the grade </a:t>
            </a:r>
            <a:r>
              <a:rPr lang="en-US" sz="2400" baseline="0" dirty="0">
                <a:solidFill>
                  <a:srgbClr val="000000"/>
                </a:solidFill>
                <a:ea typeface="+mn-lt"/>
                <a:cs typeface="+mn-lt"/>
              </a:rPr>
              <a:t>will 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be </a:t>
            </a:r>
            <a:r>
              <a:rPr lang="en-US" sz="2400" baseline="0" dirty="0">
                <a:solidFill>
                  <a:srgbClr val="000000"/>
                </a:solidFill>
                <a:ea typeface="+mn-lt"/>
                <a:cs typeface="+mn-lt"/>
              </a:rPr>
              <a:t>a 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zero.  </a:t>
            </a:r>
            <a:br>
              <a:rPr lang="en-US" sz="2400" dirty="0">
                <a:ea typeface="+mn-lt"/>
                <a:cs typeface="+mn-lt"/>
              </a:rPr>
            </a:b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Emailed submissions </a:t>
            </a:r>
            <a:r>
              <a:rPr lang="en-US" sz="2400" baseline="0" dirty="0">
                <a:solidFill>
                  <a:srgbClr val="000000"/>
                </a:solidFill>
                <a:ea typeface="+mn-lt"/>
                <a:cs typeface="+mn-lt"/>
              </a:rPr>
              <a:t>are 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not accepted</a:t>
            </a:r>
            <a:r>
              <a:rPr lang="en-US" sz="2400" b="1" baseline="0" dirty="0">
                <a:solidFill>
                  <a:srgbClr val="000000"/>
                </a:solidFill>
                <a:ea typeface="+mn-lt"/>
                <a:cs typeface="+mn-lt"/>
              </a:rPr>
              <a:t>.</a:t>
            </a:r>
            <a:endParaRPr lang="en-US" sz="2400" b="1" dirty="0">
              <a:ea typeface="+mn-lt"/>
              <a:cs typeface="+mn-lt"/>
            </a:endParaRPr>
          </a:p>
          <a:p>
            <a:pPr lvl="0" algn="ctr"/>
            <a:endParaRPr lang="en-US">
              <a:solidFill>
                <a:srgbClr val="000000"/>
              </a:solidFill>
              <a:latin typeface="Candara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25628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28600" y="93210"/>
            <a:ext cx="11734800" cy="1143000"/>
          </a:xfrm>
          <a:solidFill>
            <a:srgbClr val="FFDD00"/>
          </a:solidFill>
        </p:spPr>
        <p:txBody>
          <a:bodyPr anchor="ctr">
            <a:normAutofit/>
          </a:bodyPr>
          <a:lstStyle/>
          <a:p>
            <a:pPr algn="ctr"/>
            <a:r>
              <a:rPr lang="en-US" sz="4000" b="1" dirty="0">
                <a:solidFill>
                  <a:srgbClr val="4F2984"/>
                </a:solidFill>
                <a:latin typeface="Eras Bold ITC" panose="020B0907030504020204" pitchFamily="34" charset="0"/>
              </a:rPr>
              <a:t>Lab (25% of Grade)</a:t>
            </a:r>
            <a:endParaRPr sz="4000" b="1" dirty="0">
              <a:solidFill>
                <a:srgbClr val="0070C0"/>
              </a:solidFill>
              <a:latin typeface="Eras Bold ITC" panose="020B0907030504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872A1C-B492-3B0B-8AC2-139C0E533045}"/>
              </a:ext>
            </a:extLst>
          </p:cNvPr>
          <p:cNvSpPr txBox="1"/>
          <p:nvPr/>
        </p:nvSpPr>
        <p:spPr>
          <a:xfrm>
            <a:off x="154737" y="1488311"/>
            <a:ext cx="12039600" cy="2308324"/>
          </a:xfrm>
          <a:prstGeom prst="rect">
            <a:avLst/>
          </a:prstGeom>
          <a:solidFill>
            <a:schemeClr val="tx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The first lab class is week of </a:t>
            </a:r>
            <a:r>
              <a:rPr lang="en-US" sz="2400" b="1" dirty="0">
                <a:solidFill>
                  <a:schemeClr val="bg1"/>
                </a:solidFill>
                <a:highlight>
                  <a:srgbClr val="FFFF00"/>
                </a:highlight>
              </a:rPr>
              <a:t>Monday, January 26th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through </a:t>
            </a:r>
            <a:r>
              <a:rPr lang="en-US" sz="2400" b="1" dirty="0">
                <a:solidFill>
                  <a:schemeClr val="bg1"/>
                </a:solidFill>
                <a:highlight>
                  <a:srgbClr val="FFFF00"/>
                </a:highlight>
              </a:rPr>
              <a:t>Friday, January 30th  </a:t>
            </a:r>
            <a:endParaRPr lang="en-US" sz="2400" b="1" dirty="0">
              <a:solidFill>
                <a:schemeClr val="bg1"/>
              </a:solidFill>
            </a:endParaRPr>
          </a:p>
          <a:p>
            <a:endParaRPr lang="en-US" sz="2400" b="1" dirty="0">
              <a:solidFill>
                <a:schemeClr val="bg1"/>
              </a:solidFill>
              <a:highlight>
                <a:srgbClr val="FFFF00"/>
              </a:highligh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Some weeks you will not have lab. Refer to </a:t>
            </a:r>
            <a:r>
              <a:rPr lang="en-US" sz="2400" b="1" dirty="0">
                <a:solidFill>
                  <a:schemeClr val="bg1"/>
                </a:solidFill>
              </a:rPr>
              <a:t>Master Schedule </a:t>
            </a:r>
            <a:r>
              <a:rPr lang="en-US" sz="2400" dirty="0">
                <a:solidFill>
                  <a:schemeClr val="bg1"/>
                </a:solidFill>
              </a:rPr>
              <a:t>under </a:t>
            </a:r>
            <a:r>
              <a:rPr lang="en-US" sz="2400" b="1" dirty="0">
                <a:solidFill>
                  <a:schemeClr val="bg1"/>
                </a:solidFill>
              </a:rPr>
              <a:t>Content</a:t>
            </a:r>
            <a:endParaRPr lang="en-US" sz="2400" b="1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You will learn more about lab in your first lab class.</a:t>
            </a:r>
            <a:endParaRPr lang="en-US" sz="24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You will have two lab instructors, who are also graders &amp; tutors for the class. 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(lab schedule next slide)</a:t>
            </a:r>
          </a:p>
        </p:txBody>
      </p:sp>
    </p:spTree>
    <p:extLst>
      <p:ext uri="{BB962C8B-B14F-4D97-AF65-F5344CB8AC3E}">
        <p14:creationId xmlns:p14="http://schemas.microsoft.com/office/powerpoint/2010/main" val="1713689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28600" y="76200"/>
            <a:ext cx="11734800" cy="1143000"/>
          </a:xfrm>
          <a:solidFill>
            <a:srgbClr val="FFDD00"/>
          </a:solidFill>
        </p:spPr>
        <p:txBody>
          <a:bodyPr anchor="ctr">
            <a:normAutofit/>
          </a:bodyPr>
          <a:lstStyle/>
          <a:p>
            <a:pPr algn="ctr"/>
            <a:r>
              <a:rPr lang="en-US" sz="4000" b="1" dirty="0">
                <a:solidFill>
                  <a:srgbClr val="4F2984"/>
                </a:solidFill>
                <a:latin typeface="Eras Bold ITC"/>
              </a:rPr>
              <a:t>Academic Integrity Policy (Cheating)</a:t>
            </a:r>
            <a:endParaRPr sz="4000" b="1" dirty="0">
              <a:solidFill>
                <a:srgbClr val="0070C0"/>
              </a:solidFill>
              <a:latin typeface="Eras Bold ITC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872A1C-B492-3B0B-8AC2-139C0E533045}"/>
              </a:ext>
            </a:extLst>
          </p:cNvPr>
          <p:cNvSpPr txBox="1"/>
          <p:nvPr/>
        </p:nvSpPr>
        <p:spPr>
          <a:xfrm>
            <a:off x="152400" y="1256467"/>
            <a:ext cx="11734800" cy="4093428"/>
          </a:xfrm>
          <a:prstGeom prst="rect">
            <a:avLst/>
          </a:prstGeom>
          <a:solidFill>
            <a:schemeClr val="tx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Applies to all assessments in class but especially for </a:t>
            </a:r>
            <a:r>
              <a:rPr lang="en-US" sz="2000" b="1" dirty="0">
                <a:solidFill>
                  <a:schemeClr val="bg1"/>
                </a:solidFill>
              </a:rPr>
              <a:t>Programming &amp; Lab Assignments</a:t>
            </a:r>
            <a:br>
              <a:rPr lang="en-US" sz="2000" b="1" dirty="0">
                <a:solidFill>
                  <a:schemeClr val="bg1"/>
                </a:solidFill>
              </a:rPr>
            </a:br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You are responsible for reading the entire syllabus including the “Academic Integrity” policy</a:t>
            </a:r>
            <a:r>
              <a:rPr lang="en-US" sz="2000" dirty="0">
                <a:solidFill>
                  <a:schemeClr val="bg1"/>
                </a:solidFill>
              </a:rPr>
              <a:t>. Saying you didn’t know something wasn’t allowed is not going to count, because you are required to read and understand the syllabus as well as TTU policies.</a:t>
            </a:r>
            <a:br>
              <a:rPr lang="en-US" sz="2000" dirty="0">
                <a:solidFill>
                  <a:schemeClr val="bg1"/>
                </a:solidFill>
              </a:rPr>
            </a:br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We are required to charge students with an academic integrity violation if they are </a:t>
            </a:r>
            <a:r>
              <a:rPr lang="en-US" sz="2000" b="1" dirty="0">
                <a:solidFill>
                  <a:schemeClr val="bg1"/>
                </a:solidFill>
              </a:rPr>
              <a:t>sharing code with classmates </a:t>
            </a:r>
            <a:r>
              <a:rPr lang="en-US" sz="2000" dirty="0">
                <a:solidFill>
                  <a:schemeClr val="bg1"/>
                </a:solidFill>
              </a:rPr>
              <a:t>(when not allowed). Don’t get help from your mom, dad, friend, person off street, uncle, person who took this class prior to this semester, etc. 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b="1" dirty="0">
                <a:solidFill>
                  <a:schemeClr val="bg1"/>
                </a:solidFill>
              </a:rPr>
              <a:t>Get help from your professors and from the </a:t>
            </a:r>
            <a:r>
              <a:rPr lang="en-US" sz="2000" b="1" dirty="0" err="1">
                <a:solidFill>
                  <a:schemeClr val="bg1"/>
                </a:solidFill>
              </a:rPr>
              <a:t>TAs.</a:t>
            </a:r>
            <a:br>
              <a:rPr lang="en-US" sz="2000" dirty="0">
                <a:solidFill>
                  <a:schemeClr val="bg1"/>
                </a:solidFill>
              </a:rPr>
            </a:br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Don’t get charged with an academic integrity violation! </a:t>
            </a:r>
            <a:r>
              <a:rPr lang="en-US" sz="2000" b="1" dirty="0">
                <a:solidFill>
                  <a:schemeClr val="bg1"/>
                </a:solidFill>
                <a:highlight>
                  <a:srgbClr val="FFFF00"/>
                </a:highlight>
              </a:rPr>
              <a:t>It goes on your permanent academic student record</a:t>
            </a:r>
            <a:r>
              <a:rPr lang="en-US" sz="2000" dirty="0">
                <a:solidFill>
                  <a:schemeClr val="bg1"/>
                </a:solidFill>
              </a:rPr>
              <a:t>, and you could be </a:t>
            </a:r>
            <a:r>
              <a:rPr lang="en-US" sz="2000" b="1" dirty="0">
                <a:solidFill>
                  <a:schemeClr val="bg1"/>
                </a:solidFill>
                <a:highlight>
                  <a:srgbClr val="FFFF00"/>
                </a:highlight>
              </a:rPr>
              <a:t>expelled from TTU</a:t>
            </a:r>
            <a:r>
              <a:rPr lang="en-US" sz="2000" dirty="0">
                <a:solidFill>
                  <a:schemeClr val="bg1"/>
                </a:solidFill>
              </a:rPr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2733293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AF2993-2D48-7C75-83CD-0E4FCE309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65551-8B63-8944-E365-361C04D43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228" y="206434"/>
            <a:ext cx="10654572" cy="1184216"/>
          </a:xfrm>
        </p:spPr>
        <p:txBody>
          <a:bodyPr>
            <a:noAutofit/>
          </a:bodyPr>
          <a:lstStyle/>
          <a:p>
            <a:r>
              <a:rPr lang="en-US" sz="4400" cap="none" dirty="0">
                <a:latin typeface="Berlin Sans FB Demi" panose="020E0802020502020306" pitchFamily="34" charset="0"/>
              </a:rPr>
              <a:t>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0A6EC-4C8F-A47C-ABC4-0B712A814C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3345" y="1426948"/>
            <a:ext cx="4424855" cy="531675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chemeClr val="bg1"/>
                </a:solidFill>
                <a:latin typeface="Aptos Narrow" panose="020B0004020202020204" pitchFamily="34" charset="0"/>
              </a:rPr>
              <a:t>Announcements from your </a:t>
            </a:r>
            <a:r>
              <a:rPr lang="en-US" sz="2800" b="1" dirty="0">
                <a:solidFill>
                  <a:schemeClr val="bg1"/>
                </a:solidFill>
                <a:latin typeface="Aptos Narrow" panose="020B0004020202020204" pitchFamily="34" charset="0"/>
              </a:rPr>
              <a:t>instructors</a:t>
            </a:r>
            <a:r>
              <a:rPr lang="en-US" sz="2800" dirty="0">
                <a:solidFill>
                  <a:schemeClr val="bg1"/>
                </a:solidFill>
                <a:latin typeface="Aptos Narrow" panose="020B0004020202020204" pitchFamily="34" charset="0"/>
              </a:rPr>
              <a:t> will either be in </a:t>
            </a:r>
            <a:r>
              <a:rPr lang="en-US" sz="2800" b="1" dirty="0">
                <a:solidFill>
                  <a:schemeClr val="bg1"/>
                </a:solidFill>
                <a:latin typeface="Aptos Narrow" panose="020B0004020202020204" pitchFamily="34" charset="0"/>
              </a:rPr>
              <a:t>ilearn</a:t>
            </a:r>
            <a:r>
              <a:rPr lang="en-US" sz="2800" dirty="0">
                <a:solidFill>
                  <a:schemeClr val="bg1"/>
                </a:solidFill>
                <a:latin typeface="Aptos Narrow" panose="020B0004020202020204" pitchFamily="34" charset="0"/>
              </a:rPr>
              <a:t> (on our class home screen) or in our </a:t>
            </a:r>
            <a:r>
              <a:rPr lang="en-US" sz="2800" b="1" dirty="0">
                <a:solidFill>
                  <a:schemeClr val="bg1"/>
                </a:solidFill>
                <a:latin typeface="Aptos Narrow" panose="020B0004020202020204" pitchFamily="34" charset="0"/>
              </a:rPr>
              <a:t>MS Team</a:t>
            </a:r>
            <a:r>
              <a:rPr lang="en-US" sz="2800" dirty="0">
                <a:solidFill>
                  <a:schemeClr val="bg1"/>
                </a:solidFill>
                <a:latin typeface="Aptos Narrow" panose="020B0004020202020204" pitchFamily="34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chemeClr val="bg1"/>
                </a:solidFill>
                <a:latin typeface="Aptos Narrow" panose="020B0004020202020204" pitchFamily="34" charset="0"/>
              </a:rPr>
              <a:t>All communication from </a:t>
            </a:r>
            <a:r>
              <a:rPr lang="en-US" sz="2800" b="1" dirty="0">
                <a:solidFill>
                  <a:schemeClr val="bg1"/>
                </a:solidFill>
                <a:latin typeface="Aptos Narrow" panose="020B0004020202020204" pitchFamily="34" charset="0"/>
              </a:rPr>
              <a:t>lab instructors/tutors </a:t>
            </a:r>
            <a:r>
              <a:rPr lang="en-US" sz="2800" dirty="0">
                <a:solidFill>
                  <a:schemeClr val="bg1"/>
                </a:solidFill>
                <a:latin typeface="Aptos Narrow" panose="020B0004020202020204" pitchFamily="34" charset="0"/>
              </a:rPr>
              <a:t>for this class happens in our </a:t>
            </a:r>
            <a:r>
              <a:rPr lang="en-US" sz="2800" b="1" dirty="0">
                <a:solidFill>
                  <a:schemeClr val="bg1"/>
                </a:solidFill>
                <a:latin typeface="Aptos Narrow" panose="020B0004020202020204" pitchFamily="34" charset="0"/>
              </a:rPr>
              <a:t>MS Team</a:t>
            </a:r>
            <a:r>
              <a:rPr lang="en-US" sz="2800" dirty="0">
                <a:solidFill>
                  <a:schemeClr val="bg1"/>
                </a:solidFill>
                <a:latin typeface="Aptos Narrow" panose="020B0004020202020204" pitchFamily="34" charset="0"/>
              </a:rPr>
              <a:t>.  </a:t>
            </a:r>
          </a:p>
        </p:txBody>
      </p:sp>
      <p:sp>
        <p:nvSpPr>
          <p:cNvPr id="4" name="Title 12">
            <a:extLst>
              <a:ext uri="{FF2B5EF4-FFF2-40B4-BE49-F238E27FC236}">
                <a16:creationId xmlns:a16="http://schemas.microsoft.com/office/drawing/2014/main" id="{21AA5543-FEF7-AA84-6CB5-DD68DC9D92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223345" y="170136"/>
            <a:ext cx="11734800" cy="1143000"/>
          </a:xfrm>
          <a:prstGeom prst="rect">
            <a:avLst/>
          </a:prstGeom>
          <a:solidFill>
            <a:srgbClr val="FFDD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4F2984"/>
                </a:solidFill>
                <a:latin typeface="Eras Bold ITC" panose="020B0907030504020204" pitchFamily="34" charset="0"/>
              </a:rPr>
              <a:t>Communication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FEDEA9-3669-CB76-DCE9-D6585C64D4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436" y="1388841"/>
            <a:ext cx="6438900" cy="531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1146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28600" y="168166"/>
            <a:ext cx="11734800" cy="1143000"/>
          </a:xfrm>
          <a:solidFill>
            <a:srgbClr val="FFDD00"/>
          </a:solidFill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4000" b="1" dirty="0">
                <a:solidFill>
                  <a:srgbClr val="4F2984"/>
                </a:solidFill>
                <a:latin typeface="Eras Bold ITC"/>
              </a:rPr>
              <a:t>More about the</a:t>
            </a:r>
            <a:br>
              <a:rPr lang="en-US" sz="4000" b="1" dirty="0">
                <a:latin typeface="Eras Bold ITC" panose="020B0907030504020204" pitchFamily="34" charset="0"/>
              </a:rPr>
            </a:br>
            <a:r>
              <a:rPr lang="en-US" sz="4000" b="1" dirty="0">
                <a:solidFill>
                  <a:srgbClr val="4F2984"/>
                </a:solidFill>
                <a:latin typeface="Eras Bold ITC"/>
              </a:rPr>
              <a:t>Programming Aptitude Quiz</a:t>
            </a:r>
            <a:r>
              <a:rPr lang="en-US" sz="3100" b="1" dirty="0">
                <a:solidFill>
                  <a:srgbClr val="4F2984"/>
                </a:solidFill>
                <a:latin typeface="Eras Bold ITC"/>
              </a:rPr>
              <a:t> (</a:t>
            </a:r>
            <a:r>
              <a:rPr lang="en-US" sz="3100" b="1" dirty="0">
                <a:solidFill>
                  <a:srgbClr val="4F2984"/>
                </a:solidFill>
                <a:highlight>
                  <a:srgbClr val="FFFF00"/>
                </a:highlight>
                <a:latin typeface="Eras Bold ITC"/>
              </a:rPr>
              <a:t>due Wed. Jan 21, 2026</a:t>
            </a:r>
            <a:r>
              <a:rPr lang="en-US" sz="3100" b="1" dirty="0">
                <a:solidFill>
                  <a:srgbClr val="4F2984"/>
                </a:solidFill>
                <a:latin typeface="Eras Bold ITC"/>
              </a:rPr>
              <a:t>)</a:t>
            </a:r>
            <a:endParaRPr lang="en-US" sz="3600" b="1" dirty="0">
              <a:solidFill>
                <a:srgbClr val="4F2984"/>
              </a:solidFill>
              <a:latin typeface="Eras Bold ITC" panose="020B0907030504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7A7F33-27BB-4391-874F-AC8FB392DC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311166"/>
            <a:ext cx="11734800" cy="5378668"/>
          </a:xfrm>
          <a:solidFill>
            <a:schemeClr val="tx1"/>
          </a:solidFill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The score you make on this quiz will not affect your CSC 1300 grade whatsoever. However, you will get a </a:t>
            </a:r>
            <a:r>
              <a:rPr lang="en-US" sz="2400" b="1" dirty="0">
                <a:solidFill>
                  <a:schemeClr val="bg1"/>
                </a:solidFill>
              </a:rPr>
              <a:t>participation grade </a:t>
            </a:r>
            <a:r>
              <a:rPr lang="en-US" sz="2400" dirty="0">
                <a:solidFill>
                  <a:schemeClr val="bg1"/>
                </a:solidFill>
              </a:rPr>
              <a:t>for completing it, so it is </a:t>
            </a:r>
            <a:r>
              <a:rPr lang="en-US" sz="2400" b="1" dirty="0">
                <a:solidFill>
                  <a:schemeClr val="bg1"/>
                </a:solidFill>
              </a:rPr>
              <a:t>required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  <a:p>
            <a:r>
              <a:rPr lang="en-US" sz="2400" dirty="0">
                <a:solidFill>
                  <a:schemeClr val="bg1"/>
                </a:solidFill>
              </a:rPr>
              <a:t>The quiz </a:t>
            </a:r>
            <a:r>
              <a:rPr lang="en-US" sz="2400" b="1" dirty="0">
                <a:solidFill>
                  <a:schemeClr val="bg1"/>
                </a:solidFill>
              </a:rPr>
              <a:t>does not require any computer programming</a:t>
            </a:r>
            <a:r>
              <a:rPr lang="en-US" sz="2400" dirty="0">
                <a:solidFill>
                  <a:schemeClr val="bg1"/>
                </a:solidFill>
              </a:rPr>
              <a:t> but tests you over logical thinking, problem solving, pattern/syntax recognition, and ability to follow complex procedures.</a:t>
            </a:r>
          </a:p>
          <a:p>
            <a:r>
              <a:rPr lang="en-US" sz="2400" dirty="0">
                <a:solidFill>
                  <a:schemeClr val="bg1"/>
                </a:solidFill>
              </a:rPr>
              <a:t>The score you make on this quiz is an additional measure you can use to help you choose the </a:t>
            </a:r>
            <a:r>
              <a:rPr lang="en-US" sz="2400" b="1" dirty="0">
                <a:solidFill>
                  <a:schemeClr val="bg1"/>
                </a:solidFill>
                <a:highlight>
                  <a:srgbClr val="FFDD00"/>
                </a:highlight>
              </a:rPr>
              <a:t>Gold Group </a:t>
            </a:r>
            <a:r>
              <a:rPr lang="en-US" sz="2400" dirty="0">
                <a:solidFill>
                  <a:schemeClr val="bg1"/>
                </a:solidFill>
              </a:rPr>
              <a:t>or </a:t>
            </a:r>
            <a:r>
              <a:rPr lang="en-US" sz="2400" b="1" dirty="0">
                <a:solidFill>
                  <a:schemeClr val="tx1"/>
                </a:solidFill>
                <a:highlight>
                  <a:srgbClr val="4F2984"/>
                </a:highlight>
              </a:rPr>
              <a:t>Purple Group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in the selection form </a:t>
            </a:r>
            <a:r>
              <a:rPr lang="en-US" sz="2400" b="1" dirty="0">
                <a:solidFill>
                  <a:srgbClr val="FF0000"/>
                </a:solidFill>
              </a:rPr>
              <a:t>due </a:t>
            </a:r>
            <a:r>
              <a:rPr lang="en-US" sz="2400" b="1" dirty="0">
                <a:solidFill>
                  <a:schemeClr val="bg1"/>
                </a:solidFill>
                <a:highlight>
                  <a:srgbClr val="FFFF00"/>
                </a:highlight>
              </a:rPr>
              <a:t>Friday, January 23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  <a:p>
            <a:r>
              <a:rPr lang="en-US" sz="2400" dirty="0">
                <a:solidFill>
                  <a:schemeClr val="bg1"/>
                </a:solidFill>
              </a:rPr>
              <a:t>The highest score you can make is 29.  </a:t>
            </a:r>
          </a:p>
          <a:p>
            <a:pPr lvl="1"/>
            <a:r>
              <a:rPr lang="en-US" sz="2000" b="1" dirty="0">
                <a:solidFill>
                  <a:srgbClr val="002060"/>
                </a:solidFill>
              </a:rPr>
              <a:t>21-29:  Above average </a:t>
            </a:r>
          </a:p>
          <a:p>
            <a:pPr lvl="1"/>
            <a:r>
              <a:rPr lang="en-US" sz="2000" b="1" dirty="0">
                <a:solidFill>
                  <a:srgbClr val="002060"/>
                </a:solidFill>
              </a:rPr>
              <a:t>14-20: Average</a:t>
            </a:r>
          </a:p>
          <a:p>
            <a:pPr lvl="1"/>
            <a:r>
              <a:rPr lang="en-US" sz="2000" b="1" dirty="0">
                <a:solidFill>
                  <a:srgbClr val="002060"/>
                </a:solidFill>
              </a:rPr>
              <a:t>0-14: Below average – this doesn’t mean programming isn’t for you or that you can’t do it – it just means you lack experience, which you will build in this class!</a:t>
            </a:r>
          </a:p>
        </p:txBody>
      </p:sp>
    </p:spTree>
    <p:extLst>
      <p:ext uri="{BB962C8B-B14F-4D97-AF65-F5344CB8AC3E}">
        <p14:creationId xmlns:p14="http://schemas.microsoft.com/office/powerpoint/2010/main" val="34416934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582400" cy="1143000"/>
          </a:xfrm>
          <a:solidFill>
            <a:srgbClr val="FFDD0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b="1" dirty="0">
                <a:solidFill>
                  <a:srgbClr val="4F2984"/>
                </a:solidFill>
                <a:latin typeface="Eras Bold ITC" panose="020B0907030504020204" pitchFamily="34" charset="0"/>
              </a:rPr>
              <a:t>Getting Your Computer Set Up</a:t>
            </a:r>
            <a:endParaRPr sz="4000" b="1" dirty="0">
              <a:solidFill>
                <a:srgbClr val="4F2984"/>
              </a:solidFill>
              <a:latin typeface="Eras Bold ITC" panose="020B0907030504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30E300F-F403-41CC-A976-70EBC566D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667"/>
          <a:stretch/>
        </p:blipFill>
        <p:spPr bwMode="auto">
          <a:xfrm>
            <a:off x="7315200" y="1480185"/>
            <a:ext cx="4648200" cy="5155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7132A2-588D-101C-620C-F52D34EC4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524000"/>
            <a:ext cx="6858000" cy="5155574"/>
          </a:xfrm>
          <a:solidFill>
            <a:schemeClr val="tx1"/>
          </a:solidFill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Follow the directions in the "Getting your Computer Set Up" document that matches your operating system (Windows or Mac)</a:t>
            </a:r>
          </a:p>
          <a:p>
            <a:r>
              <a:rPr lang="en-US" b="1" dirty="0">
                <a:solidFill>
                  <a:schemeClr val="bg1"/>
                </a:solidFill>
              </a:rPr>
              <a:t>If you have trouble, it's ok! You can get help from one of the TAs during tutoring hours (begins mid-week next week)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86E02FF-822D-BF8C-4D06-EC43FFAD8A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4478" y="3206247"/>
            <a:ext cx="4605398" cy="3464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5553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254264-46C3-B4DC-675C-C43EB2433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30095EF-693B-4A8D-AD5A-561E44E68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04800"/>
            <a:ext cx="11582400" cy="1143000"/>
          </a:xfrm>
          <a:solidFill>
            <a:srgbClr val="FFDD0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b="1" dirty="0">
                <a:solidFill>
                  <a:srgbClr val="4F2984"/>
                </a:solidFill>
                <a:latin typeface="Eras Bold ITC"/>
              </a:rPr>
              <a:t>Set Up Your Folders on Your Computer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4E3530-C7EC-53B3-9E52-830449707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524000"/>
            <a:ext cx="7292050" cy="979043"/>
          </a:xfrm>
          <a:solidFill>
            <a:schemeClr val="tx1"/>
          </a:solidFill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Follow the directions in the "Set Up Your Folders on Your Computer" page in </a:t>
            </a:r>
            <a:r>
              <a:rPr lang="en-US" b="1" err="1">
                <a:solidFill>
                  <a:schemeClr val="bg1"/>
                </a:solidFill>
              </a:rPr>
              <a:t>ilearn</a:t>
            </a:r>
            <a:r>
              <a:rPr lang="en-US" b="1" dirty="0">
                <a:solidFill>
                  <a:schemeClr val="bg1"/>
                </a:solidFill>
              </a:rPr>
              <a:t> under Content and then "Get Your Computer Set Up for CSC 1300"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1A5C25-26CB-6CA4-8114-834A575755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592" y="2632999"/>
            <a:ext cx="4981575" cy="3771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BF8AB8-21EA-F595-B9E1-03CA278917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1218" y="3197445"/>
            <a:ext cx="6310373" cy="3192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9345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23345" y="170136"/>
            <a:ext cx="11734800" cy="1143000"/>
          </a:xfrm>
          <a:solidFill>
            <a:srgbClr val="FFDD0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4F2984"/>
                </a:solidFill>
                <a:latin typeface="Eras Bold ITC" panose="020B0907030504020204" pitchFamily="34" charset="0"/>
                <a:ea typeface="+mj-ea"/>
                <a:cs typeface="+mj-cs"/>
              </a:rPr>
              <a:t>Creating, Compiling, and Running a Program</a:t>
            </a:r>
            <a:endParaRPr sz="4000" b="1" dirty="0">
              <a:solidFill>
                <a:srgbClr val="4F2984"/>
              </a:solidFill>
              <a:latin typeface="Eras Bold ITC" panose="020B0907030504020204" pitchFamily="34" charset="0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45A67-E97A-432B-9380-7AAF08B85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964" y="1447800"/>
            <a:ext cx="11734800" cy="4267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A </a:t>
            </a:r>
            <a:r>
              <a:rPr lang="en-US" sz="2800" b="1" dirty="0">
                <a:solidFill>
                  <a:schemeClr val="bg1"/>
                </a:solidFill>
                <a:highlight>
                  <a:srgbClr val="FFDD00"/>
                </a:highlight>
              </a:rPr>
              <a:t>compiler</a:t>
            </a:r>
            <a:r>
              <a:rPr lang="en-US" sz="2800" dirty="0">
                <a:solidFill>
                  <a:schemeClr val="bg1"/>
                </a:solidFill>
              </a:rPr>
              <a:t> is a tool that converts a program into low-level machine instructions (</a:t>
            </a:r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800" dirty="0">
                <a:solidFill>
                  <a:schemeClr val="bg1"/>
                </a:solidFill>
              </a:rPr>
              <a:t>s and </a:t>
            </a:r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800" dirty="0">
                <a:solidFill>
                  <a:schemeClr val="bg1"/>
                </a:solidFill>
              </a:rPr>
              <a:t>s) understood by a computer.  C++ is a compiled language – the code is not interpreted until it is compiled.</a:t>
            </a:r>
          </a:p>
        </p:txBody>
      </p:sp>
      <p:pic>
        <p:nvPicPr>
          <p:cNvPr id="4" name="Picture 3" descr="image showing the compilation process for code. source code is made into object code, which becomes the executable. ">
            <a:extLst>
              <a:ext uri="{FF2B5EF4-FFF2-40B4-BE49-F238E27FC236}">
                <a16:creationId xmlns:a16="http://schemas.microsoft.com/office/drawing/2014/main" id="{EB4671F2-75AF-4380-8747-9384062D4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114" y="2819400"/>
            <a:ext cx="11620500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42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28600" y="190500"/>
            <a:ext cx="11734800" cy="1143000"/>
          </a:xfrm>
          <a:solidFill>
            <a:srgbClr val="FFDD0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4F2984"/>
                </a:solidFill>
                <a:latin typeface="Eras Bold ITC" panose="020B0907030504020204" pitchFamily="34" charset="0"/>
                <a:ea typeface="+mj-ea"/>
                <a:cs typeface="+mj-cs"/>
              </a:rPr>
              <a:t>History of C++</a:t>
            </a:r>
            <a:endParaRPr sz="4000" b="1" dirty="0">
              <a:solidFill>
                <a:srgbClr val="4F2984"/>
              </a:solidFill>
              <a:latin typeface="Eras Bold ITC" panose="020B0907030504020204" pitchFamily="34" charset="0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45A67-E97A-432B-9380-7AAF08B85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353" y="1828800"/>
            <a:ext cx="4967647" cy="426720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C language was written first.</a:t>
            </a:r>
          </a:p>
          <a:p>
            <a:r>
              <a:rPr lang="en-US" sz="2800" dirty="0">
                <a:solidFill>
                  <a:schemeClr val="bg1"/>
                </a:solidFill>
              </a:rPr>
              <a:t>C++ written in 1985 at Bell Laboratories by 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Bjarne Stroustrup~~~~~~~~~&gt;</a:t>
            </a:r>
          </a:p>
        </p:txBody>
      </p:sp>
      <p:pic>
        <p:nvPicPr>
          <p:cNvPr id="4" name="Picture 3" descr="image of Bjarne Stroustrup, creator of C++">
            <a:extLst>
              <a:ext uri="{FF2B5EF4-FFF2-40B4-BE49-F238E27FC236}">
                <a16:creationId xmlns:a16="http://schemas.microsoft.com/office/drawing/2014/main" id="{2445E907-EAEA-40A5-A2ED-857BB005D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8056" y="1563414"/>
            <a:ext cx="6377591" cy="483738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5" name="Oval Callout 5">
            <a:extLst>
              <a:ext uri="{FF2B5EF4-FFF2-40B4-BE49-F238E27FC236}">
                <a16:creationId xmlns:a16="http://schemas.microsoft.com/office/drawing/2014/main" id="{B7911C21-AF97-488D-9E85-67C4A8085B6B}"/>
              </a:ext>
            </a:extLst>
          </p:cNvPr>
          <p:cNvSpPr/>
          <p:nvPr/>
        </p:nvSpPr>
        <p:spPr>
          <a:xfrm>
            <a:off x="4191000" y="4572000"/>
            <a:ext cx="2852616" cy="1938216"/>
          </a:xfrm>
          <a:prstGeom prst="wedgeEllipseCallout">
            <a:avLst>
              <a:gd name="adj1" fmla="val 95283"/>
              <a:gd name="adj2" fmla="val -8358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What’s up?</a:t>
            </a:r>
          </a:p>
        </p:txBody>
      </p:sp>
    </p:spTree>
    <p:extLst>
      <p:ext uri="{BB962C8B-B14F-4D97-AF65-F5344CB8AC3E}">
        <p14:creationId xmlns:p14="http://schemas.microsoft.com/office/powerpoint/2010/main" val="28907486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28600" y="190500"/>
            <a:ext cx="11734800" cy="1143000"/>
          </a:xfrm>
          <a:solidFill>
            <a:srgbClr val="FFDD0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4F2984"/>
                </a:solidFill>
                <a:latin typeface="Eras Bold ITC" panose="020B0907030504020204" pitchFamily="34" charset="0"/>
                <a:ea typeface="+mj-ea"/>
                <a:cs typeface="+mj-cs"/>
              </a:rPr>
              <a:t>Why Do We Use C++ in this course?</a:t>
            </a:r>
            <a:endParaRPr sz="4000" b="1" dirty="0">
              <a:solidFill>
                <a:srgbClr val="4F2984"/>
              </a:solidFill>
              <a:latin typeface="Eras Bold ITC" panose="020B0907030504020204" pitchFamily="34" charset="0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45A67-E97A-432B-9380-7AAF08B85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524000"/>
            <a:ext cx="11658600" cy="426720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The main reason is that C++ allows you to learn programming from the ground up.  It gives you a much greater understanding of all the building blocks of programming.  Other great reasons to learn C++ include:</a:t>
            </a:r>
          </a:p>
          <a:p>
            <a:r>
              <a:rPr lang="en-US" sz="2800" b="1" dirty="0">
                <a:solidFill>
                  <a:srgbClr val="0070C0"/>
                </a:solidFill>
              </a:rPr>
              <a:t>Useful in Many Applications – used in Cybersecurity</a:t>
            </a:r>
          </a:p>
          <a:p>
            <a:r>
              <a:rPr lang="en-US" sz="2800" b="1" dirty="0">
                <a:solidFill>
                  <a:srgbClr val="0070C0"/>
                </a:solidFill>
              </a:rPr>
              <a:t>Fast &amp; Space Efficient</a:t>
            </a:r>
          </a:p>
          <a:p>
            <a:r>
              <a:rPr lang="en-US" sz="2800" b="1" dirty="0">
                <a:solidFill>
                  <a:srgbClr val="0070C0"/>
                </a:solidFill>
              </a:rPr>
              <a:t>Abundant Library Support</a:t>
            </a:r>
          </a:p>
          <a:p>
            <a:r>
              <a:rPr lang="en-US" sz="2800" b="1" dirty="0">
                <a:solidFill>
                  <a:srgbClr val="0070C0"/>
                </a:solidFill>
              </a:rPr>
              <a:t>Portable</a:t>
            </a:r>
          </a:p>
          <a:p>
            <a:r>
              <a:rPr lang="en-US" sz="2800" b="1" dirty="0">
                <a:solidFill>
                  <a:srgbClr val="0070C0"/>
                </a:solidFill>
              </a:rPr>
              <a:t>Syntax is like other Languages (C, C#, Java)</a:t>
            </a:r>
          </a:p>
        </p:txBody>
      </p:sp>
      <p:pic>
        <p:nvPicPr>
          <p:cNvPr id="2" name="Picture 1" descr="A dog sitting at a computer">
            <a:extLst>
              <a:ext uri="{FF2B5EF4-FFF2-40B4-BE49-F238E27FC236}">
                <a16:creationId xmlns:a16="http://schemas.microsoft.com/office/drawing/2014/main" id="{C1E41054-04D7-4345-3D59-A8A4423719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6149" y="3157692"/>
            <a:ext cx="4750320" cy="346773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8896231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304800" y="180784"/>
            <a:ext cx="11658600" cy="1143000"/>
          </a:xfrm>
          <a:solidFill>
            <a:srgbClr val="FFDD0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4F2984"/>
                </a:solidFill>
                <a:latin typeface="Eras Bold ITC" panose="020B0907030504020204" pitchFamily="34" charset="0"/>
                <a:ea typeface="+mj-ea"/>
                <a:cs typeface="+mj-cs"/>
              </a:rPr>
              <a:t>Computer Tour</a:t>
            </a:r>
            <a:endParaRPr sz="4000" b="1" dirty="0">
              <a:solidFill>
                <a:srgbClr val="4F2984"/>
              </a:solidFill>
              <a:latin typeface="Eras Bold ITC" panose="020B0907030504020204" pitchFamily="34" charset="0"/>
              <a:ea typeface="+mj-ea"/>
              <a:cs typeface="+mj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491778-075C-4EC3-BD1A-4C58EBE22146}"/>
              </a:ext>
            </a:extLst>
          </p:cNvPr>
          <p:cNvSpPr txBox="1"/>
          <p:nvPr/>
        </p:nvSpPr>
        <p:spPr>
          <a:xfrm>
            <a:off x="1064216" y="2328935"/>
            <a:ext cx="21788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INPUT DEVICES</a:t>
            </a:r>
          </a:p>
        </p:txBody>
      </p:sp>
      <p:pic>
        <p:nvPicPr>
          <p:cNvPr id="9" name="Picture 8" descr="A black keyboard and mouse">
            <a:extLst>
              <a:ext uri="{FF2B5EF4-FFF2-40B4-BE49-F238E27FC236}">
                <a16:creationId xmlns:a16="http://schemas.microsoft.com/office/drawing/2014/main" id="{2FC6BD24-2D9C-43C7-891A-4E7217EEF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54" y="2670616"/>
            <a:ext cx="2680931" cy="1558193"/>
          </a:xfrm>
          <a:prstGeom prst="rect">
            <a:avLst/>
          </a:prstGeom>
        </p:spPr>
      </p:pic>
      <p:pic>
        <p:nvPicPr>
          <p:cNvPr id="8" name="Picture 7" descr="A diagram showing two boxes. One is labeled &quot;Central Processing Unit&quot;, and the other is &quot;Main Memory&quot;.">
            <a:extLst>
              <a:ext uri="{FF2B5EF4-FFF2-40B4-BE49-F238E27FC236}">
                <a16:creationId xmlns:a16="http://schemas.microsoft.com/office/drawing/2014/main" id="{C45937CC-F794-4F3E-80BE-FE8A07F84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180" y="2087311"/>
            <a:ext cx="1697125" cy="236208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45CDA66-377E-4C8B-9C4E-23541CB157CC}"/>
              </a:ext>
            </a:extLst>
          </p:cNvPr>
          <p:cNvSpPr txBox="1"/>
          <p:nvPr/>
        </p:nvSpPr>
        <p:spPr>
          <a:xfrm>
            <a:off x="5240782" y="3911601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RAM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1DC4B0-8B0F-46B1-A37C-4B4275844927}"/>
              </a:ext>
            </a:extLst>
          </p:cNvPr>
          <p:cNvSpPr txBox="1"/>
          <p:nvPr/>
        </p:nvSpPr>
        <p:spPr>
          <a:xfrm>
            <a:off x="6401599" y="5876575"/>
            <a:ext cx="32928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STORAGE / HARD DRIVE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5FC2740-746B-4059-8B27-03D5697F8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357"/>
          <a:stretch/>
        </p:blipFill>
        <p:spPr>
          <a:xfrm>
            <a:off x="4832377" y="4950870"/>
            <a:ext cx="1628136" cy="140706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70CDEF3-73CA-4D4B-86F0-4F2570242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822015" y="2208951"/>
            <a:ext cx="2467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OUTPUT DEVICES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A90544D-A39C-4DA3-A2E9-E0EE77B81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2268" b="1573"/>
          <a:stretch/>
        </p:blipFill>
        <p:spPr>
          <a:xfrm>
            <a:off x="8077200" y="2568844"/>
            <a:ext cx="1670163" cy="17120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32F2A8-3883-41C8-A183-81B587027A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8771" y="3903990"/>
            <a:ext cx="1865359" cy="1351014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65F3BBE-20EC-44E4-801A-12DFEBAAB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8" idx="2"/>
          </p:cNvCxnSpPr>
          <p:nvPr/>
        </p:nvCxnSpPr>
        <p:spPr>
          <a:xfrm flipH="1">
            <a:off x="5560742" y="4449392"/>
            <a:ext cx="1" cy="561708"/>
          </a:xfrm>
          <a:prstGeom prst="straightConnector1">
            <a:avLst/>
          </a:prstGeom>
          <a:ln w="3175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F55AAAF-A9C5-46DA-942F-C363C3519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endCxn id="8" idx="1"/>
          </p:cNvCxnSpPr>
          <p:nvPr/>
        </p:nvCxnSpPr>
        <p:spPr>
          <a:xfrm>
            <a:off x="3310202" y="3268351"/>
            <a:ext cx="1401978" cy="1"/>
          </a:xfrm>
          <a:prstGeom prst="straightConnector1">
            <a:avLst/>
          </a:prstGeom>
          <a:ln w="3175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481F878-9EA5-4CC8-B2B8-ACA5D0CFD3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8" idx="3"/>
          </p:cNvCxnSpPr>
          <p:nvPr/>
        </p:nvCxnSpPr>
        <p:spPr>
          <a:xfrm flipV="1">
            <a:off x="6409305" y="3268351"/>
            <a:ext cx="1594502" cy="1"/>
          </a:xfrm>
          <a:prstGeom prst="straightConnector1">
            <a:avLst/>
          </a:prstGeom>
          <a:ln w="3175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24191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207" y="199121"/>
            <a:ext cx="11649193" cy="1143000"/>
          </a:xfrm>
          <a:solidFill>
            <a:srgbClr val="FFDD0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4F2984"/>
                </a:solidFill>
                <a:latin typeface="Eras Bold ITC" panose="020B0907030504020204" pitchFamily="34" charset="0"/>
                <a:ea typeface="+mj-ea"/>
                <a:cs typeface="+mj-cs"/>
              </a:rPr>
              <a:t>CPU – Central Processing Unit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1567" y="1414041"/>
            <a:ext cx="11640257" cy="1132390"/>
          </a:xfrm>
          <a:noFill/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</a:rPr>
              <a:t>The </a:t>
            </a:r>
            <a:r>
              <a:rPr lang="en-US" sz="2400" b="1" dirty="0">
                <a:solidFill>
                  <a:schemeClr val="bg1"/>
                </a:solidFill>
              </a:rPr>
              <a:t>CPU</a:t>
            </a:r>
            <a:r>
              <a:rPr lang="en-US" sz="2400" dirty="0">
                <a:solidFill>
                  <a:schemeClr val="bg1"/>
                </a:solidFill>
              </a:rPr>
              <a:t> is the part of the computer that </a:t>
            </a:r>
            <a:r>
              <a:rPr lang="en-US" sz="2400" b="1" dirty="0">
                <a:solidFill>
                  <a:schemeClr val="bg1"/>
                </a:solidFill>
              </a:rPr>
              <a:t>fetches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b="1" dirty="0">
                <a:solidFill>
                  <a:schemeClr val="bg1"/>
                </a:solidFill>
              </a:rPr>
              <a:t>decodes</a:t>
            </a:r>
            <a:r>
              <a:rPr lang="en-US" sz="2400" dirty="0">
                <a:solidFill>
                  <a:schemeClr val="bg1"/>
                </a:solidFill>
              </a:rPr>
              <a:t>, and </a:t>
            </a:r>
            <a:r>
              <a:rPr lang="en-US" sz="2400" b="1" dirty="0">
                <a:solidFill>
                  <a:schemeClr val="bg1"/>
                </a:solidFill>
              </a:rPr>
              <a:t>executes</a:t>
            </a:r>
            <a:r>
              <a:rPr lang="en-US" sz="2400" dirty="0">
                <a:solidFill>
                  <a:schemeClr val="bg1"/>
                </a:solidFill>
              </a:rPr>
              <a:t> program instructions.  </a:t>
            </a:r>
            <a:endParaRPr lang="en-US">
              <a:solidFill>
                <a:schemeClr val="bg1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400">
                <a:solidFill>
                  <a:schemeClr val="bg1"/>
                </a:solidFill>
              </a:rPr>
              <a:t>It </a:t>
            </a:r>
            <a:r>
              <a:rPr lang="en-US" sz="2400" dirty="0">
                <a:solidFill>
                  <a:schemeClr val="bg1"/>
                </a:solidFill>
              </a:rPr>
              <a:t>is the </a:t>
            </a:r>
            <a:r>
              <a:rPr lang="en-US" sz="2400" b="1" dirty="0">
                <a:solidFill>
                  <a:schemeClr val="bg1"/>
                </a:solidFill>
              </a:rPr>
              <a:t>BRAIN </a:t>
            </a:r>
            <a:r>
              <a:rPr lang="en-US" sz="2400" dirty="0">
                <a:solidFill>
                  <a:schemeClr val="bg1"/>
                </a:solidFill>
              </a:rPr>
              <a:t>of the computer. </a:t>
            </a:r>
            <a:endParaRPr lang="en-US">
              <a:solidFill>
                <a:schemeClr val="bg1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</a:rPr>
              <a:t>A </a:t>
            </a:r>
            <a:r>
              <a:rPr lang="en-US" sz="2400" b="1" dirty="0">
                <a:solidFill>
                  <a:schemeClr val="bg1"/>
                </a:solidFill>
              </a:rPr>
              <a:t>CPU </a:t>
            </a:r>
            <a:r>
              <a:rPr lang="en-US" sz="2400" dirty="0">
                <a:solidFill>
                  <a:schemeClr val="bg1"/>
                </a:solidFill>
              </a:rPr>
              <a:t>is sometimes called a </a:t>
            </a:r>
            <a:r>
              <a:rPr lang="en-US" sz="2400" b="1" dirty="0">
                <a:solidFill>
                  <a:schemeClr val="bg1"/>
                </a:solidFill>
              </a:rPr>
              <a:t>processor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5" name="Pictur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863" y="2545324"/>
            <a:ext cx="4305300" cy="24955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15328" y="5097169"/>
            <a:ext cx="5335866" cy="19082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u="sng" dirty="0">
                <a:solidFill>
                  <a:schemeClr val="bg1"/>
                </a:solidFill>
              </a:rPr>
              <a:t>CPU named ENIAC – 1945</a:t>
            </a:r>
            <a:endParaRPr lang="en-US" sz="2000" u="sng" dirty="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</a:rPr>
              <a:t>Size of ENIAC was 1,800 square feet (167 square </a:t>
            </a:r>
            <a:r>
              <a:rPr lang="en-US" sz="2000" dirty="0">
                <a:solidFill>
                  <a:schemeClr val="bg1"/>
                </a:solidFill>
              </a:rPr>
              <a:t>meters) of floor space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</a:rPr>
              <a:t>Weight was 30 </a:t>
            </a:r>
            <a:r>
              <a:rPr lang="en-US" sz="2000" dirty="0">
                <a:solidFill>
                  <a:schemeClr val="bg1"/>
                </a:solidFill>
              </a:rPr>
              <a:t>tons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</a:rPr>
              <a:t>Consumed 160 kilowatts of electrical</a:t>
            </a:r>
            <a:r>
              <a:rPr lang="en-US" sz="2000" dirty="0">
                <a:solidFill>
                  <a:schemeClr val="bg1"/>
                </a:solidFill>
              </a:rPr>
              <a:t> power</a:t>
            </a:r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292241" y="5148898"/>
            <a:ext cx="5900968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u="sng" dirty="0">
                <a:solidFill>
                  <a:schemeClr val="bg1"/>
                </a:solidFill>
              </a:rPr>
              <a:t>2026 AMD Ryzen CPU</a:t>
            </a: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</a:rPr>
              <a:t>Size is ~40mm x 40mm (about 1.57 x 1.57 inches)</a:t>
            </a:r>
            <a:endParaRPr lang="en-US">
              <a:solidFill>
                <a:schemeClr val="bg1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Weight is ~30-60 grams (1-2 ounces)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Consumes about 15 watts of electrical power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D4D6B76-D801-8DAC-24AD-70E2DB2C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7424" y="2497779"/>
            <a:ext cx="4547887" cy="254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3764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90500"/>
            <a:ext cx="11582400" cy="1143000"/>
          </a:xfrm>
          <a:solidFill>
            <a:srgbClr val="FFDD0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4F2984"/>
                </a:solidFill>
                <a:latin typeface="Eras Bold ITC" panose="020B0907030504020204" pitchFamily="34" charset="0"/>
                <a:ea typeface="+mj-ea"/>
                <a:cs typeface="+mj-cs"/>
              </a:rPr>
              <a:t>What Makes Up a CPU?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70C0"/>
                </a:solidFill>
              </a:rPr>
              <a:t>A CPU has two parts.</a:t>
            </a:r>
          </a:p>
          <a:p>
            <a:pPr marL="0" indent="0">
              <a:buNone/>
            </a:pPr>
            <a:r>
              <a:rPr lang="en-US" sz="3600" dirty="0">
                <a:solidFill>
                  <a:schemeClr val="bg1"/>
                </a:solidFill>
              </a:rPr>
              <a:t>1.  Control Unit</a:t>
            </a:r>
          </a:p>
          <a:p>
            <a:pPr marL="939038" lvl="2" indent="-46355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</a:rPr>
              <a:t>Retrieves and decodes program instructions</a:t>
            </a:r>
          </a:p>
          <a:p>
            <a:pPr marL="939038" lvl="2" indent="-46355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</a:rPr>
              <a:t>Coordinates activities of all other parts of the computer</a:t>
            </a:r>
          </a:p>
          <a:p>
            <a:pPr marL="475488" lvl="2" indent="0"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lvl="2" indent="0">
              <a:buNone/>
            </a:pPr>
            <a:r>
              <a:rPr lang="en-US" sz="3600" dirty="0">
                <a:solidFill>
                  <a:schemeClr val="bg1"/>
                </a:solidFill>
              </a:rPr>
              <a:t>2. Arithmetic &amp; Logic Unit</a:t>
            </a:r>
          </a:p>
          <a:p>
            <a:pPr marL="939038" lvl="2" indent="-46355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</a:rPr>
              <a:t>Optimized for high-speed numeric calculations</a:t>
            </a:r>
          </a:p>
          <a:p>
            <a:pPr marL="939038" lvl="2" indent="-46355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</a:rPr>
              <a:t>Designed for true/false, yes/no decisions</a:t>
            </a:r>
          </a:p>
        </p:txBody>
      </p:sp>
    </p:spTree>
    <p:extLst>
      <p:ext uri="{BB962C8B-B14F-4D97-AF65-F5344CB8AC3E}">
        <p14:creationId xmlns:p14="http://schemas.microsoft.com/office/powerpoint/2010/main" val="20404140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11887200" cy="1143000"/>
          </a:xfrm>
          <a:solidFill>
            <a:srgbClr val="FFDD0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4F2984"/>
                </a:solidFill>
                <a:latin typeface="Eras Bold ITC" panose="020B0907030504020204" pitchFamily="34" charset="0"/>
                <a:ea typeface="+mj-ea"/>
                <a:cs typeface="+mj-cs"/>
              </a:rPr>
              <a:t>CPU – Central Processing Unit </a:t>
            </a:r>
            <a:r>
              <a:rPr lang="en-US" sz="4000" b="1" dirty="0">
                <a:solidFill>
                  <a:srgbClr val="4F2984"/>
                </a:solidFill>
                <a:latin typeface="Eras Bold ITC" panose="020B0907030504020204" pitchFamily="34" charset="0"/>
              </a:rPr>
              <a:t>(cont.)</a:t>
            </a:r>
            <a:endParaRPr lang="en-US" sz="4000" b="1" dirty="0">
              <a:solidFill>
                <a:srgbClr val="4F2984"/>
              </a:solidFill>
              <a:latin typeface="Eras Bold ITC" panose="020B0907030504020204" pitchFamily="34" charset="0"/>
              <a:ea typeface="+mj-ea"/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45882"/>
            <a:ext cx="6324600" cy="42672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A “</a:t>
            </a:r>
            <a:r>
              <a:rPr lang="en-US" sz="2800" b="1" dirty="0">
                <a:solidFill>
                  <a:schemeClr val="bg1"/>
                </a:solidFill>
              </a:rPr>
              <a:t>core</a:t>
            </a:r>
            <a:r>
              <a:rPr lang="en-US" sz="2800" dirty="0">
                <a:solidFill>
                  <a:schemeClr val="bg1"/>
                </a:solidFill>
              </a:rPr>
              <a:t>” is the physical processing unit of a CPU.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The CPU is a chip on your motherboard that is made of </a:t>
            </a:r>
            <a:r>
              <a:rPr lang="en-US" sz="2800" b="1" dirty="0">
                <a:solidFill>
                  <a:schemeClr val="bg1"/>
                </a:solidFill>
              </a:rPr>
              <a:t>millions of transistors</a:t>
            </a:r>
            <a:r>
              <a:rPr lang="en-US" sz="2800" dirty="0">
                <a:solidFill>
                  <a:schemeClr val="bg1"/>
                </a:solidFill>
              </a:rPr>
              <a:t>. </a:t>
            </a:r>
          </a:p>
        </p:txBody>
      </p:sp>
      <p:pic>
        <p:nvPicPr>
          <p:cNvPr id="6" name="Picture 5" descr="A transistor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05" y="3229528"/>
            <a:ext cx="1466850" cy="1590675"/>
          </a:xfrm>
          <a:prstGeom prst="rect">
            <a:avLst/>
          </a:prstGeom>
        </p:spPr>
      </p:pic>
      <p:pic>
        <p:nvPicPr>
          <p:cNvPr id="4" name="Picture 3" descr="A transistor and a CPU chip."/>
          <p:cNvPicPr/>
          <p:nvPr/>
        </p:nvPicPr>
        <p:blipFill rotWithShape="1">
          <a:blip r:embed="rId3"/>
          <a:srcRect l="30479" t="31521" b="11051"/>
          <a:stretch/>
        </p:blipFill>
        <p:spPr>
          <a:xfrm>
            <a:off x="33820" y="4752588"/>
            <a:ext cx="3280880" cy="1821951"/>
          </a:xfrm>
          <a:prstGeom prst="rect">
            <a:avLst/>
          </a:prstGeom>
        </p:spPr>
      </p:pic>
      <p:pic>
        <p:nvPicPr>
          <p:cNvPr id="5" name="Picture 4" descr="A hand holding a computer chip"/>
          <p:cNvPicPr>
            <a:picLocks noChangeAspect="1"/>
          </p:cNvPicPr>
          <p:nvPr/>
        </p:nvPicPr>
        <p:blipFill rotWithShape="1">
          <a:blip r:embed="rId4"/>
          <a:srcRect t="10788" r="3559" b="4975"/>
          <a:stretch/>
        </p:blipFill>
        <p:spPr>
          <a:xfrm>
            <a:off x="2971800" y="3229528"/>
            <a:ext cx="3280881" cy="2133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32731B6-C3ED-39DF-6B44-E75D7F710BE8}"/>
              </a:ext>
            </a:extLst>
          </p:cNvPr>
          <p:cNvSpPr txBox="1"/>
          <p:nvPr/>
        </p:nvSpPr>
        <p:spPr>
          <a:xfrm>
            <a:off x="6324601" y="3943457"/>
            <a:ext cx="3526392" cy="2100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chemeClr val="bg1"/>
                </a:solidFill>
              </a:rPr>
              <a:t>Traditionally the 1945 </a:t>
            </a:r>
            <a:r>
              <a:rPr lang="en-US" sz="2400" b="1" dirty="0">
                <a:solidFill>
                  <a:schemeClr val="bg1"/>
                </a:solidFill>
              </a:rPr>
              <a:t>Von Neumann Architecture</a:t>
            </a:r>
            <a:r>
              <a:rPr lang="en-US" sz="2400" dirty="0">
                <a:solidFill>
                  <a:schemeClr val="bg1"/>
                </a:solidFill>
              </a:rPr>
              <a:t>, the CPU contained ONE core.</a:t>
            </a:r>
          </a:p>
          <a:p>
            <a:pPr marL="0" indent="0" algn="r">
              <a:buNone/>
            </a:pPr>
            <a:r>
              <a:rPr lang="en-US" sz="2400" dirty="0">
                <a:solidFill>
                  <a:schemeClr val="bg1"/>
                </a:solidFill>
              </a:rPr>
              <a:t>John Von Neumann~~&gt;</a:t>
            </a:r>
          </a:p>
          <a:p>
            <a:pPr marL="0" indent="0" algn="r">
              <a:buNone/>
            </a:pPr>
            <a:r>
              <a:rPr lang="en-US" sz="1050" b="1" dirty="0">
                <a:solidFill>
                  <a:schemeClr val="bg1"/>
                </a:solidFill>
              </a:rPr>
              <a:t>(image taken from Wikipedia)</a:t>
            </a:r>
          </a:p>
        </p:txBody>
      </p:sp>
      <p:pic>
        <p:nvPicPr>
          <p:cNvPr id="1026" name="Picture 2" descr="Portrait of John Von Neumann">
            <a:extLst>
              <a:ext uri="{FF2B5EF4-FFF2-40B4-BE49-F238E27FC236}">
                <a16:creationId xmlns:a16="http://schemas.microsoft.com/office/drawing/2014/main" id="{81B0AFFC-44A2-9F79-C51B-6D345DDDF3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8750" y="3947267"/>
            <a:ext cx="2036565" cy="2655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74573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68074"/>
            <a:ext cx="4800600" cy="1143000"/>
          </a:xfrm>
          <a:solidFill>
            <a:srgbClr val="FFDD00"/>
          </a:solidFill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4F2984"/>
                </a:solidFill>
                <a:latin typeface="Eras Bold ITC" panose="020B0907030504020204" pitchFamily="34" charset="0"/>
                <a:ea typeface="+mj-ea"/>
                <a:cs typeface="+mj-cs"/>
              </a:rPr>
              <a:t>CPU Problem:</a:t>
            </a:r>
            <a:br>
              <a:rPr lang="en-US" sz="4000" b="1" dirty="0">
                <a:solidFill>
                  <a:srgbClr val="4F2984"/>
                </a:solidFill>
                <a:latin typeface="Eras Bold ITC" panose="020B0907030504020204" pitchFamily="34" charset="0"/>
                <a:ea typeface="+mj-ea"/>
                <a:cs typeface="+mj-cs"/>
              </a:rPr>
            </a:br>
            <a:r>
              <a:rPr lang="en-US" sz="4000" b="1" dirty="0">
                <a:solidFill>
                  <a:srgbClr val="4F2984"/>
                </a:solidFill>
                <a:latin typeface="Eras Bold ITC" panose="020B0907030504020204" pitchFamily="34" charset="0"/>
                <a:ea typeface="+mj-ea"/>
                <a:cs typeface="+mj-cs"/>
              </a:rPr>
              <a:t>The POWER WALL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158" y="1479148"/>
            <a:ext cx="530560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Von Neumann architecture (one CPU) limits how fast the computer can run.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The more transistors on a chip (dense chip), the faster the computer can run, and more </a:t>
            </a:r>
            <a:r>
              <a:rPr lang="en-US" sz="2400" b="1" dirty="0">
                <a:solidFill>
                  <a:schemeClr val="bg1"/>
                </a:solidFill>
              </a:rPr>
              <a:t>power</a:t>
            </a:r>
            <a:r>
              <a:rPr lang="en-US" sz="2400" dirty="0">
                <a:solidFill>
                  <a:schemeClr val="bg1"/>
                </a:solidFill>
              </a:rPr>
              <a:t> is consumed.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All electrical power consumed is radiated as </a:t>
            </a:r>
            <a:r>
              <a:rPr lang="en-US" sz="2400" b="1" dirty="0">
                <a:solidFill>
                  <a:schemeClr val="bg1"/>
                </a:solidFill>
              </a:rPr>
              <a:t>heat</a:t>
            </a:r>
            <a:r>
              <a:rPr lang="en-US" sz="2400" dirty="0">
                <a:solidFill>
                  <a:schemeClr val="bg1"/>
                </a:solidFill>
              </a:rPr>
              <a:t> (law of physics)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Dense chips were </a:t>
            </a:r>
            <a:r>
              <a:rPr lang="en-US" sz="2400" b="1" dirty="0">
                <a:solidFill>
                  <a:schemeClr val="bg1"/>
                </a:solidFill>
              </a:rPr>
              <a:t>too hot </a:t>
            </a:r>
            <a:r>
              <a:rPr lang="en-US" sz="2400" dirty="0">
                <a:solidFill>
                  <a:schemeClr val="bg1"/>
                </a:solidFill>
              </a:rPr>
              <a:t>and beyond the capacity of inexpensive cooling.</a:t>
            </a:r>
          </a:p>
        </p:txBody>
      </p:sp>
      <p:pic>
        <p:nvPicPr>
          <p:cNvPr id="16" name="Pictur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3361" y="3733800"/>
            <a:ext cx="1091078" cy="541007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FE2DC9-ACCE-6027-BE84-FFBCC175BC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-15536"/>
            <a:ext cx="6858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95CDC12-3E79-E78C-94F4-84026CEF5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2044446" y="5218035"/>
            <a:ext cx="1168908" cy="657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9187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11734800" cy="1143000"/>
          </a:xfrm>
          <a:solidFill>
            <a:srgbClr val="FFDD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4F2984"/>
                </a:solidFill>
                <a:latin typeface="Eras Bold ITC" panose="020B0907030504020204" pitchFamily="34" charset="0"/>
              </a:rPr>
              <a:t>CPU – </a:t>
            </a:r>
            <a:r>
              <a:rPr lang="en-US" sz="4000" b="1" dirty="0">
                <a:solidFill>
                  <a:srgbClr val="4F2984"/>
                </a:solidFill>
                <a:latin typeface="Eras Bold ITC" panose="020B0907030504020204" pitchFamily="34" charset="0"/>
                <a:ea typeface="+mj-ea"/>
                <a:cs typeface="+mj-cs"/>
              </a:rPr>
              <a:t>POWER</a:t>
            </a:r>
            <a:r>
              <a:rPr lang="en-US" b="1" dirty="0">
                <a:solidFill>
                  <a:srgbClr val="4F2984"/>
                </a:solidFill>
                <a:latin typeface="Eras Bold ITC" panose="020B0907030504020204" pitchFamily="34" charset="0"/>
              </a:rPr>
              <a:t> WALL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1450475"/>
            <a:ext cx="5943600" cy="45243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The solution to the power wall is </a:t>
            </a:r>
            <a:r>
              <a:rPr lang="en-US" sz="2400" b="1" dirty="0">
                <a:solidFill>
                  <a:schemeClr val="bg1"/>
                </a:solidFill>
                <a:highlight>
                  <a:srgbClr val="FFFF00"/>
                </a:highlight>
              </a:rPr>
              <a:t>multicore processors</a:t>
            </a:r>
            <a:r>
              <a:rPr lang="en-US" sz="2400" dirty="0">
                <a:solidFill>
                  <a:schemeClr val="bg1"/>
                </a:solidFill>
              </a:rPr>
              <a:t>.  (dual-core, quad-core, 8 cores gaming system, 16+ core servers, etc.)</a:t>
            </a:r>
            <a:br>
              <a:rPr lang="en-US" sz="2400" dirty="0">
                <a:solidFill>
                  <a:schemeClr val="bg1"/>
                </a:solidFill>
              </a:rPr>
            </a:b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Code can be written so that the instructions are executed in parallel (at the same time) if there are more than one processor.  </a:t>
            </a:r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This is called Parallel Programming or Parallel Computing.</a:t>
            </a:r>
          </a:p>
        </p:txBody>
      </p:sp>
      <p:pic>
        <p:nvPicPr>
          <p:cNvPr id="8" name="Picture 7" descr="A hand-drawn diagram titled &quot;Parallel Computing&quot; illustrates the transition from sequential to parallel processing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70" b="18791"/>
          <a:stretch/>
        </p:blipFill>
        <p:spPr bwMode="auto">
          <a:xfrm>
            <a:off x="6477000" y="4724400"/>
            <a:ext cx="5382157" cy="1633591"/>
          </a:xfrm>
          <a:prstGeom prst="rect">
            <a:avLst/>
          </a:prstGeom>
          <a:noFill/>
        </p:spPr>
      </p:pic>
      <p:pic>
        <p:nvPicPr>
          <p:cNvPr id="1026" name="Picture 2" descr="Rendering of multiple CPUs connected. ">
            <a:extLst>
              <a:ext uri="{FF2B5EF4-FFF2-40B4-BE49-F238E27FC236}">
                <a16:creationId xmlns:a16="http://schemas.microsoft.com/office/drawing/2014/main" id="{A742A3F6-E3F5-9674-6047-FA0BE67F2B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2339" y="1450475"/>
            <a:ext cx="5383205" cy="302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51920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A8D48-09AA-F396-A5F5-4FAC86992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11734800" cy="1143000"/>
          </a:xfrm>
          <a:solidFill>
            <a:srgbClr val="FFDD0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4F2984"/>
                </a:solidFill>
                <a:latin typeface="Eras Bold ITC" panose="020B0907030504020204" pitchFamily="34" charset="0"/>
              </a:rPr>
              <a:t>Comparing Sequential vs. Parallel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0B9DAB-992A-B4E7-D7F1-DC316A4C24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8800"/>
            <a:ext cx="5413248" cy="685800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Sequential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F48B0AF-E4A3-3040-03DD-5BBFD9AC4A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2514600"/>
            <a:ext cx="5413248" cy="358140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highlight>
                  <a:srgbClr val="FFFF00"/>
                </a:highlight>
              </a:rPr>
              <a:t>Sequential</a:t>
            </a:r>
            <a:r>
              <a:rPr lang="en-US" sz="2400" dirty="0">
                <a:solidFill>
                  <a:schemeClr val="bg1"/>
                </a:solidFill>
                <a:highlight>
                  <a:srgbClr val="FFFF00"/>
                </a:highlight>
              </a:rPr>
              <a:t> </a:t>
            </a:r>
            <a:r>
              <a:rPr lang="en-US" sz="2400" b="1" dirty="0">
                <a:solidFill>
                  <a:schemeClr val="bg1"/>
                </a:solidFill>
                <a:highlight>
                  <a:srgbClr val="FFFF00"/>
                </a:highlight>
              </a:rPr>
              <a:t>computing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is the standard programming model where the computer executes each operation of the program in order, one at a time.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8D5927-7828-4C01-0647-52A3ED6DAD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7648" y="1828800"/>
            <a:ext cx="5407152" cy="685800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Paralle</a:t>
            </a:r>
            <a:r>
              <a:rPr lang="en-US" sz="2000" b="1" dirty="0">
                <a:solidFill>
                  <a:schemeClr val="bg1"/>
                </a:solidFill>
              </a:rPr>
              <a:t>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C8B76E-F5C1-8DE1-1D21-AB7FC2DF92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7648" y="2514600"/>
            <a:ext cx="5407152" cy="358140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Clr>
                <a:schemeClr val="accent1"/>
              </a:buClr>
              <a:buNone/>
            </a:pPr>
            <a:r>
              <a:rPr lang="en-US" sz="2400" b="1" dirty="0">
                <a:solidFill>
                  <a:schemeClr val="bg1"/>
                </a:solidFill>
                <a:highlight>
                  <a:srgbClr val="FFFF00"/>
                </a:highlight>
              </a:rPr>
              <a:t>Parallel computing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is a computational model that breaks programs into smaller sequential operations and performs those smaller operations in parallel.  </a:t>
            </a:r>
          </a:p>
        </p:txBody>
      </p:sp>
    </p:spTree>
    <p:extLst>
      <p:ext uri="{BB962C8B-B14F-4D97-AF65-F5344CB8AC3E}">
        <p14:creationId xmlns:p14="http://schemas.microsoft.com/office/powerpoint/2010/main" val="7470489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98976"/>
            <a:ext cx="11887200" cy="1143000"/>
          </a:xfrm>
          <a:solidFill>
            <a:srgbClr val="FFDD0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4F2984"/>
                </a:solidFill>
                <a:latin typeface="Eras Bold ITC" panose="020B0907030504020204" pitchFamily="34" charset="0"/>
                <a:ea typeface="+mj-ea"/>
                <a:cs typeface="+mj-cs"/>
              </a:rPr>
              <a:t>Main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578" y="1653626"/>
            <a:ext cx="11317622" cy="1904999"/>
          </a:xfrm>
        </p:spPr>
        <p:txBody>
          <a:bodyPr>
            <a:normAutofit fontScale="92500"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chemeClr val="bg1"/>
                </a:solidFill>
              </a:rPr>
              <a:t>Memory is a circuit that can store </a:t>
            </a:r>
            <a:r>
              <a:rPr lang="en-US" sz="3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3000" dirty="0">
                <a:solidFill>
                  <a:schemeClr val="bg1"/>
                </a:solidFill>
              </a:rPr>
              <a:t>s and </a:t>
            </a:r>
            <a:r>
              <a:rPr lang="en-US" sz="3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3000" dirty="0">
                <a:solidFill>
                  <a:schemeClr val="bg1"/>
                </a:solidFill>
              </a:rPr>
              <a:t>s in an addressed location.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chemeClr val="bg1"/>
                </a:solidFill>
              </a:rPr>
              <a:t>Memory is divided in equal sections.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chemeClr val="bg1"/>
                </a:solidFill>
              </a:rPr>
              <a:t>Each section is </a:t>
            </a:r>
            <a:r>
              <a:rPr lang="en-US" sz="3000" b="1" dirty="0">
                <a:solidFill>
                  <a:schemeClr val="bg1"/>
                </a:solidFill>
              </a:rPr>
              <a:t>1 byte </a:t>
            </a:r>
            <a:r>
              <a:rPr lang="en-US" sz="3000" dirty="0">
                <a:solidFill>
                  <a:schemeClr val="bg1"/>
                </a:solidFill>
              </a:rPr>
              <a:t>= </a:t>
            </a:r>
            <a:r>
              <a:rPr lang="en-US" sz="3000" b="1" dirty="0">
                <a:solidFill>
                  <a:schemeClr val="bg1"/>
                </a:solidFill>
              </a:rPr>
              <a:t>8 bits </a:t>
            </a:r>
            <a:r>
              <a:rPr lang="en-US" sz="3000" dirty="0">
                <a:solidFill>
                  <a:schemeClr val="bg1"/>
                </a:solidFill>
              </a:rPr>
              <a:t>= </a:t>
            </a:r>
            <a:r>
              <a:rPr lang="en-US" sz="3000" b="1" dirty="0">
                <a:solidFill>
                  <a:schemeClr val="bg1"/>
                </a:solidFill>
              </a:rPr>
              <a:t>1 character</a:t>
            </a:r>
            <a:endParaRPr lang="en-US" sz="3000" dirty="0">
              <a:solidFill>
                <a:schemeClr val="bg1"/>
              </a:solidFill>
            </a:endParaRPr>
          </a:p>
          <a:p>
            <a:pPr marL="457200" indent="-457200">
              <a:buNone/>
            </a:pPr>
            <a:endParaRPr lang="en-US" sz="2800" dirty="0"/>
          </a:p>
        </p:txBody>
      </p:sp>
      <p:graphicFrame>
        <p:nvGraphicFramePr>
          <p:cNvPr id="6" name="Table 5" descr="A table representing memory - some boxes are empty, and others contain letters. 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4364852"/>
              </p:ext>
            </p:extLst>
          </p:nvPr>
        </p:nvGraphicFramePr>
        <p:xfrm>
          <a:off x="1828800" y="4114800"/>
          <a:ext cx="8908349" cy="20727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7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8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8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8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88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88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888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888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8880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1818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P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L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81">
                <a:tc>
                  <a:txBody>
                    <a:bodyPr/>
                    <a:lstStyle/>
                    <a:p>
                      <a:pPr algn="ctr"/>
                      <a:endParaRPr lang="en-US" sz="28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81">
                <a:tc>
                  <a:txBody>
                    <a:bodyPr/>
                    <a:lstStyle/>
                    <a:p>
                      <a:pPr algn="ctr"/>
                      <a:endParaRPr lang="en-US" sz="28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u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8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34105" y="1943102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800" dirty="0"/>
          </a:p>
        </p:txBody>
      </p:sp>
      <p:pic>
        <p:nvPicPr>
          <p:cNvPr id="4" name="Picture 3" descr="hand holding RAM sticks. 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6109" y="2194609"/>
            <a:ext cx="2234711" cy="1787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769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399" y="98976"/>
            <a:ext cx="11702105" cy="1143000"/>
          </a:xfrm>
          <a:solidFill>
            <a:srgbClr val="FFDD0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4F2984"/>
                </a:solidFill>
                <a:latin typeface="Eras Bold ITC" panose="020B0907030504020204" pitchFamily="34" charset="0"/>
                <a:ea typeface="+mj-ea"/>
                <a:cs typeface="+mj-cs"/>
              </a:rPr>
              <a:t>Problem Solving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447800"/>
            <a:ext cx="11702104" cy="5181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Programming</a:t>
            </a:r>
            <a:r>
              <a:rPr lang="en-US" sz="2800" dirty="0">
                <a:solidFill>
                  <a:schemeClr val="bg1"/>
                </a:solidFill>
              </a:rPr>
              <a:t> is largely about problem solving.</a:t>
            </a:r>
          </a:p>
          <a:p>
            <a:r>
              <a:rPr lang="en-US" sz="2800" dirty="0">
                <a:solidFill>
                  <a:schemeClr val="bg1"/>
                </a:solidFill>
              </a:rPr>
              <a:t>When given a problem, you shouldn’t just start writing code and hope that you can make it work as you go.  </a:t>
            </a:r>
          </a:p>
          <a:p>
            <a:r>
              <a:rPr lang="en-US" sz="2800" dirty="0">
                <a:solidFill>
                  <a:schemeClr val="bg1"/>
                </a:solidFill>
              </a:rPr>
              <a:t>You should first produce a methodical set of steps to solve the problem (an </a:t>
            </a:r>
            <a:r>
              <a:rPr lang="en-US" sz="2800" b="1" dirty="0">
                <a:solidFill>
                  <a:schemeClr val="bg1"/>
                </a:solidFill>
                <a:highlight>
                  <a:srgbClr val="FFFF00"/>
                </a:highlight>
              </a:rPr>
              <a:t>algorithm</a:t>
            </a:r>
            <a:r>
              <a:rPr lang="en-US" sz="2800" dirty="0">
                <a:solidFill>
                  <a:schemeClr val="bg1"/>
                </a:solidFill>
              </a:rPr>
              <a:t>).</a:t>
            </a:r>
          </a:p>
          <a:p>
            <a:r>
              <a:rPr lang="en-US" sz="2800" b="1" dirty="0">
                <a:solidFill>
                  <a:schemeClr val="bg1"/>
                </a:solidFill>
                <a:highlight>
                  <a:srgbClr val="FFFF00"/>
                </a:highlight>
              </a:rPr>
              <a:t>Problem solving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chemeClr val="bg1"/>
                </a:solidFill>
              </a:rPr>
              <a:t>is creating a methodical, step-by-step solution to a given task.  </a:t>
            </a:r>
          </a:p>
        </p:txBody>
      </p:sp>
      <p:sp>
        <p:nvSpPr>
          <p:cNvPr id="7" name="Content Placeholder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34105" y="1943102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67583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76200"/>
            <a:ext cx="11734800" cy="1219200"/>
          </a:xfrm>
          <a:solidFill>
            <a:srgbClr val="FFDD0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4F2984"/>
                </a:solidFill>
                <a:latin typeface="Eras Bold ITC" panose="020B0907030504020204" pitchFamily="34" charset="0"/>
              </a:rPr>
              <a:t>Computational Thinking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0"/>
            <a:ext cx="4801738" cy="5334000"/>
          </a:xfrm>
          <a:solidFill>
            <a:schemeClr val="tx1"/>
          </a:solidFill>
        </p:spPr>
        <p:txBody>
          <a:bodyPr vert="horz" lIns="91440" tIns="45720" rIns="91440" bIns="45720" rtlCol="0" anchor="t">
            <a:normAutofit/>
          </a:bodyPr>
          <a:lstStyle/>
          <a:p>
            <a:pPr marL="0" lvl="1" indent="0">
              <a:buNone/>
            </a:pPr>
            <a:r>
              <a:rPr lang="en-US" sz="2400" b="1" dirty="0">
                <a:solidFill>
                  <a:schemeClr val="bg1"/>
                </a:solidFill>
                <a:highlight>
                  <a:srgbClr val="FFFF00"/>
                </a:highlight>
              </a:rPr>
              <a:t>Computational thinking</a:t>
            </a:r>
            <a:r>
              <a:rPr lang="en-US" sz="2400" b="1" dirty="0">
                <a:solidFill>
                  <a:srgbClr val="7030A0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is the process of approaching a problem in a systematic manner (step-by-step) and creating and expressing an algorithm that can be carried out by a computer. </a:t>
            </a:r>
          </a:p>
          <a:p>
            <a:pPr marL="0" lvl="1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Computational thinking has four key thinking processes.</a:t>
            </a:r>
          </a:p>
          <a:p>
            <a:pPr marL="0" lvl="1" indent="0"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lvl="1" indent="0"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lvl="1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  </a:t>
            </a:r>
          </a:p>
          <a:p>
            <a:pPr marL="0" lvl="1" indent="0">
              <a:buNone/>
            </a:pPr>
            <a:br>
              <a:rPr lang="en-US" sz="3000" dirty="0">
                <a:solidFill>
                  <a:schemeClr val="bg1"/>
                </a:solidFill>
              </a:rPr>
            </a:br>
            <a:r>
              <a:rPr lang="en-US" sz="1500" dirty="0">
                <a:solidFill>
                  <a:schemeClr val="bg1"/>
                </a:solidFill>
              </a:rPr>
              <a:t>(Image on right from </a:t>
            </a:r>
            <a:r>
              <a:rPr lang="en-US" sz="15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Wake County Schools</a:t>
            </a:r>
            <a:r>
              <a:rPr lang="en-US" sz="1500" dirty="0">
                <a:solidFill>
                  <a:schemeClr val="bg1"/>
                </a:solidFill>
              </a:rPr>
              <a:t>)  </a:t>
            </a:r>
          </a:p>
          <a:p>
            <a:pPr lvl="1"/>
            <a:endParaRPr lang="en-US" sz="3000" dirty="0"/>
          </a:p>
        </p:txBody>
      </p:sp>
      <p:pic>
        <p:nvPicPr>
          <p:cNvPr id="1026" name="Picture 2" descr="Chart breaking down the four steps of computational thinking - decomposition, pattern recognition, abstraction, and algorithmic design. ">
            <a:extLst>
              <a:ext uri="{FF2B5EF4-FFF2-40B4-BE49-F238E27FC236}">
                <a16:creationId xmlns:a16="http://schemas.microsoft.com/office/drawing/2014/main" id="{93082F3F-D63A-855E-8A84-39D0ECDD5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6538" y="1561659"/>
            <a:ext cx="7077515" cy="5264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25150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11811000" cy="1143000"/>
          </a:xfrm>
          <a:solidFill>
            <a:srgbClr val="FFDD0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4F2984"/>
                </a:solidFill>
                <a:latin typeface="Eras Bold ITC" panose="020B0907030504020204" pitchFamily="34" charset="0"/>
              </a:rPr>
              <a:t>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5029200" cy="5270248"/>
          </a:xfrm>
          <a:solidFill>
            <a:schemeClr val="tx1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chemeClr val="bg1"/>
                </a:solidFill>
              </a:rPr>
              <a:t>An </a:t>
            </a:r>
            <a:r>
              <a:rPr lang="en-US" sz="3200" b="1" dirty="0">
                <a:solidFill>
                  <a:srgbClr val="7030A0"/>
                </a:solidFill>
              </a:rPr>
              <a:t>algorithm</a:t>
            </a:r>
            <a:r>
              <a:rPr lang="en-US" sz="3200" dirty="0">
                <a:solidFill>
                  <a:schemeClr val="bg1"/>
                </a:solidFill>
              </a:rPr>
              <a:t> is a clear sequence of instructions used to solve a specific problem.</a:t>
            </a:r>
          </a:p>
          <a:p>
            <a:pPr marL="0" indent="0">
              <a:buNone/>
            </a:pPr>
            <a:endParaRPr lang="en-US" sz="4000" dirty="0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39F99434-8E0B-E877-995D-72CEDC3F70D6}"/>
              </a:ext>
            </a:extLst>
          </p:cNvPr>
          <p:cNvSpPr/>
          <p:nvPr/>
        </p:nvSpPr>
        <p:spPr>
          <a:xfrm>
            <a:off x="228600" y="3441448"/>
            <a:ext cx="5943600" cy="3200400"/>
          </a:xfrm>
          <a:prstGeom prst="homePlat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bg1"/>
                </a:solidFill>
              </a:rPr>
              <a:t>Look at the example problem 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&amp; algorithm on the right.  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Can you do the algorithm steps out of order or delete one of the steps and it still work?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FFBD161-6C0B-7B55-5575-1860F093C119}"/>
              </a:ext>
            </a:extLst>
          </p:cNvPr>
          <p:cNvSpPr txBox="1">
            <a:spLocks/>
          </p:cNvSpPr>
          <p:nvPr/>
        </p:nvSpPr>
        <p:spPr>
          <a:xfrm>
            <a:off x="6324600" y="1447799"/>
            <a:ext cx="5715000" cy="5194049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000" b="1" dirty="0">
                <a:solidFill>
                  <a:srgbClr val="7030A0"/>
                </a:solidFill>
              </a:rPr>
              <a:t>Example Problem:  </a:t>
            </a:r>
            <a:br>
              <a:rPr lang="en-US" sz="4000" b="1" dirty="0">
                <a:solidFill>
                  <a:srgbClr val="9900FF"/>
                </a:solidFill>
              </a:rPr>
            </a:br>
            <a:r>
              <a:rPr lang="en-US" sz="4000" dirty="0">
                <a:solidFill>
                  <a:schemeClr val="bg1"/>
                </a:solidFill>
              </a:rPr>
              <a:t>Convert a given number of gallons to number of cups.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4000" dirty="0">
              <a:solidFill>
                <a:schemeClr val="bg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4000" b="1" dirty="0">
                <a:solidFill>
                  <a:srgbClr val="7030A0"/>
                </a:solidFill>
              </a:rPr>
              <a:t>Algorithm:</a:t>
            </a:r>
          </a:p>
          <a:p>
            <a:pPr marL="742950" indent="-742950">
              <a:buFont typeface="Arial" panose="020B0604020202020204" pitchFamily="34" charset="0"/>
              <a:buAutoNum type="arabicParenR"/>
            </a:pPr>
            <a:r>
              <a:rPr lang="en-US" sz="4000" dirty="0">
                <a:solidFill>
                  <a:schemeClr val="bg1"/>
                </a:solidFill>
              </a:rPr>
              <a:t>Get number of gallons from user and store in memory.</a:t>
            </a:r>
          </a:p>
          <a:p>
            <a:pPr marL="742950" indent="-742950">
              <a:buFont typeface="Arial" panose="020B0604020202020204" pitchFamily="34" charset="0"/>
              <a:buAutoNum type="arabicParenR"/>
            </a:pPr>
            <a:r>
              <a:rPr lang="en-US" sz="4000" dirty="0">
                <a:solidFill>
                  <a:schemeClr val="bg1"/>
                </a:solidFill>
              </a:rPr>
              <a:t>Multiply the number of gallons by 16 and store in memory.</a:t>
            </a:r>
          </a:p>
          <a:p>
            <a:pPr marL="742950" indent="-742950">
              <a:buFont typeface="Arial" panose="020B0604020202020204" pitchFamily="34" charset="0"/>
              <a:buAutoNum type="arabicParenR"/>
            </a:pPr>
            <a:r>
              <a:rPr lang="en-US" sz="4000" dirty="0">
                <a:solidFill>
                  <a:schemeClr val="bg1"/>
                </a:solidFill>
              </a:rPr>
              <a:t>Print number of cups</a:t>
            </a:r>
          </a:p>
        </p:txBody>
      </p:sp>
    </p:spTree>
    <p:extLst>
      <p:ext uri="{BB962C8B-B14F-4D97-AF65-F5344CB8AC3E}">
        <p14:creationId xmlns:p14="http://schemas.microsoft.com/office/powerpoint/2010/main" val="27739139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92838"/>
            <a:ext cx="11887200" cy="1371600"/>
          </a:xfrm>
          <a:solidFill>
            <a:srgbClr val="FFDD0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4F2984"/>
                </a:solidFill>
                <a:latin typeface="Eras Bold ITC" panose="020B0907030504020204" pitchFamily="34" charset="0"/>
              </a:rPr>
              <a:t>From an Algorithm to a C++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5497" y="1666723"/>
            <a:ext cx="7446904" cy="4267200"/>
          </a:xfrm>
          <a:solidFill>
            <a:schemeClr val="tx1"/>
          </a:solidFill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In programming, you write </a:t>
            </a:r>
            <a:r>
              <a:rPr lang="en-US" sz="2800" b="1" dirty="0">
                <a:solidFill>
                  <a:schemeClr val="bg1"/>
                </a:solidFill>
              </a:rPr>
              <a:t>code</a:t>
            </a:r>
            <a:r>
              <a:rPr lang="en-US" sz="2800" dirty="0">
                <a:solidFill>
                  <a:schemeClr val="bg1"/>
                </a:solidFill>
              </a:rPr>
              <a:t> (programming statements) that follow the instructions in the </a:t>
            </a:r>
            <a:r>
              <a:rPr lang="en-US" sz="2800" b="1" dirty="0">
                <a:solidFill>
                  <a:schemeClr val="bg1"/>
                </a:solidFill>
              </a:rPr>
              <a:t>algorithm</a:t>
            </a:r>
            <a:r>
              <a:rPr lang="en-US" sz="2800" dirty="0">
                <a:solidFill>
                  <a:schemeClr val="bg1"/>
                </a:solidFill>
              </a:rPr>
              <a:t> to solve a problem.  </a:t>
            </a:r>
          </a:p>
          <a:p>
            <a:r>
              <a:rPr lang="en-US" sz="2800" dirty="0">
                <a:solidFill>
                  <a:schemeClr val="bg1"/>
                </a:solidFill>
              </a:rPr>
              <a:t>The code is saved in a </a:t>
            </a:r>
            <a:r>
              <a:rPr lang="en-US" sz="2800" b="1" dirty="0">
                <a:solidFill>
                  <a:schemeClr val="bg1"/>
                </a:solidFill>
              </a:rPr>
              <a:t>source file </a:t>
            </a:r>
            <a:r>
              <a:rPr lang="en-US" sz="2800" b="1" dirty="0">
                <a:solidFill>
                  <a:schemeClr val="bg1"/>
                </a:solidFill>
                <a:highlight>
                  <a:srgbClr val="FFFF00"/>
                </a:highlight>
              </a:rPr>
              <a:t>(.</a:t>
            </a:r>
            <a:r>
              <a:rPr lang="en-US" sz="2800" b="1" err="1">
                <a:solidFill>
                  <a:schemeClr val="bg1"/>
                </a:solidFill>
                <a:highlight>
                  <a:srgbClr val="FFFF00"/>
                </a:highlight>
              </a:rPr>
              <a:t>cpp</a:t>
            </a:r>
            <a:r>
              <a:rPr lang="en-US" sz="2800" b="1" dirty="0">
                <a:solidFill>
                  <a:schemeClr val="bg1"/>
                </a:solidFill>
                <a:highlight>
                  <a:srgbClr val="FFFF00"/>
                </a:highlight>
              </a:rPr>
              <a:t> for C++)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chemeClr val="bg1"/>
                </a:solidFill>
              </a:rPr>
              <a:t>and then the code is converted to machine language when it is compiled.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Machine language </a:t>
            </a:r>
            <a:r>
              <a:rPr lang="en-US" sz="2800" dirty="0">
                <a:solidFill>
                  <a:schemeClr val="bg1"/>
                </a:solidFill>
              </a:rPr>
              <a:t>is the elemental language of computers that is read by the CPU.  It looks like a very long sequence of </a:t>
            </a:r>
            <a:r>
              <a:rPr lang="en-US" sz="2800" b="1" dirty="0">
                <a:solidFill>
                  <a:schemeClr val="bg1"/>
                </a:solidFill>
              </a:rPr>
              <a:t>zeros</a:t>
            </a:r>
            <a:r>
              <a:rPr lang="en-US" sz="2800" dirty="0">
                <a:solidFill>
                  <a:schemeClr val="bg1"/>
                </a:solidFill>
              </a:rPr>
              <a:t> and </a:t>
            </a:r>
            <a:r>
              <a:rPr lang="en-US" sz="2800" b="1" dirty="0">
                <a:solidFill>
                  <a:schemeClr val="bg1"/>
                </a:solidFill>
              </a:rPr>
              <a:t>ones</a:t>
            </a:r>
            <a:r>
              <a:rPr lang="en-US" sz="2800" dirty="0">
                <a:solidFill>
                  <a:schemeClr val="bg1"/>
                </a:solidFill>
              </a:rPr>
              <a:t>.</a:t>
            </a:r>
          </a:p>
          <a:p>
            <a:r>
              <a:rPr lang="en-US" sz="2800" dirty="0">
                <a:solidFill>
                  <a:schemeClr val="bg1"/>
                </a:solidFill>
              </a:rPr>
              <a:t>This runnable code </a:t>
            </a:r>
            <a:r>
              <a:rPr lang="en-US" sz="2800" b="1" dirty="0">
                <a:solidFill>
                  <a:schemeClr val="bg1"/>
                </a:solidFill>
                <a:highlight>
                  <a:srgbClr val="FFFF00"/>
                </a:highlight>
              </a:rPr>
              <a:t>(.exe)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chemeClr val="bg1"/>
                </a:solidFill>
              </a:rPr>
              <a:t>or executable file is called a </a:t>
            </a:r>
            <a:r>
              <a:rPr lang="en-US" sz="2800" b="1" dirty="0">
                <a:solidFill>
                  <a:schemeClr val="bg1"/>
                </a:solidFill>
              </a:rPr>
              <a:t>program</a:t>
            </a:r>
            <a:r>
              <a:rPr lang="en-US" sz="2800" dirty="0">
                <a:solidFill>
                  <a:schemeClr val="bg1"/>
                </a:solidFill>
              </a:rPr>
              <a:t>.  </a:t>
            </a:r>
          </a:p>
          <a:p>
            <a:r>
              <a:rPr lang="en-US" sz="2800" dirty="0">
                <a:solidFill>
                  <a:schemeClr val="bg1"/>
                </a:solidFill>
              </a:rPr>
              <a:t>You can also call it an app, application, or software.</a:t>
            </a:r>
          </a:p>
          <a:p>
            <a:pPr marL="0" indent="0">
              <a:buNone/>
            </a:pPr>
            <a:endParaRPr lang="en-US" sz="4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2B8BF6-94A5-4BE7-ABE4-447C0BCB3B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763000" y="6949131"/>
            <a:ext cx="34625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s://happyhomebaking.blogspot.com/2010/07/pages-from-my-recipe-book.html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-nc-nd/3.0/"/>
              </a:rPr>
              <a:t>CC BY-NC-ND</a:t>
            </a:r>
            <a:endParaRPr lang="en-US" sz="900"/>
          </a:p>
        </p:txBody>
      </p:sp>
      <p:pic>
        <p:nvPicPr>
          <p:cNvPr id="1032" name="Picture 8" descr="C++ Program Structure">
            <a:extLst>
              <a:ext uri="{FF2B5EF4-FFF2-40B4-BE49-F238E27FC236}">
                <a16:creationId xmlns:a16="http://schemas.microsoft.com/office/drawing/2014/main" id="{37289E2D-90B0-603A-0AEA-7D44953DF5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51" t="17737" r="15135" b="20536"/>
          <a:stretch/>
        </p:blipFill>
        <p:spPr bwMode="auto">
          <a:xfrm>
            <a:off x="7732286" y="1643062"/>
            <a:ext cx="4134218" cy="2043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What does a machine language code look like? - Quora">
            <a:extLst>
              <a:ext uri="{FF2B5EF4-FFF2-40B4-BE49-F238E27FC236}">
                <a16:creationId xmlns:a16="http://schemas.microsoft.com/office/drawing/2014/main" id="{9484FA41-3579-DCB0-4007-E7F6DF093C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2285" y="4191000"/>
            <a:ext cx="4134218" cy="2486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BFFF9B-08E1-9AA3-E3D4-69C93B413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25497" y="6400800"/>
            <a:ext cx="69897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Image at top from </a:t>
            </a:r>
            <a:r>
              <a:rPr lang="en-US" sz="1100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Testing Docs Website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br>
              <a:rPr lang="en-US" sz="1100" dirty="0">
                <a:solidFill>
                  <a:schemeClr val="bg1"/>
                </a:solidFill>
              </a:rPr>
            </a:br>
            <a:r>
              <a:rPr lang="en-US" sz="1100" dirty="0">
                <a:solidFill>
                  <a:schemeClr val="bg1"/>
                </a:solidFill>
              </a:rPr>
              <a:t>Image at bottom from </a:t>
            </a:r>
            <a:r>
              <a:rPr lang="en-US" sz="1100" dirty="0">
                <a:solidFill>
                  <a:schemeClr val="bg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Quora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3FA193FB-F502-5B59-DFE4-ABD675FB04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0" y="1905000"/>
            <a:ext cx="1143000" cy="4572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7E8D2128-E71A-D9E4-560D-DD8671006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4143882"/>
            <a:ext cx="2761130" cy="4572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0837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8D2C8-0D9B-441D-8D11-441C11523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76200"/>
            <a:ext cx="11734800" cy="1143000"/>
          </a:xfrm>
          <a:solidFill>
            <a:srgbClr val="FFDD0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4F2984"/>
                </a:solidFill>
                <a:latin typeface="Eras Bold ITC" panose="020B0907030504020204" pitchFamily="34" charset="0"/>
                <a:ea typeface="+mj-ea"/>
                <a:cs typeface="+mj-cs"/>
              </a:rPr>
              <a:t>End of Module 1</a:t>
            </a:r>
          </a:p>
        </p:txBody>
      </p:sp>
      <p:pic>
        <p:nvPicPr>
          <p:cNvPr id="3" name="Picture 2" descr="Image of a cat holding a computer mouse in his mouth.">
            <a:extLst>
              <a:ext uri="{FF2B5EF4-FFF2-40B4-BE49-F238E27FC236}">
                <a16:creationId xmlns:a16="http://schemas.microsoft.com/office/drawing/2014/main" id="{DA8F3696-9362-4D8C-9664-E54EB01F20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720"/>
          <a:stretch/>
        </p:blipFill>
        <p:spPr>
          <a:xfrm>
            <a:off x="4419600" y="2345986"/>
            <a:ext cx="3581400" cy="4512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535080"/>
      </p:ext>
    </p:extLst>
  </p:cSld>
  <p:clrMapOvr>
    <a:masterClrMapping/>
  </p:clrMapOvr>
</p:sld>
</file>

<file path=ppt/theme/theme1.xml><?xml version="1.0" encoding="utf-8"?>
<a:theme xmlns:a="http://schemas.openxmlformats.org/drawingml/2006/main" name="Tech Computer 16x9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901026.potx" id="{FD85E87A-7813-4F67-9E59-69B5487A1910}" vid="{BDF94C36-3ACF-4CF1-939F-F4211E6D666F}"/>
    </a:ext>
  </a:extLst>
</a:theme>
</file>

<file path=ppt/theme/theme2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87a3f28-f9ff-411a-8686-74a0c1ca3ad7" xsi:nil="true"/>
    <lcf76f155ced4ddcb4097134ff3c332f xmlns="c69dcc5a-275e-42d1-8b10-73c339894f8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925DC5D3BF8B04484D4E142E80A08E2" ma:contentTypeVersion="13" ma:contentTypeDescription="Create a new document." ma:contentTypeScope="" ma:versionID="e4b183ab2025d2ff089c0d805526f130">
  <xsd:schema xmlns:xsd="http://www.w3.org/2001/XMLSchema" xmlns:xs="http://www.w3.org/2001/XMLSchema" xmlns:p="http://schemas.microsoft.com/office/2006/metadata/properties" xmlns:ns2="c69dcc5a-275e-42d1-8b10-73c339894f86" xmlns:ns3="787a3f28-f9ff-411a-8686-74a0c1ca3ad7" targetNamespace="http://schemas.microsoft.com/office/2006/metadata/properties" ma:root="true" ma:fieldsID="57412a659da4fd25eb1031351d8e1b42" ns2:_="" ns3:_="">
    <xsd:import namespace="c69dcc5a-275e-42d1-8b10-73c339894f86"/>
    <xsd:import namespace="787a3f28-f9ff-411a-8686-74a0c1ca3ad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9dcc5a-275e-42d1-8b10-73c339894f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1ec41815-f866-473a-a3ba-291165dbb83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7a3f28-f9ff-411a-8686-74a0c1ca3ad7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6b2f37bd-5eb4-4b05-a1c4-6cef1cd065e0}" ma:internalName="TaxCatchAll" ma:showField="CatchAllData" ma:web="787a3f28-f9ff-411a-8686-74a0c1ca3ad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F6BA1EE-1D3B-4F81-9481-FFB363952AA3}">
  <ds:schemaRefs>
    <ds:schemaRef ds:uri="http://schemas.microsoft.com/office/infopath/2007/PartnerControls"/>
    <ds:schemaRef ds:uri="http://purl.org/dc/terms/"/>
    <ds:schemaRef ds:uri="http://purl.org/dc/elements/1.1/"/>
    <ds:schemaRef ds:uri="c69dcc5a-275e-42d1-8b10-73c339894f86"/>
    <ds:schemaRef ds:uri="http://schemas.microsoft.com/office/2006/documentManagement/types"/>
    <ds:schemaRef ds:uri="http://schemas.openxmlformats.org/package/2006/metadata/core-properties"/>
    <ds:schemaRef ds:uri="787a3f28-f9ff-411a-8686-74a0c1ca3ad7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86BB2698-0C49-4EC5-84C0-CDF46D2EF17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69dcc5a-275e-42d1-8b10-73c339894f86"/>
    <ds:schemaRef ds:uri="787a3f28-f9ff-411a-8686-74a0c1ca3ad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4CA347E-3C95-4189-9748-280A534D6501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66fecaf8-3dc0-4d2c-b8b8-eff0ddea46f0}" enabled="0" method="" siteId="{66fecaf8-3dc0-4d2c-b8b8-eff0ddea46f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Business technology circuit board design presentation (widescreen)</Template>
  <TotalTime>7790</TotalTime>
  <Words>2102</Words>
  <Application>Microsoft Office PowerPoint</Application>
  <PresentationFormat>Widescreen</PresentationFormat>
  <Paragraphs>196</Paragraphs>
  <Slides>30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0" baseType="lpstr">
      <vt:lpstr>Aptos Narrow</vt:lpstr>
      <vt:lpstr>Arial</vt:lpstr>
      <vt:lpstr>Berlin Sans FB Demi</vt:lpstr>
      <vt:lpstr>Calibri</vt:lpstr>
      <vt:lpstr>Candara</vt:lpstr>
      <vt:lpstr>Consolas</vt:lpstr>
      <vt:lpstr>Courier New</vt:lpstr>
      <vt:lpstr>Eras Bold ITC</vt:lpstr>
      <vt:lpstr>Wingdings</vt:lpstr>
      <vt:lpstr>Tech Computer 16x9</vt:lpstr>
      <vt:lpstr>Module 1: Introduction</vt:lpstr>
      <vt:lpstr>CSC 1300 Course Objectives</vt:lpstr>
      <vt:lpstr>Experience-Based Groups</vt:lpstr>
      <vt:lpstr>iLearn Demo Link to Tech's eLearn platform Syllabus &amp; Schedule</vt:lpstr>
      <vt:lpstr>TENTATIVE Master Schedule</vt:lpstr>
      <vt:lpstr>Grade Distribution</vt:lpstr>
      <vt:lpstr>Quizzes (30% of Grade)</vt:lpstr>
      <vt:lpstr>Programming Assignments (25% of Grade)</vt:lpstr>
      <vt:lpstr>Lab (25% of Grade)</vt:lpstr>
      <vt:lpstr>Academic Integrity Policy (Cheating)</vt:lpstr>
      <vt:lpstr>Communication</vt:lpstr>
      <vt:lpstr>More about the Programming Aptitude Quiz (due Wed. Jan 21, 2026)</vt:lpstr>
      <vt:lpstr>Getting Your Computer Set Up</vt:lpstr>
      <vt:lpstr>Set Up Your Folders on Your Computer</vt:lpstr>
      <vt:lpstr>Creating, Compiling, and Running a Program</vt:lpstr>
      <vt:lpstr>History of C++</vt:lpstr>
      <vt:lpstr>Why Do We Use C++ in this course?</vt:lpstr>
      <vt:lpstr>Computer Tour</vt:lpstr>
      <vt:lpstr>CPU – Central Processing Unit</vt:lpstr>
      <vt:lpstr>What Makes Up a CPU?</vt:lpstr>
      <vt:lpstr>CPU – Central Processing Unit (cont.)</vt:lpstr>
      <vt:lpstr>CPU Problem: The POWER WALL</vt:lpstr>
      <vt:lpstr>CPU – POWER WALL SOLUTION</vt:lpstr>
      <vt:lpstr>Comparing Sequential vs. Parallel</vt:lpstr>
      <vt:lpstr>Main memory</vt:lpstr>
      <vt:lpstr>Problem Solving</vt:lpstr>
      <vt:lpstr>Computational Thinking</vt:lpstr>
      <vt:lpstr>Algorithm</vt:lpstr>
      <vt:lpstr>From an Algorithm to a C++ Program</vt:lpstr>
      <vt:lpstr>End of Module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Introduction</dc:title>
  <dc:creator>Crockett, April</dc:creator>
  <cp:lastModifiedBy>Crockett, April</cp:lastModifiedBy>
  <cp:revision>422</cp:revision>
  <dcterms:created xsi:type="dcterms:W3CDTF">2022-06-27T15:30:11Z</dcterms:created>
  <dcterms:modified xsi:type="dcterms:W3CDTF">2026-07-08T02:32:20Z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0x0101006925DC5D3BF8B04484D4E142E80A08E2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  <property fmtid="{D5CDD505-2E9C-101B-9397-08002B2CF9AE}" pid="8" name="MediaServiceImageTags">
    <vt:lpwstr/>
  </property>
  <property fmtid="{D5CDD505-2E9C-101B-9397-08002B2CF9AE}" pid="9" name="ReadingOrderVerifiedPages">
    <vt:lpwstr>4,6,19,25,30</vt:lpwstr>
  </property>
  <property fmtid="{D5CDD505-2E9C-101B-9397-08002B2CF9AE}" pid="10" name="VerifiedLinkDescriptions">
    <vt:lpwstr>https://elearn.tntech.edu,https://www.wcpss.net/domain/17003,https://www.testingdocs.com/c-plus-plus-program-structure/,https://www.quora.com/What-does-a-machine-language-code-look-like</vt:lpwstr>
  </property>
</Properties>
</file>
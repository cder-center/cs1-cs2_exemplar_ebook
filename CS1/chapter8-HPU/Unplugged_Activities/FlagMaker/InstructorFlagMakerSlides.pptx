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8"/>
  </p:notesMasterIdLst>
  <p:handoutMasterIdLst>
    <p:handoutMasterId r:id="rId19"/>
  </p:handoutMasterIdLst>
  <p:sldIdLst>
    <p:sldId id="410" r:id="rId5"/>
    <p:sldId id="383" r:id="rId6"/>
    <p:sldId id="391" r:id="rId7"/>
    <p:sldId id="419" r:id="rId8"/>
    <p:sldId id="403" r:id="rId9"/>
    <p:sldId id="412" r:id="rId10"/>
    <p:sldId id="413" r:id="rId11"/>
    <p:sldId id="414" r:id="rId12"/>
    <p:sldId id="415" r:id="rId13"/>
    <p:sldId id="416" r:id="rId14"/>
    <p:sldId id="417" r:id="rId15"/>
    <p:sldId id="418" r:id="rId16"/>
    <p:sldId id="41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1627" autoAdjust="0"/>
  </p:normalViewPr>
  <p:slideViewPr>
    <p:cSldViewPr snapToGrid="0">
      <p:cViewPr varScale="1">
        <p:scale>
          <a:sx n="59" d="100"/>
          <a:sy n="59" d="100"/>
        </p:scale>
        <p:origin x="612"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7/26/2026</a:t>
            </a:fld>
            <a:endParaRPr lang="en-US"/>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a:p>
        </p:txBody>
      </p:sp>
    </p:spTree>
    <p:extLst>
      <p:ext uri="{BB962C8B-B14F-4D97-AF65-F5344CB8AC3E}">
        <p14:creationId xmlns:p14="http://schemas.microsoft.com/office/powerpoint/2010/main" val="1071550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a:p>
        </p:txBody>
      </p:sp>
    </p:spTree>
    <p:extLst>
      <p:ext uri="{BB962C8B-B14F-4D97-AF65-F5344CB8AC3E}">
        <p14:creationId xmlns:p14="http://schemas.microsoft.com/office/powerpoint/2010/main" val="5144881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1:</a:t>
            </a:r>
            <a:r>
              <a:rPr lang="en-US" dirty="0"/>
              <a:t> Why does this process take a long time with only one "processor"?</a:t>
            </a:r>
            <a:br>
              <a:rPr lang="en-US" dirty="0"/>
            </a:br>
            <a:r>
              <a:rPr lang="en-US" b="1" dirty="0"/>
              <a:t>Answer:</a:t>
            </a:r>
            <a:r>
              <a:rPr lang="en-US" dirty="0"/>
              <a:t> With only one processor, every action is sequential, meaning each cell has to be processed one at a time without any parallel work. This highlights the limitations of a single-threaded system where tasks cannot be divided to reduce time, demonstrating the concept of processing bottlenecks.</a:t>
            </a:r>
          </a:p>
          <a:p>
            <a:endParaRPr lang="en-US" dirty="0"/>
          </a:p>
          <a:p>
            <a:r>
              <a:rPr lang="en-US" b="1" dirty="0"/>
              <a:t>Question 2:</a:t>
            </a:r>
            <a:r>
              <a:rPr lang="en-US" dirty="0"/>
              <a:t> How could this approach cause inefficiency in more complex tasks?</a:t>
            </a:r>
            <a:br>
              <a:rPr lang="en-US" dirty="0"/>
            </a:br>
            <a:r>
              <a:rPr lang="en-US" b="1" dirty="0"/>
              <a:t>Answer:</a:t>
            </a:r>
            <a:r>
              <a:rPr lang="en-US" dirty="0"/>
              <a:t> In complex tasks requiring a lot of data handling, using a single processor would result in slow performance as it processes each item individually. This scenario illustrates that while accurate, sequential processing is not scalable for tasks requiring high efficiency and speed.</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6</a:t>
            </a:fld>
            <a:endParaRPr lang="en-US"/>
          </a:p>
        </p:txBody>
      </p:sp>
    </p:spTree>
    <p:extLst>
      <p:ext uri="{BB962C8B-B14F-4D97-AF65-F5344CB8AC3E}">
        <p14:creationId xmlns:p14="http://schemas.microsoft.com/office/powerpoint/2010/main" val="44945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a:p>
        </p:txBody>
      </p:sp>
    </p:spTree>
    <p:extLst>
      <p:ext uri="{BB962C8B-B14F-4D97-AF65-F5344CB8AC3E}">
        <p14:creationId xmlns:p14="http://schemas.microsoft.com/office/powerpoint/2010/main" val="2776527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Question 1:</a:t>
            </a:r>
            <a:r>
              <a:rPr lang="en-US"/>
              <a:t> How does the addition of a second processor impact the overall completion time?</a:t>
            </a:r>
            <a:br>
              <a:rPr lang="en-US"/>
            </a:br>
            <a:r>
              <a:rPr lang="en-US" b="1"/>
              <a:t>Answer:</a:t>
            </a:r>
            <a:r>
              <a:rPr lang="en-US"/>
              <a:t> Adding a second processor allows for parallel processing, so two stripes (red and blue, yellow and green) can be worked on simultaneously, effectively cutting down the completion time. This demonstrates how distributing tasks between processors can increase efficiency.</a:t>
            </a:r>
          </a:p>
          <a:p>
            <a:endParaRPr lang="en-US"/>
          </a:p>
          <a:p>
            <a:r>
              <a:rPr lang="en-US" b="1"/>
              <a:t>Question 2:</a:t>
            </a:r>
            <a:r>
              <a:rPr lang="en-US"/>
              <a:t> What potential problems could arise if both processors were given overlapping tasks?</a:t>
            </a:r>
            <a:br>
              <a:rPr lang="en-US"/>
            </a:br>
            <a:r>
              <a:rPr lang="en-US" b="1"/>
              <a:t>Answer:</a:t>
            </a:r>
            <a:r>
              <a:rPr lang="en-US"/>
              <a:t> If both processors colored the same stripes, they might overwrite each other’s work, causing inconsistencies. This introduces the concept of </a:t>
            </a:r>
            <a:r>
              <a:rPr lang="en-US" b="1"/>
              <a:t>race conditions</a:t>
            </a:r>
            <a:r>
              <a:rPr lang="en-US"/>
              <a:t>, where two processes access and modify shared data at the same time, leading to unpredictable results.</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a:p>
        </p:txBody>
      </p:sp>
    </p:spTree>
    <p:extLst>
      <p:ext uri="{BB962C8B-B14F-4D97-AF65-F5344CB8AC3E}">
        <p14:creationId xmlns:p14="http://schemas.microsoft.com/office/powerpoint/2010/main" val="438172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a:p>
        </p:txBody>
      </p:sp>
    </p:spTree>
    <p:extLst>
      <p:ext uri="{BB962C8B-B14F-4D97-AF65-F5344CB8AC3E}">
        <p14:creationId xmlns:p14="http://schemas.microsoft.com/office/powerpoint/2010/main" val="36132606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Question 1:</a:t>
            </a:r>
            <a:r>
              <a:rPr lang="en-US"/>
              <a:t> How does using four processors further improve efficiency, and what challenges might this bring?</a:t>
            </a:r>
            <a:br>
              <a:rPr lang="en-US"/>
            </a:br>
            <a:r>
              <a:rPr lang="en-US" b="1"/>
              <a:t>Answer:</a:t>
            </a:r>
            <a:r>
              <a:rPr lang="en-US"/>
              <a:t> Four processors allow each to work on one color stripe independently, reducing the time needed even more than with two processors. However, with more processors, synchronization becomes crucial to ensure they don’t interfere with each other’s work, which can lead to increased </a:t>
            </a:r>
            <a:r>
              <a:rPr lang="en-US" b="1"/>
              <a:t>coordination complexity</a:t>
            </a:r>
            <a:r>
              <a:rPr lang="en-US"/>
              <a:t>.</a:t>
            </a:r>
          </a:p>
          <a:p>
            <a:endParaRPr lang="en-US"/>
          </a:p>
          <a:p>
            <a:r>
              <a:rPr lang="en-US" b="1"/>
              <a:t>Question 2:</a:t>
            </a:r>
            <a:r>
              <a:rPr lang="en-US"/>
              <a:t> What would happen if one processor finished its task significantly earlier than the others?</a:t>
            </a:r>
            <a:br>
              <a:rPr lang="en-US"/>
            </a:br>
            <a:r>
              <a:rPr lang="en-US" b="1"/>
              <a:t>Answer:</a:t>
            </a:r>
            <a:r>
              <a:rPr lang="en-US"/>
              <a:t> If one processor finishes early, it sits idle, which is an example of </a:t>
            </a:r>
            <a:r>
              <a:rPr lang="en-US" b="1"/>
              <a:t>underutilized resources</a:t>
            </a:r>
            <a:r>
              <a:rPr lang="en-US"/>
              <a:t>. In real systems, </a:t>
            </a:r>
            <a:r>
              <a:rPr lang="en-US" b="1"/>
              <a:t>load balancing </a:t>
            </a:r>
            <a:r>
              <a:rPr lang="en-US"/>
              <a:t>is essential to ensure all processors have tasks of roughly equal duration to maximize efficiency.</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a:p>
        </p:txBody>
      </p:sp>
    </p:spTree>
    <p:extLst>
      <p:ext uri="{BB962C8B-B14F-4D97-AF65-F5344CB8AC3E}">
        <p14:creationId xmlns:p14="http://schemas.microsoft.com/office/powerpoint/2010/main" val="3751328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a:p>
        </p:txBody>
      </p:sp>
    </p:spTree>
    <p:extLst>
      <p:ext uri="{BB962C8B-B14F-4D97-AF65-F5344CB8AC3E}">
        <p14:creationId xmlns:p14="http://schemas.microsoft.com/office/powerpoint/2010/main" val="2710554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Question 1:</a:t>
            </a:r>
            <a:r>
              <a:rPr lang="en-US"/>
              <a:t> How does assigning processors by columns rather than stripes impact performance and potential errors?</a:t>
            </a:r>
            <a:br>
              <a:rPr lang="en-US"/>
            </a:br>
            <a:r>
              <a:rPr lang="en-US" b="1"/>
              <a:t>Answer:</a:t>
            </a:r>
            <a:r>
              <a:rPr lang="en-US"/>
              <a:t> This column-based approach lets each processor work on sections across all colors, which might improve efficiency if coloring large sections by color becomes too complex. However, with this setup, processors might again risk stepping into each other’s workspaces at the boundaries, which can lead to race conditions unless clearly separated.</a:t>
            </a:r>
          </a:p>
          <a:p>
            <a:r>
              <a:rPr lang="en-US" b="1"/>
              <a:t>Question 2:</a:t>
            </a:r>
            <a:r>
              <a:rPr lang="en-US"/>
              <a:t> How does this scenario reflect real-world issues in distributed systems?</a:t>
            </a:r>
            <a:br>
              <a:rPr lang="en-US"/>
            </a:br>
            <a:r>
              <a:rPr lang="en-US" b="1"/>
              <a:t>Answer:</a:t>
            </a:r>
            <a:r>
              <a:rPr lang="en-US"/>
              <a:t> Distributed systems often allocate resources by dividing tasks spatially, just as columns are divided here. However, managing boundaries is crucial to prevent overlaps and race conditions, which require robust coordination protocols in real-world systems to ensure data integrity.</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a:p>
        </p:txBody>
      </p:sp>
    </p:spTree>
    <p:extLst>
      <p:ext uri="{BB962C8B-B14F-4D97-AF65-F5344CB8AC3E}">
        <p14:creationId xmlns:p14="http://schemas.microsoft.com/office/powerpoint/2010/main" val="4198837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13</a:t>
            </a:fld>
            <a:endParaRPr lang="en-US"/>
          </a:p>
        </p:txBody>
      </p:sp>
    </p:spTree>
    <p:extLst>
      <p:ext uri="{BB962C8B-B14F-4D97-AF65-F5344CB8AC3E}">
        <p14:creationId xmlns:p14="http://schemas.microsoft.com/office/powerpoint/2010/main" val="3975815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a:t>Click to add content</a:t>
            </a:r>
          </a:p>
          <a:p>
            <a:pPr lvl="1"/>
            <a:r>
              <a:rPr lang="en-US"/>
              <a:t>Second level</a:t>
            </a:r>
          </a:p>
          <a:p>
            <a:pPr lvl="2"/>
            <a:r>
              <a:rPr lang="en-US"/>
              <a:t>Third level</a:t>
            </a:r>
          </a:p>
          <a:p>
            <a:pPr lvl="3"/>
            <a:endParaRPr lang="en-US"/>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microsoft.com/office/2007/relationships/hdphoto" Target="../media/hdphoto3.wd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179275" y="498565"/>
            <a:ext cx="5794112" cy="3291840"/>
          </a:xfrm>
        </p:spPr>
        <p:txBody>
          <a:bodyPr/>
          <a:lstStyle/>
          <a:p>
            <a:r>
              <a:rPr lang="en-US" dirty="0"/>
              <a:t>LAB</a:t>
            </a:r>
            <a:br>
              <a:rPr lang="en-US" dirty="0"/>
            </a:br>
            <a:r>
              <a:rPr lang="en-US" dirty="0"/>
              <a:t>Data Parallelism</a:t>
            </a:r>
            <a:br>
              <a:rPr lang="en-US" dirty="0"/>
            </a:br>
            <a:r>
              <a:rPr lang="en-US" dirty="0"/>
              <a:t>CSCI 2911/2916</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a:t>STEP 1: Pre-Activity Quiz to Assess Pre-Knowledge</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311889" y="2624085"/>
            <a:ext cx="6894454" cy="3450647"/>
          </a:xfrm>
        </p:spPr>
        <p:txBody>
          <a:bodyPr tIns="457200"/>
          <a:lstStyle/>
          <a:p>
            <a:pPr marL="0" indent="0">
              <a:buNone/>
            </a:pPr>
            <a:r>
              <a:rPr lang="en-US" dirty="0">
                <a:solidFill>
                  <a:schemeClr val="bg1"/>
                </a:solidFill>
              </a:rPr>
              <a:t>Please go to the consent form and pre-lab quiz</a:t>
            </a:r>
          </a:p>
          <a:p>
            <a:pPr marL="0" indent="0">
              <a:buNone/>
            </a:pPr>
            <a:r>
              <a:rPr lang="en-US" dirty="0">
                <a:solidFill>
                  <a:schemeClr val="bg1"/>
                </a:solidFill>
              </a:rPr>
              <a:t>Link provided</a:t>
            </a:r>
          </a:p>
          <a:p>
            <a:pPr marL="0" indent="0">
              <a:buNone/>
            </a:pPr>
            <a:endParaRPr lang="en-US" dirty="0">
              <a:solidFill>
                <a:schemeClr val="bg1"/>
              </a:solidFill>
            </a:endParaRPr>
          </a:p>
          <a:p>
            <a:pPr marL="0" indent="0">
              <a:buNone/>
            </a:pPr>
            <a:endParaRPr lang="en-US" dirty="0"/>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STEP TWO: Flag Maker Activity</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2116318" y="2271812"/>
            <a:ext cx="6042581" cy="3700462"/>
          </a:xfrm>
        </p:spPr>
        <p:txBody>
          <a:bodyPr>
            <a:normAutofit fontScale="92500"/>
          </a:bodyPr>
          <a:lstStyle/>
          <a:p>
            <a:r>
              <a:rPr lang="en-US" sz="2600" dirty="0"/>
              <a:t>You’ll be pretending to be the computer drawing the flag of </a:t>
            </a:r>
            <a:r>
              <a:rPr lang="en-US" sz="2600" b="1" dirty="0"/>
              <a:t>Mauritius</a:t>
            </a:r>
            <a:r>
              <a:rPr lang="en-US" sz="2600" dirty="0"/>
              <a:t> (on the right).</a:t>
            </a:r>
          </a:p>
          <a:p>
            <a:r>
              <a:rPr lang="en-US" sz="2600" dirty="0"/>
              <a:t>You’ll use paper and colored pencils but otherwise follow how a computer might draw it.</a:t>
            </a:r>
          </a:p>
          <a:p>
            <a:r>
              <a:rPr lang="en-US" sz="2600" dirty="0"/>
              <a:t>You must fill in the squares.</a:t>
            </a:r>
          </a:p>
          <a:p>
            <a:r>
              <a:rPr lang="en-US" sz="2600" dirty="0"/>
              <a:t>You must </a:t>
            </a:r>
            <a:r>
              <a:rPr lang="en-US" sz="2600" b="1" dirty="0"/>
              <a:t>color one square at a time</a:t>
            </a:r>
            <a:r>
              <a:rPr lang="en-US" sz="2600" dirty="0"/>
              <a:t>. </a:t>
            </a:r>
            <a:br>
              <a:rPr lang="en-US" sz="2600" dirty="0"/>
            </a:br>
            <a:r>
              <a:rPr lang="en-US" sz="2600" dirty="0"/>
              <a:t>Do not color in multiple squares at one time.</a:t>
            </a:r>
          </a:p>
          <a:p>
            <a:endParaRPr lang="en-US" dirty="0"/>
          </a:p>
          <a:p>
            <a:endParaRPr lang="en-US" dirty="0"/>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pic>
        <p:nvPicPr>
          <p:cNvPr id="2" name="Google Shape;62;p14" title="Flag_of_Mauritius.svg.png">
            <a:extLst>
              <a:ext uri="{FF2B5EF4-FFF2-40B4-BE49-F238E27FC236}">
                <a16:creationId xmlns:a16="http://schemas.microsoft.com/office/drawing/2014/main" id="{C5270491-5E71-BCAD-AE5B-1356B1709810}"/>
              </a:ext>
            </a:extLst>
          </p:cNvPr>
          <p:cNvPicPr preferRelativeResize="0"/>
          <p:nvPr/>
        </p:nvPicPr>
        <p:blipFill>
          <a:blip r:embed="rId3">
            <a:alphaModFix/>
            <a:extLst>
              <a:ext uri="{28A0092B-C50C-407E-A947-70E740481C1C}">
                <a14:useLocalDpi xmlns:a14="http://schemas.microsoft.com/office/drawing/2010/main"/>
              </a:ext>
            </a:extLst>
          </a:blip>
          <a:stretch>
            <a:fillRect/>
          </a:stretch>
        </p:blipFill>
        <p:spPr>
          <a:xfrm>
            <a:off x="8625526" y="2455130"/>
            <a:ext cx="3351296" cy="2343113"/>
          </a:xfrm>
          <a:prstGeom prst="rect">
            <a:avLst/>
          </a:prstGeom>
          <a:noFill/>
          <a:ln>
            <a:noFill/>
          </a:ln>
        </p:spPr>
      </p:pic>
      <p:sp>
        <p:nvSpPr>
          <p:cNvPr id="5" name="TextBox 4">
            <a:extLst>
              <a:ext uri="{FF2B5EF4-FFF2-40B4-BE49-F238E27FC236}">
                <a16:creationId xmlns:a16="http://schemas.microsoft.com/office/drawing/2014/main" id="{57E9280E-C7E1-3488-233D-0FEA106E6D90}"/>
              </a:ext>
            </a:extLst>
          </p:cNvPr>
          <p:cNvSpPr txBox="1"/>
          <p:nvPr/>
        </p:nvSpPr>
        <p:spPr>
          <a:xfrm>
            <a:off x="8577214" y="4798243"/>
            <a:ext cx="3399608" cy="253916"/>
          </a:xfrm>
          <a:prstGeom prst="rect">
            <a:avLst/>
          </a:prstGeom>
          <a:noFill/>
        </p:spPr>
        <p:txBody>
          <a:bodyPr wrap="square">
            <a:spAutoFit/>
          </a:bodyPr>
          <a:lstStyle/>
          <a:p>
            <a:pPr marL="0" lvl="0" indent="0" algn="l" rtl="0">
              <a:spcBef>
                <a:spcPts val="0"/>
              </a:spcBef>
              <a:spcAft>
                <a:spcPts val="0"/>
              </a:spcAft>
              <a:buNone/>
            </a:pPr>
            <a:r>
              <a:rPr lang="en-US" sz="1050" err="1">
                <a:solidFill>
                  <a:srgbClr val="0070C0"/>
                </a:solidFill>
              </a:rPr>
              <a:t>Img</a:t>
            </a:r>
            <a:r>
              <a:rPr lang="en-US" sz="1050">
                <a:solidFill>
                  <a:srgbClr val="0070C0"/>
                </a:solidFill>
              </a:rPr>
              <a:t> from: https://en.wikipedia.org/wiki/Mauritius</a:t>
            </a:r>
          </a:p>
        </p:txBody>
      </p:sp>
    </p:spTree>
    <p:extLst>
      <p:ext uri="{BB962C8B-B14F-4D97-AF65-F5344CB8AC3E}">
        <p14:creationId xmlns:p14="http://schemas.microsoft.com/office/powerpoint/2010/main" val="3200312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6"/>
            <a:ext cx="10873740" cy="701566"/>
          </a:xfrm>
        </p:spPr>
        <p:txBody>
          <a:bodyPr/>
          <a:lstStyle/>
          <a:p>
            <a:r>
              <a:rPr lang="en-US" dirty="0"/>
              <a:t>Flag Maker Activity</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663808" y="714498"/>
            <a:ext cx="11597640" cy="1349769"/>
          </a:xfrm>
        </p:spPr>
        <p:txBody>
          <a:bodyPr>
            <a:normAutofit/>
          </a:bodyPr>
          <a:lstStyle/>
          <a:p>
            <a:pPr marL="0" indent="0">
              <a:buNone/>
            </a:pPr>
            <a:r>
              <a:rPr lang="en-US" sz="2600"/>
              <a:t>You must </a:t>
            </a:r>
            <a:r>
              <a:rPr lang="en-US" sz="2600" b="1"/>
              <a:t>color one square at a time</a:t>
            </a:r>
            <a:r>
              <a:rPr lang="en-US" sz="2600"/>
              <a:t>. </a:t>
            </a:r>
          </a:p>
          <a:p>
            <a:pPr marL="0" indent="0">
              <a:buNone/>
            </a:pPr>
            <a:r>
              <a:rPr lang="en-US" sz="2600"/>
              <a:t>Do not color in multiple squares at one time.</a:t>
            </a:r>
          </a:p>
          <a:p>
            <a:endParaRPr lang="en-US"/>
          </a:p>
          <a:p>
            <a:endParaRPr lang="en-US"/>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pic>
        <p:nvPicPr>
          <p:cNvPr id="6" name="Picture 5" descr="A group of colorful papers with numbers">
            <a:extLst>
              <a:ext uri="{FF2B5EF4-FFF2-40B4-BE49-F238E27FC236}">
                <a16:creationId xmlns:a16="http://schemas.microsoft.com/office/drawing/2014/main" id="{284F1EC3-DC7B-AA7C-1432-FB8A9D8B6DDD}"/>
              </a:ext>
            </a:extLst>
          </p:cNvPr>
          <p:cNvPicPr>
            <a:picLocks noChangeAspect="1"/>
          </p:cNvPicPr>
          <p:nvPr/>
        </p:nvPicPr>
        <p:blipFill>
          <a:blip r:embed="rId3" cstate="email">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a:ext>
            </a:extLst>
          </a:blip>
          <a:stretch>
            <a:fillRect/>
          </a:stretch>
        </p:blipFill>
        <p:spPr>
          <a:xfrm>
            <a:off x="0" y="2064267"/>
            <a:ext cx="6261663" cy="2445962"/>
          </a:xfrm>
          <a:prstGeom prst="rect">
            <a:avLst/>
          </a:prstGeom>
        </p:spPr>
      </p:pic>
      <p:pic>
        <p:nvPicPr>
          <p:cNvPr id="9" name="Picture 8" descr="A group of papers with numbers on them&#10;&#10;Description automatically generated">
            <a:extLst>
              <a:ext uri="{FF2B5EF4-FFF2-40B4-BE49-F238E27FC236}">
                <a16:creationId xmlns:a16="http://schemas.microsoft.com/office/drawing/2014/main" id="{9C6E16E7-1FA9-A0F1-2EF3-D034CCE4EF5A}"/>
              </a:ext>
            </a:extLst>
          </p:cNvPr>
          <p:cNvPicPr>
            <a:picLocks noChangeAspect="1"/>
          </p:cNvPicPr>
          <p:nvPr/>
        </p:nvPicPr>
        <p:blipFill>
          <a:blip r:embed="rId5" cstate="email">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a:ext>
            </a:extLst>
          </a:blip>
          <a:stretch>
            <a:fillRect/>
          </a:stretch>
        </p:blipFill>
        <p:spPr>
          <a:xfrm>
            <a:off x="5264938" y="4621136"/>
            <a:ext cx="6927062" cy="2236864"/>
          </a:xfrm>
          <a:prstGeom prst="rect">
            <a:avLst/>
          </a:prstGeom>
        </p:spPr>
      </p:pic>
      <p:pic>
        <p:nvPicPr>
          <p:cNvPr id="1026" name="Picture 2" descr="Twisted Arrow Left To Top icon PNG and SVG Vector Free Download">
            <a:extLst>
              <a:ext uri="{FF2B5EF4-FFF2-40B4-BE49-F238E27FC236}">
                <a16:creationId xmlns:a16="http://schemas.microsoft.com/office/drawing/2014/main" id="{302C9D5C-7D06-8DB9-E55A-7EF5C5405C20}"/>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rot="16200000">
            <a:off x="6303067" y="1106898"/>
            <a:ext cx="2238375" cy="203835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32B2C3-B53B-3347-8274-D07BAB7DC700}"/>
              </a:ext>
            </a:extLst>
          </p:cNvPr>
          <p:cNvSpPr txBox="1"/>
          <p:nvPr/>
        </p:nvSpPr>
        <p:spPr>
          <a:xfrm>
            <a:off x="8102278" y="512054"/>
            <a:ext cx="2474572" cy="584775"/>
          </a:xfrm>
          <a:prstGeom prst="rect">
            <a:avLst/>
          </a:prstGeom>
          <a:noFill/>
        </p:spPr>
        <p:txBody>
          <a:bodyPr wrap="square" rtlCol="0">
            <a:spAutoFit/>
          </a:bodyPr>
          <a:lstStyle/>
          <a:p>
            <a:r>
              <a:rPr lang="en-US" sz="3200">
                <a:solidFill>
                  <a:schemeClr val="bg1"/>
                </a:solidFill>
                <a:highlight>
                  <a:srgbClr val="00FF00"/>
                </a:highlight>
                <a:latin typeface="Eras Bold ITC" panose="020B0907030504020204" pitchFamily="34" charset="0"/>
              </a:rPr>
              <a:t>CORRECT!</a:t>
            </a:r>
          </a:p>
        </p:txBody>
      </p:sp>
      <p:pic>
        <p:nvPicPr>
          <p:cNvPr id="11" name="Picture 2" descr="Twisted Arrow Left To Top icon PNG and SVG Vector Free Download">
            <a:extLst>
              <a:ext uri="{FF2B5EF4-FFF2-40B4-BE49-F238E27FC236}">
                <a16:creationId xmlns:a16="http://schemas.microsoft.com/office/drawing/2014/main" id="{1F601359-5CCD-B8F8-3F4B-EDB1D883C6BA}"/>
              </a:ext>
            </a:extLst>
          </p:cNvPr>
          <p:cNvPicPr>
            <a:picLocks noChangeAspect="1" noChangeArrowheads="1"/>
          </p:cNvPicPr>
          <p:nvPr/>
        </p:nvPicPr>
        <p:blipFill>
          <a:blip r:embed="rId8" cstate="email">
            <a:extLst>
              <a:ext uri="{BEBA8EAE-BF5A-486C-A8C5-ECC9F3942E4B}">
                <a14:imgProps xmlns:a14="http://schemas.microsoft.com/office/drawing/2010/main">
                  <a14:imgLayer r:embed="rId9">
                    <a14:imgEffect>
                      <a14:backgroundRemoval t="4673" b="98131" l="2553" r="99149">
                        <a14:foregroundMark x1="13191" y1="5140" x2="8085" y2="14953"/>
                        <a14:foregroundMark x1="59574" y1="87383" x2="80426" y2="98598"/>
                        <a14:foregroundMark x1="86809" y1="94393" x2="99149" y2="97196"/>
                        <a14:foregroundMark x1="5106" y1="19626" x2="2553" y2="26168"/>
                      </a14:backgroundRemoval>
                    </a14:imgEffect>
                  </a14:imgLayer>
                </a14:imgProps>
              </a:ext>
              <a:ext uri="{28A0092B-C50C-407E-A947-70E740481C1C}">
                <a14:useLocalDpi xmlns:a14="http://schemas.microsoft.com/office/drawing/2010/main"/>
              </a:ext>
            </a:extLst>
          </a:blip>
          <a:srcRect/>
          <a:stretch>
            <a:fillRect/>
          </a:stretch>
        </p:blipFill>
        <p:spPr bwMode="auto">
          <a:xfrm rot="8585654">
            <a:off x="4436749" y="5012042"/>
            <a:ext cx="1277339" cy="116319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96E220C-B42F-9B21-8A50-3B24999FE247}"/>
              </a:ext>
            </a:extLst>
          </p:cNvPr>
          <p:cNvSpPr txBox="1"/>
          <p:nvPr/>
        </p:nvSpPr>
        <p:spPr>
          <a:xfrm>
            <a:off x="594360" y="5558727"/>
            <a:ext cx="4481058" cy="1077218"/>
          </a:xfrm>
          <a:prstGeom prst="rect">
            <a:avLst/>
          </a:prstGeom>
          <a:noFill/>
        </p:spPr>
        <p:txBody>
          <a:bodyPr wrap="square" rtlCol="0">
            <a:spAutoFit/>
          </a:bodyPr>
          <a:lstStyle/>
          <a:p>
            <a:pPr algn="r"/>
            <a:r>
              <a:rPr lang="en-US" sz="3200">
                <a:solidFill>
                  <a:schemeClr val="bg1"/>
                </a:solidFill>
                <a:highlight>
                  <a:srgbClr val="FF0000"/>
                </a:highlight>
                <a:latin typeface="Eras Bold ITC" panose="020B0907030504020204" pitchFamily="34" charset="0"/>
              </a:rPr>
              <a:t>WRONG!</a:t>
            </a:r>
          </a:p>
          <a:p>
            <a:pPr algn="r"/>
            <a:r>
              <a:rPr lang="en-US" sz="3200">
                <a:solidFill>
                  <a:schemeClr val="bg1"/>
                </a:solidFill>
                <a:highlight>
                  <a:srgbClr val="FF0000"/>
                </a:highlight>
                <a:latin typeface="Eras Bold ITC" panose="020B0907030504020204" pitchFamily="34" charset="0"/>
              </a:rPr>
              <a:t>Don’t tear the paper!</a:t>
            </a:r>
          </a:p>
        </p:txBody>
      </p:sp>
      <p:pic>
        <p:nvPicPr>
          <p:cNvPr id="13" name="Picture 2" descr="Twisted Arrow Left To Top icon PNG and SVG Vector Free Download">
            <a:extLst>
              <a:ext uri="{FF2B5EF4-FFF2-40B4-BE49-F238E27FC236}">
                <a16:creationId xmlns:a16="http://schemas.microsoft.com/office/drawing/2014/main" id="{0E9F8179-0207-C223-FD57-C40085235BD1}"/>
              </a:ext>
            </a:extLst>
          </p:cNvPr>
          <p:cNvPicPr>
            <a:picLocks noChangeAspect="1" noChangeArrowheads="1"/>
          </p:cNvPicPr>
          <p:nvPr/>
        </p:nvPicPr>
        <p:blipFill>
          <a:blip r:embed="rId8" cstate="email">
            <a:extLst>
              <a:ext uri="{BEBA8EAE-BF5A-486C-A8C5-ECC9F3942E4B}">
                <a14:imgProps xmlns:a14="http://schemas.microsoft.com/office/drawing/2010/main">
                  <a14:imgLayer r:embed="rId9">
                    <a14:imgEffect>
                      <a14:backgroundRemoval t="4673" b="98131" l="2553" r="99149">
                        <a14:foregroundMark x1="13191" y1="5140" x2="8085" y2="14953"/>
                        <a14:foregroundMark x1="59574" y1="87383" x2="80426" y2="98598"/>
                        <a14:foregroundMark x1="86809" y1="94393" x2="99149" y2="97196"/>
                        <a14:foregroundMark x1="5106" y1="19626" x2="2553" y2="26168"/>
                      </a14:backgroundRemoval>
                    </a14:imgEffect>
                  </a14:imgLayer>
                </a14:imgProps>
              </a:ext>
              <a:ext uri="{28A0092B-C50C-407E-A947-70E740481C1C}">
                <a14:useLocalDpi xmlns:a14="http://schemas.microsoft.com/office/drawing/2010/main"/>
              </a:ext>
            </a:extLst>
          </a:blip>
          <a:srcRect/>
          <a:stretch>
            <a:fillRect/>
          </a:stretch>
        </p:blipFill>
        <p:spPr bwMode="auto">
          <a:xfrm rot="13264656">
            <a:off x="10879252" y="3956440"/>
            <a:ext cx="1277339" cy="116319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3EBDD4E-238D-3690-83B4-2D3E719D9107}"/>
              </a:ext>
            </a:extLst>
          </p:cNvPr>
          <p:cNvSpPr txBox="1"/>
          <p:nvPr/>
        </p:nvSpPr>
        <p:spPr>
          <a:xfrm>
            <a:off x="6939216" y="3244193"/>
            <a:ext cx="4481058" cy="1077218"/>
          </a:xfrm>
          <a:prstGeom prst="rect">
            <a:avLst/>
          </a:prstGeom>
          <a:noFill/>
        </p:spPr>
        <p:txBody>
          <a:bodyPr wrap="square" rtlCol="0">
            <a:spAutoFit/>
          </a:bodyPr>
          <a:lstStyle/>
          <a:p>
            <a:pPr algn="r"/>
            <a:r>
              <a:rPr lang="en-US" sz="3200">
                <a:solidFill>
                  <a:schemeClr val="bg1"/>
                </a:solidFill>
                <a:highlight>
                  <a:srgbClr val="FF0000"/>
                </a:highlight>
                <a:latin typeface="Eras Bold ITC" panose="020B0907030504020204" pitchFamily="34" charset="0"/>
              </a:rPr>
              <a:t>WRONG!</a:t>
            </a:r>
          </a:p>
          <a:p>
            <a:pPr algn="r"/>
            <a:r>
              <a:rPr lang="en-US" sz="3200">
                <a:solidFill>
                  <a:schemeClr val="bg1"/>
                </a:solidFill>
                <a:highlight>
                  <a:srgbClr val="FF0000"/>
                </a:highlight>
                <a:latin typeface="Eras Bold ITC" panose="020B0907030504020204" pitchFamily="34" charset="0"/>
              </a:rPr>
              <a:t>Fill in the squares</a:t>
            </a:r>
          </a:p>
        </p:txBody>
      </p:sp>
    </p:spTree>
    <p:extLst>
      <p:ext uri="{BB962C8B-B14F-4D97-AF65-F5344CB8AC3E}">
        <p14:creationId xmlns:p14="http://schemas.microsoft.com/office/powerpoint/2010/main" val="4092578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a:t>Scenario 1: A Single Processor</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98690"/>
            <a:ext cx="6122238" cy="3636740"/>
          </a:xfrm>
        </p:spPr>
        <p:txBody>
          <a:bodyPr/>
          <a:lstStyle/>
          <a:p>
            <a:pPr marL="0" indent="0">
              <a:buNone/>
            </a:pPr>
            <a:r>
              <a:rPr lang="en-US" b="1"/>
              <a:t>Two people:</a:t>
            </a:r>
          </a:p>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highlight>
                  <a:srgbClr val="FFFF00"/>
                </a:highlight>
                <a:ea typeface="Aptos"/>
                <a:cs typeface="Aptos"/>
                <a:sym typeface="Aptos"/>
              </a:rPr>
              <a:t>The Processor</a:t>
            </a:r>
            <a:r>
              <a:rPr lang="en-US">
                <a:solidFill>
                  <a:schemeClr val="dk1"/>
                </a:solidFill>
                <a:ea typeface="Aptos"/>
                <a:cs typeface="Aptos"/>
                <a:sym typeface="Aptos"/>
              </a:rPr>
              <a:t>: colors first stripe (cell by cell), second stripe (cell by cell), third stripe (cell by cell), and then fourth stripe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Timer</a:t>
            </a:r>
            <a:r>
              <a:rPr lang="en-US">
                <a:solidFill>
                  <a:schemeClr val="dk1"/>
                </a:solidFill>
              </a:rPr>
              <a:t>: Times the Processor</a:t>
            </a:r>
          </a:p>
          <a:p>
            <a:endParaRPr lang="en-US"/>
          </a:p>
        </p:txBody>
      </p:sp>
      <p:graphicFrame>
        <p:nvGraphicFramePr>
          <p:cNvPr id="6" name="Google Shape;70;p15">
            <a:extLst>
              <a:ext uri="{FF2B5EF4-FFF2-40B4-BE49-F238E27FC236}">
                <a16:creationId xmlns:a16="http://schemas.microsoft.com/office/drawing/2014/main" id="{6A86A4F7-F20C-C218-6B44-FF486E2C726C}"/>
              </a:ext>
            </a:extLst>
          </p:cNvPr>
          <p:cNvGraphicFramePr/>
          <p:nvPr>
            <p:extLst>
              <p:ext uri="{D42A27DB-BD31-4B8C-83A1-F6EECF244321}">
                <p14:modId xmlns:p14="http://schemas.microsoft.com/office/powerpoint/2010/main" val="2677642450"/>
              </p:ext>
            </p:extLst>
          </p:nvPr>
        </p:nvGraphicFramePr>
        <p:xfrm>
          <a:off x="7253926" y="2552021"/>
          <a:ext cx="4651215" cy="2816056"/>
        </p:xfrm>
        <a:graphic>
          <a:graphicData uri="http://schemas.openxmlformats.org/drawingml/2006/table">
            <a:tbl>
              <a:tblPr bandRow="1">
                <a:noFill/>
              </a:tblPr>
              <a:tblGrid>
                <a:gridCol w="745847">
                  <a:extLst>
                    <a:ext uri="{9D8B030D-6E8A-4147-A177-3AD203B41FA5}">
                      <a16:colId xmlns:a16="http://schemas.microsoft.com/office/drawing/2014/main" val="20000"/>
                    </a:ext>
                  </a:extLst>
                </a:gridCol>
                <a:gridCol w="488171">
                  <a:extLst>
                    <a:ext uri="{9D8B030D-6E8A-4147-A177-3AD203B41FA5}">
                      <a16:colId xmlns:a16="http://schemas.microsoft.com/office/drawing/2014/main" val="20001"/>
                    </a:ext>
                  </a:extLst>
                </a:gridCol>
                <a:gridCol w="488171">
                  <a:extLst>
                    <a:ext uri="{9D8B030D-6E8A-4147-A177-3AD203B41FA5}">
                      <a16:colId xmlns:a16="http://schemas.microsoft.com/office/drawing/2014/main" val="20002"/>
                    </a:ext>
                  </a:extLst>
                </a:gridCol>
                <a:gridCol w="488171">
                  <a:extLst>
                    <a:ext uri="{9D8B030D-6E8A-4147-A177-3AD203B41FA5}">
                      <a16:colId xmlns:a16="http://schemas.microsoft.com/office/drawing/2014/main" val="20003"/>
                    </a:ext>
                  </a:extLst>
                </a:gridCol>
                <a:gridCol w="488171">
                  <a:extLst>
                    <a:ext uri="{9D8B030D-6E8A-4147-A177-3AD203B41FA5}">
                      <a16:colId xmlns:a16="http://schemas.microsoft.com/office/drawing/2014/main" val="20004"/>
                    </a:ext>
                  </a:extLst>
                </a:gridCol>
                <a:gridCol w="488171">
                  <a:extLst>
                    <a:ext uri="{9D8B030D-6E8A-4147-A177-3AD203B41FA5}">
                      <a16:colId xmlns:a16="http://schemas.microsoft.com/office/drawing/2014/main" val="20005"/>
                    </a:ext>
                  </a:extLst>
                </a:gridCol>
                <a:gridCol w="488171">
                  <a:extLst>
                    <a:ext uri="{9D8B030D-6E8A-4147-A177-3AD203B41FA5}">
                      <a16:colId xmlns:a16="http://schemas.microsoft.com/office/drawing/2014/main" val="20006"/>
                    </a:ext>
                  </a:extLst>
                </a:gridCol>
                <a:gridCol w="488171">
                  <a:extLst>
                    <a:ext uri="{9D8B030D-6E8A-4147-A177-3AD203B41FA5}">
                      <a16:colId xmlns:a16="http://schemas.microsoft.com/office/drawing/2014/main" val="20007"/>
                    </a:ext>
                  </a:extLst>
                </a:gridCol>
                <a:gridCol w="488171">
                  <a:extLst>
                    <a:ext uri="{9D8B030D-6E8A-4147-A177-3AD203B41FA5}">
                      <a16:colId xmlns:a16="http://schemas.microsoft.com/office/drawing/2014/main" val="20008"/>
                    </a:ext>
                  </a:extLst>
                </a:gridCol>
              </a:tblGrid>
              <a:tr h="352007">
                <a:tc rowSpan="8">
                  <a:txBody>
                    <a:bodyPr/>
                    <a:lstStyle/>
                    <a:p>
                      <a:pPr marL="0" lvl="0" indent="0" algn="ctr" rtl="0">
                        <a:spcBef>
                          <a:spcPts val="0"/>
                        </a:spcBef>
                        <a:spcAft>
                          <a:spcPts val="0"/>
                        </a:spcAft>
                        <a:buNone/>
                      </a:pPr>
                      <a:r>
                        <a:rPr lang="en" sz="1800" b="1">
                          <a:solidFill>
                            <a:schemeClr val="bg1"/>
                          </a:solidFill>
                          <a:latin typeface="Aptos"/>
                          <a:ea typeface="Aptos"/>
                          <a:cs typeface="Aptos"/>
                          <a:sym typeface="Aptos"/>
                        </a:rPr>
                        <a:t>P1</a:t>
                      </a:r>
                      <a:endParaRPr sz="1800" b="1">
                        <a:solidFill>
                          <a:schemeClr val="bg1"/>
                        </a:solidFill>
                        <a:latin typeface="Aptos"/>
                        <a:ea typeface="Aptos"/>
                        <a:cs typeface="Aptos"/>
                        <a:sym typeface="Aptos"/>
                      </a:endParaRPr>
                    </a:p>
                  </a:txBody>
                  <a:tcPr marL="68575" marR="68575" marT="0" marB="0" anchor="ct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7</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8</a:t>
                      </a:r>
                      <a:endParaRPr sz="1800" b="1">
                        <a:solidFill>
                          <a:schemeClr val="bg1"/>
                        </a:solidFill>
                        <a:latin typeface="Aptos"/>
                        <a:ea typeface="Aptos"/>
                        <a:cs typeface="Aptos"/>
                        <a:sym typeface="Aptos"/>
                      </a:endParaRPr>
                    </a:p>
                  </a:txBody>
                  <a:tcPr marL="68575" marR="68575" marT="0" marB="0">
                    <a:solidFill>
                      <a:srgbClr val="FF0000"/>
                    </a:solidFill>
                  </a:tcPr>
                </a:tc>
                <a:extLst>
                  <a:ext uri="{0D108BD9-81ED-4DB2-BD59-A6C34878D82A}">
                    <a16:rowId xmlns:a16="http://schemas.microsoft.com/office/drawing/2014/main" val="10000"/>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9</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10</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11</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12</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13</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14</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15</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16</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17</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18</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19</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20</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21</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22</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23</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24</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25</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26</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27</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28</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29</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30</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31</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32</a:t>
                      </a:r>
                      <a:endParaRPr sz="1800" b="1">
                        <a:solidFill>
                          <a:schemeClr val="bg1"/>
                        </a:solidFill>
                        <a:latin typeface="Aptos"/>
                        <a:ea typeface="Aptos"/>
                        <a:cs typeface="Aptos"/>
                        <a:sym typeface="Aptos"/>
                      </a:endParaRPr>
                    </a:p>
                  </a:txBody>
                  <a:tcPr marL="68575" marR="68575" marT="0" marB="0">
                    <a:solidFill>
                      <a:srgbClr val="4C94D8"/>
                    </a:solidFill>
                  </a:tcPr>
                </a:tc>
                <a:extLst>
                  <a:ext uri="{0D108BD9-81ED-4DB2-BD59-A6C34878D82A}">
                    <a16:rowId xmlns:a16="http://schemas.microsoft.com/office/drawing/2014/main" val="10003"/>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33</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34</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35</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36</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37</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38</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39</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40</a:t>
                      </a:r>
                      <a:endParaRPr sz="1800" b="1">
                        <a:solidFill>
                          <a:schemeClr val="bg1"/>
                        </a:solidFill>
                        <a:latin typeface="Aptos"/>
                        <a:ea typeface="Aptos"/>
                        <a:cs typeface="Aptos"/>
                        <a:sym typeface="Aptos"/>
                      </a:endParaRPr>
                    </a:p>
                  </a:txBody>
                  <a:tcPr marL="68575" marR="68575" marT="0" marB="0">
                    <a:solidFill>
                      <a:srgbClr val="FFFF00"/>
                    </a:solidFill>
                  </a:tcPr>
                </a:tc>
                <a:extLst>
                  <a:ext uri="{0D108BD9-81ED-4DB2-BD59-A6C34878D82A}">
                    <a16:rowId xmlns:a16="http://schemas.microsoft.com/office/drawing/2014/main" val="10004"/>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41</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42</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43</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44</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45</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46</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47</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48</a:t>
                      </a:r>
                      <a:endParaRPr sz="1800" b="1">
                        <a:solidFill>
                          <a:schemeClr val="bg1"/>
                        </a:solidFill>
                        <a:latin typeface="Aptos"/>
                        <a:ea typeface="Aptos"/>
                        <a:cs typeface="Aptos"/>
                        <a:sym typeface="Aptos"/>
                      </a:endParaRPr>
                    </a:p>
                  </a:txBody>
                  <a:tcPr marL="68575" marR="68575" marT="0" marB="0">
                    <a:solidFill>
                      <a:srgbClr val="FFFF00"/>
                    </a:solidFill>
                  </a:tcPr>
                </a:tc>
                <a:extLst>
                  <a:ext uri="{0D108BD9-81ED-4DB2-BD59-A6C34878D82A}">
                    <a16:rowId xmlns:a16="http://schemas.microsoft.com/office/drawing/2014/main" val="10005"/>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49</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50</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51</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52</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53</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54</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55</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56</a:t>
                      </a:r>
                      <a:endParaRPr sz="1800" b="1">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10006"/>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57</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58</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59</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60</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61</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62</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63</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64</a:t>
                      </a:r>
                      <a:endParaRPr sz="1800" b="1">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D0C5B77A-4112-3466-D271-49DEBFDB7A5D}"/>
              </a:ext>
            </a:extLst>
          </p:cNvPr>
          <p:cNvSpPr txBox="1"/>
          <p:nvPr/>
        </p:nvSpPr>
        <p:spPr>
          <a:xfrm>
            <a:off x="5299113" y="5704597"/>
            <a:ext cx="6692974" cy="830997"/>
          </a:xfrm>
          <a:prstGeom prst="rect">
            <a:avLst/>
          </a:prstGeom>
          <a:noFill/>
        </p:spPr>
        <p:txBody>
          <a:bodyPr wrap="square" rtlCol="0">
            <a:spAutoFit/>
          </a:bodyPr>
          <a:lstStyle/>
          <a:p>
            <a:r>
              <a:rPr lang="en-US" sz="2400" b="1">
                <a:solidFill>
                  <a:schemeClr val="bg1"/>
                </a:solidFill>
              </a:rPr>
              <a:t>Remember: </a:t>
            </a:r>
            <a:r>
              <a:rPr lang="en-US" sz="2400" b="1">
                <a:solidFill>
                  <a:srgbClr val="7030A0"/>
                </a:solidFill>
              </a:rPr>
              <a:t>squares must be mostly colored in &amp; </a:t>
            </a:r>
            <a:br>
              <a:rPr lang="en-US" sz="2400" b="1">
                <a:solidFill>
                  <a:srgbClr val="7030A0"/>
                </a:solidFill>
              </a:rPr>
            </a:br>
            <a:r>
              <a:rPr lang="en-US" sz="2400" b="1">
                <a:solidFill>
                  <a:srgbClr val="7030A0"/>
                </a:solidFill>
              </a:rPr>
              <a:t>you can only color one square at a time!</a:t>
            </a:r>
          </a:p>
        </p:txBody>
      </p:sp>
    </p:spTree>
    <p:extLst>
      <p:ext uri="{BB962C8B-B14F-4D97-AF65-F5344CB8AC3E}">
        <p14:creationId xmlns:p14="http://schemas.microsoft.com/office/powerpoint/2010/main" val="752428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a:t>Scenario 1: A Single Processor</a:t>
            </a:r>
            <a:br>
              <a:rPr lang="en-US"/>
            </a:br>
            <a:r>
              <a:rPr lang="en-US">
                <a:solidFill>
                  <a:srgbClr val="00B050"/>
                </a:solidFill>
              </a:rPr>
              <a:t>QUESTIONS</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737413"/>
            <a:ext cx="11179718" cy="4047816"/>
          </a:xfrm>
        </p:spPr>
        <p:txBody>
          <a:bodyPr/>
          <a:lstStyle/>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ea typeface="Aptos"/>
                <a:cs typeface="Aptos"/>
                <a:sym typeface="Aptos"/>
              </a:rPr>
              <a:t>Why does this process take a long time with only one “processor”?</a:t>
            </a:r>
          </a:p>
          <a:p>
            <a:pPr marL="457200" lvl="0" indent="-387350" algn="l" rtl="0">
              <a:lnSpc>
                <a:spcPct val="107916"/>
              </a:lnSpc>
              <a:spcBef>
                <a:spcPts val="1200"/>
              </a:spcBef>
              <a:spcAft>
                <a:spcPts val="0"/>
              </a:spcAft>
              <a:buClr>
                <a:schemeClr val="dk1"/>
              </a:buClr>
              <a:buSzPts val="2500"/>
              <a:buAutoNum type="arabicPeriod"/>
            </a:pPr>
            <a:endParaRPr lang="en-US" b="1">
              <a:solidFill>
                <a:schemeClr val="dk1"/>
              </a:solidFill>
              <a:ea typeface="Aptos"/>
              <a:cs typeface="Aptos"/>
              <a:sym typeface="Aptos"/>
            </a:endParaRPr>
          </a:p>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ea typeface="Aptos"/>
                <a:cs typeface="Aptos"/>
                <a:sym typeface="Aptos"/>
              </a:rPr>
              <a:t>How could this approach cause inefficiency in more complex tasks?</a:t>
            </a:r>
            <a:endParaRPr lang="en-US">
              <a:solidFill>
                <a:schemeClr val="dk1"/>
              </a:solidFill>
              <a:ea typeface="Aptos"/>
              <a:cs typeface="Aptos"/>
              <a:sym typeface="Aptos"/>
            </a:endParaRPr>
          </a:p>
        </p:txBody>
      </p:sp>
    </p:spTree>
    <p:extLst>
      <p:ext uri="{BB962C8B-B14F-4D97-AF65-F5344CB8AC3E}">
        <p14:creationId xmlns:p14="http://schemas.microsoft.com/office/powerpoint/2010/main" val="3989124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a:t>Scenario 2: Two Processors Collaborating</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98690"/>
            <a:ext cx="5426787" cy="3636740"/>
          </a:xfrm>
        </p:spPr>
        <p:txBody>
          <a:bodyPr/>
          <a:lstStyle/>
          <a:p>
            <a:pPr marL="0" indent="0">
              <a:buNone/>
            </a:pPr>
            <a:r>
              <a:rPr lang="en-US" b="1"/>
              <a:t>Three people:</a:t>
            </a:r>
          </a:p>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highlight>
                  <a:srgbClr val="FFFF00"/>
                </a:highlight>
                <a:ea typeface="Aptos"/>
                <a:cs typeface="Aptos"/>
                <a:sym typeface="Aptos"/>
              </a:rPr>
              <a:t>Processor 1</a:t>
            </a:r>
            <a:r>
              <a:rPr lang="en-US">
                <a:solidFill>
                  <a:schemeClr val="dk1"/>
                </a:solidFill>
                <a:ea typeface="Aptos"/>
                <a:cs typeface="Aptos"/>
                <a:sym typeface="Aptos"/>
              </a:rPr>
              <a:t>: Colors red and blue stripes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Processor 2</a:t>
            </a:r>
            <a:r>
              <a:rPr lang="en-US">
                <a:solidFill>
                  <a:schemeClr val="dk1"/>
                </a:solidFill>
              </a:rPr>
              <a:t>: Colors yellow and green stripes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Timer</a:t>
            </a:r>
            <a:r>
              <a:rPr lang="en-US">
                <a:solidFill>
                  <a:schemeClr val="dk1"/>
                </a:solidFill>
              </a:rPr>
              <a:t>: Times them; stop when </a:t>
            </a:r>
            <a:r>
              <a:rPr lang="en-US" b="1">
                <a:solidFill>
                  <a:schemeClr val="dk1"/>
                </a:solidFill>
              </a:rPr>
              <a:t>all</a:t>
            </a:r>
            <a:r>
              <a:rPr lang="en-US">
                <a:solidFill>
                  <a:schemeClr val="dk1"/>
                </a:solidFill>
              </a:rPr>
              <a:t> cells are colored.</a:t>
            </a:r>
          </a:p>
        </p:txBody>
      </p:sp>
      <p:sp>
        <p:nvSpPr>
          <p:cNvPr id="2" name="TextBox 1">
            <a:extLst>
              <a:ext uri="{FF2B5EF4-FFF2-40B4-BE49-F238E27FC236}">
                <a16:creationId xmlns:a16="http://schemas.microsoft.com/office/drawing/2014/main" id="{4E1FC26A-830A-04F1-638E-8174820528F8}"/>
              </a:ext>
            </a:extLst>
          </p:cNvPr>
          <p:cNvSpPr txBox="1"/>
          <p:nvPr/>
        </p:nvSpPr>
        <p:spPr>
          <a:xfrm>
            <a:off x="5376232" y="5852644"/>
            <a:ext cx="6593822" cy="830997"/>
          </a:xfrm>
          <a:prstGeom prst="rect">
            <a:avLst/>
          </a:prstGeom>
          <a:noFill/>
        </p:spPr>
        <p:txBody>
          <a:bodyPr wrap="square" rtlCol="0">
            <a:spAutoFit/>
          </a:bodyPr>
          <a:lstStyle/>
          <a:p>
            <a:r>
              <a:rPr lang="en-US" sz="2400" b="1">
                <a:solidFill>
                  <a:schemeClr val="bg1"/>
                </a:solidFill>
              </a:rPr>
              <a:t>Remember: </a:t>
            </a:r>
            <a:r>
              <a:rPr lang="en-US" sz="2400" b="1">
                <a:solidFill>
                  <a:srgbClr val="7030A0"/>
                </a:solidFill>
              </a:rPr>
              <a:t>squares must be mostly colored in &amp; </a:t>
            </a:r>
            <a:br>
              <a:rPr lang="en-US" sz="2400" b="1">
                <a:solidFill>
                  <a:srgbClr val="7030A0"/>
                </a:solidFill>
              </a:rPr>
            </a:br>
            <a:r>
              <a:rPr lang="en-US" sz="2400" b="1">
                <a:solidFill>
                  <a:srgbClr val="7030A0"/>
                </a:solidFill>
              </a:rPr>
              <a:t>you can only color one square at a time!</a:t>
            </a:r>
          </a:p>
        </p:txBody>
      </p:sp>
      <p:graphicFrame>
        <p:nvGraphicFramePr>
          <p:cNvPr id="4" name="Google Shape;77;p16">
            <a:extLst>
              <a:ext uri="{FF2B5EF4-FFF2-40B4-BE49-F238E27FC236}">
                <a16:creationId xmlns:a16="http://schemas.microsoft.com/office/drawing/2014/main" id="{DEED791F-C49D-1FF1-5983-9C27805577A0}"/>
              </a:ext>
            </a:extLst>
          </p:cNvPr>
          <p:cNvGraphicFramePr/>
          <p:nvPr>
            <p:extLst>
              <p:ext uri="{D42A27DB-BD31-4B8C-83A1-F6EECF244321}">
                <p14:modId xmlns:p14="http://schemas.microsoft.com/office/powerpoint/2010/main" val="1349745874"/>
              </p:ext>
            </p:extLst>
          </p:nvPr>
        </p:nvGraphicFramePr>
        <p:xfrm>
          <a:off x="6435525" y="2089230"/>
          <a:ext cx="5426787" cy="3188784"/>
        </p:xfrm>
        <a:graphic>
          <a:graphicData uri="http://schemas.openxmlformats.org/drawingml/2006/table">
            <a:tbl>
              <a:tblPr bandRow="1">
                <a:noFill/>
              </a:tblPr>
              <a:tblGrid>
                <a:gridCol w="612363">
                  <a:extLst>
                    <a:ext uri="{9D8B030D-6E8A-4147-A177-3AD203B41FA5}">
                      <a16:colId xmlns:a16="http://schemas.microsoft.com/office/drawing/2014/main" val="20000"/>
                    </a:ext>
                  </a:extLst>
                </a:gridCol>
                <a:gridCol w="601803">
                  <a:extLst>
                    <a:ext uri="{9D8B030D-6E8A-4147-A177-3AD203B41FA5}">
                      <a16:colId xmlns:a16="http://schemas.microsoft.com/office/drawing/2014/main" val="20001"/>
                    </a:ext>
                  </a:extLst>
                </a:gridCol>
                <a:gridCol w="601803">
                  <a:extLst>
                    <a:ext uri="{9D8B030D-6E8A-4147-A177-3AD203B41FA5}">
                      <a16:colId xmlns:a16="http://schemas.microsoft.com/office/drawing/2014/main" val="20002"/>
                    </a:ext>
                  </a:extLst>
                </a:gridCol>
                <a:gridCol w="601803">
                  <a:extLst>
                    <a:ext uri="{9D8B030D-6E8A-4147-A177-3AD203B41FA5}">
                      <a16:colId xmlns:a16="http://schemas.microsoft.com/office/drawing/2014/main" val="20003"/>
                    </a:ext>
                  </a:extLst>
                </a:gridCol>
                <a:gridCol w="601803">
                  <a:extLst>
                    <a:ext uri="{9D8B030D-6E8A-4147-A177-3AD203B41FA5}">
                      <a16:colId xmlns:a16="http://schemas.microsoft.com/office/drawing/2014/main" val="20004"/>
                    </a:ext>
                  </a:extLst>
                </a:gridCol>
                <a:gridCol w="601803">
                  <a:extLst>
                    <a:ext uri="{9D8B030D-6E8A-4147-A177-3AD203B41FA5}">
                      <a16:colId xmlns:a16="http://schemas.microsoft.com/office/drawing/2014/main" val="20005"/>
                    </a:ext>
                  </a:extLst>
                </a:gridCol>
                <a:gridCol w="601803">
                  <a:extLst>
                    <a:ext uri="{9D8B030D-6E8A-4147-A177-3AD203B41FA5}">
                      <a16:colId xmlns:a16="http://schemas.microsoft.com/office/drawing/2014/main" val="20006"/>
                    </a:ext>
                  </a:extLst>
                </a:gridCol>
                <a:gridCol w="601803">
                  <a:extLst>
                    <a:ext uri="{9D8B030D-6E8A-4147-A177-3AD203B41FA5}">
                      <a16:colId xmlns:a16="http://schemas.microsoft.com/office/drawing/2014/main" val="20007"/>
                    </a:ext>
                  </a:extLst>
                </a:gridCol>
                <a:gridCol w="601803">
                  <a:extLst>
                    <a:ext uri="{9D8B030D-6E8A-4147-A177-3AD203B41FA5}">
                      <a16:colId xmlns:a16="http://schemas.microsoft.com/office/drawing/2014/main" val="20008"/>
                    </a:ext>
                  </a:extLst>
                </a:gridCol>
              </a:tblGrid>
              <a:tr h="398598">
                <a:tc rowSpan="4">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P1</a:t>
                      </a:r>
                      <a:endParaRPr sz="2000" b="1">
                        <a:solidFill>
                          <a:schemeClr val="bg1"/>
                        </a:solidFill>
                        <a:latin typeface="Aptos"/>
                        <a:ea typeface="Aptos"/>
                        <a:cs typeface="Aptos"/>
                        <a:sym typeface="Aptos"/>
                      </a:endParaRPr>
                    </a:p>
                  </a:txBody>
                  <a:tcPr marL="68575" marR="68575" marT="0" marB="0" anchor="ctr">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solidFill>
                      <a:srgbClr val="FF0000"/>
                    </a:solidFill>
                  </a:tcPr>
                </a:tc>
                <a:extLst>
                  <a:ext uri="{0D108BD9-81ED-4DB2-BD59-A6C34878D82A}">
                    <a16:rowId xmlns:a16="http://schemas.microsoft.com/office/drawing/2014/main" val="10000"/>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17</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18</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19</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20</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21</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22</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23</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24</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25</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26</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27</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28</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29</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30</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31</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32</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extLst>
                  <a:ext uri="{0D108BD9-81ED-4DB2-BD59-A6C34878D82A}">
                    <a16:rowId xmlns:a16="http://schemas.microsoft.com/office/drawing/2014/main" val="10003"/>
                  </a:ext>
                </a:extLst>
              </a:tr>
              <a:tr h="398598">
                <a:tc rowSpan="4">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P2</a:t>
                      </a:r>
                      <a:endParaRPr sz="2000" b="1">
                        <a:solidFill>
                          <a:schemeClr val="bg1"/>
                        </a:solidFill>
                        <a:latin typeface="Aptos"/>
                        <a:ea typeface="Aptos"/>
                        <a:cs typeface="Aptos"/>
                        <a:sym typeface="Aptos"/>
                      </a:endParaRPr>
                    </a:p>
                  </a:txBody>
                  <a:tcPr marL="68575" marR="68575" marT="0" marB="0" anchor="ctr">
                    <a:lnT w="38100" cap="flat" cmpd="sng">
                      <a:solidFill>
                        <a:srgbClr val="000000"/>
                      </a:solidFill>
                      <a:prstDash val="solid"/>
                      <a:round/>
                      <a:headEnd type="none" w="sm" len="sm"/>
                      <a:tailEnd type="none" w="sm" len="sm"/>
                    </a:lnT>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extLst>
                  <a:ext uri="{0D108BD9-81ED-4DB2-BD59-A6C34878D82A}">
                    <a16:rowId xmlns:a16="http://schemas.microsoft.com/office/drawing/2014/main" val="10004"/>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5"/>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17</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18</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19</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20</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21</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22</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23</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24</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extLst>
                  <a:ext uri="{0D108BD9-81ED-4DB2-BD59-A6C34878D82A}">
                    <a16:rowId xmlns:a16="http://schemas.microsoft.com/office/drawing/2014/main" val="10006"/>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25</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26</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27</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28</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29</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30</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31</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32</a:t>
                      </a:r>
                      <a:endParaRPr sz="2000" b="1">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81462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a:t>Scenario 2: Two Processors Collaborating</a:t>
            </a:r>
            <a:br>
              <a:rPr lang="en-US"/>
            </a:br>
            <a:r>
              <a:rPr lang="en-US">
                <a:solidFill>
                  <a:srgbClr val="00B050"/>
                </a:solidFill>
              </a:rPr>
              <a:t>QUESTIONS</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714438"/>
            <a:ext cx="11179718" cy="3636740"/>
          </a:xfrm>
        </p:spPr>
        <p:txBody>
          <a:bodyPr/>
          <a:lstStyle/>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ea typeface="Aptos"/>
                <a:cs typeface="Aptos"/>
                <a:sym typeface="Aptos"/>
              </a:rPr>
              <a:t>How does the addition of a second processor impact the overall completion time?</a:t>
            </a:r>
            <a:br>
              <a:rPr lang="en-US" b="1">
                <a:solidFill>
                  <a:schemeClr val="dk1"/>
                </a:solidFill>
                <a:ea typeface="Aptos"/>
                <a:cs typeface="Aptos"/>
                <a:sym typeface="Aptos"/>
              </a:rPr>
            </a:br>
            <a:endParaRPr lang="en-US" b="1">
              <a:solidFill>
                <a:schemeClr val="dk1"/>
              </a:solidFill>
              <a:ea typeface="Aptos"/>
              <a:cs typeface="Aptos"/>
              <a:sym typeface="Aptos"/>
            </a:endParaRPr>
          </a:p>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ea typeface="Aptos"/>
                <a:cs typeface="Aptos"/>
                <a:sym typeface="Aptos"/>
              </a:rPr>
              <a:t>What potential problems could arise if both processors were given overlapping tasks such as coloring the same stripes?</a:t>
            </a:r>
            <a:endParaRPr lang="en-US">
              <a:solidFill>
                <a:schemeClr val="dk1"/>
              </a:solidFill>
              <a:ea typeface="Aptos"/>
              <a:cs typeface="Aptos"/>
              <a:sym typeface="Aptos"/>
            </a:endParaRPr>
          </a:p>
        </p:txBody>
      </p:sp>
    </p:spTree>
    <p:extLst>
      <p:ext uri="{BB962C8B-B14F-4D97-AF65-F5344CB8AC3E}">
        <p14:creationId xmlns:p14="http://schemas.microsoft.com/office/powerpoint/2010/main" val="3936561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601522"/>
            <a:ext cx="10972800" cy="1188720"/>
          </a:xfrm>
        </p:spPr>
        <p:txBody>
          <a:bodyPr/>
          <a:lstStyle/>
          <a:p>
            <a:r>
              <a:rPr lang="en-US"/>
              <a:t>Scenario 3: Four Processors Collaborating</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98690"/>
            <a:ext cx="5308729" cy="3636740"/>
          </a:xfrm>
        </p:spPr>
        <p:txBody>
          <a:bodyPr/>
          <a:lstStyle/>
          <a:p>
            <a:pPr marL="0" indent="0">
              <a:buNone/>
            </a:pPr>
            <a:r>
              <a:rPr lang="en-US" b="1"/>
              <a:t>Five people:</a:t>
            </a:r>
          </a:p>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highlight>
                  <a:srgbClr val="FFFF00"/>
                </a:highlight>
                <a:ea typeface="Aptos"/>
                <a:cs typeface="Aptos"/>
                <a:sym typeface="Aptos"/>
              </a:rPr>
              <a:t>Processors 1-4</a:t>
            </a:r>
            <a:r>
              <a:rPr lang="en-US">
                <a:solidFill>
                  <a:schemeClr val="dk1"/>
                </a:solidFill>
                <a:ea typeface="Aptos"/>
                <a:cs typeface="Aptos"/>
                <a:sym typeface="Aptos"/>
              </a:rPr>
              <a:t>: Each assigned to one color, which they color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Timer</a:t>
            </a:r>
            <a:r>
              <a:rPr lang="en-US">
                <a:solidFill>
                  <a:schemeClr val="dk1"/>
                </a:solidFill>
              </a:rPr>
              <a:t>: Times them; stop when </a:t>
            </a:r>
            <a:r>
              <a:rPr lang="en-US" b="1">
                <a:solidFill>
                  <a:schemeClr val="dk1"/>
                </a:solidFill>
              </a:rPr>
              <a:t>all</a:t>
            </a:r>
            <a:r>
              <a:rPr lang="en-US">
                <a:solidFill>
                  <a:schemeClr val="dk1"/>
                </a:solidFill>
              </a:rPr>
              <a:t> cells are colored.</a:t>
            </a:r>
          </a:p>
        </p:txBody>
      </p:sp>
      <p:sp>
        <p:nvSpPr>
          <p:cNvPr id="2" name="TextBox 1">
            <a:extLst>
              <a:ext uri="{FF2B5EF4-FFF2-40B4-BE49-F238E27FC236}">
                <a16:creationId xmlns:a16="http://schemas.microsoft.com/office/drawing/2014/main" id="{4E1FC26A-830A-04F1-638E-8174820528F8}"/>
              </a:ext>
            </a:extLst>
          </p:cNvPr>
          <p:cNvSpPr txBox="1"/>
          <p:nvPr/>
        </p:nvSpPr>
        <p:spPr>
          <a:xfrm>
            <a:off x="5354198" y="5806478"/>
            <a:ext cx="6637889" cy="830997"/>
          </a:xfrm>
          <a:prstGeom prst="rect">
            <a:avLst/>
          </a:prstGeom>
          <a:noFill/>
        </p:spPr>
        <p:txBody>
          <a:bodyPr wrap="square" rtlCol="0">
            <a:spAutoFit/>
          </a:bodyPr>
          <a:lstStyle/>
          <a:p>
            <a:r>
              <a:rPr lang="en-US" sz="2400" b="1">
                <a:solidFill>
                  <a:schemeClr val="bg1"/>
                </a:solidFill>
              </a:rPr>
              <a:t>Remember: </a:t>
            </a:r>
            <a:r>
              <a:rPr lang="en-US" sz="2400" b="1">
                <a:solidFill>
                  <a:srgbClr val="7030A0"/>
                </a:solidFill>
              </a:rPr>
              <a:t>squares must be mostly colored in &amp; </a:t>
            </a:r>
            <a:br>
              <a:rPr lang="en-US" sz="2400" b="1">
                <a:solidFill>
                  <a:srgbClr val="7030A0"/>
                </a:solidFill>
              </a:rPr>
            </a:br>
            <a:r>
              <a:rPr lang="en-US" sz="2400" b="1">
                <a:solidFill>
                  <a:srgbClr val="7030A0"/>
                </a:solidFill>
              </a:rPr>
              <a:t>you can only color one square at a time!</a:t>
            </a:r>
          </a:p>
        </p:txBody>
      </p:sp>
      <p:graphicFrame>
        <p:nvGraphicFramePr>
          <p:cNvPr id="6" name="Google Shape;84;p17">
            <a:extLst>
              <a:ext uri="{FF2B5EF4-FFF2-40B4-BE49-F238E27FC236}">
                <a16:creationId xmlns:a16="http://schemas.microsoft.com/office/drawing/2014/main" id="{3CCDCD75-D58E-1265-53B0-0C304213CC06}"/>
              </a:ext>
            </a:extLst>
          </p:cNvPr>
          <p:cNvGraphicFramePr/>
          <p:nvPr>
            <p:extLst>
              <p:ext uri="{D42A27DB-BD31-4B8C-83A1-F6EECF244321}">
                <p14:modId xmlns:p14="http://schemas.microsoft.com/office/powerpoint/2010/main" val="3874205042"/>
              </p:ext>
            </p:extLst>
          </p:nvPr>
        </p:nvGraphicFramePr>
        <p:xfrm>
          <a:off x="5978324" y="2068551"/>
          <a:ext cx="5958614" cy="3211960"/>
        </p:xfrm>
        <a:graphic>
          <a:graphicData uri="http://schemas.openxmlformats.org/drawingml/2006/table">
            <a:tbl>
              <a:tblPr bandRow="1">
                <a:noFill/>
              </a:tblPr>
              <a:tblGrid>
                <a:gridCol w="701755">
                  <a:extLst>
                    <a:ext uri="{9D8B030D-6E8A-4147-A177-3AD203B41FA5}">
                      <a16:colId xmlns:a16="http://schemas.microsoft.com/office/drawing/2014/main" val="20000"/>
                    </a:ext>
                  </a:extLst>
                </a:gridCol>
                <a:gridCol w="429512">
                  <a:extLst>
                    <a:ext uri="{9D8B030D-6E8A-4147-A177-3AD203B41FA5}">
                      <a16:colId xmlns:a16="http://schemas.microsoft.com/office/drawing/2014/main" val="20001"/>
                    </a:ext>
                  </a:extLst>
                </a:gridCol>
                <a:gridCol w="689621">
                  <a:extLst>
                    <a:ext uri="{9D8B030D-6E8A-4147-A177-3AD203B41FA5}">
                      <a16:colId xmlns:a16="http://schemas.microsoft.com/office/drawing/2014/main" val="20002"/>
                    </a:ext>
                  </a:extLst>
                </a:gridCol>
                <a:gridCol w="689621">
                  <a:extLst>
                    <a:ext uri="{9D8B030D-6E8A-4147-A177-3AD203B41FA5}">
                      <a16:colId xmlns:a16="http://schemas.microsoft.com/office/drawing/2014/main" val="20003"/>
                    </a:ext>
                  </a:extLst>
                </a:gridCol>
                <a:gridCol w="689621">
                  <a:extLst>
                    <a:ext uri="{9D8B030D-6E8A-4147-A177-3AD203B41FA5}">
                      <a16:colId xmlns:a16="http://schemas.microsoft.com/office/drawing/2014/main" val="20004"/>
                    </a:ext>
                  </a:extLst>
                </a:gridCol>
                <a:gridCol w="689621">
                  <a:extLst>
                    <a:ext uri="{9D8B030D-6E8A-4147-A177-3AD203B41FA5}">
                      <a16:colId xmlns:a16="http://schemas.microsoft.com/office/drawing/2014/main" val="20005"/>
                    </a:ext>
                  </a:extLst>
                </a:gridCol>
                <a:gridCol w="689621">
                  <a:extLst>
                    <a:ext uri="{9D8B030D-6E8A-4147-A177-3AD203B41FA5}">
                      <a16:colId xmlns:a16="http://schemas.microsoft.com/office/drawing/2014/main" val="20006"/>
                    </a:ext>
                  </a:extLst>
                </a:gridCol>
                <a:gridCol w="689621">
                  <a:extLst>
                    <a:ext uri="{9D8B030D-6E8A-4147-A177-3AD203B41FA5}">
                      <a16:colId xmlns:a16="http://schemas.microsoft.com/office/drawing/2014/main" val="20007"/>
                    </a:ext>
                  </a:extLst>
                </a:gridCol>
                <a:gridCol w="689621">
                  <a:extLst>
                    <a:ext uri="{9D8B030D-6E8A-4147-A177-3AD203B41FA5}">
                      <a16:colId xmlns:a16="http://schemas.microsoft.com/office/drawing/2014/main" val="20008"/>
                    </a:ext>
                  </a:extLst>
                </a:gridCol>
              </a:tblGrid>
              <a:tr h="401495">
                <a:tc row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P1</a:t>
                      </a:r>
                      <a:endParaRPr sz="2000" b="1">
                        <a:solidFill>
                          <a:schemeClr val="bg1"/>
                        </a:solidFill>
                        <a:latin typeface="Aptos"/>
                        <a:ea typeface="Aptos"/>
                        <a:cs typeface="Aptos"/>
                        <a:sym typeface="Aptos"/>
                      </a:endParaRPr>
                    </a:p>
                  </a:txBody>
                  <a:tcPr marL="68575" marR="68575" marT="0" marB="0" anchor="ctr">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solidFill>
                      <a:srgbClr val="FF0000"/>
                    </a:solidFill>
                  </a:tcPr>
                </a:tc>
                <a:extLst>
                  <a:ext uri="{0D108BD9-81ED-4DB2-BD59-A6C34878D82A}">
                    <a16:rowId xmlns:a16="http://schemas.microsoft.com/office/drawing/2014/main" val="10000"/>
                  </a:ext>
                </a:extLst>
              </a:tr>
              <a:tr h="401495">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401495">
                <a:tc row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P2</a:t>
                      </a:r>
                      <a:endParaRPr sz="2000" b="1">
                        <a:solidFill>
                          <a:schemeClr val="bg1"/>
                        </a:solidFill>
                        <a:latin typeface="Aptos"/>
                        <a:ea typeface="Aptos"/>
                        <a:cs typeface="Aptos"/>
                        <a:sym typeface="Aptos"/>
                      </a:endParaRPr>
                    </a:p>
                  </a:txBody>
                  <a:tcPr marL="68575" marR="68575" marT="0" marB="0" anchor="ct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401495">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extLst>
                  <a:ext uri="{0D108BD9-81ED-4DB2-BD59-A6C34878D82A}">
                    <a16:rowId xmlns:a16="http://schemas.microsoft.com/office/drawing/2014/main" val="10003"/>
                  </a:ext>
                </a:extLst>
              </a:tr>
              <a:tr h="401495">
                <a:tc row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P3</a:t>
                      </a:r>
                      <a:endParaRPr sz="2000" b="1">
                        <a:solidFill>
                          <a:schemeClr val="bg1"/>
                        </a:solidFill>
                        <a:latin typeface="Aptos"/>
                        <a:ea typeface="Aptos"/>
                        <a:cs typeface="Aptos"/>
                        <a:sym typeface="Aptos"/>
                      </a:endParaRPr>
                    </a:p>
                  </a:txBody>
                  <a:tcPr marL="68575" marR="68575" marT="0" marB="0" anchor="ct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extLst>
                  <a:ext uri="{0D108BD9-81ED-4DB2-BD59-A6C34878D82A}">
                    <a16:rowId xmlns:a16="http://schemas.microsoft.com/office/drawing/2014/main" val="10004"/>
                  </a:ext>
                </a:extLst>
              </a:tr>
              <a:tr h="401495">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5"/>
                  </a:ext>
                </a:extLst>
              </a:tr>
              <a:tr h="401495">
                <a:tc row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P4</a:t>
                      </a:r>
                      <a:endParaRPr sz="2000" b="1">
                        <a:solidFill>
                          <a:schemeClr val="bg1"/>
                        </a:solidFill>
                        <a:latin typeface="Aptos"/>
                        <a:ea typeface="Aptos"/>
                        <a:cs typeface="Aptos"/>
                        <a:sym typeface="Aptos"/>
                      </a:endParaRPr>
                    </a:p>
                  </a:txBody>
                  <a:tcPr marL="68575" marR="68575" marT="0" marB="0" anchor="ctr">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extLst>
                  <a:ext uri="{0D108BD9-81ED-4DB2-BD59-A6C34878D82A}">
                    <a16:rowId xmlns:a16="http://schemas.microsoft.com/office/drawing/2014/main" val="10006"/>
                  </a:ext>
                </a:extLst>
              </a:tr>
              <a:tr h="401495">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0168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a:t>Scenario 3: Four Processors Collaborating</a:t>
            </a:r>
            <a:br>
              <a:rPr lang="en-US"/>
            </a:br>
            <a:r>
              <a:rPr lang="en-US">
                <a:solidFill>
                  <a:srgbClr val="00B050"/>
                </a:solidFill>
              </a:rPr>
              <a:t>QUESTIONS</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783711"/>
            <a:ext cx="11179718" cy="3249163"/>
          </a:xfrm>
        </p:spPr>
        <p:txBody>
          <a:bodyPr/>
          <a:lstStyle/>
          <a:p>
            <a:pPr marL="457200" lvl="0" indent="-387350" algn="l" rtl="0">
              <a:lnSpc>
                <a:spcPct val="107916"/>
              </a:lnSpc>
              <a:spcBef>
                <a:spcPts val="1200"/>
              </a:spcBef>
              <a:spcAft>
                <a:spcPts val="0"/>
              </a:spcAft>
              <a:buClr>
                <a:schemeClr val="dk1"/>
              </a:buClr>
              <a:buSzPts val="2500"/>
              <a:buAutoNum type="arabicPeriod"/>
            </a:pPr>
            <a:r>
              <a:rPr lang="en-US" b="1"/>
              <a:t>How does using four processors further improve efficiency, and what challenges might this bring?</a:t>
            </a:r>
            <a:br>
              <a:rPr lang="en-US" b="1"/>
            </a:br>
            <a:endParaRPr lang="en-US" b="1"/>
          </a:p>
          <a:p>
            <a:pPr marL="457200" lvl="0" indent="-387350" algn="l" rtl="0">
              <a:lnSpc>
                <a:spcPct val="107916"/>
              </a:lnSpc>
              <a:spcBef>
                <a:spcPts val="1200"/>
              </a:spcBef>
              <a:spcAft>
                <a:spcPts val="0"/>
              </a:spcAft>
              <a:buClr>
                <a:schemeClr val="dk1"/>
              </a:buClr>
              <a:buSzPts val="2500"/>
              <a:buAutoNum type="arabicPeriod"/>
            </a:pPr>
            <a:r>
              <a:rPr lang="en-US" b="1"/>
              <a:t>What would happen if one processor finished its task significantly earlier than the others?</a:t>
            </a:r>
            <a:endParaRPr lang="en-US" b="1">
              <a:solidFill>
                <a:schemeClr val="dk1"/>
              </a:solidFill>
              <a:ea typeface="Aptos"/>
              <a:cs typeface="Aptos"/>
              <a:sym typeface="Aptos"/>
            </a:endParaRPr>
          </a:p>
        </p:txBody>
      </p:sp>
    </p:spTree>
    <p:extLst>
      <p:ext uri="{BB962C8B-B14F-4D97-AF65-F5344CB8AC3E}">
        <p14:creationId xmlns:p14="http://schemas.microsoft.com/office/powerpoint/2010/main" val="1502275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a:t>Scenario 4: Four Processors Collaborating a Different Way (Column Assignments)</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98690"/>
            <a:ext cx="5974273" cy="3636740"/>
          </a:xfrm>
        </p:spPr>
        <p:txBody>
          <a:bodyPr/>
          <a:lstStyle/>
          <a:p>
            <a:pPr marL="0" indent="0">
              <a:buNone/>
            </a:pPr>
            <a:r>
              <a:rPr lang="en-US" b="1"/>
              <a:t>Five people:</a:t>
            </a:r>
          </a:p>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highlight>
                  <a:srgbClr val="FFFF00"/>
                </a:highlight>
                <a:ea typeface="Aptos"/>
                <a:cs typeface="Aptos"/>
                <a:sym typeface="Aptos"/>
              </a:rPr>
              <a:t>Processors 1-4</a:t>
            </a:r>
            <a:r>
              <a:rPr lang="en-US">
                <a:solidFill>
                  <a:schemeClr val="dk1"/>
                </a:solidFill>
                <a:ea typeface="Aptos"/>
                <a:cs typeface="Aptos"/>
                <a:sym typeface="Aptos"/>
              </a:rPr>
              <a:t>: Each assigned a strip of two columns (first takes left 2 columns, second takes next two columns, etc.) Processors colors these the correct color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Timer</a:t>
            </a:r>
            <a:r>
              <a:rPr lang="en-US">
                <a:solidFill>
                  <a:schemeClr val="dk1"/>
                </a:solidFill>
              </a:rPr>
              <a:t>: Times them; stop when </a:t>
            </a:r>
            <a:r>
              <a:rPr lang="en-US" b="1">
                <a:solidFill>
                  <a:schemeClr val="dk1"/>
                </a:solidFill>
              </a:rPr>
              <a:t>all</a:t>
            </a:r>
            <a:r>
              <a:rPr lang="en-US">
                <a:solidFill>
                  <a:schemeClr val="dk1"/>
                </a:solidFill>
              </a:rPr>
              <a:t> cells are colored.</a:t>
            </a:r>
          </a:p>
        </p:txBody>
      </p:sp>
      <p:sp>
        <p:nvSpPr>
          <p:cNvPr id="2" name="TextBox 1">
            <a:extLst>
              <a:ext uri="{FF2B5EF4-FFF2-40B4-BE49-F238E27FC236}">
                <a16:creationId xmlns:a16="http://schemas.microsoft.com/office/drawing/2014/main" id="{4E1FC26A-830A-04F1-638E-8174820528F8}"/>
              </a:ext>
            </a:extLst>
          </p:cNvPr>
          <p:cNvSpPr txBox="1"/>
          <p:nvPr/>
        </p:nvSpPr>
        <p:spPr>
          <a:xfrm>
            <a:off x="5409282" y="5935430"/>
            <a:ext cx="6648906" cy="830997"/>
          </a:xfrm>
          <a:prstGeom prst="rect">
            <a:avLst/>
          </a:prstGeom>
          <a:noFill/>
        </p:spPr>
        <p:txBody>
          <a:bodyPr wrap="square" rtlCol="0">
            <a:spAutoFit/>
          </a:bodyPr>
          <a:lstStyle/>
          <a:p>
            <a:r>
              <a:rPr lang="en-US" sz="2400" b="1">
                <a:solidFill>
                  <a:schemeClr val="bg1"/>
                </a:solidFill>
              </a:rPr>
              <a:t>Remember: </a:t>
            </a:r>
            <a:r>
              <a:rPr lang="en-US" sz="2400" b="1">
                <a:solidFill>
                  <a:srgbClr val="7030A0"/>
                </a:solidFill>
              </a:rPr>
              <a:t>squares must be mostly colored in &amp; </a:t>
            </a:r>
            <a:br>
              <a:rPr lang="en-US" sz="2400" b="1">
                <a:solidFill>
                  <a:srgbClr val="7030A0"/>
                </a:solidFill>
              </a:rPr>
            </a:br>
            <a:r>
              <a:rPr lang="en-US" sz="2400" b="1">
                <a:solidFill>
                  <a:srgbClr val="7030A0"/>
                </a:solidFill>
              </a:rPr>
              <a:t>you can only color one square at a time!</a:t>
            </a:r>
          </a:p>
        </p:txBody>
      </p:sp>
      <p:graphicFrame>
        <p:nvGraphicFramePr>
          <p:cNvPr id="4" name="Table 3">
            <a:extLst>
              <a:ext uri="{FF2B5EF4-FFF2-40B4-BE49-F238E27FC236}">
                <a16:creationId xmlns:a16="http://schemas.microsoft.com/office/drawing/2014/main" id="{3C21F8A0-5F2C-0050-CA2D-2EF308542430}"/>
              </a:ext>
            </a:extLst>
          </p:cNvPr>
          <p:cNvGraphicFramePr>
            <a:graphicFrameLocks noGrp="1"/>
          </p:cNvGraphicFramePr>
          <p:nvPr>
            <p:extLst>
              <p:ext uri="{D42A27DB-BD31-4B8C-83A1-F6EECF244321}">
                <p14:modId xmlns:p14="http://schemas.microsoft.com/office/powerpoint/2010/main" val="3219331871"/>
              </p:ext>
            </p:extLst>
          </p:nvPr>
        </p:nvGraphicFramePr>
        <p:xfrm>
          <a:off x="6624135" y="2061501"/>
          <a:ext cx="5120640" cy="3023775"/>
        </p:xfrm>
        <a:graphic>
          <a:graphicData uri="http://schemas.openxmlformats.org/drawingml/2006/table">
            <a:tbl>
              <a:tblPr bandRow="1">
                <a:noFill/>
              </a:tblPr>
              <a:tblGrid>
                <a:gridCol w="640080">
                  <a:extLst>
                    <a:ext uri="{9D8B030D-6E8A-4147-A177-3AD203B41FA5}">
                      <a16:colId xmlns:a16="http://schemas.microsoft.com/office/drawing/2014/main" val="2801298083"/>
                    </a:ext>
                  </a:extLst>
                </a:gridCol>
                <a:gridCol w="640080">
                  <a:extLst>
                    <a:ext uri="{9D8B030D-6E8A-4147-A177-3AD203B41FA5}">
                      <a16:colId xmlns:a16="http://schemas.microsoft.com/office/drawing/2014/main" val="1794596300"/>
                    </a:ext>
                  </a:extLst>
                </a:gridCol>
                <a:gridCol w="640080">
                  <a:extLst>
                    <a:ext uri="{9D8B030D-6E8A-4147-A177-3AD203B41FA5}">
                      <a16:colId xmlns:a16="http://schemas.microsoft.com/office/drawing/2014/main" val="4232396029"/>
                    </a:ext>
                  </a:extLst>
                </a:gridCol>
                <a:gridCol w="640080">
                  <a:extLst>
                    <a:ext uri="{9D8B030D-6E8A-4147-A177-3AD203B41FA5}">
                      <a16:colId xmlns:a16="http://schemas.microsoft.com/office/drawing/2014/main" val="816336286"/>
                    </a:ext>
                  </a:extLst>
                </a:gridCol>
                <a:gridCol w="640080">
                  <a:extLst>
                    <a:ext uri="{9D8B030D-6E8A-4147-A177-3AD203B41FA5}">
                      <a16:colId xmlns:a16="http://schemas.microsoft.com/office/drawing/2014/main" val="1572026895"/>
                    </a:ext>
                  </a:extLst>
                </a:gridCol>
                <a:gridCol w="640080">
                  <a:extLst>
                    <a:ext uri="{9D8B030D-6E8A-4147-A177-3AD203B41FA5}">
                      <a16:colId xmlns:a16="http://schemas.microsoft.com/office/drawing/2014/main" val="2079077827"/>
                    </a:ext>
                  </a:extLst>
                </a:gridCol>
                <a:gridCol w="640080">
                  <a:extLst>
                    <a:ext uri="{9D8B030D-6E8A-4147-A177-3AD203B41FA5}">
                      <a16:colId xmlns:a16="http://schemas.microsoft.com/office/drawing/2014/main" val="1589705213"/>
                    </a:ext>
                  </a:extLst>
                </a:gridCol>
                <a:gridCol w="640080">
                  <a:extLst>
                    <a:ext uri="{9D8B030D-6E8A-4147-A177-3AD203B41FA5}">
                      <a16:colId xmlns:a16="http://schemas.microsoft.com/office/drawing/2014/main" val="3402741152"/>
                    </a:ext>
                  </a:extLst>
                </a:gridCol>
              </a:tblGrid>
              <a:tr h="335975">
                <a:tc grid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P1</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tcPr>
                </a:tc>
                <a:tc hMerge="1">
                  <a:txBody>
                    <a:bodyPr/>
                    <a:lstStyle/>
                    <a:p>
                      <a:endParaRPr lang="en-US"/>
                    </a:p>
                  </a:txBody>
                  <a:tcPr/>
                </a:tc>
                <a:tc grid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P2</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R w="57150" cap="flat" cmpd="sng">
                      <a:solidFill>
                        <a:srgbClr val="000000"/>
                      </a:solidFill>
                      <a:prstDash val="solid"/>
                      <a:round/>
                      <a:headEnd type="none" w="sm" len="sm"/>
                      <a:tailEnd type="none" w="sm" len="sm"/>
                    </a:lnR>
                  </a:tcPr>
                </a:tc>
                <a:tc hMerge="1">
                  <a:txBody>
                    <a:bodyPr/>
                    <a:lstStyle/>
                    <a:p>
                      <a:endParaRPr lang="en-US"/>
                    </a:p>
                  </a:txBody>
                  <a:tcPr/>
                </a:tc>
                <a:tc grid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P3</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R w="57150" cap="flat" cmpd="sng">
                      <a:solidFill>
                        <a:srgbClr val="000000"/>
                      </a:solidFill>
                      <a:prstDash val="solid"/>
                      <a:round/>
                      <a:headEnd type="none" w="sm" len="sm"/>
                      <a:tailEnd type="none" w="sm" len="sm"/>
                    </a:lnR>
                  </a:tcPr>
                </a:tc>
                <a:tc hMerge="1">
                  <a:txBody>
                    <a:bodyPr/>
                    <a:lstStyle/>
                    <a:p>
                      <a:endParaRPr lang="en-US"/>
                    </a:p>
                  </a:txBody>
                  <a:tcPr/>
                </a:tc>
                <a:tc grid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P4</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tcPr>
                </a:tc>
                <a:tc hMerge="1">
                  <a:txBody>
                    <a:bodyPr/>
                    <a:lstStyle/>
                    <a:p>
                      <a:endParaRPr lang="en-US"/>
                    </a:p>
                  </a:txBody>
                  <a:tcPr/>
                </a:tc>
                <a:extLst>
                  <a:ext uri="{0D108BD9-81ED-4DB2-BD59-A6C34878D82A}">
                    <a16:rowId xmlns:a16="http://schemas.microsoft.com/office/drawing/2014/main" val="2511096073"/>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solidFill>
                      <a:srgbClr val="FF0000"/>
                    </a:solidFill>
                  </a:tcPr>
                </a:tc>
                <a:extLst>
                  <a:ext uri="{0D108BD9-81ED-4DB2-BD59-A6C34878D82A}">
                    <a16:rowId xmlns:a16="http://schemas.microsoft.com/office/drawing/2014/main" val="1467559164"/>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3219614609"/>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544984096"/>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solidFill>
                      <a:srgbClr val="4C94D8"/>
                    </a:solidFill>
                  </a:tcPr>
                </a:tc>
                <a:extLst>
                  <a:ext uri="{0D108BD9-81ED-4DB2-BD59-A6C34878D82A}">
                    <a16:rowId xmlns:a16="http://schemas.microsoft.com/office/drawing/2014/main" val="919575061"/>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solidFill>
                      <a:srgbClr val="FFFF00"/>
                    </a:solidFill>
                  </a:tcPr>
                </a:tc>
                <a:extLst>
                  <a:ext uri="{0D108BD9-81ED-4DB2-BD59-A6C34878D82A}">
                    <a16:rowId xmlns:a16="http://schemas.microsoft.com/office/drawing/2014/main" val="2506825096"/>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solidFill>
                      <a:srgbClr val="FFFF00"/>
                    </a:solidFill>
                  </a:tcPr>
                </a:tc>
                <a:extLst>
                  <a:ext uri="{0D108BD9-81ED-4DB2-BD59-A6C34878D82A}">
                    <a16:rowId xmlns:a16="http://schemas.microsoft.com/office/drawing/2014/main" val="3587633970"/>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2119102714"/>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2461272119"/>
                  </a:ext>
                </a:extLst>
              </a:tr>
            </a:tbl>
          </a:graphicData>
        </a:graphic>
      </p:graphicFrame>
    </p:spTree>
    <p:extLst>
      <p:ext uri="{BB962C8B-B14F-4D97-AF65-F5344CB8AC3E}">
        <p14:creationId xmlns:p14="http://schemas.microsoft.com/office/powerpoint/2010/main" val="1220320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4"/>
            <a:ext cx="10972800" cy="1331605"/>
          </a:xfrm>
        </p:spPr>
        <p:txBody>
          <a:bodyPr/>
          <a:lstStyle/>
          <a:p>
            <a:r>
              <a:rPr lang="en-US"/>
              <a:t>Scenario 4: Four Processors Collaborating a Different Way (Column Assignments)</a:t>
            </a:r>
            <a:br>
              <a:rPr lang="en-US"/>
            </a:br>
            <a:r>
              <a:rPr lang="en-US">
                <a:solidFill>
                  <a:srgbClr val="00B050"/>
                </a:solidFill>
              </a:rPr>
              <a:t>QUESTIONS</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760562"/>
            <a:ext cx="11179718" cy="3249163"/>
          </a:xfrm>
        </p:spPr>
        <p:txBody>
          <a:bodyPr/>
          <a:lstStyle/>
          <a:p>
            <a:pPr marL="457200" lvl="0" indent="-387350" algn="l" rtl="0">
              <a:lnSpc>
                <a:spcPct val="107916"/>
              </a:lnSpc>
              <a:spcBef>
                <a:spcPts val="1200"/>
              </a:spcBef>
              <a:spcAft>
                <a:spcPts val="0"/>
              </a:spcAft>
              <a:buClr>
                <a:schemeClr val="dk1"/>
              </a:buClr>
              <a:buSzPts val="2500"/>
              <a:buAutoNum type="arabicPeriod"/>
            </a:pPr>
            <a:r>
              <a:rPr lang="en-US" b="1"/>
              <a:t>How does assigning processors by columns rather than stripes impact performance and potential errors?</a:t>
            </a:r>
            <a:br>
              <a:rPr lang="en-US"/>
            </a:br>
            <a:endParaRPr lang="en-US"/>
          </a:p>
          <a:p>
            <a:pPr marL="457200" lvl="0" indent="-387350" algn="l" rtl="0">
              <a:lnSpc>
                <a:spcPct val="107916"/>
              </a:lnSpc>
              <a:spcBef>
                <a:spcPts val="1200"/>
              </a:spcBef>
              <a:spcAft>
                <a:spcPts val="0"/>
              </a:spcAft>
              <a:buClr>
                <a:schemeClr val="dk1"/>
              </a:buClr>
              <a:buSzPts val="2500"/>
              <a:buAutoNum type="arabicPeriod"/>
            </a:pPr>
            <a:r>
              <a:rPr lang="en-US" b="1"/>
              <a:t>How does this scenario reflect real-world issues in distributed systems?</a:t>
            </a:r>
            <a:endParaRPr lang="en-US" b="1">
              <a:solidFill>
                <a:schemeClr val="dk1"/>
              </a:solidFill>
              <a:ea typeface="Aptos"/>
              <a:cs typeface="Aptos"/>
              <a:sym typeface="Aptos"/>
            </a:endParaRPr>
          </a:p>
        </p:txBody>
      </p:sp>
    </p:spTree>
    <p:extLst>
      <p:ext uri="{BB962C8B-B14F-4D97-AF65-F5344CB8AC3E}">
        <p14:creationId xmlns:p14="http://schemas.microsoft.com/office/powerpoint/2010/main" val="3428333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a:t>STEP 3: Post-Activity Quiz &amp; Survey</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5" y="2540578"/>
            <a:ext cx="6307818" cy="3450647"/>
          </a:xfrm>
        </p:spPr>
        <p:txBody>
          <a:bodyPr tIns="457200"/>
          <a:lstStyle/>
          <a:p>
            <a:pPr marL="0" indent="0">
              <a:buNone/>
            </a:pPr>
            <a:r>
              <a:rPr lang="en-US" dirty="0">
                <a:solidFill>
                  <a:schemeClr val="bg1"/>
                </a:solidFill>
              </a:rPr>
              <a:t>Please take this post-lab quiz &amp; Survey:</a:t>
            </a:r>
          </a:p>
          <a:p>
            <a:pPr marL="0" indent="0">
              <a:buNone/>
            </a:pPr>
            <a:r>
              <a:rPr lang="en-US" dirty="0">
                <a:solidFill>
                  <a:schemeClr val="bg1"/>
                </a:solidFill>
              </a:rPr>
              <a:t>Post lab link provided</a:t>
            </a:r>
          </a:p>
          <a:p>
            <a:pPr marL="0" indent="0">
              <a:buNone/>
            </a:pPr>
            <a:r>
              <a:rPr lang="en-US" dirty="0">
                <a:solidFill>
                  <a:schemeClr val="bg1"/>
                </a:solidFill>
              </a:rPr>
              <a:t>Survey link provided</a:t>
            </a:r>
          </a:p>
          <a:p>
            <a:pPr marL="0" indent="0">
              <a:buNone/>
            </a:pPr>
            <a:endParaRPr lang="en-US" dirty="0"/>
          </a:p>
        </p:txBody>
      </p:sp>
    </p:spTree>
    <p:extLst>
      <p:ext uri="{BB962C8B-B14F-4D97-AF65-F5344CB8AC3E}">
        <p14:creationId xmlns:p14="http://schemas.microsoft.com/office/powerpoint/2010/main" val="3724670615"/>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6B8E282-C2DD-4DAF-A5E7-BEEB27D6A044}">
  <we:reference id="wa104051163" version="1.2.0.3" store="en-US" storeType="OMEX"/>
  <we:alternateReferences>
    <we:reference id="WA104051163" version="1.2.0.3" store="WA104051163"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101684D946A4F4596819EB36909023F" ma:contentTypeVersion="14" ma:contentTypeDescription="Create a new document." ma:contentTypeScope="" ma:versionID="e040b59b5b52e22329e716a04a7e7331">
  <xsd:schema xmlns:xsd="http://www.w3.org/2001/XMLSchema" xmlns:xs="http://www.w3.org/2001/XMLSchema" xmlns:p="http://schemas.microsoft.com/office/2006/metadata/properties" xmlns:ns2="c07176e9-1a7d-4a95-bc91-0fc8ab704018" xmlns:ns3="b0a827fa-27a2-4478-95c6-f5ae24efc15e" targetNamespace="http://schemas.microsoft.com/office/2006/metadata/properties" ma:root="true" ma:fieldsID="c1cab62f97e08c5a4065d985e6b6b5da" ns2:_="" ns3:_="">
    <xsd:import namespace="c07176e9-1a7d-4a95-bc91-0fc8ab704018"/>
    <xsd:import namespace="b0a827fa-27a2-4478-95c6-f5ae24efc15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7176e9-1a7d-4a95-bc91-0fc8ab7040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ec41815-f866-473a-a3ba-291165dbb83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0a827fa-27a2-4478-95c6-f5ae24efc15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5bad646-8907-4ff3-9fce-7907f18f03fa}" ma:internalName="TaxCatchAll" ma:showField="CatchAllData" ma:web="b0a827fa-27a2-4478-95c6-f5ae24efc15e">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b0a827fa-27a2-4478-95c6-f5ae24efc15e" xsi:nil="true"/>
    <lcf76f155ced4ddcb4097134ff3c332f xmlns="c07176e9-1a7d-4a95-bc91-0fc8ab70401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3E5272FA-0258-41D2-AE3A-F9076C074412}">
  <ds:schemaRefs>
    <ds:schemaRef ds:uri="b0a827fa-27a2-4478-95c6-f5ae24efc15e"/>
    <ds:schemaRef ds:uri="c07176e9-1a7d-4a95-bc91-0fc8ab7040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F4B194E-8B30-4377-8C59-ECFB902D2A26}">
  <ds:schemaRefs>
    <ds:schemaRef ds:uri="230e9df3-be65-4c73-a93b-d1236ebd677e"/>
    <ds:schemaRef ds:uri="71af3243-3dd4-4a8d-8c0d-dd76da1f02a5"/>
    <ds:schemaRef ds:uri="b0a827fa-27a2-4478-95c6-f5ae24efc15e"/>
    <ds:schemaRef ds:uri="c07176e9-1a7d-4a95-bc91-0fc8ab704018"/>
    <ds:schemaRef ds:uri="http://schemas.microsoft.com/office/2006/metadata/properties"/>
    <ds:schemaRef ds:uri="http://schemas.microsoft.com/office/infopath/2007/PartnerControls"/>
    <ds:schemaRef ds:uri="http://schemas.microsoft.com/sharepoint/v3"/>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Slice</Template>
  <TotalTime>122</TotalTime>
  <Words>1409</Words>
  <Application>Microsoft Office PowerPoint</Application>
  <PresentationFormat>Widescreen</PresentationFormat>
  <Paragraphs>347</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Eras Bold ITC</vt:lpstr>
      <vt:lpstr>Franklin Gothic Book</vt:lpstr>
      <vt:lpstr>Franklin Gothic Demi</vt:lpstr>
      <vt:lpstr>Custom</vt:lpstr>
      <vt:lpstr>LAB Data Parallelism CSCI 2911/2916</vt:lpstr>
      <vt:lpstr>STEP 1: Pre-Activity Quiz to Assess Pre-Knowledge</vt:lpstr>
      <vt:lpstr>STEP TWO: Flag Maker Activity</vt:lpstr>
      <vt:lpstr>Flag Maker Activity</vt:lpstr>
      <vt:lpstr>Scenario 1: A Single Processor</vt:lpstr>
      <vt:lpstr>Scenario 1: A Single Processor QUESTIONS</vt:lpstr>
      <vt:lpstr>Scenario 2: Two Processors Collaborating</vt:lpstr>
      <vt:lpstr>Scenario 2: Two Processors Collaborating QUESTIONS</vt:lpstr>
      <vt:lpstr>Scenario 3: Four Processors Collaborating</vt:lpstr>
      <vt:lpstr>Scenario 3: Four Processors Collaborating QUESTIONS</vt:lpstr>
      <vt:lpstr>Scenario 4: Four Processors Collaborating a Different Way (Column Assignments)</vt:lpstr>
      <vt:lpstr>Scenario 4: Four Processors Collaborating a Different Way (Column Assignments) QUESTIONS</vt:lpstr>
      <vt:lpstr>STEP 3: Post-Activity Quiz &amp; Survey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Crockett, April</dc:creator>
  <cp:lastModifiedBy>Mary Smith</cp:lastModifiedBy>
  <cp:revision>11</cp:revision>
  <dcterms:created xsi:type="dcterms:W3CDTF">2024-10-26T14:49:03Z</dcterms:created>
  <dcterms:modified xsi:type="dcterms:W3CDTF">2026-07-27T01:54:10Z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0x0101001101684D946A4F4596819EB36909023F</vt:lpwstr>
  </property>
  <property fmtid="{D5CDD505-2E9C-101B-9397-08002B2CF9AE}" pid="3" name="MediaServiceImageTags">
    <vt:lpwstr/>
  </property>
</Properties>
</file>
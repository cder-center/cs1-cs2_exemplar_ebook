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9" r:id="rId7"/>
    <p:sldId id="270" r:id="rId8"/>
    <p:sldId id="271" r:id="rId9"/>
    <p:sldId id="272" r:id="rId10"/>
    <p:sldId id="273" r:id="rId11"/>
    <p:sldId id="274"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93" d="100"/>
          <a:sy n="93" d="100"/>
        </p:scale>
        <p:origin x="6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A04EB7-E05A-420A-9E4D-7D0EF157C3AE}"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997C9A-9657-4461-AA4D-7C7591A4C2DB}" type="slidenum">
              <a:rPr lang="en-US" smtClean="0"/>
              <a:t>‹#›</a:t>
            </a:fld>
            <a:endParaRPr lang="en-US"/>
          </a:p>
        </p:txBody>
      </p:sp>
    </p:spTree>
    <p:extLst>
      <p:ext uri="{BB962C8B-B14F-4D97-AF65-F5344CB8AC3E}">
        <p14:creationId xmlns:p14="http://schemas.microsoft.com/office/powerpoint/2010/main" val="187141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Good afternoon students. As I had mentioned in our last class, today we will work on some unplugged activities to learn some fundamental concepts of PDC.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Here is the plan for the class today. [then go over the outline]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In the last few years all laptops, desktops and servers have switched to having one or more multicore processors, with increased performance for applications running on those machines coming from application parallelization instead of increasing clock speeds. Even tablets and smartphones (both Android and iOS based devices) and music players (e.g., the Apple iPod Touch) utilize multicore processors. This shift in processor architectures has made waiting until graduate courses to learn parallelism untenable as it leaves students unprepared for the workforce and for performing graduate level work in many important areas of computer science. Therefore the IEEE TCPP along with NSF and ACM have taken an initiative to mandate the introduction of PDC at an undergrad level. This work is also a research step towards that initiative. For more info visit the link on the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dirty="0"/>
              <a:t>We will look at a short video to understand the basic concept behind parallel &amp; distributed computing. If you are interested in learning more then refer to the links on this slide.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This activity involves a concept we have learnt in class called sorting. We will also learn how we can use parallelism to improve sorting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17999"/>
              </a:lnSpc>
              <a:spcBef>
                <a:spcPts val="0"/>
              </a:spcBef>
              <a:spcAft>
                <a:spcPts val="0"/>
              </a:spcAft>
              <a:buSzPts val="2200"/>
              <a:buFont typeface="Helvetica Neue"/>
              <a:buNone/>
            </a:pPr>
            <a:r>
              <a:rPr lang="en-US"/>
              <a:t>Now discuss among your group what aspects of parallel computing you learnt from the activity [allow 5 mins, then give time for questions to the teacher]</a:t>
            </a:r>
            <a:endParaRPr/>
          </a:p>
          <a:p>
            <a:pPr marL="0" lvl="0" indent="0" algn="l" rtl="0">
              <a:lnSpc>
                <a:spcPct val="117999"/>
              </a:lnSpc>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22882-6869-5F9D-8133-8555008B34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65C7A-D699-7BF0-A537-3CC837DF8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70D58-FA8C-7212-4082-DEF82273B584}"/>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E4A2E008-C678-DAE9-FD8E-BFEE6C1F0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F85A8-4425-CD35-4DD5-54A077E7CC9F}"/>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142353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0CC3-C570-E665-B1AF-EE647BE6E7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33EDE-FAC5-8C93-E0A9-9CB01C6C6F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C9BE20-8C40-6893-5BF9-2970B86FE283}"/>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7229C8EE-8295-2477-3C27-F41AB7FFF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18DDED-06D2-F4E0-A254-81900AA939FF}"/>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936117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C362-1BB3-CBE2-BF8B-11E67F509F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198C8E-B1C5-E80C-2035-6997602682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D75D42-8389-CCFE-4151-493294E2B831}"/>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F461AFE6-F5FD-0887-D6B4-C5D1C934C2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59637F-8CAC-4790-6080-5814A76C5022}"/>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50013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91166-11E9-FDD0-CCF4-A9D0CC5D7D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7E2294-BFC7-D652-4742-B2B2CAAA21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64530E-6B41-9629-B768-BA570DF367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9C810F-260F-CE16-03B1-242A89ABE1BE}"/>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6" name="Footer Placeholder 5">
            <a:extLst>
              <a:ext uri="{FF2B5EF4-FFF2-40B4-BE49-F238E27FC236}">
                <a16:creationId xmlns:a16="http://schemas.microsoft.com/office/drawing/2014/main" id="{862D9130-DFA8-0280-7CC9-2188CF766C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697B7-EE32-773E-3E4B-E9FEE764334D}"/>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411963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8BC5B-373A-EB62-6E6C-7F3CEA8808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D51D08-D90A-3676-2D44-A8420D33BF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AAC1B0-979A-829B-FD14-701A6F949A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14F97A-8EE0-6D6F-F5EF-4D2A395C16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63110F-1F55-9199-AB0D-E6CC26BC4E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60ABF7-7BBC-5915-7ACF-047AD7ECEFA3}"/>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8" name="Footer Placeholder 7">
            <a:extLst>
              <a:ext uri="{FF2B5EF4-FFF2-40B4-BE49-F238E27FC236}">
                <a16:creationId xmlns:a16="http://schemas.microsoft.com/office/drawing/2014/main" id="{B2194E81-A121-5889-7265-3ECB1CD4C3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6B51E9-7187-9BED-F94D-852521EFFF5C}"/>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3880170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9669-992F-ABC6-96DA-3A4426FDD8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D0CFF8-C497-3733-0E30-9C931A154F63}"/>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4" name="Footer Placeholder 3">
            <a:extLst>
              <a:ext uri="{FF2B5EF4-FFF2-40B4-BE49-F238E27FC236}">
                <a16:creationId xmlns:a16="http://schemas.microsoft.com/office/drawing/2014/main" id="{CCA68DEF-C0A9-2B48-3B23-6F4DC8D16C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C56455-6994-1BE6-70C3-2D74A9CBE3C6}"/>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277994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51526-163E-54A7-ECEC-DABD5F466E4C}"/>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3" name="Footer Placeholder 2">
            <a:extLst>
              <a:ext uri="{FF2B5EF4-FFF2-40B4-BE49-F238E27FC236}">
                <a16:creationId xmlns:a16="http://schemas.microsoft.com/office/drawing/2014/main" id="{CA46155B-B691-CF81-22DD-0B3577F17A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114C96-9160-35C8-0CC0-4FCB8E128A1C}"/>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262778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AFFA3-A430-1EC5-5BB2-B79580AA9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A72B79-ECE5-71FB-6399-1967A0D7C6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AB46E6-2AED-655C-7AF0-8B59E08CB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C2F1C3-6C57-E65D-92CB-F9E5CFD1DB5D}"/>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6" name="Footer Placeholder 5">
            <a:extLst>
              <a:ext uri="{FF2B5EF4-FFF2-40B4-BE49-F238E27FC236}">
                <a16:creationId xmlns:a16="http://schemas.microsoft.com/office/drawing/2014/main" id="{4F7805D1-A8A8-2FD8-F508-F0F937E0D1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BD3816-AF0E-060A-FD28-D1DD8B1D3C56}"/>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3719535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7AF7-07EE-68F3-F9DD-E6036E558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B9C361-9F7A-D37A-E45F-17777A8B46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250BB5-7982-9B48-9574-9C23CED09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CB1FC-B570-3893-84D6-2D34A6AC022D}"/>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6" name="Footer Placeholder 5">
            <a:extLst>
              <a:ext uri="{FF2B5EF4-FFF2-40B4-BE49-F238E27FC236}">
                <a16:creationId xmlns:a16="http://schemas.microsoft.com/office/drawing/2014/main" id="{2647E0E3-CD02-E020-AEF9-824177682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26974-DCE5-2930-188F-E05B291ADD3A}"/>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149490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D357-E5F6-8921-D5CA-B6204D4D97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1C471E-581B-98DD-8870-A19AE0730C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095B6D-9F7B-C71C-35EE-2FD9538B1EAA}"/>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E317024E-EDE8-26E6-62AB-8BC0CCBA9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9E2A7-E377-1B35-375E-35B74E7F972C}"/>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501150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E65253-7491-15A3-E053-99CEAB0E4B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859555-A393-8E14-3FDA-934C156A9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1095E-E925-B26A-ABE3-9BA6E47729E5}"/>
              </a:ext>
            </a:extLst>
          </p:cNvPr>
          <p:cNvSpPr>
            <a:spLocks noGrp="1"/>
          </p:cNvSpPr>
          <p:nvPr>
            <p:ph type="dt" sz="half" idx="10"/>
          </p:nvPr>
        </p:nvSpPr>
        <p:spPr/>
        <p:txBody>
          <a:body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68DC4CCF-4C3E-1CDB-4075-05CA9B980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348B8-0D7A-8751-F771-1D66DFB8A2FA}"/>
              </a:ext>
            </a:extLst>
          </p:cNvPr>
          <p:cNvSpPr>
            <a:spLocks noGrp="1"/>
          </p:cNvSpPr>
          <p:nvPr>
            <p:ph type="sldNum" sz="quarter" idx="12"/>
          </p:nvPr>
        </p:nvSpPr>
        <p:spPr/>
        <p:txBody>
          <a:bodyPr/>
          <a:lstStyle/>
          <a:p>
            <a:fld id="{4CFC4AB8-5B64-42D8-8B2A-67B12752DBD6}" type="slidenum">
              <a:rPr lang="en-US" smtClean="0"/>
              <a:t>‹#›</a:t>
            </a:fld>
            <a:endParaRPr lang="en-US"/>
          </a:p>
        </p:txBody>
      </p:sp>
    </p:spTree>
    <p:extLst>
      <p:ext uri="{BB962C8B-B14F-4D97-AF65-F5344CB8AC3E}">
        <p14:creationId xmlns:p14="http://schemas.microsoft.com/office/powerpoint/2010/main" val="2115779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Bullets" type="tx">
  <p:cSld name="Title &amp; Bullets">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92969" y="178594"/>
            <a:ext cx="10406063" cy="1518047"/>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3"/>
          <p:cNvSpPr txBox="1">
            <a:spLocks noGrp="1"/>
          </p:cNvSpPr>
          <p:nvPr>
            <p:ph type="body" idx="1"/>
          </p:nvPr>
        </p:nvSpPr>
        <p:spPr>
          <a:xfrm>
            <a:off x="892969" y="1821656"/>
            <a:ext cx="10406063" cy="4420195"/>
          </a:xfrm>
          <a:prstGeom prst="rect">
            <a:avLst/>
          </a:prstGeom>
          <a:noFill/>
          <a:ln>
            <a:noFill/>
          </a:ln>
        </p:spPr>
        <p:txBody>
          <a:bodyPr spcFirstLastPara="1" wrap="square" lIns="50800" tIns="50800" rIns="50800" bIns="50800" anchor="ctr" anchorCtr="0">
            <a:noAutofit/>
          </a:bodyPr>
          <a:lstStyle>
            <a:lvl1pPr marL="321457" lvl="0" indent="-277257" algn="l">
              <a:lnSpc>
                <a:spcPct val="100000"/>
              </a:lnSpc>
              <a:spcBef>
                <a:spcPts val="2953"/>
              </a:spcBef>
              <a:spcAft>
                <a:spcPts val="0"/>
              </a:spcAft>
              <a:buClr>
                <a:srgbClr val="000000"/>
              </a:buClr>
              <a:buSzPts val="2610"/>
              <a:buChar char="•"/>
              <a:defRPr/>
            </a:lvl1pPr>
            <a:lvl2pPr marL="642915" lvl="1" indent="-277257" algn="l">
              <a:lnSpc>
                <a:spcPct val="100000"/>
              </a:lnSpc>
              <a:spcBef>
                <a:spcPts val="2953"/>
              </a:spcBef>
              <a:spcAft>
                <a:spcPts val="0"/>
              </a:spcAft>
              <a:buClr>
                <a:srgbClr val="000000"/>
              </a:buClr>
              <a:buSzPts val="2610"/>
              <a:buChar char="•"/>
              <a:defRPr/>
            </a:lvl2pPr>
            <a:lvl3pPr marL="964372" lvl="2" indent="-277257" algn="l">
              <a:lnSpc>
                <a:spcPct val="100000"/>
              </a:lnSpc>
              <a:spcBef>
                <a:spcPts val="2953"/>
              </a:spcBef>
              <a:spcAft>
                <a:spcPts val="0"/>
              </a:spcAft>
              <a:buClr>
                <a:srgbClr val="000000"/>
              </a:buClr>
              <a:buSzPts val="2610"/>
              <a:buChar char="•"/>
              <a:defRPr/>
            </a:lvl3pPr>
            <a:lvl4pPr marL="1285829" lvl="3" indent="-277257" algn="l">
              <a:lnSpc>
                <a:spcPct val="100000"/>
              </a:lnSpc>
              <a:spcBef>
                <a:spcPts val="2953"/>
              </a:spcBef>
              <a:spcAft>
                <a:spcPts val="0"/>
              </a:spcAft>
              <a:buClr>
                <a:srgbClr val="000000"/>
              </a:buClr>
              <a:buSzPts val="2610"/>
              <a:buChar char="•"/>
              <a:defRPr/>
            </a:lvl4pPr>
            <a:lvl5pPr marL="1607287" lvl="4" indent="-277257" algn="l">
              <a:lnSpc>
                <a:spcPct val="100000"/>
              </a:lnSpc>
              <a:spcBef>
                <a:spcPts val="2953"/>
              </a:spcBef>
              <a:spcAft>
                <a:spcPts val="0"/>
              </a:spcAft>
              <a:buClr>
                <a:srgbClr val="000000"/>
              </a:buClr>
              <a:buSzPts val="2610"/>
              <a:buChar char="•"/>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16" name="Google Shape;16;p3"/>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22339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7"/>
        <p:cNvGrpSpPr/>
        <p:nvPr/>
      </p:nvGrpSpPr>
      <p:grpSpPr>
        <a:xfrm>
          <a:off x="0" y="0"/>
          <a:ext cx="0" cy="0"/>
          <a:chOff x="0" y="0"/>
          <a:chExt cx="0" cy="0"/>
        </a:xfrm>
      </p:grpSpPr>
      <p:sp>
        <p:nvSpPr>
          <p:cNvPr id="18" name="Google Shape;18;p4"/>
          <p:cNvSpPr>
            <a:spLocks noGrp="1"/>
          </p:cNvSpPr>
          <p:nvPr>
            <p:ph type="pic" idx="2"/>
          </p:nvPr>
        </p:nvSpPr>
        <p:spPr>
          <a:xfrm>
            <a:off x="1524000" y="473273"/>
            <a:ext cx="9144000" cy="415230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9pPr>
          </a:lstStyle>
          <a:p>
            <a:endParaRPr/>
          </a:p>
        </p:txBody>
      </p:sp>
      <p:sp>
        <p:nvSpPr>
          <p:cNvPr id="19" name="Google Shape;19;p4"/>
          <p:cNvSpPr txBox="1">
            <a:spLocks noGrp="1"/>
          </p:cNvSpPr>
          <p:nvPr>
            <p:ph type="title"/>
          </p:nvPr>
        </p:nvSpPr>
        <p:spPr>
          <a:xfrm>
            <a:off x="1190625" y="4723805"/>
            <a:ext cx="9810750" cy="1000125"/>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4"/>
          <p:cNvSpPr txBox="1">
            <a:spLocks noGrp="1"/>
          </p:cNvSpPr>
          <p:nvPr>
            <p:ph type="body" idx="1"/>
          </p:nvPr>
        </p:nvSpPr>
        <p:spPr>
          <a:xfrm>
            <a:off x="1190625" y="5732859"/>
            <a:ext cx="9810750" cy="794742"/>
          </a:xfrm>
          <a:prstGeom prst="rect">
            <a:avLst/>
          </a:prstGeom>
          <a:noFill/>
          <a:ln>
            <a:noFill/>
          </a:ln>
        </p:spPr>
        <p:txBody>
          <a:bodyPr spcFirstLastPara="1" wrap="square" lIns="50800" tIns="50800" rIns="50800" bIns="50800" anchor="t" anchorCtr="0">
            <a:noAutofit/>
          </a:bodyPr>
          <a:lstStyle>
            <a:lvl1pPr marL="321457" lvl="0" indent="-160729" algn="ctr">
              <a:lnSpc>
                <a:spcPct val="100000"/>
              </a:lnSpc>
              <a:spcBef>
                <a:spcPts val="0"/>
              </a:spcBef>
              <a:spcAft>
                <a:spcPts val="0"/>
              </a:spcAft>
              <a:buClr>
                <a:srgbClr val="000000"/>
              </a:buClr>
              <a:buSzPts val="3700"/>
              <a:buFont typeface="Helvetica Neue"/>
              <a:buNone/>
              <a:defRPr sz="2601"/>
            </a:lvl1pPr>
            <a:lvl2pPr marL="642915" lvl="1" indent="-160729" algn="ctr">
              <a:lnSpc>
                <a:spcPct val="100000"/>
              </a:lnSpc>
              <a:spcBef>
                <a:spcPts val="0"/>
              </a:spcBef>
              <a:spcAft>
                <a:spcPts val="0"/>
              </a:spcAft>
              <a:buClr>
                <a:srgbClr val="000000"/>
              </a:buClr>
              <a:buSzPts val="3700"/>
              <a:buFont typeface="Helvetica Neue"/>
              <a:buNone/>
              <a:defRPr sz="2601"/>
            </a:lvl2pPr>
            <a:lvl3pPr marL="964372" lvl="2" indent="-160729" algn="ctr">
              <a:lnSpc>
                <a:spcPct val="100000"/>
              </a:lnSpc>
              <a:spcBef>
                <a:spcPts val="0"/>
              </a:spcBef>
              <a:spcAft>
                <a:spcPts val="0"/>
              </a:spcAft>
              <a:buClr>
                <a:srgbClr val="000000"/>
              </a:buClr>
              <a:buSzPts val="3700"/>
              <a:buFont typeface="Helvetica Neue"/>
              <a:buNone/>
              <a:defRPr sz="2601"/>
            </a:lvl3pPr>
            <a:lvl4pPr marL="1285829" lvl="3" indent="-160729" algn="ctr">
              <a:lnSpc>
                <a:spcPct val="100000"/>
              </a:lnSpc>
              <a:spcBef>
                <a:spcPts val="0"/>
              </a:spcBef>
              <a:spcAft>
                <a:spcPts val="0"/>
              </a:spcAft>
              <a:buClr>
                <a:srgbClr val="000000"/>
              </a:buClr>
              <a:buSzPts val="3700"/>
              <a:buFont typeface="Helvetica Neue"/>
              <a:buNone/>
              <a:defRPr sz="2601"/>
            </a:lvl4pPr>
            <a:lvl5pPr marL="1607287" lvl="4" indent="-160729" algn="ctr">
              <a:lnSpc>
                <a:spcPct val="100000"/>
              </a:lnSpc>
              <a:spcBef>
                <a:spcPts val="0"/>
              </a:spcBef>
              <a:spcAft>
                <a:spcPts val="0"/>
              </a:spcAft>
              <a:buClr>
                <a:srgbClr val="000000"/>
              </a:buClr>
              <a:buSzPts val="3700"/>
              <a:buFont typeface="Helvetica Neue"/>
              <a:buNone/>
              <a:defRPr sz="2601"/>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1" name="Google Shape;21;p4"/>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767955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00FDC8"/>
        </a:solidFill>
        <a:effectLst/>
      </p:bgPr>
    </p:bg>
    <p:spTree>
      <p:nvGrpSpPr>
        <p:cNvPr id="1" name="Shape 34"/>
        <p:cNvGrpSpPr/>
        <p:nvPr/>
      </p:nvGrpSpPr>
      <p:grpSpPr>
        <a:xfrm>
          <a:off x="0" y="0"/>
          <a:ext cx="0" cy="0"/>
          <a:chOff x="0" y="0"/>
          <a:chExt cx="0" cy="0"/>
        </a:xfrm>
      </p:grpSpPr>
      <p:sp>
        <p:nvSpPr>
          <p:cNvPr id="35" name="Google Shape;35;p8"/>
          <p:cNvSpPr/>
          <p:nvPr/>
        </p:nvSpPr>
        <p:spPr>
          <a:xfrm>
            <a:off x="-1" y="857250"/>
            <a:ext cx="12192003" cy="3429001"/>
          </a:xfrm>
          <a:prstGeom prst="rect">
            <a:avLst/>
          </a:prstGeom>
          <a:solidFill>
            <a:srgbClr val="FFFFF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1687" b="1" i="0" u="none" strike="noStrike" cap="none">
              <a:solidFill>
                <a:srgbClr val="000000"/>
              </a:solidFill>
              <a:latin typeface="Helvetica Neue"/>
              <a:ea typeface="Helvetica Neue"/>
              <a:cs typeface="Helvetica Neue"/>
              <a:sym typeface="Helvetica Neue"/>
            </a:endParaRPr>
          </a:p>
        </p:txBody>
      </p:sp>
      <p:sp>
        <p:nvSpPr>
          <p:cNvPr id="36" name="Google Shape;36;p8"/>
          <p:cNvSpPr txBox="1">
            <a:spLocks noGrp="1"/>
          </p:cNvSpPr>
          <p:nvPr>
            <p:ph type="title"/>
          </p:nvPr>
        </p:nvSpPr>
        <p:spPr>
          <a:xfrm>
            <a:off x="415600" y="1249400"/>
            <a:ext cx="11360800" cy="2690401"/>
          </a:xfrm>
          <a:prstGeom prst="rect">
            <a:avLst/>
          </a:prstGeom>
          <a:noFill/>
          <a:ln>
            <a:noFill/>
          </a:ln>
        </p:spPr>
        <p:txBody>
          <a:bodyPr spcFirstLastPara="1" wrap="square" lIns="130025" tIns="130025" rIns="130025" bIns="130025" anchor="ctr" anchorCtr="0">
            <a:noAutofit/>
          </a:bodyPr>
          <a:lstStyle>
            <a:lvl1pPr lvl="0" algn="ctr">
              <a:lnSpc>
                <a:spcPct val="100000"/>
              </a:lnSpc>
              <a:spcBef>
                <a:spcPts val="0"/>
              </a:spcBef>
              <a:spcAft>
                <a:spcPts val="0"/>
              </a:spcAft>
              <a:buClr>
                <a:srgbClr val="212121"/>
              </a:buClr>
              <a:buSzPts val="15000"/>
              <a:buFont typeface="Amatic SC"/>
              <a:buNone/>
              <a:defRPr sz="10547"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7" name="Google Shape;37;p8"/>
          <p:cNvSpPr txBox="1">
            <a:spLocks noGrp="1"/>
          </p:cNvSpPr>
          <p:nvPr>
            <p:ph type="body" idx="1"/>
          </p:nvPr>
        </p:nvSpPr>
        <p:spPr>
          <a:xfrm>
            <a:off x="415600" y="4747650"/>
            <a:ext cx="11360800" cy="706200"/>
          </a:xfrm>
          <a:prstGeom prst="rect">
            <a:avLst/>
          </a:prstGeom>
          <a:noFill/>
          <a:ln>
            <a:noFill/>
          </a:ln>
        </p:spPr>
        <p:txBody>
          <a:bodyPr spcFirstLastPara="1" wrap="square" lIns="130025" tIns="130025" rIns="130025" bIns="130025" anchor="ctr" anchorCtr="0">
            <a:noAutofit/>
          </a:bodyPr>
          <a:lstStyle>
            <a:lvl1pPr marL="321457" lvl="0" indent="-160729" algn="ctr">
              <a:lnSpc>
                <a:spcPct val="100000"/>
              </a:lnSpc>
              <a:spcBef>
                <a:spcPts val="0"/>
              </a:spcBef>
              <a:spcAft>
                <a:spcPts val="0"/>
              </a:spcAft>
              <a:buClr>
                <a:srgbClr val="212121"/>
              </a:buClr>
              <a:buSzPts val="3800"/>
              <a:buFont typeface="Source Code Pro"/>
              <a:buNone/>
              <a:defRPr sz="2672" b="1">
                <a:solidFill>
                  <a:srgbClr val="212121"/>
                </a:solidFill>
                <a:latin typeface="Source Code Pro"/>
                <a:ea typeface="Source Code Pro"/>
                <a:cs typeface="Source Code Pro"/>
                <a:sym typeface="Source Code Pro"/>
              </a:defRPr>
            </a:lvl1pPr>
            <a:lvl2pPr marL="642915" lvl="1" indent="-160729" algn="ctr">
              <a:lnSpc>
                <a:spcPct val="100000"/>
              </a:lnSpc>
              <a:spcBef>
                <a:spcPts val="0"/>
              </a:spcBef>
              <a:spcAft>
                <a:spcPts val="0"/>
              </a:spcAft>
              <a:buClr>
                <a:srgbClr val="212121"/>
              </a:buClr>
              <a:buSzPts val="3800"/>
              <a:buFont typeface="Source Code Pro"/>
              <a:buNone/>
              <a:defRPr sz="2672" b="1">
                <a:solidFill>
                  <a:srgbClr val="212121"/>
                </a:solidFill>
                <a:latin typeface="Source Code Pro"/>
                <a:ea typeface="Source Code Pro"/>
                <a:cs typeface="Source Code Pro"/>
                <a:sym typeface="Source Code Pro"/>
              </a:defRPr>
            </a:lvl2pPr>
            <a:lvl3pPr marL="964372" lvl="2" indent="-160729" algn="ctr">
              <a:lnSpc>
                <a:spcPct val="100000"/>
              </a:lnSpc>
              <a:spcBef>
                <a:spcPts val="0"/>
              </a:spcBef>
              <a:spcAft>
                <a:spcPts val="0"/>
              </a:spcAft>
              <a:buClr>
                <a:srgbClr val="212121"/>
              </a:buClr>
              <a:buSzPts val="3800"/>
              <a:buFont typeface="Source Code Pro"/>
              <a:buNone/>
              <a:defRPr sz="2672" b="1">
                <a:solidFill>
                  <a:srgbClr val="212121"/>
                </a:solidFill>
                <a:latin typeface="Source Code Pro"/>
                <a:ea typeface="Source Code Pro"/>
                <a:cs typeface="Source Code Pro"/>
                <a:sym typeface="Source Code Pro"/>
              </a:defRPr>
            </a:lvl3pPr>
            <a:lvl4pPr marL="1285829" lvl="3" indent="-160729" algn="ctr">
              <a:lnSpc>
                <a:spcPct val="100000"/>
              </a:lnSpc>
              <a:spcBef>
                <a:spcPts val="0"/>
              </a:spcBef>
              <a:spcAft>
                <a:spcPts val="0"/>
              </a:spcAft>
              <a:buClr>
                <a:srgbClr val="212121"/>
              </a:buClr>
              <a:buSzPts val="3800"/>
              <a:buFont typeface="Source Code Pro"/>
              <a:buNone/>
              <a:defRPr sz="2672" b="1">
                <a:solidFill>
                  <a:srgbClr val="212121"/>
                </a:solidFill>
                <a:latin typeface="Source Code Pro"/>
                <a:ea typeface="Source Code Pro"/>
                <a:cs typeface="Source Code Pro"/>
                <a:sym typeface="Source Code Pro"/>
              </a:defRPr>
            </a:lvl4pPr>
            <a:lvl5pPr marL="1607287" lvl="4" indent="-160729" algn="ctr">
              <a:lnSpc>
                <a:spcPct val="100000"/>
              </a:lnSpc>
              <a:spcBef>
                <a:spcPts val="0"/>
              </a:spcBef>
              <a:spcAft>
                <a:spcPts val="0"/>
              </a:spcAft>
              <a:buClr>
                <a:srgbClr val="212121"/>
              </a:buClr>
              <a:buSzPts val="3800"/>
              <a:buFont typeface="Source Code Pro"/>
              <a:buNone/>
              <a:defRPr sz="2672" b="1">
                <a:solidFill>
                  <a:srgbClr val="212121"/>
                </a:solidFill>
                <a:latin typeface="Source Code Pro"/>
                <a:ea typeface="Source Code Pro"/>
                <a:cs typeface="Source Code Pro"/>
                <a:sym typeface="Source Code Pro"/>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38" name="Google Shape;38;p8"/>
          <p:cNvSpPr txBox="1">
            <a:spLocks noGrp="1"/>
          </p:cNvSpPr>
          <p:nvPr>
            <p:ph type="sldNum" idx="12"/>
          </p:nvPr>
        </p:nvSpPr>
        <p:spPr>
          <a:xfrm>
            <a:off x="11534124" y="5527615"/>
            <a:ext cx="494088" cy="37930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029799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15600" y="1150100"/>
            <a:ext cx="11360800" cy="8010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5484"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5"/>
          <p:cNvSpPr txBox="1">
            <a:spLocks noGrp="1"/>
          </p:cNvSpPr>
          <p:nvPr>
            <p:ph type="body" idx="1"/>
          </p:nvPr>
        </p:nvSpPr>
        <p:spPr>
          <a:xfrm>
            <a:off x="415600" y="2085924"/>
            <a:ext cx="5333201" cy="3340201"/>
          </a:xfrm>
          <a:prstGeom prst="rect">
            <a:avLst/>
          </a:prstGeom>
          <a:noFill/>
          <a:ln>
            <a:noFill/>
          </a:ln>
        </p:spPr>
        <p:txBody>
          <a:bodyPr spcFirstLastPara="1" wrap="square" lIns="130025" tIns="130025" rIns="130025" bIns="130025" anchor="t" anchorCtr="0">
            <a:noAutofit/>
          </a:bodyPr>
          <a:lstStyle>
            <a:lvl1pPr marL="321457" lvl="0"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1pPr>
            <a:lvl2pPr marL="642915" lvl="1"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2pPr>
            <a:lvl3pPr marL="964372" lvl="2"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3pPr>
            <a:lvl4pPr marL="1285829" lvl="3"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4pPr>
            <a:lvl5pPr marL="1607287" lvl="4"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5" name="Google Shape;25;p5"/>
          <p:cNvSpPr txBox="1">
            <a:spLocks noGrp="1"/>
          </p:cNvSpPr>
          <p:nvPr>
            <p:ph type="body" idx="2"/>
          </p:nvPr>
        </p:nvSpPr>
        <p:spPr>
          <a:xfrm>
            <a:off x="6443200" y="2085924"/>
            <a:ext cx="5333201" cy="3340201"/>
          </a:xfrm>
          <a:prstGeom prst="rect">
            <a:avLst/>
          </a:prstGeom>
          <a:noFill/>
          <a:ln>
            <a:noFill/>
          </a:ln>
        </p:spPr>
        <p:txBody>
          <a:bodyPr spcFirstLastPara="1" wrap="square" lIns="130025" tIns="130025" rIns="130025" bIns="130025" anchor="t" anchorCtr="0">
            <a:noAutofit/>
          </a:bodyPr>
          <a:lstStyle>
            <a:lvl1pPr marL="321457" lvl="0" indent="-277257" algn="l">
              <a:lnSpc>
                <a:spcPct val="100000"/>
              </a:lnSpc>
              <a:spcBef>
                <a:spcPts val="2953"/>
              </a:spcBef>
              <a:spcAft>
                <a:spcPts val="0"/>
              </a:spcAft>
              <a:buClr>
                <a:srgbClr val="000000"/>
              </a:buClr>
              <a:buSzPts val="2610"/>
              <a:buChar char="•"/>
              <a:defRPr/>
            </a:lvl1pPr>
            <a:lvl2pPr marL="642915" lvl="1" indent="-277257" algn="l">
              <a:lnSpc>
                <a:spcPct val="100000"/>
              </a:lnSpc>
              <a:spcBef>
                <a:spcPts val="2953"/>
              </a:spcBef>
              <a:spcAft>
                <a:spcPts val="0"/>
              </a:spcAft>
              <a:buClr>
                <a:srgbClr val="000000"/>
              </a:buClr>
              <a:buSzPts val="2610"/>
              <a:buChar char="•"/>
              <a:defRPr/>
            </a:lvl2pPr>
            <a:lvl3pPr marL="964372" lvl="2" indent="-277257" algn="l">
              <a:lnSpc>
                <a:spcPct val="100000"/>
              </a:lnSpc>
              <a:spcBef>
                <a:spcPts val="2953"/>
              </a:spcBef>
              <a:spcAft>
                <a:spcPts val="0"/>
              </a:spcAft>
              <a:buClr>
                <a:srgbClr val="000000"/>
              </a:buClr>
              <a:buSzPts val="2610"/>
              <a:buChar char="•"/>
              <a:defRPr/>
            </a:lvl3pPr>
            <a:lvl4pPr marL="1285829" lvl="3" indent="-277257" algn="l">
              <a:lnSpc>
                <a:spcPct val="100000"/>
              </a:lnSpc>
              <a:spcBef>
                <a:spcPts val="2953"/>
              </a:spcBef>
              <a:spcAft>
                <a:spcPts val="0"/>
              </a:spcAft>
              <a:buClr>
                <a:srgbClr val="000000"/>
              </a:buClr>
              <a:buSzPts val="2610"/>
              <a:buChar char="•"/>
              <a:defRPr/>
            </a:lvl4pPr>
            <a:lvl5pPr marL="1607287" lvl="4" indent="-277257" algn="l">
              <a:lnSpc>
                <a:spcPct val="100000"/>
              </a:lnSpc>
              <a:spcBef>
                <a:spcPts val="2953"/>
              </a:spcBef>
              <a:spcAft>
                <a:spcPts val="0"/>
              </a:spcAft>
              <a:buClr>
                <a:srgbClr val="000000"/>
              </a:buClr>
              <a:buSzPts val="2610"/>
              <a:buChar char="•"/>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6" name="Google Shape;26;p5"/>
          <p:cNvSpPr txBox="1">
            <a:spLocks noGrp="1"/>
          </p:cNvSpPr>
          <p:nvPr>
            <p:ph type="sldNum" idx="12"/>
          </p:nvPr>
        </p:nvSpPr>
        <p:spPr>
          <a:xfrm>
            <a:off x="11534124" y="5527615"/>
            <a:ext cx="494088" cy="37930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53073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_AND_BODY">
  <p:cSld name="TITLE_AND_BOD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415600" y="1150100"/>
            <a:ext cx="11360800" cy="8010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5484"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6"/>
          <p:cNvSpPr txBox="1">
            <a:spLocks noGrp="1"/>
          </p:cNvSpPr>
          <p:nvPr>
            <p:ph type="body" idx="1"/>
          </p:nvPr>
        </p:nvSpPr>
        <p:spPr>
          <a:xfrm>
            <a:off x="415600" y="2085924"/>
            <a:ext cx="11360800" cy="3340201"/>
          </a:xfrm>
          <a:prstGeom prst="rect">
            <a:avLst/>
          </a:prstGeom>
          <a:noFill/>
          <a:ln>
            <a:noFill/>
          </a:ln>
        </p:spPr>
        <p:txBody>
          <a:bodyPr spcFirstLastPara="1" wrap="square" lIns="130025" tIns="130025" rIns="130025" bIns="130025" anchor="t" anchorCtr="0">
            <a:noAutofit/>
          </a:bodyPr>
          <a:lstStyle>
            <a:lvl1pPr marL="321457" lvl="0"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1pPr>
            <a:lvl2pPr marL="642915" lvl="1"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2pPr>
            <a:lvl3pPr marL="964372" lvl="2"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3pPr>
            <a:lvl4pPr marL="1285829" lvl="3"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4pPr>
            <a:lvl5pPr marL="1607287" lvl="4"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30" name="Google Shape;30;p6"/>
          <p:cNvSpPr txBox="1">
            <a:spLocks noGrp="1"/>
          </p:cNvSpPr>
          <p:nvPr>
            <p:ph type="sldNum" idx="12"/>
          </p:nvPr>
        </p:nvSpPr>
        <p:spPr>
          <a:xfrm>
            <a:off x="11534124" y="5527615"/>
            <a:ext cx="494088" cy="37930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71386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1190625" y="2268141"/>
            <a:ext cx="9810750" cy="2321719"/>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3" name="Google Shape;33;p7"/>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047399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14CDB6-95C8-15ED-C3EB-4002B577D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644C74-EED7-C9C2-475A-5DCA1C7663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B4E0B-776D-1F45-07CE-0360BE4423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31C060-BEEC-48CA-9AE7-43B0783C927E}" type="datetimeFigureOut">
              <a:rPr lang="en-US" smtClean="0"/>
              <a:t>7/26/2026</a:t>
            </a:fld>
            <a:endParaRPr lang="en-US"/>
          </a:p>
        </p:txBody>
      </p:sp>
      <p:sp>
        <p:nvSpPr>
          <p:cNvPr id="5" name="Footer Placeholder 4">
            <a:extLst>
              <a:ext uri="{FF2B5EF4-FFF2-40B4-BE49-F238E27FC236}">
                <a16:creationId xmlns:a16="http://schemas.microsoft.com/office/drawing/2014/main" id="{0619D8DA-462B-AF3B-7E45-A0201FA30E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9FBB2FA-2A16-8D8B-E61E-89963E56B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FC4AB8-5B64-42D8-8B2A-67B12752DBD6}" type="slidenum">
              <a:rPr lang="en-US" smtClean="0"/>
              <a:t>‹#›</a:t>
            </a:fld>
            <a:endParaRPr lang="en-US"/>
          </a:p>
        </p:txBody>
      </p:sp>
    </p:spTree>
    <p:extLst>
      <p:ext uri="{BB962C8B-B14F-4D97-AF65-F5344CB8AC3E}">
        <p14:creationId xmlns:p14="http://schemas.microsoft.com/office/powerpoint/2010/main" val="3926337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grid.cs.gsu.edu/~tcpp/curriculum/?q=curr_whypdc.html"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RJNx90ODawk"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hyperlink" Target="https://www.britannica.com/science/computer-science/Parallel-and-distributed-computing" TargetMode="External"/><Relationship Id="rId4" Type="http://schemas.openxmlformats.org/officeDocument/2006/relationships/hyperlink" Target="https://www.youtube.com/watch?v=GXrI3oJ3Ea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DFC9-330F-422E-3297-C5871224EF2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C0742E1-36DA-8650-66AA-141C0962696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89462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a:spLocks noGrp="1"/>
          </p:cNvSpPr>
          <p:nvPr>
            <p:ph type="ctrTitle" idx="4294967295"/>
          </p:nvPr>
        </p:nvSpPr>
        <p:spPr>
          <a:xfrm>
            <a:off x="2416969" y="201107"/>
            <a:ext cx="7358063" cy="2321719"/>
          </a:xfrm>
          <a:prstGeom prst="rect">
            <a:avLst/>
          </a:prstGeom>
          <a:noFill/>
          <a:ln>
            <a:noFill/>
          </a:ln>
        </p:spPr>
        <p:txBody>
          <a:bodyPr spcFirstLastPara="1" vert="horz" wrap="square" lIns="35719" tIns="35719" rIns="35719" bIns="35719" rtlCol="0" anchor="b" anchorCtr="0">
            <a:noAutofit/>
          </a:bodyPr>
          <a:lstStyle/>
          <a:p>
            <a:pPr algn="ctr">
              <a:lnSpc>
                <a:spcPct val="100000"/>
              </a:lnSpc>
              <a:spcBef>
                <a:spcPts val="0"/>
              </a:spcBef>
              <a:buClr>
                <a:srgbClr val="FF0000"/>
              </a:buClr>
              <a:buSzPts val="7919"/>
            </a:pPr>
            <a:r>
              <a:rPr lang="en-US" sz="5568" dirty="0">
                <a:solidFill>
                  <a:srgbClr val="FF0000"/>
                </a:solidFill>
              </a:rPr>
              <a:t>Basics of </a:t>
            </a:r>
            <a:r>
              <a:rPr lang="en-US" sz="5568" dirty="0">
                <a:solidFill>
                  <a:srgbClr val="FF0000"/>
                </a:solidFill>
                <a:latin typeface="Helvetica Neue"/>
                <a:ea typeface="Helvetica Neue"/>
                <a:cs typeface="Helvetica Neue"/>
                <a:sym typeface="Helvetica Neue"/>
              </a:rPr>
              <a:t>Parallel &amp; Distributed Computing</a:t>
            </a:r>
            <a:endParaRPr dirty="0"/>
          </a:p>
        </p:txBody>
      </p:sp>
      <p:sp>
        <p:nvSpPr>
          <p:cNvPr id="74" name="Google Shape;74;p17"/>
          <p:cNvSpPr txBox="1">
            <a:spLocks noGrp="1"/>
          </p:cNvSpPr>
          <p:nvPr>
            <p:ph type="subTitle" idx="4294967295"/>
          </p:nvPr>
        </p:nvSpPr>
        <p:spPr>
          <a:xfrm>
            <a:off x="2416970" y="2905085"/>
            <a:ext cx="7358063" cy="1204721"/>
          </a:xfrm>
          <a:prstGeom prst="rect">
            <a:avLst/>
          </a:prstGeom>
          <a:noFill/>
          <a:ln>
            <a:noFill/>
          </a:ln>
        </p:spPr>
        <p:txBody>
          <a:bodyPr spcFirstLastPara="1" vert="horz" wrap="square" lIns="35719" tIns="35719" rIns="35719" bIns="35719" rtlCol="0" anchor="t" anchorCtr="0">
            <a:noAutofit/>
          </a:bodyPr>
          <a:lstStyle/>
          <a:p>
            <a:pPr marL="0" indent="0" algn="ctr">
              <a:lnSpc>
                <a:spcPct val="100000"/>
              </a:lnSpc>
              <a:spcBef>
                <a:spcPts val="0"/>
              </a:spcBef>
              <a:buClr>
                <a:srgbClr val="0070C0"/>
              </a:buClr>
              <a:buSzPts val="3514"/>
              <a:buNone/>
            </a:pPr>
            <a:r>
              <a:rPr lang="en-US" sz="2471" dirty="0">
                <a:solidFill>
                  <a:srgbClr val="0070C0"/>
                </a:solidFill>
                <a:latin typeface="Helvetica Neue"/>
                <a:ea typeface="Helvetica Neue"/>
                <a:cs typeface="Helvetica Neue"/>
                <a:sym typeface="Helvetica Neue"/>
              </a:rPr>
              <a:t>Dr. </a:t>
            </a:r>
            <a:r>
              <a:rPr lang="en-US" sz="2471" dirty="0">
                <a:solidFill>
                  <a:srgbClr val="0070C0"/>
                </a:solidFill>
              </a:rPr>
              <a:t>Mary Smith</a:t>
            </a:r>
            <a:endParaRPr dirty="0"/>
          </a:p>
          <a:p>
            <a:pPr marL="0" indent="0" algn="ctr">
              <a:lnSpc>
                <a:spcPct val="100000"/>
              </a:lnSpc>
              <a:spcBef>
                <a:spcPts val="0"/>
              </a:spcBef>
              <a:buClr>
                <a:srgbClr val="0070C0"/>
              </a:buClr>
              <a:buSzPts val="3514"/>
              <a:buNone/>
            </a:pPr>
            <a:r>
              <a:rPr lang="en-US" sz="2471" dirty="0">
                <a:solidFill>
                  <a:srgbClr val="0070C0"/>
                </a:solidFill>
                <a:latin typeface="Helvetica Neue"/>
                <a:ea typeface="Helvetica Neue"/>
                <a:cs typeface="Helvetica Neue"/>
                <a:sym typeface="Helvetica Neue"/>
              </a:rPr>
              <a:t>CSCI 2911/2916</a:t>
            </a:r>
            <a:endParaRPr dirty="0"/>
          </a:p>
        </p:txBody>
      </p:sp>
      <p:pic>
        <p:nvPicPr>
          <p:cNvPr id="75" name="Google Shape;75;p17"/>
          <p:cNvPicPr preferRelativeResize="0"/>
          <p:nvPr/>
        </p:nvPicPr>
        <p:blipFill rotWithShape="1">
          <a:blip r:embed="rId3">
            <a:alphaModFix/>
          </a:blip>
          <a:srcRect t="28467" b="10312"/>
          <a:stretch/>
        </p:blipFill>
        <p:spPr>
          <a:xfrm>
            <a:off x="4251992" y="4492065"/>
            <a:ext cx="3688016" cy="16933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2193727" y="178594"/>
            <a:ext cx="7804547" cy="1518047"/>
          </a:xfrm>
          <a:prstGeom prst="rect">
            <a:avLst/>
          </a:prstGeom>
          <a:noFill/>
          <a:ln>
            <a:noFill/>
          </a:ln>
        </p:spPr>
        <p:txBody>
          <a:bodyPr spcFirstLastPara="1" vert="horz" wrap="square" lIns="35719" tIns="35719" rIns="35719" bIns="35719" rtlCol="0" anchor="ctr" anchorCtr="0">
            <a:noAutofit/>
          </a:bodyPr>
          <a:lstStyle/>
          <a:p>
            <a:pPr>
              <a:buClr>
                <a:srgbClr val="0070C0"/>
              </a:buClr>
              <a:buSzPts val="6600"/>
            </a:pPr>
            <a:r>
              <a:rPr lang="en-US" sz="4640">
                <a:solidFill>
                  <a:srgbClr val="0070C0"/>
                </a:solidFill>
              </a:rPr>
              <a:t>OUTLINE</a:t>
            </a:r>
            <a:endParaRPr/>
          </a:p>
        </p:txBody>
      </p:sp>
      <p:sp>
        <p:nvSpPr>
          <p:cNvPr id="81" name="Google Shape;81;p18"/>
          <p:cNvSpPr txBox="1">
            <a:spLocks noGrp="1"/>
          </p:cNvSpPr>
          <p:nvPr>
            <p:ph type="body" idx="1"/>
          </p:nvPr>
        </p:nvSpPr>
        <p:spPr>
          <a:xfrm>
            <a:off x="2193727" y="1696641"/>
            <a:ext cx="7804547" cy="4420195"/>
          </a:xfrm>
          <a:prstGeom prst="rect">
            <a:avLst/>
          </a:prstGeom>
          <a:noFill/>
          <a:ln>
            <a:noFill/>
          </a:ln>
        </p:spPr>
        <p:txBody>
          <a:bodyPr spcFirstLastPara="1" vert="horz" wrap="square" lIns="35719" tIns="35719" rIns="35719" bIns="35719" rtlCol="0" anchor="ctr" anchorCtr="0">
            <a:noAutofit/>
          </a:bodyPr>
          <a:lstStyle/>
          <a:p>
            <a:pPr marL="312528" indent="-312528">
              <a:lnSpc>
                <a:spcPct val="120000"/>
              </a:lnSpc>
              <a:spcBef>
                <a:spcPts val="0"/>
              </a:spcBef>
              <a:buSzPts val="4640"/>
              <a:buFont typeface="Helvetica Neue"/>
              <a:buChar char="•"/>
            </a:pPr>
            <a:r>
              <a:rPr lang="en-US"/>
              <a:t>Why Parallel and Distributed Computing Curriculum?</a:t>
            </a:r>
            <a:endParaRPr/>
          </a:p>
          <a:p>
            <a:pPr marL="312528" indent="-312528">
              <a:lnSpc>
                <a:spcPct val="120000"/>
              </a:lnSpc>
              <a:spcBef>
                <a:spcPts val="0"/>
              </a:spcBef>
              <a:buSzPts val="4640"/>
              <a:buFont typeface="Helvetica Neue"/>
              <a:buChar char="•"/>
            </a:pPr>
            <a:r>
              <a:rPr lang="en-US"/>
              <a:t>What is Parallel Computing – videos</a:t>
            </a:r>
            <a:endParaRPr/>
          </a:p>
          <a:p>
            <a:pPr marL="312528" indent="-312528">
              <a:lnSpc>
                <a:spcPct val="120000"/>
              </a:lnSpc>
              <a:spcBef>
                <a:spcPts val="0"/>
              </a:spcBef>
              <a:buSzPts val="4640"/>
              <a:buFont typeface="Helvetica Neue"/>
              <a:buChar char="•"/>
            </a:pPr>
            <a:r>
              <a:rPr lang="en-US"/>
              <a:t>Unplugged activity 1: More Processors are Not Always the Best</a:t>
            </a:r>
            <a:endParaRPr/>
          </a:p>
          <a:p>
            <a:pPr marL="625056" lvl="1" indent="-312528">
              <a:lnSpc>
                <a:spcPct val="120000"/>
              </a:lnSpc>
              <a:spcBef>
                <a:spcPts val="0"/>
              </a:spcBef>
              <a:buSzPts val="3480"/>
              <a:buFont typeface="Helvetica Neue"/>
              <a:buChar char="•"/>
            </a:pPr>
            <a:r>
              <a:rPr lang="en-US" sz="1687"/>
              <a:t>Activity phases: sequential and parallel</a:t>
            </a:r>
            <a:endParaRPr/>
          </a:p>
          <a:p>
            <a:pPr marL="625056" lvl="1" indent="-312528">
              <a:lnSpc>
                <a:spcPct val="120000"/>
              </a:lnSpc>
              <a:spcBef>
                <a:spcPts val="0"/>
              </a:spcBef>
              <a:buSzPts val="3480"/>
              <a:buFont typeface="Helvetica Neue"/>
              <a:buChar char="•"/>
            </a:pPr>
            <a:r>
              <a:rPr lang="en-US" sz="1687"/>
              <a:t>Group/class discussion</a:t>
            </a:r>
            <a:endParaRPr/>
          </a:p>
          <a:p>
            <a:pPr marL="625056" lvl="1" indent="-312528">
              <a:lnSpc>
                <a:spcPct val="120000"/>
              </a:lnSpc>
              <a:spcBef>
                <a:spcPts val="0"/>
              </a:spcBef>
              <a:buSzPts val="3480"/>
              <a:buFont typeface="Helvetica Neue"/>
              <a:buChar char="•"/>
            </a:pPr>
            <a:r>
              <a:rPr lang="en-US" sz="1687"/>
              <a:t>Survey</a:t>
            </a:r>
            <a:endParaRPr/>
          </a:p>
          <a:p>
            <a:pPr marL="312528" indent="-312528">
              <a:lnSpc>
                <a:spcPct val="120000"/>
              </a:lnSpc>
              <a:spcBef>
                <a:spcPts val="0"/>
              </a:spcBef>
              <a:buSzPts val="4640"/>
              <a:buFont typeface="Helvetica Neue"/>
              <a:buChar char="•"/>
            </a:pPr>
            <a:r>
              <a:rPr lang="en-US"/>
              <a:t>Unplugged activity 2: Sorting Pennies</a:t>
            </a:r>
            <a:endParaRPr/>
          </a:p>
          <a:p>
            <a:pPr marL="625056" lvl="1" indent="-312528">
              <a:lnSpc>
                <a:spcPct val="120000"/>
              </a:lnSpc>
              <a:spcBef>
                <a:spcPts val="0"/>
              </a:spcBef>
              <a:buSzPts val="3480"/>
              <a:buFont typeface="Helvetica Neue"/>
              <a:buChar char="•"/>
            </a:pPr>
            <a:r>
              <a:rPr lang="en-US" sz="1687"/>
              <a:t>Activity phases: sequential sorting, parallel sorting</a:t>
            </a:r>
            <a:endParaRPr/>
          </a:p>
          <a:p>
            <a:pPr marL="625056" lvl="1" indent="-312528">
              <a:lnSpc>
                <a:spcPct val="120000"/>
              </a:lnSpc>
              <a:spcBef>
                <a:spcPts val="0"/>
              </a:spcBef>
              <a:buSzPts val="3480"/>
              <a:buFont typeface="Helvetica Neue"/>
              <a:buChar char="•"/>
            </a:pPr>
            <a:r>
              <a:rPr lang="en-US" sz="1687"/>
              <a:t>Group/class discussion</a:t>
            </a:r>
            <a:endParaRPr/>
          </a:p>
          <a:p>
            <a:pPr marL="625056" lvl="1" indent="-312528">
              <a:lnSpc>
                <a:spcPct val="120000"/>
              </a:lnSpc>
              <a:spcBef>
                <a:spcPts val="0"/>
              </a:spcBef>
              <a:buSzPts val="3480"/>
              <a:buFont typeface="Helvetica Neue"/>
              <a:buChar char="•"/>
            </a:pPr>
            <a:r>
              <a:rPr lang="en-US" sz="1687"/>
              <a:t>Survey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525634" y="799899"/>
            <a:ext cx="7358063" cy="2387623"/>
          </a:xfrm>
          <a:prstGeom prst="rect">
            <a:avLst/>
          </a:prstGeom>
          <a:noFill/>
          <a:ln>
            <a:noFill/>
          </a:ln>
        </p:spPr>
        <p:txBody>
          <a:bodyPr spcFirstLastPara="1" vert="horz" wrap="square" lIns="35719" tIns="35719" rIns="35719" bIns="35719" rtlCol="0" anchor="b" anchorCtr="0">
            <a:noAutofit/>
          </a:bodyPr>
          <a:lstStyle/>
          <a:p>
            <a:pPr>
              <a:buSzPts val="6000"/>
            </a:pPr>
            <a:r>
              <a:rPr lang="en-US" sz="4219" dirty="0"/>
              <a:t>Why a Parallel and Distributed Computing Curriculum?</a:t>
            </a:r>
            <a:br>
              <a:rPr lang="en-US" sz="4219" dirty="0"/>
            </a:br>
            <a:endParaRPr sz="4219" dirty="0"/>
          </a:p>
        </p:txBody>
      </p:sp>
      <p:sp>
        <p:nvSpPr>
          <p:cNvPr id="87" name="Google Shape;87;p19"/>
          <p:cNvSpPr txBox="1">
            <a:spLocks noGrp="1"/>
          </p:cNvSpPr>
          <p:nvPr>
            <p:ph type="body" idx="1"/>
          </p:nvPr>
        </p:nvSpPr>
        <p:spPr>
          <a:xfrm>
            <a:off x="1587389" y="3351274"/>
            <a:ext cx="9017223" cy="2082001"/>
          </a:xfrm>
          <a:prstGeom prst="rect">
            <a:avLst/>
          </a:prstGeom>
          <a:noFill/>
          <a:ln>
            <a:noFill/>
          </a:ln>
        </p:spPr>
        <p:txBody>
          <a:bodyPr spcFirstLastPara="1" vert="horz" wrap="square" lIns="35719" tIns="35719" rIns="35719" bIns="35719" rtlCol="0" anchor="t" anchorCtr="0">
            <a:noAutofit/>
          </a:bodyPr>
          <a:lstStyle/>
          <a:p>
            <a:pPr marL="0" indent="0"/>
            <a:r>
              <a:rPr lang="en-US"/>
              <a:t>An initiative mandated by the National Science Foundation (NSF) and the ACM/IEEE Computer Society</a:t>
            </a:r>
            <a:endParaRPr/>
          </a:p>
          <a:p>
            <a:pPr marL="0" indent="0"/>
            <a:endParaRPr/>
          </a:p>
          <a:p>
            <a:pPr marL="0" indent="0">
              <a:buSzPts val="2800"/>
            </a:pPr>
            <a:r>
              <a:rPr lang="en-US" sz="1969" u="sng">
                <a:solidFill>
                  <a:schemeClr val="hlink"/>
                </a:solidFill>
                <a:hlinkClick r:id="rId3"/>
              </a:rPr>
              <a:t>https://grid.cs.gsu.edu/~tcpp/curriculum/?q=curr_whypdc.html</a:t>
            </a:r>
            <a:endParaRPr sz="1969"/>
          </a:p>
          <a:p>
            <a:pPr marL="0" indent="0">
              <a:buSzPts val="2800"/>
            </a:pPr>
            <a:endParaRPr sz="1969"/>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2193727" y="178594"/>
            <a:ext cx="7804547" cy="1518047"/>
          </a:xfrm>
          <a:prstGeom prst="rect">
            <a:avLst/>
          </a:prstGeom>
          <a:noFill/>
          <a:ln>
            <a:noFill/>
          </a:ln>
        </p:spPr>
        <p:txBody>
          <a:bodyPr spcFirstLastPara="1" vert="horz" wrap="square" lIns="35719" tIns="35719" rIns="35719" bIns="35719" rtlCol="0" anchor="ctr" anchorCtr="0">
            <a:noAutofit/>
          </a:bodyPr>
          <a:lstStyle/>
          <a:p>
            <a:pPr>
              <a:buSzPts val="6640"/>
            </a:pPr>
            <a:r>
              <a:rPr lang="en-US" sz="4669"/>
              <a:t>What is Parallel Computing?</a:t>
            </a:r>
            <a:endParaRPr/>
          </a:p>
        </p:txBody>
      </p:sp>
      <p:sp>
        <p:nvSpPr>
          <p:cNvPr id="93" name="Google Shape;93;p20"/>
          <p:cNvSpPr txBox="1">
            <a:spLocks noGrp="1"/>
          </p:cNvSpPr>
          <p:nvPr>
            <p:ph type="body" idx="1"/>
          </p:nvPr>
        </p:nvSpPr>
        <p:spPr>
          <a:xfrm>
            <a:off x="2193727" y="1821656"/>
            <a:ext cx="7804547" cy="4420195"/>
          </a:xfrm>
          <a:prstGeom prst="rect">
            <a:avLst/>
          </a:prstGeom>
          <a:noFill/>
          <a:ln>
            <a:noFill/>
          </a:ln>
        </p:spPr>
        <p:txBody>
          <a:bodyPr spcFirstLastPara="1" vert="horz" wrap="square" lIns="35719" tIns="35719" rIns="35719" bIns="35719" rtlCol="0" anchor="ctr" anchorCtr="0">
            <a:noAutofit/>
          </a:bodyPr>
          <a:lstStyle/>
          <a:p>
            <a:pPr marL="312528" indent="-312528">
              <a:buSzPts val="4640"/>
              <a:buFont typeface="Helvetica Neue"/>
              <a:buChar char="•"/>
            </a:pPr>
            <a:r>
              <a:rPr lang="en-US" sz="2250" dirty="0">
                <a:solidFill>
                  <a:srgbClr val="000000"/>
                </a:solidFill>
                <a:latin typeface="Helvetica Neue"/>
                <a:ea typeface="Helvetica Neue"/>
                <a:cs typeface="Helvetica Neue"/>
                <a:sym typeface="Helvetica Neue"/>
              </a:rPr>
              <a:t>Brief Overview of Parallel &amp; Distributed Computing:</a:t>
            </a:r>
          </a:p>
          <a:p>
            <a:pPr marL="0" indent="0">
              <a:spcBef>
                <a:spcPts val="0"/>
              </a:spcBef>
              <a:buSzPts val="4640"/>
              <a:buNone/>
            </a:pPr>
            <a:r>
              <a:rPr lang="en-US" sz="2250" dirty="0">
                <a:solidFill>
                  <a:srgbClr val="000000"/>
                </a:solidFill>
                <a:latin typeface="Helvetica Neue"/>
                <a:ea typeface="Helvetica Neue"/>
                <a:cs typeface="Helvetica Neue"/>
                <a:sym typeface="Helvetica Neue"/>
                <a:hlinkClick r:id="rId3"/>
              </a:rPr>
              <a:t>https://www.youtube.com/watch?v=RJNx90ODawk</a:t>
            </a:r>
            <a:endParaRPr lang="en-US" sz="2250" dirty="0">
              <a:solidFill>
                <a:srgbClr val="000000"/>
              </a:solidFill>
              <a:latin typeface="Helvetica Neue"/>
              <a:ea typeface="Helvetica Neue"/>
              <a:cs typeface="Helvetica Neue"/>
              <a:sym typeface="Helvetica Neue"/>
            </a:endParaRPr>
          </a:p>
          <a:p>
            <a:pPr marL="0" indent="0">
              <a:spcBef>
                <a:spcPts val="0"/>
              </a:spcBef>
              <a:buSzPts val="4640"/>
              <a:buNone/>
            </a:pPr>
            <a:endParaRPr lang="en-US" sz="2250" dirty="0">
              <a:solidFill>
                <a:srgbClr val="000000"/>
              </a:solidFill>
              <a:latin typeface="Helvetica Neue"/>
              <a:ea typeface="Helvetica Neue"/>
              <a:cs typeface="Helvetica Neue"/>
              <a:sym typeface="Helvetica Neue"/>
            </a:endParaRPr>
          </a:p>
          <a:p>
            <a:pPr indent="-321457">
              <a:spcBef>
                <a:spcPts val="0"/>
              </a:spcBef>
              <a:buSzPts val="4640"/>
            </a:pPr>
            <a:r>
              <a:rPr lang="en-US" sz="2250" dirty="0">
                <a:solidFill>
                  <a:srgbClr val="000000"/>
                </a:solidFill>
                <a:latin typeface="Helvetica Neue"/>
                <a:ea typeface="Helvetica Neue"/>
                <a:cs typeface="Helvetica Neue"/>
                <a:sym typeface="Helvetica Neue"/>
              </a:rPr>
              <a:t>Longer video for later:</a:t>
            </a:r>
          </a:p>
          <a:p>
            <a:pPr marL="0" indent="0">
              <a:spcBef>
                <a:spcPts val="0"/>
              </a:spcBef>
              <a:buSzPts val="4640"/>
              <a:buNone/>
            </a:pPr>
            <a:r>
              <a:rPr lang="en-US" sz="2250" dirty="0">
                <a:solidFill>
                  <a:srgbClr val="000000"/>
                </a:solidFill>
                <a:latin typeface="Helvetica Neue"/>
                <a:ea typeface="Helvetica Neue"/>
                <a:cs typeface="Helvetica Neue"/>
                <a:sym typeface="Helvetica Neue"/>
              </a:rPr>
              <a:t> </a:t>
            </a:r>
            <a:r>
              <a:rPr lang="en-US" u="sng" dirty="0">
                <a:solidFill>
                  <a:schemeClr val="hlink"/>
                </a:solidFill>
                <a:hlinkClick r:id="rId4"/>
              </a:rPr>
              <a:t>https://www.youtube.com/watch?v=GXrI3oJ3Eak</a:t>
            </a:r>
            <a:endParaRPr dirty="0"/>
          </a:p>
          <a:p>
            <a:pPr marL="312528" indent="-312528">
              <a:buSzPts val="4640"/>
              <a:buFont typeface="Helvetica Neue"/>
              <a:buChar char="•"/>
            </a:pPr>
            <a:r>
              <a:rPr lang="en-US" sz="2250" dirty="0">
                <a:solidFill>
                  <a:srgbClr val="000000"/>
                </a:solidFill>
                <a:latin typeface="Helvetica Neue"/>
                <a:ea typeface="Helvetica Neue"/>
                <a:cs typeface="Helvetica Neue"/>
                <a:sym typeface="Helvetica Neue"/>
              </a:rPr>
              <a:t>Description</a:t>
            </a:r>
          </a:p>
          <a:p>
            <a:pPr marL="0" indent="0">
              <a:spcBef>
                <a:spcPts val="0"/>
              </a:spcBef>
              <a:buSzPts val="4640"/>
              <a:buNone/>
            </a:pPr>
            <a:r>
              <a:rPr lang="en-US" sz="2250" dirty="0">
                <a:solidFill>
                  <a:srgbClr val="000000"/>
                </a:solidFill>
                <a:latin typeface="Helvetica Neue"/>
                <a:ea typeface="Helvetica Neue"/>
                <a:cs typeface="Helvetica Neue"/>
                <a:sym typeface="Helvetica Neue"/>
                <a:hlinkClick r:id="rId5"/>
              </a:rPr>
              <a:t>https://www.britannica.com/science/computer-science/Parallel-and-distributed-computing</a:t>
            </a:r>
            <a:endParaRPr lang="en-US" sz="2250" dirty="0">
              <a:solidFill>
                <a:srgbClr val="000000"/>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1835700" y="1325600"/>
            <a:ext cx="8520600" cy="2040233"/>
          </a:xfrm>
          <a:prstGeom prst="rect">
            <a:avLst/>
          </a:prstGeom>
          <a:noFill/>
          <a:ln>
            <a:noFill/>
          </a:ln>
        </p:spPr>
        <p:txBody>
          <a:bodyPr spcFirstLastPara="1" vert="horz" wrap="square" lIns="91424" tIns="91424" rIns="91424" bIns="91424" rtlCol="0" anchor="ctr" anchorCtr="0">
            <a:noAutofit/>
          </a:bodyPr>
          <a:lstStyle/>
          <a:p>
            <a:pPr>
              <a:buSzPts val="8556"/>
            </a:pPr>
            <a:r>
              <a:rPr lang="en-US" sz="6016"/>
              <a:t>Unplugged Activity 2: </a:t>
            </a:r>
            <a:br>
              <a:rPr lang="en-US" sz="6016"/>
            </a:br>
            <a:r>
              <a:rPr lang="en-US" sz="6016"/>
              <a:t>A pile of Pennies</a:t>
            </a:r>
            <a:endParaRPr/>
          </a:p>
        </p:txBody>
      </p:sp>
      <p:pic>
        <p:nvPicPr>
          <p:cNvPr id="171" name="Google Shape;171;p30" descr="Google Shape;58;p13"/>
          <p:cNvPicPr preferRelativeResize="0"/>
          <p:nvPr/>
        </p:nvPicPr>
        <p:blipFill rotWithShape="1">
          <a:blip r:embed="rId3">
            <a:alphaModFix/>
          </a:blip>
          <a:srcRect/>
          <a:stretch/>
        </p:blipFill>
        <p:spPr>
          <a:xfrm>
            <a:off x="4581029" y="4471193"/>
            <a:ext cx="2786981" cy="1949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a:spLocks noGrp="1"/>
          </p:cNvSpPr>
          <p:nvPr>
            <p:ph type="title"/>
          </p:nvPr>
        </p:nvSpPr>
        <p:spPr>
          <a:xfrm>
            <a:off x="1835700" y="1150100"/>
            <a:ext cx="8520600" cy="801001"/>
          </a:xfrm>
          <a:prstGeom prst="rect">
            <a:avLst/>
          </a:prstGeom>
          <a:noFill/>
          <a:ln>
            <a:noFill/>
          </a:ln>
        </p:spPr>
        <p:txBody>
          <a:bodyPr spcFirstLastPara="1" vert="horz" wrap="square" lIns="91424" tIns="91424" rIns="91424" bIns="91424" rtlCol="0" anchor="t" anchorCtr="0">
            <a:noAutofit/>
          </a:bodyPr>
          <a:lstStyle/>
          <a:p>
            <a:pPr>
              <a:buSzPts val="5194"/>
            </a:pPr>
            <a:r>
              <a:rPr lang="en-US" sz="3652"/>
              <a:t>Unplugged Activity 2: Description </a:t>
            </a:r>
            <a:endParaRPr/>
          </a:p>
        </p:txBody>
      </p:sp>
      <p:sp>
        <p:nvSpPr>
          <p:cNvPr id="177" name="Google Shape;177;p31"/>
          <p:cNvSpPr txBox="1">
            <a:spLocks noGrp="1"/>
          </p:cNvSpPr>
          <p:nvPr>
            <p:ph type="body" idx="1"/>
          </p:nvPr>
        </p:nvSpPr>
        <p:spPr>
          <a:xfrm>
            <a:off x="1779004" y="2690769"/>
            <a:ext cx="8633993" cy="2528641"/>
          </a:xfrm>
          <a:prstGeom prst="rect">
            <a:avLst/>
          </a:prstGeom>
          <a:noFill/>
          <a:ln>
            <a:noFill/>
          </a:ln>
        </p:spPr>
        <p:txBody>
          <a:bodyPr spcFirstLastPara="1" vert="horz" wrap="square" lIns="91424" tIns="91424" rIns="91424" bIns="91424" rtlCol="0" anchor="t" anchorCtr="0">
            <a:noAutofit/>
          </a:bodyPr>
          <a:lstStyle/>
          <a:p>
            <a:pPr marL="0" indent="0">
              <a:buSzPts val="4600"/>
              <a:buNone/>
            </a:pPr>
            <a:r>
              <a:rPr lang="en-US" sz="3234">
                <a:solidFill>
                  <a:srgbClr val="737373"/>
                </a:solidFill>
                <a:latin typeface="Roboto"/>
                <a:ea typeface="Roboto"/>
                <a:cs typeface="Roboto"/>
                <a:sym typeface="Roboto"/>
              </a:rPr>
              <a:t>Goal: find oldest penny. </a:t>
            </a:r>
            <a:endParaRPr/>
          </a:p>
          <a:p>
            <a:pPr marL="0" indent="0">
              <a:spcBef>
                <a:spcPts val="2109"/>
              </a:spcBef>
              <a:buSzPts val="4600"/>
              <a:buNone/>
            </a:pPr>
            <a:r>
              <a:rPr lang="en-US" sz="3234">
                <a:solidFill>
                  <a:srgbClr val="737373"/>
                </a:solidFill>
                <a:latin typeface="Roboto"/>
                <a:ea typeface="Roboto"/>
                <a:cs typeface="Roboto"/>
                <a:sym typeface="Roboto"/>
              </a:rPr>
              <a:t>We are going to explore several solutions to achieving the goal.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p:nvPr>
        </p:nvSpPr>
        <p:spPr>
          <a:xfrm>
            <a:off x="1835700" y="661930"/>
            <a:ext cx="8520600" cy="801001"/>
          </a:xfrm>
          <a:prstGeom prst="rect">
            <a:avLst/>
          </a:prstGeom>
          <a:noFill/>
          <a:ln>
            <a:noFill/>
          </a:ln>
        </p:spPr>
        <p:txBody>
          <a:bodyPr spcFirstLastPara="1" vert="horz" wrap="square" lIns="91424" tIns="91424" rIns="91424" bIns="91424" rtlCol="0" anchor="t" anchorCtr="0">
            <a:noAutofit/>
          </a:bodyPr>
          <a:lstStyle/>
          <a:p>
            <a:pPr>
              <a:buSzPts val="5194"/>
            </a:pPr>
            <a:r>
              <a:rPr lang="en-US" sz="3652"/>
              <a:t>Unplugged activity 2 description</a:t>
            </a:r>
            <a:endParaRPr/>
          </a:p>
        </p:txBody>
      </p:sp>
      <p:sp>
        <p:nvSpPr>
          <p:cNvPr id="183" name="Google Shape;183;p32"/>
          <p:cNvSpPr txBox="1">
            <a:spLocks noGrp="1"/>
          </p:cNvSpPr>
          <p:nvPr>
            <p:ph type="body" idx="1"/>
          </p:nvPr>
        </p:nvSpPr>
        <p:spPr>
          <a:xfrm>
            <a:off x="1835700" y="1782525"/>
            <a:ext cx="8520600" cy="4041300"/>
          </a:xfrm>
          <a:prstGeom prst="rect">
            <a:avLst/>
          </a:prstGeom>
          <a:noFill/>
          <a:ln>
            <a:noFill/>
          </a:ln>
        </p:spPr>
        <p:txBody>
          <a:bodyPr spcFirstLastPara="1" vert="horz" wrap="square" lIns="91424" tIns="91424" rIns="91424" bIns="91424" rtlCol="0" anchor="t" anchorCtr="0">
            <a:noAutofit/>
          </a:bodyPr>
          <a:lstStyle/>
          <a:p>
            <a:pPr marL="0" indent="0">
              <a:lnSpc>
                <a:spcPct val="138000"/>
              </a:lnSpc>
              <a:buSzPts val="2730"/>
              <a:buNone/>
            </a:pPr>
            <a:r>
              <a:rPr lang="en-US" sz="1919"/>
              <a:t>I have 50 coins and the problem is to find the oldest one in the quickest time. So we are going to do it first in a sequential mode and then in various parallel variations. </a:t>
            </a:r>
            <a:endParaRPr sz="586"/>
          </a:p>
          <a:p>
            <a:pPr marL="0" indent="0">
              <a:lnSpc>
                <a:spcPct val="138000"/>
              </a:lnSpc>
              <a:spcBef>
                <a:spcPts val="1687"/>
              </a:spcBef>
              <a:buSzPts val="2730"/>
              <a:buNone/>
            </a:pPr>
            <a:r>
              <a:rPr lang="en-US" sz="1919"/>
              <a:t>Students break into groups of 5 or 6.</a:t>
            </a:r>
            <a:endParaRPr sz="2211"/>
          </a:p>
          <a:p>
            <a:pPr marL="0" indent="0">
              <a:spcBef>
                <a:spcPts val="1687"/>
              </a:spcBef>
              <a:buSzPts val="2882"/>
              <a:buNone/>
            </a:pPr>
            <a:r>
              <a:rPr lang="en-US" sz="2026"/>
              <a:t>Phase 1 (sequential): each group (student 1 sorting and student 2 timing,  other students observing)</a:t>
            </a:r>
            <a:endParaRPr/>
          </a:p>
          <a:p>
            <a:pPr marL="0" indent="0">
              <a:buSzPts val="2882"/>
              <a:buNone/>
            </a:pPr>
            <a:r>
              <a:rPr lang="en-US" sz="2026"/>
              <a:t>Student 1 task:  find the oldest penny </a:t>
            </a:r>
            <a:endParaRPr/>
          </a:p>
          <a:p>
            <a:pPr marL="0" indent="0">
              <a:buSzPts val="2882"/>
              <a:buNone/>
            </a:pPr>
            <a:r>
              <a:rPr lang="en-US" sz="2026"/>
              <a:t>Student 2 task: time the activity of student 1 and writes it down. Other students’ task: observe Student 1 and 2. When they are done </a:t>
            </a:r>
            <a:r>
              <a:rPr lang="en-US" sz="2026" b="1"/>
              <a:t>Shuffle coins and put back in bag</a:t>
            </a:r>
            <a:endParaRPr sz="2211"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xfrm>
            <a:off x="2147400" y="351106"/>
            <a:ext cx="8520600" cy="801001"/>
          </a:xfrm>
          <a:prstGeom prst="rect">
            <a:avLst/>
          </a:prstGeom>
          <a:noFill/>
          <a:ln>
            <a:noFill/>
          </a:ln>
        </p:spPr>
        <p:txBody>
          <a:bodyPr spcFirstLastPara="1" vert="horz" wrap="square" lIns="91424" tIns="91424" rIns="91424" bIns="91424" rtlCol="0" anchor="t" anchorCtr="0">
            <a:noAutofit/>
          </a:bodyPr>
          <a:lstStyle/>
          <a:p>
            <a:pPr>
              <a:buSzPts val="4601"/>
            </a:pPr>
            <a:r>
              <a:rPr lang="en-US" sz="3235" dirty="0"/>
              <a:t>Unplugged activity 2 description cont’d….</a:t>
            </a:r>
            <a:endParaRPr dirty="0"/>
          </a:p>
        </p:txBody>
      </p:sp>
      <p:sp>
        <p:nvSpPr>
          <p:cNvPr id="189" name="Google Shape;189;p33"/>
          <p:cNvSpPr txBox="1">
            <a:spLocks noGrp="1"/>
          </p:cNvSpPr>
          <p:nvPr>
            <p:ph type="body" idx="1"/>
          </p:nvPr>
        </p:nvSpPr>
        <p:spPr>
          <a:xfrm>
            <a:off x="1835696" y="1098828"/>
            <a:ext cx="8520609" cy="3991781"/>
          </a:xfrm>
          <a:prstGeom prst="rect">
            <a:avLst/>
          </a:prstGeom>
          <a:noFill/>
          <a:ln>
            <a:noFill/>
          </a:ln>
        </p:spPr>
        <p:txBody>
          <a:bodyPr spcFirstLastPara="1" vert="horz" wrap="square" lIns="91424" tIns="91424" rIns="91424" bIns="91424" rtlCol="0" anchor="t" anchorCtr="0">
            <a:noAutofit/>
          </a:bodyPr>
          <a:lstStyle/>
          <a:p>
            <a:pPr marL="0" indent="0">
              <a:lnSpc>
                <a:spcPct val="105000"/>
              </a:lnSpc>
              <a:buSzPts val="2810"/>
              <a:buNone/>
            </a:pPr>
            <a:r>
              <a:rPr lang="en-US" sz="1976" dirty="0"/>
              <a:t>Phase 2 (Parallelize it): each group (students 1 and 2  are given equal  number of pennies and are asked to find the oldest penny in their pile, student 3 records the times for student 1 &amp; 2. Parallel Time is calculated as the time of the slowest student among 1 and 2.</a:t>
            </a:r>
            <a:endParaRPr sz="2032" dirty="0"/>
          </a:p>
          <a:p>
            <a:pPr marL="0" indent="0">
              <a:lnSpc>
                <a:spcPct val="105000"/>
              </a:lnSpc>
              <a:buSzPts val="2890"/>
              <a:buNone/>
            </a:pPr>
            <a:endParaRPr sz="2032" dirty="0"/>
          </a:p>
          <a:p>
            <a:pPr marL="0" indent="0">
              <a:lnSpc>
                <a:spcPct val="105000"/>
              </a:lnSpc>
              <a:buSzPts val="2810"/>
              <a:buNone/>
            </a:pPr>
            <a:r>
              <a:rPr lang="en-US" sz="1976" dirty="0"/>
              <a:t>At a set time, sorting begins for all groups.</a:t>
            </a:r>
            <a:endParaRPr dirty="0"/>
          </a:p>
          <a:p>
            <a:pPr marL="0" indent="0">
              <a:lnSpc>
                <a:spcPct val="105000"/>
              </a:lnSpc>
              <a:buSzPts val="2810"/>
              <a:buNone/>
            </a:pPr>
            <a:r>
              <a:rPr lang="en-US" sz="1976" dirty="0"/>
              <a:t> </a:t>
            </a:r>
            <a:endParaRPr dirty="0"/>
          </a:p>
          <a:p>
            <a:pPr marL="0" indent="0">
              <a:lnSpc>
                <a:spcPct val="105000"/>
              </a:lnSpc>
              <a:buSzPts val="2810"/>
              <a:buNone/>
            </a:pPr>
            <a:r>
              <a:rPr lang="en-US" sz="1976" dirty="0"/>
              <a:t>Student 3 records the time it takes each student to find the oldest penny in their pile. Parallel Time is calculated as the time of the slowest student among 1 and 2.</a:t>
            </a:r>
            <a:endParaRPr sz="2032" dirty="0"/>
          </a:p>
          <a:p>
            <a:pPr marL="0" indent="0">
              <a:lnSpc>
                <a:spcPct val="105000"/>
              </a:lnSpc>
              <a:buSzPts val="2810"/>
              <a:buNone/>
            </a:pPr>
            <a:endParaRPr sz="1976" dirty="0">
              <a:solidFill>
                <a:srgbClr val="000000"/>
              </a:solidFill>
              <a:latin typeface="Times New Roman"/>
              <a:ea typeface="Times New Roman"/>
              <a:cs typeface="Times New Roman"/>
              <a:sym typeface="Times New Roman"/>
            </a:endParaRPr>
          </a:p>
          <a:p>
            <a:pPr marL="0" indent="0">
              <a:lnSpc>
                <a:spcPct val="105000"/>
              </a:lnSpc>
              <a:buSzPts val="2810"/>
              <a:buNone/>
            </a:pPr>
            <a:r>
              <a:rPr lang="en-US" sz="1976" dirty="0"/>
              <a:t>When done shuffle coins and put back in their respective bags. </a:t>
            </a:r>
            <a:r>
              <a:rPr lang="en-US" sz="1976" dirty="0">
                <a:sym typeface="Times New Roman"/>
              </a:rPr>
              <a:t>Please do not mix coins. Each bag should have 25 pennies.</a:t>
            </a:r>
            <a:endParaRPr sz="1976" dirty="0">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1835700" y="1150100"/>
            <a:ext cx="8520600" cy="801001"/>
          </a:xfrm>
          <a:prstGeom prst="rect">
            <a:avLst/>
          </a:prstGeom>
          <a:noFill/>
          <a:ln>
            <a:noFill/>
          </a:ln>
        </p:spPr>
        <p:txBody>
          <a:bodyPr spcFirstLastPara="1" vert="horz" wrap="square" lIns="91424" tIns="91424" rIns="91424" bIns="91424" rtlCol="0" anchor="t" anchorCtr="0">
            <a:noAutofit/>
          </a:bodyPr>
          <a:lstStyle/>
          <a:p>
            <a:pPr>
              <a:buSzPts val="4601"/>
            </a:pPr>
            <a:r>
              <a:rPr lang="en-US" sz="3235"/>
              <a:t>Unplugged activity 2 description cont'd….</a:t>
            </a:r>
            <a:endParaRPr/>
          </a:p>
        </p:txBody>
      </p:sp>
      <p:sp>
        <p:nvSpPr>
          <p:cNvPr id="195" name="Google Shape;195;p34"/>
          <p:cNvSpPr txBox="1">
            <a:spLocks noGrp="1"/>
          </p:cNvSpPr>
          <p:nvPr>
            <p:ph type="body" idx="1"/>
          </p:nvPr>
        </p:nvSpPr>
        <p:spPr>
          <a:xfrm>
            <a:off x="1835700" y="2085925"/>
            <a:ext cx="8520600" cy="3808773"/>
          </a:xfrm>
          <a:prstGeom prst="rect">
            <a:avLst/>
          </a:prstGeom>
          <a:noFill/>
          <a:ln>
            <a:noFill/>
          </a:ln>
        </p:spPr>
        <p:txBody>
          <a:bodyPr spcFirstLastPara="1" vert="horz" wrap="square" lIns="91424" tIns="91424" rIns="91424" bIns="91424" rtlCol="0" anchor="t" anchorCtr="0">
            <a:noAutofit/>
          </a:bodyPr>
          <a:lstStyle/>
          <a:p>
            <a:pPr marL="0" indent="0">
              <a:lnSpc>
                <a:spcPct val="105000"/>
              </a:lnSpc>
              <a:buSzPts val="2847"/>
              <a:buNone/>
            </a:pPr>
            <a:r>
              <a:rPr lang="en-US" sz="2002"/>
              <a:t>Phase 3 (Parallelize it-2): </a:t>
            </a:r>
            <a:endParaRPr/>
          </a:p>
          <a:p>
            <a:pPr marL="0" indent="0">
              <a:lnSpc>
                <a:spcPct val="105000"/>
              </a:lnSpc>
              <a:buSzPts val="2847"/>
              <a:buNone/>
            </a:pPr>
            <a:endParaRPr sz="2002" b="1">
              <a:solidFill>
                <a:srgbClr val="000000"/>
              </a:solidFill>
              <a:latin typeface="Times New Roman"/>
              <a:ea typeface="Times New Roman"/>
              <a:cs typeface="Times New Roman"/>
              <a:sym typeface="Times New Roman"/>
            </a:endParaRPr>
          </a:p>
          <a:p>
            <a:pPr marL="0" indent="0">
              <a:lnSpc>
                <a:spcPct val="105000"/>
              </a:lnSpc>
              <a:buSzPts val="2547"/>
              <a:buNone/>
            </a:pPr>
            <a:r>
              <a:rPr lang="en-US" sz="1791"/>
              <a:t>Parallelize it (2): Teacher gives 2 pennies to students 1, 2, 3, 4 and the remaining pennies to student 5.</a:t>
            </a:r>
            <a:endParaRPr/>
          </a:p>
          <a:p>
            <a:pPr marL="0" indent="0">
              <a:lnSpc>
                <a:spcPct val="105000"/>
              </a:lnSpc>
              <a:buSzPts val="3145"/>
              <a:buNone/>
            </a:pPr>
            <a:endParaRPr sz="2211"/>
          </a:p>
          <a:p>
            <a:pPr marL="0" indent="0">
              <a:lnSpc>
                <a:spcPct val="105000"/>
              </a:lnSpc>
              <a:buSzPts val="2547"/>
              <a:buNone/>
            </a:pPr>
            <a:r>
              <a:rPr lang="en-US" sz="1791"/>
              <a:t>At a set time, sorting begins for all groups.</a:t>
            </a:r>
            <a:endParaRPr/>
          </a:p>
          <a:p>
            <a:pPr marL="0" indent="0">
              <a:lnSpc>
                <a:spcPct val="105000"/>
              </a:lnSpc>
              <a:buSzPts val="3145"/>
              <a:buNone/>
            </a:pPr>
            <a:endParaRPr sz="2211"/>
          </a:p>
          <a:p>
            <a:pPr marL="0" indent="0">
              <a:lnSpc>
                <a:spcPct val="105000"/>
              </a:lnSpc>
              <a:buSzPts val="2547"/>
              <a:buNone/>
            </a:pPr>
            <a:r>
              <a:rPr lang="en-US" sz="1791"/>
              <a:t>Student 6 records time for each of the worker students. Parallel time is calculated as the time of the slowest student.</a:t>
            </a:r>
            <a:endParaRPr/>
          </a:p>
          <a:p>
            <a:pPr marL="0" indent="0">
              <a:lnSpc>
                <a:spcPct val="105000"/>
              </a:lnSpc>
              <a:buSzPts val="3145"/>
              <a:buNone/>
            </a:pPr>
            <a:endParaRPr sz="2211"/>
          </a:p>
          <a:p>
            <a:pPr marL="0" indent="0">
              <a:lnSpc>
                <a:spcPct val="105000"/>
              </a:lnSpc>
              <a:buSzPts val="2547"/>
              <a:buNone/>
            </a:pPr>
            <a:r>
              <a:rPr lang="en-US" sz="1791"/>
              <a:t>What do we learn? </a:t>
            </a:r>
            <a:r>
              <a:rPr lang="en-US" sz="1791" b="1"/>
              <a:t>This is poor load balancing! </a:t>
            </a:r>
            <a:r>
              <a:rPr lang="en-US" sz="1791" i="1"/>
              <a:t>Shuffle and put coins back in the bag</a:t>
            </a:r>
            <a:endParaRPr sz="2211"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2193727" y="2197842"/>
            <a:ext cx="7804547" cy="1518048"/>
          </a:xfrm>
          <a:prstGeom prst="rect">
            <a:avLst/>
          </a:prstGeom>
          <a:noFill/>
          <a:ln>
            <a:noFill/>
          </a:ln>
        </p:spPr>
        <p:txBody>
          <a:bodyPr spcFirstLastPara="1" vert="horz" wrap="square" lIns="35719" tIns="35719" rIns="35719" bIns="35719" rtlCol="0" anchor="ctr" anchorCtr="0">
            <a:noAutofit/>
          </a:bodyPr>
          <a:lstStyle/>
          <a:p>
            <a:pPr>
              <a:buClr>
                <a:srgbClr val="FF0000"/>
              </a:buClr>
              <a:buSzPts val="6640"/>
            </a:pPr>
            <a:r>
              <a:rPr lang="en-US" sz="4669">
                <a:solidFill>
                  <a:srgbClr val="FF0000"/>
                </a:solidFill>
                <a:latin typeface="Helvetica Neue"/>
                <a:ea typeface="Helvetica Neue"/>
                <a:cs typeface="Helvetica Neue"/>
                <a:sym typeface="Helvetica Neue"/>
              </a:rPr>
              <a:t>Group Discussion: </a:t>
            </a:r>
            <a:br>
              <a:rPr lang="en-US" sz="4669">
                <a:solidFill>
                  <a:srgbClr val="000000"/>
                </a:solidFill>
                <a:latin typeface="Helvetica Neue"/>
                <a:ea typeface="Helvetica Neue"/>
                <a:cs typeface="Helvetica Neue"/>
                <a:sym typeface="Helvetica Neue"/>
              </a:rPr>
            </a:br>
            <a:r>
              <a:rPr lang="en-US" sz="4669">
                <a:solidFill>
                  <a:srgbClr val="0070C0"/>
                </a:solidFill>
                <a:latin typeface="Helvetica Neue"/>
                <a:ea typeface="Helvetica Neue"/>
                <a:cs typeface="Helvetica Neue"/>
                <a:sym typeface="Helvetica Neue"/>
              </a:rPr>
              <a:t>what did we learn?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txBox="1">
            <a:spLocks noGrp="1"/>
          </p:cNvSpPr>
          <p:nvPr>
            <p:ph type="title"/>
          </p:nvPr>
        </p:nvSpPr>
        <p:spPr>
          <a:xfrm>
            <a:off x="2416969" y="2268141"/>
            <a:ext cx="7358063" cy="2321719"/>
          </a:xfrm>
          <a:prstGeom prst="rect">
            <a:avLst/>
          </a:prstGeom>
          <a:noFill/>
          <a:ln>
            <a:noFill/>
          </a:ln>
        </p:spPr>
        <p:txBody>
          <a:bodyPr spcFirstLastPara="1" vert="horz" wrap="square" lIns="35719" tIns="35719" rIns="35719" bIns="35719" rtlCol="0" anchor="ctr" anchorCtr="0">
            <a:noAutofit/>
          </a:bodyPr>
          <a:lstStyle/>
          <a:p>
            <a:pPr>
              <a:buClr>
                <a:srgbClr val="FF0000"/>
              </a:buClr>
              <a:buSzPts val="7200"/>
            </a:pPr>
            <a:r>
              <a:rPr lang="en-US" sz="5062">
                <a:solidFill>
                  <a:srgbClr val="FF0000"/>
                </a:solidFill>
              </a:rPr>
              <a:t>Thank you for your participation!</a:t>
            </a:r>
            <a:br>
              <a:rPr lang="en-US" sz="5062">
                <a:solidFill>
                  <a:srgbClr val="FF0000"/>
                </a:solidFill>
              </a:rPr>
            </a:br>
            <a:br>
              <a:rPr lang="en-US" sz="5062"/>
            </a:br>
            <a:r>
              <a:rPr lang="en-US" sz="5062">
                <a:solidFill>
                  <a:srgbClr val="0070C0"/>
                </a:solidFill>
              </a:rPr>
              <a:t>Hope you enjoyed the parallelism day</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856</Words>
  <Application>Microsoft Office PowerPoint</Application>
  <PresentationFormat>Widescreen</PresentationFormat>
  <Paragraphs>62</Paragraphs>
  <Slides>12</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Amatic SC</vt:lpstr>
      <vt:lpstr>Aptos</vt:lpstr>
      <vt:lpstr>Aptos Display</vt:lpstr>
      <vt:lpstr>Arial</vt:lpstr>
      <vt:lpstr>Helvetica Neue</vt:lpstr>
      <vt:lpstr>Helvetica Neue Light</vt:lpstr>
      <vt:lpstr>Roboto</vt:lpstr>
      <vt:lpstr>Source Code Pro</vt:lpstr>
      <vt:lpstr>Times New Roman</vt:lpstr>
      <vt:lpstr>Office Theme</vt:lpstr>
      <vt:lpstr>PowerPoint Presentation</vt:lpstr>
      <vt:lpstr>Basics of Parallel &amp; Distributed Computing</vt:lpstr>
      <vt:lpstr>OUTLINE</vt:lpstr>
      <vt:lpstr>Why a Parallel and Distributed Computing Curriculum? </vt:lpstr>
      <vt:lpstr>What is Parallel Computing?</vt:lpstr>
      <vt:lpstr>Unplugged Activity 2:  A pile of Pennies</vt:lpstr>
      <vt:lpstr>Unplugged Activity 2: Description </vt:lpstr>
      <vt:lpstr>Unplugged activity 2 description</vt:lpstr>
      <vt:lpstr>Unplugged activity 2 description cont’d….</vt:lpstr>
      <vt:lpstr>Unplugged activity 2 description cont'd….</vt:lpstr>
      <vt:lpstr>Group Discussion:  what did we learn?</vt:lpstr>
      <vt:lpstr>Thank you for your participation!  Hope you enjoyed the parallelism 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Smith</dc:creator>
  <cp:lastModifiedBy>Mary Smith</cp:lastModifiedBy>
  <cp:revision>1</cp:revision>
  <dcterms:created xsi:type="dcterms:W3CDTF">2026-07-27T00:52:45Z</dcterms:created>
  <dcterms:modified xsi:type="dcterms:W3CDTF">2026-07-27T00:55:22Z</dcterms:modified>
</cp:coreProperties>
</file>
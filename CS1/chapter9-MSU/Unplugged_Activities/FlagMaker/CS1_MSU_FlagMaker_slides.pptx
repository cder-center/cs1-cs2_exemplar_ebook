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3" r:id="rId1"/>
    <p:sldMasterId id="2147483659" r:id="rId2"/>
  </p:sldMasterIdLst>
  <p:notesMasterIdLst>
    <p:notesMasterId r:id="rId28"/>
  </p:notesMasterIdLst>
  <p:handoutMasterIdLst>
    <p:handoutMasterId r:id="rId29"/>
  </p:handoutMasterIdLst>
  <p:sldIdLst>
    <p:sldId id="782" r:id="rId3"/>
    <p:sldId id="383" r:id="rId4"/>
    <p:sldId id="391" r:id="rId5"/>
    <p:sldId id="419" r:id="rId6"/>
    <p:sldId id="403" r:id="rId7"/>
    <p:sldId id="412" r:id="rId8"/>
    <p:sldId id="784" r:id="rId9"/>
    <p:sldId id="785" r:id="rId10"/>
    <p:sldId id="413" r:id="rId11"/>
    <p:sldId id="414" r:id="rId12"/>
    <p:sldId id="786" r:id="rId13"/>
    <p:sldId id="787" r:id="rId14"/>
    <p:sldId id="415" r:id="rId15"/>
    <p:sldId id="416" r:id="rId16"/>
    <p:sldId id="788" r:id="rId17"/>
    <p:sldId id="792" r:id="rId18"/>
    <p:sldId id="789" r:id="rId19"/>
    <p:sldId id="417" r:id="rId20"/>
    <p:sldId id="418" r:id="rId21"/>
    <p:sldId id="791" r:id="rId22"/>
    <p:sldId id="790" r:id="rId23"/>
    <p:sldId id="794" r:id="rId24"/>
    <p:sldId id="795" r:id="rId25"/>
    <p:sldId id="411" r:id="rId26"/>
    <p:sldId id="783" r:id="rId27"/>
  </p:sldIdLst>
  <p:sldSz cx="9144000" cy="6858000" type="screen4x3"/>
  <p:notesSz cx="6858000" cy="9144000"/>
  <p:embeddedFontLst>
    <p:embeddedFont>
      <p:font typeface="Eras Bold ITC" panose="020B0907030504020204" pitchFamily="34" charset="77"/>
      <p:bold r:id="rId30"/>
    </p:embeddedFont>
    <p:embeddedFont>
      <p:font typeface="Noto Sans Symbols" panose="020B0604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72" userDrawn="1">
          <p15:clr>
            <a:srgbClr val="A4A3A4"/>
          </p15:clr>
        </p15:guide>
        <p15:guide id="10" orient="horz" pos="3997" userDrawn="1">
          <p15:clr>
            <a:srgbClr val="A4A3A4"/>
          </p15:clr>
        </p15:guide>
        <p15:guide id="11" orient="horz" pos="822" userDrawn="1">
          <p15:clr>
            <a:srgbClr val="A4A3A4"/>
          </p15:clr>
        </p15:guide>
        <p15:guide id="12" orient="horz" pos="1344" userDrawn="1">
          <p15:clr>
            <a:srgbClr val="A4A3A4"/>
          </p15:clr>
        </p15:guide>
        <p15:guide id="13" pos="37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600000"/>
    <a:srgbClr val="C00000"/>
    <a:srgbClr val="0037E6"/>
    <a:srgbClr val="005C00"/>
    <a:srgbClr val="0541FF"/>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79178" autoAdjust="0"/>
  </p:normalViewPr>
  <p:slideViewPr>
    <p:cSldViewPr snapToGrid="0" snapToObjects="1">
      <p:cViewPr varScale="1">
        <p:scale>
          <a:sx n="99" d="100"/>
          <a:sy n="99" d="100"/>
        </p:scale>
        <p:origin x="2544" y="184"/>
      </p:cViewPr>
      <p:guideLst>
        <p:guide pos="295"/>
        <p:guide orient="horz" pos="119"/>
        <p:guide orient="horz" pos="981"/>
        <p:guide pos="5472"/>
        <p:guide orient="horz" pos="3997"/>
        <p:guide orient="horz" pos="822"/>
        <p:guide orient="horz" pos="1344"/>
        <p:guide pos="3765"/>
      </p:guideLst>
    </p:cSldViewPr>
  </p:slideViewPr>
  <p:outlineViewPr>
    <p:cViewPr>
      <p:scale>
        <a:sx n="33" d="100"/>
        <a:sy n="33" d="100"/>
      </p:scale>
      <p:origin x="0" y="-12532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llapandi Murugan" userId="213f20c9-52d8-446b-ab6b-14b65f01aa8b" providerId="ADAL" clId="{F5570C55-6943-49C7-B253-35C884756D89}"/>
    <pc:docChg chg="modSld">
      <pc:chgData name="Chellapandi Murugan" userId="213f20c9-52d8-446b-ab6b-14b65f01aa8b" providerId="ADAL" clId="{F5570C55-6943-49C7-B253-35C884756D89}" dt="2023-07-11T10:15:44.457" v="10" actId="113"/>
      <pc:docMkLst>
        <pc:docMk/>
      </pc:docMkLst>
      <pc:sldChg chg="modSp mod">
        <pc:chgData name="Chellapandi Murugan" userId="213f20c9-52d8-446b-ab6b-14b65f01aa8b" providerId="ADAL" clId="{F5570C55-6943-49C7-B253-35C884756D89}" dt="2023-07-11T09:51:55.281" v="1" actId="962"/>
        <pc:sldMkLst>
          <pc:docMk/>
          <pc:sldMk cId="1522204278" sldId="451"/>
        </pc:sldMkLst>
        <pc:picChg chg="mod">
          <ac:chgData name="Chellapandi Murugan" userId="213f20c9-52d8-446b-ab6b-14b65f01aa8b" providerId="ADAL" clId="{F5570C55-6943-49C7-B253-35C884756D89}" dt="2023-07-11T09:51:55.281" v="1" actId="962"/>
          <ac:picMkLst>
            <pc:docMk/>
            <pc:sldMk cId="1522204278" sldId="451"/>
            <ac:picMk id="4" creationId="{00000000-0000-0000-0000-000000000000}"/>
          </ac:picMkLst>
        </pc:picChg>
      </pc:sldChg>
      <pc:sldChg chg="modSp mod">
        <pc:chgData name="Chellapandi Murugan" userId="213f20c9-52d8-446b-ab6b-14b65f01aa8b" providerId="ADAL" clId="{F5570C55-6943-49C7-B253-35C884756D89}" dt="2023-07-11T10:15:26.515" v="7" actId="947"/>
        <pc:sldMkLst>
          <pc:docMk/>
          <pc:sldMk cId="2903750069" sldId="468"/>
        </pc:sldMkLst>
        <pc:spChg chg="mod">
          <ac:chgData name="Chellapandi Murugan" userId="213f20c9-52d8-446b-ab6b-14b65f01aa8b" providerId="ADAL" clId="{F5570C55-6943-49C7-B253-35C884756D89}" dt="2023-07-11T10:15:26.515" v="7" actId="947"/>
          <ac:spMkLst>
            <pc:docMk/>
            <pc:sldMk cId="2903750069" sldId="468"/>
            <ac:spMk id="15" creationId="{6FCE54EA-0C02-F8BC-7406-C24CCF879591}"/>
          </ac:spMkLst>
        </pc:spChg>
      </pc:sldChg>
      <pc:sldChg chg="modSp mod">
        <pc:chgData name="Chellapandi Murugan" userId="213f20c9-52d8-446b-ab6b-14b65f01aa8b" providerId="ADAL" clId="{F5570C55-6943-49C7-B253-35C884756D89}" dt="2023-07-11T10:15:44.457" v="10" actId="113"/>
        <pc:sldMkLst>
          <pc:docMk/>
          <pc:sldMk cId="3792846859" sldId="469"/>
        </pc:sldMkLst>
        <pc:spChg chg="mod">
          <ac:chgData name="Chellapandi Murugan" userId="213f20c9-52d8-446b-ab6b-14b65f01aa8b" providerId="ADAL" clId="{F5570C55-6943-49C7-B253-35C884756D89}" dt="2023-07-11T10:15:44.457" v="10" actId="113"/>
          <ac:spMkLst>
            <pc:docMk/>
            <pc:sldMk cId="3792846859" sldId="469"/>
            <ac:spMk id="15" creationId="{6FCE54EA-0C02-F8BC-7406-C24CCF87959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7/23/26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113416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1071550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2 = 14 scenario 1 pages per lab * 10 labs = 140 (2 per page so 70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a:p>
        </p:txBody>
      </p:sp>
    </p:spTree>
    <p:extLst>
      <p:ext uri="{BB962C8B-B14F-4D97-AF65-F5344CB8AC3E}">
        <p14:creationId xmlns:p14="http://schemas.microsoft.com/office/powerpoint/2010/main" val="514488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Why does this process take a long time with only one "processor"?</a:t>
            </a:r>
            <a:br>
              <a:rPr lang="en-US" dirty="0"/>
            </a:br>
            <a:r>
              <a:rPr lang="en-US" b="1" dirty="0"/>
              <a:t>Answer:</a:t>
            </a:r>
            <a:r>
              <a:rPr lang="en-US" dirty="0"/>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dirty="0"/>
          </a:p>
          <a:p>
            <a:r>
              <a:rPr lang="en-US" b="1" dirty="0"/>
              <a:t>Question 2:</a:t>
            </a:r>
            <a:r>
              <a:rPr lang="en-US" dirty="0"/>
              <a:t> How could this approach cause inefficiency in more complex tasks?</a:t>
            </a:r>
            <a:br>
              <a:rPr lang="en-US" dirty="0"/>
            </a:br>
            <a:r>
              <a:rPr lang="en-US" b="1" dirty="0"/>
              <a:t>Answer:</a:t>
            </a:r>
            <a:r>
              <a:rPr lang="en-US" dirty="0"/>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44945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3 = ~10 scenario 2 pages per lab * 10 labs = 100 (2 per page so 50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2776527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the addition of a second processor impact the overall completion time?</a:t>
            </a:r>
            <a:br>
              <a:rPr lang="en-US" dirty="0"/>
            </a:br>
            <a:r>
              <a:rPr lang="en-US" b="1" dirty="0"/>
              <a:t>Answer:</a:t>
            </a:r>
            <a:r>
              <a:rPr lang="en-US" dirty="0"/>
              <a:t> Adding a second processor allows for parallel processing, so two stripes (red and blue, yellow and green) can be worked on simultaneously, effectively cutting down the completion time. This demonstrates how distributing tasks between processors can increase efficiency.</a:t>
            </a:r>
          </a:p>
          <a:p>
            <a:endParaRPr lang="en-US" dirty="0"/>
          </a:p>
          <a:p>
            <a:r>
              <a:rPr lang="en-US" b="1" dirty="0"/>
              <a:t>Question 2:</a:t>
            </a:r>
            <a:r>
              <a:rPr lang="en-US" dirty="0"/>
              <a:t> What potential problems could arise if both processors were given overlapping tasks?</a:t>
            </a:r>
            <a:br>
              <a:rPr lang="en-US" dirty="0"/>
            </a:br>
            <a:r>
              <a:rPr lang="en-US" b="1" dirty="0"/>
              <a:t>Answer:</a:t>
            </a:r>
            <a:r>
              <a:rPr lang="en-US" dirty="0"/>
              <a:t> If both processors colored the same stripes, they might overwrite each other’s work, causing inconsistencies. This introduces the concept of </a:t>
            </a:r>
            <a:r>
              <a:rPr lang="en-US" b="1" dirty="0"/>
              <a:t>race conditions</a:t>
            </a:r>
            <a:r>
              <a:rPr lang="en-US" dirty="0"/>
              <a:t>, where two processes access and modify shared data at the same time, leading to unpredictable results.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438172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a:p>
        </p:txBody>
      </p:sp>
    </p:spTree>
    <p:extLst>
      <p:ext uri="{BB962C8B-B14F-4D97-AF65-F5344CB8AC3E}">
        <p14:creationId xmlns:p14="http://schemas.microsoft.com/office/powerpoint/2010/main" val="3613260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using four processors further improve efficiency, and what challenges might this bring?</a:t>
            </a:r>
            <a:br>
              <a:rPr lang="en-US" dirty="0"/>
            </a:br>
            <a:r>
              <a:rPr lang="en-US" b="1" dirty="0"/>
              <a:t>Answer:</a:t>
            </a:r>
            <a:r>
              <a:rPr lang="en-US" dirty="0"/>
              <a:t> Four processors allow each to work on one color stripe independently, reducing the time needed even more than with two processors. However, with more processors, synchronization becomes crucial to ensure they don’t interfere with each other’s work, which can lead to increased </a:t>
            </a:r>
            <a:r>
              <a:rPr lang="en-US" b="1" dirty="0"/>
              <a:t>coordination complexity</a:t>
            </a:r>
            <a:r>
              <a:rPr lang="en-US" dirty="0"/>
              <a:t>.</a:t>
            </a:r>
          </a:p>
          <a:p>
            <a:endParaRPr lang="en-US" dirty="0"/>
          </a:p>
          <a:p>
            <a:r>
              <a:rPr lang="en-US" b="1" dirty="0"/>
              <a:t>Question 2:</a:t>
            </a:r>
            <a:r>
              <a:rPr lang="en-US" dirty="0"/>
              <a:t> What would happen if one processor finished its task significantly earlier than the others?</a:t>
            </a:r>
            <a:br>
              <a:rPr lang="en-US" dirty="0"/>
            </a:br>
            <a:r>
              <a:rPr lang="en-US" b="1" dirty="0"/>
              <a:t>Answer:</a:t>
            </a:r>
            <a:r>
              <a:rPr lang="en-US" dirty="0"/>
              <a:t> If one processor finishes early, it sits idle, which is an example of </a:t>
            </a:r>
            <a:r>
              <a:rPr lang="en-US" b="1" dirty="0"/>
              <a:t>underutilized resources</a:t>
            </a:r>
            <a:r>
              <a:rPr lang="en-US" dirty="0"/>
              <a:t>. In real systems, </a:t>
            </a:r>
            <a:r>
              <a:rPr lang="en-US" b="1" dirty="0"/>
              <a:t>load balancing </a:t>
            </a:r>
            <a:r>
              <a:rPr lang="en-US" dirty="0"/>
              <a:t>is essential to ensure all processors have tasks of roughly equal duration to maximize efficiency.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a:p>
        </p:txBody>
      </p:sp>
    </p:spTree>
    <p:extLst>
      <p:ext uri="{BB962C8B-B14F-4D97-AF65-F5344CB8AC3E}">
        <p14:creationId xmlns:p14="http://schemas.microsoft.com/office/powerpoint/2010/main" val="3751328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a:p>
        </p:txBody>
      </p:sp>
    </p:spTree>
    <p:extLst>
      <p:ext uri="{BB962C8B-B14F-4D97-AF65-F5344CB8AC3E}">
        <p14:creationId xmlns:p14="http://schemas.microsoft.com/office/powerpoint/2010/main" val="2710554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assigning processors by columns rather than stripes impact performance and potential errors?</a:t>
            </a:r>
            <a:br>
              <a:rPr lang="en-US" dirty="0"/>
            </a:br>
            <a:r>
              <a:rPr lang="en-US" b="1" dirty="0"/>
              <a:t>Answer:</a:t>
            </a:r>
            <a:r>
              <a:rPr lang="en-US" dirty="0"/>
              <a:t> This column-based approach lets each processor work on sections across all colors, which might improve efficiency if coloring large sections by color becomes too complex. However, with this setup, processors might again risk stepping into each other’s workspaces at the boundaries, which can lead to race conditions unless clearly separated.</a:t>
            </a:r>
          </a:p>
          <a:p>
            <a:r>
              <a:rPr lang="en-US" b="1" dirty="0"/>
              <a:t>Question 2:</a:t>
            </a:r>
            <a:r>
              <a:rPr lang="en-US" dirty="0"/>
              <a:t> How does this scenario reflect real-world issues in distributed systems?</a:t>
            </a:r>
            <a:br>
              <a:rPr lang="en-US" dirty="0"/>
            </a:br>
            <a:r>
              <a:rPr lang="en-US" b="1" dirty="0"/>
              <a:t>Answer:</a:t>
            </a:r>
            <a:r>
              <a:rPr lang="en-US" dirty="0"/>
              <a:t> Distributed systems often allocate resources by dividing tasks spatially, just as columns are divided here. However, managing boundaries is crucial to prevent overlaps and race conditions, which require robust coordination protocols in real-world systems to ensure data integrity.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19</a:t>
            </a:fld>
            <a:endParaRPr lang="en-US"/>
          </a:p>
        </p:txBody>
      </p:sp>
    </p:spTree>
    <p:extLst>
      <p:ext uri="{BB962C8B-B14F-4D97-AF65-F5344CB8AC3E}">
        <p14:creationId xmlns:p14="http://schemas.microsoft.com/office/powerpoint/2010/main" val="4198837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AABAB</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24</a:t>
            </a:fld>
            <a:endParaRPr lang="en-US"/>
          </a:p>
        </p:txBody>
      </p:sp>
    </p:spTree>
    <p:extLst>
      <p:ext uri="{BB962C8B-B14F-4D97-AF65-F5344CB8AC3E}">
        <p14:creationId xmlns:p14="http://schemas.microsoft.com/office/powerpoint/2010/main" val="3975815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1ADA-75FE-BEA7-6877-42DD69C44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5935F-069A-31A6-E190-3670F5415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FC21F-AE57-01FF-1B4B-3BA92F0465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21E578-122F-D281-D9A4-917D1EE7C440}"/>
              </a:ext>
            </a:extLst>
          </p:cNvPr>
          <p:cNvSpPr>
            <a:spLocks noGrp="1"/>
          </p:cNvSpPr>
          <p:nvPr>
            <p:ph type="sldNum" sz="quarter" idx="5"/>
          </p:nvPr>
        </p:nvSpPr>
        <p:spPr/>
        <p:txBody>
          <a:bodyPr/>
          <a:lstStyle/>
          <a:p>
            <a:fld id="{A89C7E07-3C67-C64C-8DA0-0404F6303970}" type="slidenum">
              <a:rPr lang="en-US" smtClean="0"/>
              <a:t>25</a:t>
            </a:fld>
            <a:endParaRPr lang="en-US"/>
          </a:p>
        </p:txBody>
      </p:sp>
    </p:spTree>
    <p:extLst>
      <p:ext uri="{BB962C8B-B14F-4D97-AF65-F5344CB8AC3E}">
        <p14:creationId xmlns:p14="http://schemas.microsoft.com/office/powerpoint/2010/main" val="2749567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14">
            <a:extLst>
              <a:ext uri="{FF2B5EF4-FFF2-40B4-BE49-F238E27FC236}">
                <a16:creationId xmlns:a16="http://schemas.microsoft.com/office/drawing/2014/main" id="{B1A4B99E-B9CC-B803-E8F1-9181A4E25084}"/>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hape 14">
            <a:extLst>
              <a:ext uri="{FF2B5EF4-FFF2-40B4-BE49-F238E27FC236}">
                <a16:creationId xmlns:a16="http://schemas.microsoft.com/office/drawing/2014/main" id="{DB14D992-77A1-A591-93FF-E94FA8ADDDFF}"/>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264875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hape 14">
            <a:extLst>
              <a:ext uri="{FF2B5EF4-FFF2-40B4-BE49-F238E27FC236}">
                <a16:creationId xmlns:a16="http://schemas.microsoft.com/office/drawing/2014/main" id="{3E706EF7-AC45-83DA-CEF5-7C4F57D7AB70}"/>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302531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hape 14">
            <a:extLst>
              <a:ext uri="{FF2B5EF4-FFF2-40B4-BE49-F238E27FC236}">
                <a16:creationId xmlns:a16="http://schemas.microsoft.com/office/drawing/2014/main" id="{D8A4A464-9765-AFCA-0EB0-D89B03D49F2B}"/>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hape 14">
            <a:extLst>
              <a:ext uri="{FF2B5EF4-FFF2-40B4-BE49-F238E27FC236}">
                <a16:creationId xmlns:a16="http://schemas.microsoft.com/office/drawing/2014/main" id="{2C08C9F6-3DA4-F7B4-64F9-9CD2D3537DBF}"/>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hape 14">
            <a:extLst>
              <a:ext uri="{FF2B5EF4-FFF2-40B4-BE49-F238E27FC236}">
                <a16:creationId xmlns:a16="http://schemas.microsoft.com/office/drawing/2014/main" id="{1F17D1AF-F81A-EFE3-387A-4E5C9EA55C13}"/>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hape 14">
            <a:extLst>
              <a:ext uri="{FF2B5EF4-FFF2-40B4-BE49-F238E27FC236}">
                <a16:creationId xmlns:a16="http://schemas.microsoft.com/office/drawing/2014/main" id="{8A18DDE6-CACA-24A9-8F81-6DE95D142132}"/>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3011214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7"/>
          </p:nvPr>
        </p:nvSpPr>
        <p:spPr>
          <a:xfrm>
            <a:off x="457200" y="4352925"/>
            <a:ext cx="4011769" cy="4762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hape 14">
            <a:extLst>
              <a:ext uri="{FF2B5EF4-FFF2-40B4-BE49-F238E27FC236}">
                <a16:creationId xmlns:a16="http://schemas.microsoft.com/office/drawing/2014/main" id="{E8CA6DA1-D0AF-73CD-8671-D192AD46A39E}"/>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7"/>
          </p:nvPr>
        </p:nvSpPr>
        <p:spPr>
          <a:xfrm>
            <a:off x="457200" y="3423855"/>
            <a:ext cx="8229600" cy="325285"/>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a:prstGeom prst="rect">
            <a:avLst/>
          </a:prstGeo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a:prstGeom prst="rect">
            <a:avLst/>
          </a:prstGeo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a:prstGeom prst="rect">
            <a:avLst/>
          </a:prstGeo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hape 14">
            <a:extLst>
              <a:ext uri="{FF2B5EF4-FFF2-40B4-BE49-F238E27FC236}">
                <a16:creationId xmlns:a16="http://schemas.microsoft.com/office/drawing/2014/main" id="{2699F9AB-D620-CCC8-A894-FE48B15CD75B}"/>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a:prstGeom prst="rect">
            <a:avLst/>
          </a:prstGeo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 name="Shape 14">
            <a:extLst>
              <a:ext uri="{FF2B5EF4-FFF2-40B4-BE49-F238E27FC236}">
                <a16:creationId xmlns:a16="http://schemas.microsoft.com/office/drawing/2014/main" id="{1C97F20C-E953-D553-1BDE-1AF5CA50DB6C}"/>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a:prstGeom prst="rect">
            <a:avLst/>
          </a:prstGeo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a:prstGeom prst="rect">
            <a:avLst/>
          </a:prstGeom>
        </p:spPr>
        <p:txBody>
          <a:bodyPr/>
          <a:lstStyle>
            <a:lvl1pPr>
              <a:defRPr/>
            </a:lvl1pPr>
          </a:lstStyle>
          <a:p>
            <a:pPr lvl="0"/>
            <a:r>
              <a:rPr lang="en-US" dirty="0"/>
              <a:t>Caption</a:t>
            </a:r>
          </a:p>
        </p:txBody>
      </p:sp>
      <p:sp>
        <p:nvSpPr>
          <p:cNvPr id="6" name="Shape 14">
            <a:extLst>
              <a:ext uri="{FF2B5EF4-FFF2-40B4-BE49-F238E27FC236}">
                <a16:creationId xmlns:a16="http://schemas.microsoft.com/office/drawing/2014/main" id="{7E312C8D-4031-73E6-B7B4-9917F5F83057}"/>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a:prstGeom prst="rect">
            <a:avLst/>
          </a:prstGeo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a:prstGeom prst="rect">
            <a:avLst/>
          </a:prstGeo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a:prstGeom prst="rect">
            <a:avLst/>
          </a:prstGeo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a:prstGeom prst="rect">
            <a:avLst/>
          </a:prstGeo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a:prstGeom prst="rect">
            <a:avLst/>
          </a:prstGeo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a:prstGeom prst="rect">
            <a:avLst/>
          </a:prstGeo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a:prstGeom prst="rect">
            <a:avLst/>
          </a:prstGeo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a:prstGeom prst="rect">
            <a:avLst/>
          </a:prstGeom>
        </p:spPr>
        <p:txBody>
          <a:bodyPr/>
          <a:lstStyle>
            <a:lvl1pPr marL="101600" indent="0">
              <a:buNone/>
              <a:defRPr/>
            </a:lvl1pPr>
          </a:lstStyle>
          <a:p>
            <a:pPr lvl="0"/>
            <a:r>
              <a:rPr lang="en-US" dirty="0"/>
              <a:t>Label 6</a:t>
            </a:r>
          </a:p>
        </p:txBody>
      </p:sp>
      <p:sp>
        <p:nvSpPr>
          <p:cNvPr id="6" name="Shape 14">
            <a:extLst>
              <a:ext uri="{FF2B5EF4-FFF2-40B4-BE49-F238E27FC236}">
                <a16:creationId xmlns:a16="http://schemas.microsoft.com/office/drawing/2014/main" id="{C6F7C060-EA49-CA5D-2A9C-8CDB39B0E99B}"/>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a:prstGeom prst="rect">
            <a:avLst/>
          </a:prstGeo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a:prstGeom prst="rect">
            <a:avLst/>
          </a:prstGeo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a:prstGeom prst="rect">
            <a:avLst/>
          </a:prstGeo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a:prstGeom prst="rect">
            <a:avLst/>
          </a:prstGeo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a:prstGeom prst="rect">
            <a:avLst/>
          </a:prstGeo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a:prstGeom prst="rect">
            <a:avLst/>
          </a:prstGeo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a:prstGeom prst="rect">
            <a:avLst/>
          </a:prstGeo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a:prstGeom prst="rect">
            <a:avLst/>
          </a:prstGeo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a:prstGeom prst="rect">
            <a:avLst/>
          </a:prstGeo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a:prstGeom prst="rect">
            <a:avLst/>
          </a:prstGeom>
        </p:spPr>
        <p:txBody>
          <a:bodyPr/>
          <a:lstStyle>
            <a:lvl1pPr marL="101600" indent="0">
              <a:buNone/>
              <a:defRPr/>
            </a:lvl1pPr>
          </a:lstStyle>
          <a:p>
            <a:pPr lvl="0"/>
            <a:r>
              <a:rPr lang="en-US" dirty="0"/>
              <a:t>Label 2.3</a:t>
            </a:r>
          </a:p>
        </p:txBody>
      </p:sp>
      <p:sp>
        <p:nvSpPr>
          <p:cNvPr id="6" name="Shape 14">
            <a:extLst>
              <a:ext uri="{FF2B5EF4-FFF2-40B4-BE49-F238E27FC236}">
                <a16:creationId xmlns:a16="http://schemas.microsoft.com/office/drawing/2014/main" id="{920A0E4D-5251-0000-6907-9C4F75E64F51}"/>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4" name="Shape 14">
            <a:extLst>
              <a:ext uri="{FF2B5EF4-FFF2-40B4-BE49-F238E27FC236}">
                <a16:creationId xmlns:a16="http://schemas.microsoft.com/office/drawing/2014/main" id="{CC47FED1-36C9-FDD9-6DF6-C7B9827D5BF4}"/>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three Content_Two 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690484"/>
          </a:xfrm>
          <a:prstGeom prst="rect">
            <a:avLst/>
          </a:prstGeo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DC341F33-35F6-4F95-B885-7CC6D3FBDCCE}"/>
              </a:ext>
            </a:extLst>
          </p:cNvPr>
          <p:cNvSpPr>
            <a:spLocks noGrp="1"/>
          </p:cNvSpPr>
          <p:nvPr>
            <p:ph type="body" sz="quarter" idx="14"/>
          </p:nvPr>
        </p:nvSpPr>
        <p:spPr>
          <a:xfrm>
            <a:off x="457200" y="2443163"/>
            <a:ext cx="8229600" cy="69215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5"/>
          </p:nvPr>
        </p:nvSpPr>
        <p:spPr>
          <a:xfrm>
            <a:off x="457200" y="3309938"/>
            <a:ext cx="8229600" cy="88423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6"/>
          </p:nvPr>
        </p:nvSpPr>
        <p:spPr>
          <a:xfrm>
            <a:off x="457200" y="4354513"/>
            <a:ext cx="8229600" cy="7254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7"/>
          </p:nvPr>
        </p:nvSpPr>
        <p:spPr>
          <a:xfrm>
            <a:off x="457200" y="5283200"/>
            <a:ext cx="8229600" cy="7112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14">
            <a:extLst>
              <a:ext uri="{FF2B5EF4-FFF2-40B4-BE49-F238E27FC236}">
                <a16:creationId xmlns:a16="http://schemas.microsoft.com/office/drawing/2014/main" id="{AE2174AD-E73F-07B3-45C3-5FD9A92E886E}"/>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1690313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4772025" y="0"/>
            <a:ext cx="4371974"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sz="105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445771" y="189573"/>
            <a:ext cx="5090810" cy="1593507"/>
          </a:xfrm>
          <a:prstGeom prst="rect">
            <a:avLst/>
          </a:prstGeom>
        </p:spPr>
        <p:txBody>
          <a:bodyPr lIns="0" tIns="0" rIns="0" bIns="0" anchor="b" anchorCtr="0">
            <a:noAutofit/>
          </a:bodyPr>
          <a:lstStyle>
            <a:lvl1pPr>
              <a:defRPr sz="3300" b="1" i="0" spc="38"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445770" y="2281919"/>
            <a:ext cx="5090810" cy="3708517"/>
          </a:xfrm>
        </p:spPr>
        <p:txBody>
          <a:bodyPr lIns="0" tIns="228600" rIns="0" bIns="0">
            <a:normAutofit/>
          </a:bodyPr>
          <a:lstStyle>
            <a:lvl1pPr marL="212598" indent="-212598">
              <a:lnSpc>
                <a:spcPct val="80000"/>
              </a:lnSpc>
              <a:spcBef>
                <a:spcPts val="1650"/>
              </a:spcBef>
              <a:buFont typeface="Arial" panose="020B0604020202020204" pitchFamily="34" charset="0"/>
              <a:buChar char="•"/>
              <a:defRPr lang="en-US" sz="1800" b="1" i="0" kern="1200" dirty="0">
                <a:solidFill>
                  <a:schemeClr val="tx2">
                    <a:lumMod val="75000"/>
                  </a:schemeClr>
                </a:solidFill>
                <a:latin typeface="+mn-lt"/>
                <a:ea typeface="+mn-ea"/>
                <a:cs typeface="+mn-cs"/>
              </a:defRPr>
            </a:lvl1pPr>
            <a:lvl2pPr indent="-212598">
              <a:spcBef>
                <a:spcPts val="450"/>
              </a:spcBef>
              <a:defRPr sz="1500"/>
            </a:lvl2pPr>
            <a:lvl3pPr indent="-212598">
              <a:spcBef>
                <a:spcPts val="1350"/>
              </a:spcBef>
              <a:defRPr sz="1500"/>
            </a:lvl3pPr>
            <a:lvl4pPr indent="-212598">
              <a:spcBef>
                <a:spcPts val="1350"/>
              </a:spcBef>
              <a:defRPr sz="1500"/>
            </a:lvl4pPr>
            <a:lvl5pPr indent="-212598">
              <a:spcBef>
                <a:spcPts val="1350"/>
              </a:spcBef>
              <a:defRPr sz="15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445770" y="2148840"/>
            <a:ext cx="1597914"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3252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445770" y="2148840"/>
            <a:ext cx="16002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369903" y="4270035"/>
            <a:ext cx="2959226" cy="2219420"/>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sz="105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445770" y="102876"/>
            <a:ext cx="8155305" cy="1680205"/>
          </a:xfrm>
          <a:prstGeom prst="rect">
            <a:avLst/>
          </a:prstGeom>
        </p:spPr>
        <p:txBody>
          <a:bodyPr lIns="0" tIns="0" rIns="0" bIns="0" anchor="b" anchorCtr="0">
            <a:noAutofit/>
          </a:bodyPr>
          <a:lstStyle>
            <a:lvl1pPr>
              <a:defRPr sz="33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2743200" y="2282008"/>
            <a:ext cx="5857875" cy="3699328"/>
          </a:xfrm>
        </p:spPr>
        <p:txBody>
          <a:bodyPr lIns="0" tIns="228600" rIns="0" bIns="0">
            <a:normAutofit/>
          </a:bodyPr>
          <a:lstStyle>
            <a:lvl1pPr marL="212598" indent="-212598">
              <a:spcBef>
                <a:spcPts val="1350"/>
              </a:spcBef>
              <a:buFont typeface="Arial" panose="020B0604020202020204" pitchFamily="34" charset="0"/>
              <a:buChar char="•"/>
              <a:defRPr sz="1500"/>
            </a:lvl1pPr>
            <a:lvl2pPr indent="-212598">
              <a:spcBef>
                <a:spcPts val="1350"/>
              </a:spcBef>
              <a:defRPr sz="1500"/>
            </a:lvl2pPr>
            <a:lvl3pPr indent="-212598">
              <a:spcBef>
                <a:spcPts val="1350"/>
              </a:spcBef>
              <a:defRPr sz="1500"/>
            </a:lvl3pPr>
            <a:lvl4pPr indent="-212598">
              <a:spcBef>
                <a:spcPts val="1350"/>
              </a:spcBef>
              <a:defRPr sz="1500"/>
            </a:lvl4pPr>
            <a:lvl5pPr indent="-212598">
              <a:spcBef>
                <a:spcPts val="1350"/>
              </a:spcBef>
              <a:defRPr sz="15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751370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445770" y="202401"/>
            <a:ext cx="8229600" cy="1570325"/>
          </a:xfrm>
          <a:prstGeom prst="rect">
            <a:avLst/>
          </a:prstGeom>
        </p:spPr>
        <p:txBody>
          <a:bodyPr lIns="0" tIns="0" rIns="0" bIns="0" anchor="b" anchorCtr="0">
            <a:noAutofit/>
          </a:bodyPr>
          <a:lstStyle>
            <a:lvl1pPr>
              <a:defRPr sz="33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445770" y="2628629"/>
            <a:ext cx="82296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445770" y="2148840"/>
            <a:ext cx="16002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181775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3" name="Shape 14">
            <a:extLst>
              <a:ext uri="{FF2B5EF4-FFF2-40B4-BE49-F238E27FC236}">
                <a16:creationId xmlns:a16="http://schemas.microsoft.com/office/drawing/2014/main" id="{3A4CC1A6-53D2-0EF6-8C45-5126B2655668}"/>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 name="Shape 14">
            <a:extLst>
              <a:ext uri="{FF2B5EF4-FFF2-40B4-BE49-F238E27FC236}">
                <a16:creationId xmlns:a16="http://schemas.microsoft.com/office/drawing/2014/main" id="{D7410CD0-A402-FCC3-C305-C98CED4BD0EB}"/>
              </a:ext>
            </a:extLst>
          </p:cNvPr>
          <p:cNvSpPr txBox="1">
            <a:spLocks noGrp="1"/>
          </p:cNvSpPr>
          <p:nvPr>
            <p:ph type="sldNum" idx="4"/>
          </p:nvPr>
        </p:nvSpPr>
        <p:spPr>
          <a:xfrm>
            <a:off x="8469311" y="113071"/>
            <a:ext cx="551783" cy="182879"/>
          </a:xfrm>
          <a:prstGeom prst="rect">
            <a:avLst/>
          </a:prstGeom>
          <a:noFill/>
          <a:ln>
            <a:noFill/>
          </a:ln>
        </p:spPr>
        <p:txBody>
          <a:bodyPr lIns="91425" tIns="45700" rIns="91425" bIns="45700" anchor="ctr" anchorCtr="0">
            <a:noAutofit/>
          </a:bodyPr>
          <a:lstStyle>
            <a:lvl1pPr>
              <a:defRPr sz="1200">
                <a:solidFill>
                  <a:schemeClr val="bg2"/>
                </a:solidFill>
              </a:defRPr>
            </a:lvl1pPr>
          </a:lstStyle>
          <a:p>
            <a:pPr algn="r">
              <a:buSzPct val="25000"/>
              <a:defRPr/>
            </a:pPr>
            <a:fld id="{00000000-1234-1234-1234-123412341234}" type="slidenum">
              <a:rPr lang="en-US" smtClean="0"/>
              <a:pPr algn="r">
                <a:buSzPct val="25000"/>
                <a:defRPr/>
              </a:pPr>
              <a:t>‹#›</a:t>
            </a:fld>
            <a:endParaRPr lang="en-US" dirty="0"/>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76" r:id="rId3"/>
    <p:sldLayoutId id="2147483677" r:id="rId4"/>
    <p:sldLayoutId id="2147483678" r:id="rId5"/>
    <p:sldLayoutId id="2147483679" r:id="rId6"/>
    <p:sldLayoutId id="2147483680" r:id="rId7"/>
    <p:sldLayoutId id="2147483681" r:id="rId8"/>
    <p:sldLayoutId id="2147483671" r:id="rId9"/>
    <p:sldLayoutId id="2147483673" r:id="rId10"/>
    <p:sldLayoutId id="2147483670" r:id="rId11"/>
    <p:sldLayoutId id="2147483669" r:id="rId12"/>
    <p:sldLayoutId id="2147483655" r:id="rId13"/>
    <p:sldLayoutId id="2147483685" r:id="rId14"/>
    <p:sldLayoutId id="2147483687" r:id="rId15"/>
    <p:sldLayoutId id="2147483688" r:id="rId16"/>
    <p:sldLayoutId id="2147483689"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microsoft.com/office/2007/relationships/hdphoto" Target="../media/hdphoto3.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raw.githack.com/xiaoyuansuo51-webster/Flag_Coloring_Activity/refs/heads/main/parallel_linked_list.html" TargetMode="External"/><Relationship Id="rId2" Type="http://schemas.openxmlformats.org/officeDocument/2006/relationships/hyperlink" Target="https://raw.githack.com/xiaoyuansuo51-webster/Flag_Coloring_Activity/refs/heads/main/flags.htm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E9B2C30-DF5B-186A-E045-B2574BDB4D8D}"/>
              </a:ext>
            </a:extLst>
          </p:cNvPr>
          <p:cNvSpPr>
            <a:spLocks noGrp="1"/>
          </p:cNvSpPr>
          <p:nvPr>
            <p:ph type="title"/>
          </p:nvPr>
        </p:nvSpPr>
        <p:spPr/>
        <p:txBody>
          <a:bodyPr/>
          <a:lstStyle/>
          <a:p>
            <a:pPr algn="ctr"/>
            <a:r>
              <a:rPr lang="en-US" dirty="0"/>
              <a:t>CSIT 111: Fundamentals of Programming I</a:t>
            </a:r>
          </a:p>
        </p:txBody>
      </p:sp>
      <p:sp>
        <p:nvSpPr>
          <p:cNvPr id="11" name="Text Placeholder 10">
            <a:extLst>
              <a:ext uri="{FF2B5EF4-FFF2-40B4-BE49-F238E27FC236}">
                <a16:creationId xmlns:a16="http://schemas.microsoft.com/office/drawing/2014/main" id="{365017E3-97AB-4723-9EF2-5D5CDF16ADF8}"/>
              </a:ext>
            </a:extLst>
          </p:cNvPr>
          <p:cNvSpPr>
            <a:spLocks noGrp="1"/>
          </p:cNvSpPr>
          <p:nvPr>
            <p:ph type="body" idx="1"/>
          </p:nvPr>
        </p:nvSpPr>
        <p:spPr>
          <a:xfrm>
            <a:off x="398795" y="3962400"/>
            <a:ext cx="8346407" cy="1961490"/>
          </a:xfrm>
        </p:spPr>
        <p:txBody>
          <a:bodyPr/>
          <a:lstStyle/>
          <a:p>
            <a:pPr algn="ctr"/>
            <a:endParaRPr lang="en-US" sz="2400" dirty="0">
              <a:solidFill>
                <a:schemeClr val="bg2"/>
              </a:solidFill>
            </a:endParaRPr>
          </a:p>
          <a:p>
            <a:pPr algn="ctr"/>
            <a:r>
              <a:rPr lang="en-US" sz="2400" dirty="0">
                <a:solidFill>
                  <a:schemeClr val="bg2"/>
                </a:solidFill>
              </a:rPr>
              <a:t>Lecturer: Jiayin Wang</a:t>
            </a:r>
          </a:p>
          <a:p>
            <a:pPr algn="ctr"/>
            <a:r>
              <a:rPr lang="en-US" sz="2400" dirty="0">
                <a:solidFill>
                  <a:schemeClr val="bg2"/>
                </a:solidFill>
              </a:rPr>
              <a:t>Class 16: Data Parallelism Activity</a:t>
            </a:r>
          </a:p>
          <a:p>
            <a:pPr algn="ctr"/>
            <a:endParaRPr lang="en-US" sz="1800" dirty="0">
              <a:solidFill>
                <a:schemeClr val="bg2"/>
              </a:solidFill>
            </a:endParaRPr>
          </a:p>
          <a:p>
            <a:pPr algn="ctr"/>
            <a:endParaRPr lang="en-US" sz="2400" dirty="0">
              <a:solidFill>
                <a:schemeClr val="bg2"/>
              </a:solidFill>
            </a:endParaRPr>
          </a:p>
        </p:txBody>
      </p:sp>
      <p:sp>
        <p:nvSpPr>
          <p:cNvPr id="2" name="Slide Number Placeholder 5">
            <a:extLst>
              <a:ext uri="{FF2B5EF4-FFF2-40B4-BE49-F238E27FC236}">
                <a16:creationId xmlns:a16="http://schemas.microsoft.com/office/drawing/2014/main" id="{81A34200-5B8D-880E-2268-D7586CBC6417}"/>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a:t>
            </a:fld>
            <a:endParaRPr lang="en-US" dirty="0"/>
          </a:p>
        </p:txBody>
      </p:sp>
    </p:spTree>
    <p:extLst>
      <p:ext uri="{BB962C8B-B14F-4D97-AF65-F5344CB8AC3E}">
        <p14:creationId xmlns:p14="http://schemas.microsoft.com/office/powerpoint/2010/main" val="448201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p:txBody>
          <a:bodyPr/>
          <a:lstStyle/>
          <a:p>
            <a:r>
              <a:rPr lang="en-US" sz="2800" dirty="0"/>
              <a:t>STEP 1:Pre-activity Quiz</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p:txBody>
          <a:bodyPr lIns="0" tIns="342900" rIns="0" bIns="0" anchor="t" anchorCtr="0">
            <a:normAutofit/>
          </a:bodyPr>
          <a:lstStyle/>
          <a:p>
            <a:pPr marL="0" indent="0">
              <a:buNone/>
            </a:pPr>
            <a:r>
              <a:rPr lang="en-US" sz="2800" dirty="0"/>
              <a:t>Please take the pre-activity quiz to assess the pre-knowledge of the lab</a:t>
            </a:r>
            <a:r>
              <a:rPr lang="en-US" sz="3600" dirty="0">
                <a:solidFill>
                  <a:schemeClr val="bg1"/>
                </a:solidFill>
              </a:rPr>
              <a:t>:</a:t>
            </a:r>
            <a:endParaRPr lang="en-US" sz="3600" dirty="0"/>
          </a:p>
        </p:txBody>
      </p:sp>
      <p:sp>
        <p:nvSpPr>
          <p:cNvPr id="4" name="Slide Number Placeholder 5">
            <a:extLst>
              <a:ext uri="{FF2B5EF4-FFF2-40B4-BE49-F238E27FC236}">
                <a16:creationId xmlns:a16="http://schemas.microsoft.com/office/drawing/2014/main" id="{56C54774-67DD-2BD8-C1E6-B3E9BBECF618}"/>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2</a:t>
            </a:fld>
            <a:endParaRPr lang="en-US"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p:txBody>
          <a:bodyPr/>
          <a:lstStyle/>
          <a:p>
            <a:r>
              <a:rPr lang="en-US" sz="2800" dirty="0"/>
              <a:t>STEP TWO: </a:t>
            </a:r>
            <a:r>
              <a:rPr lang="en-US" sz="2800" dirty="0" err="1"/>
              <a:t>FlagMaker</a:t>
            </a:r>
            <a:r>
              <a:rPr lang="en-US" sz="2800" dirty="0"/>
              <a:t>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p:txBody>
          <a:bodyPr>
            <a:normAutofit/>
          </a:bodyPr>
          <a:lstStyle/>
          <a:p>
            <a:r>
              <a:rPr lang="en-US" sz="1950" dirty="0"/>
              <a:t>You’ll be pretending to be the computer drawing the flag of </a:t>
            </a:r>
            <a:r>
              <a:rPr lang="en-US" sz="1950" b="1" dirty="0"/>
              <a:t>Mauritius</a:t>
            </a:r>
            <a:r>
              <a:rPr lang="en-US" sz="1950" dirty="0"/>
              <a:t> (on the right).</a:t>
            </a:r>
          </a:p>
          <a:p>
            <a:r>
              <a:rPr lang="en-US" sz="1950" dirty="0"/>
              <a:t>You’ll use paper and crayons, but otherwise follow how a computer might draw it.</a:t>
            </a:r>
          </a:p>
          <a:p>
            <a:r>
              <a:rPr lang="en-US" sz="1950" dirty="0"/>
              <a:t>You must fill in the squares.</a:t>
            </a:r>
          </a:p>
          <a:p>
            <a:r>
              <a:rPr lang="en-US" sz="1950" dirty="0"/>
              <a:t>You must </a:t>
            </a:r>
            <a:r>
              <a:rPr lang="en-US" sz="1950" b="1" dirty="0"/>
              <a:t>color one square at a time</a:t>
            </a:r>
            <a:r>
              <a:rPr lang="en-US" sz="1950" dirty="0"/>
              <a:t>. </a:t>
            </a:r>
            <a:br>
              <a:rPr lang="en-US" sz="1950" dirty="0"/>
            </a:br>
            <a:r>
              <a:rPr lang="en-US" sz="1950" dirty="0"/>
              <a:t>Do not color in multiple squares at one time.</a:t>
            </a:r>
          </a:p>
          <a:p>
            <a:endParaRPr lang="en-US" dirty="0"/>
          </a:p>
          <a:p>
            <a:endParaRPr lang="en-US" dirty="0"/>
          </a:p>
        </p:txBody>
      </p:sp>
      <p:pic>
        <p:nvPicPr>
          <p:cNvPr id="2" name="Google Shape;62;p14" title="Flag_of_Mauritius.svg.png">
            <a:extLst>
              <a:ext uri="{FF2B5EF4-FFF2-40B4-BE49-F238E27FC236}">
                <a16:creationId xmlns:a16="http://schemas.microsoft.com/office/drawing/2014/main" id="{C5270491-5E71-BCAD-AE5B-1356B1709810}"/>
              </a:ext>
            </a:extLst>
          </p:cNvPr>
          <p:cNvPicPr preferRelativeResize="0"/>
          <p:nvPr/>
        </p:nvPicPr>
        <p:blipFill>
          <a:blip r:embed="rId3">
            <a:alphaModFix/>
          </a:blip>
          <a:stretch>
            <a:fillRect/>
          </a:stretch>
        </p:blipFill>
        <p:spPr>
          <a:xfrm>
            <a:off x="6304045" y="3330753"/>
            <a:ext cx="2513472" cy="1757335"/>
          </a:xfrm>
          <a:prstGeom prst="rect">
            <a:avLst/>
          </a:prstGeom>
          <a:noFill/>
          <a:ln>
            <a:noFill/>
          </a:ln>
        </p:spPr>
      </p:pic>
      <p:sp>
        <p:nvSpPr>
          <p:cNvPr id="5" name="TextBox 4">
            <a:extLst>
              <a:ext uri="{FF2B5EF4-FFF2-40B4-BE49-F238E27FC236}">
                <a16:creationId xmlns:a16="http://schemas.microsoft.com/office/drawing/2014/main" id="{57E9280E-C7E1-3488-233D-0FEA106E6D90}"/>
              </a:ext>
            </a:extLst>
          </p:cNvPr>
          <p:cNvSpPr txBox="1"/>
          <p:nvPr/>
        </p:nvSpPr>
        <p:spPr>
          <a:xfrm>
            <a:off x="6267811" y="5088088"/>
            <a:ext cx="2549706" cy="213585"/>
          </a:xfrm>
          <a:prstGeom prst="rect">
            <a:avLst/>
          </a:prstGeom>
          <a:noFill/>
        </p:spPr>
        <p:txBody>
          <a:bodyPr wrap="square">
            <a:spAutoFit/>
          </a:bodyPr>
          <a:lstStyle/>
          <a:p>
            <a:r>
              <a:rPr lang="en-US" sz="788" err="1">
                <a:solidFill>
                  <a:srgbClr val="0070C0"/>
                </a:solidFill>
              </a:rPr>
              <a:t>Img</a:t>
            </a:r>
            <a:r>
              <a:rPr lang="en-US" sz="788">
                <a:solidFill>
                  <a:srgbClr val="0070C0"/>
                </a:solidFill>
              </a:rPr>
              <a:t> from: https://en.wikipedia.org/wiki/Mauritius</a:t>
            </a:r>
          </a:p>
        </p:txBody>
      </p:sp>
      <p:sp>
        <p:nvSpPr>
          <p:cNvPr id="4" name="Slide Number Placeholder 5">
            <a:extLst>
              <a:ext uri="{FF2B5EF4-FFF2-40B4-BE49-F238E27FC236}">
                <a16:creationId xmlns:a16="http://schemas.microsoft.com/office/drawing/2014/main" id="{1BB2BED8-7001-0F57-4197-D617A09B06B7}"/>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3</a:t>
            </a:fld>
            <a:endParaRPr lang="en-US" dirty="0"/>
          </a:p>
        </p:txBody>
      </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p:txBody>
          <a:bodyPr/>
          <a:lstStyle/>
          <a:p>
            <a:r>
              <a:rPr lang="en-US" sz="2800" dirty="0" err="1"/>
              <a:t>FlagMaker</a:t>
            </a:r>
            <a:r>
              <a:rPr lang="en-US" sz="2800" dirty="0"/>
              <a:t>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p:txBody>
          <a:bodyPr>
            <a:normAutofit/>
          </a:bodyPr>
          <a:lstStyle/>
          <a:p>
            <a:pPr marL="0" indent="0">
              <a:buNone/>
            </a:pPr>
            <a:r>
              <a:rPr lang="en-US" sz="1950"/>
              <a:t>You must </a:t>
            </a:r>
            <a:r>
              <a:rPr lang="en-US" sz="1950" b="1"/>
              <a:t>color one square at a time</a:t>
            </a:r>
            <a:r>
              <a:rPr lang="en-US" sz="1950"/>
              <a:t>. </a:t>
            </a:r>
          </a:p>
          <a:p>
            <a:pPr marL="0" indent="0">
              <a:buNone/>
            </a:pPr>
            <a:r>
              <a:rPr lang="en-US" sz="1950"/>
              <a:t>Do not color in multiple squares at one time.</a:t>
            </a:r>
          </a:p>
          <a:p>
            <a:endParaRPr lang="en-US"/>
          </a:p>
          <a:p>
            <a:endParaRPr lang="en-US"/>
          </a:p>
        </p:txBody>
      </p:sp>
      <p:pic>
        <p:nvPicPr>
          <p:cNvPr id="6" name="Picture 5" descr="A group of colorful papers with numbers">
            <a:extLst>
              <a:ext uri="{FF2B5EF4-FFF2-40B4-BE49-F238E27FC236}">
                <a16:creationId xmlns:a16="http://schemas.microsoft.com/office/drawing/2014/main" id="{284F1EC3-DC7B-AA7C-1432-FB8A9D8B6DD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 y="2405450"/>
            <a:ext cx="4696247" cy="1834472"/>
          </a:xfrm>
          <a:prstGeom prst="rect">
            <a:avLst/>
          </a:prstGeom>
        </p:spPr>
      </p:pic>
      <p:pic>
        <p:nvPicPr>
          <p:cNvPr id="9" name="Picture 8" descr="A group of papers with numbers on them&#10;&#10;Description automatically generated">
            <a:extLst>
              <a:ext uri="{FF2B5EF4-FFF2-40B4-BE49-F238E27FC236}">
                <a16:creationId xmlns:a16="http://schemas.microsoft.com/office/drawing/2014/main" id="{9C6E16E7-1FA9-A0F1-2EF3-D034CCE4EF5A}"/>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948703" y="4323102"/>
            <a:ext cx="5195297" cy="1677648"/>
          </a:xfrm>
          <a:prstGeom prst="rect">
            <a:avLst/>
          </a:prstGeom>
        </p:spPr>
      </p:pic>
      <p:pic>
        <p:nvPicPr>
          <p:cNvPr id="1026" name="Picture 2" descr="Twisted Arrow Left To Top icon PNG and SVG Vector Free Download">
            <a:extLst>
              <a:ext uri="{FF2B5EF4-FFF2-40B4-BE49-F238E27FC236}">
                <a16:creationId xmlns:a16="http://schemas.microsoft.com/office/drawing/2014/main" id="{302C9D5C-7D06-8DB9-E55A-7EF5C5405C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4727301" y="1687423"/>
            <a:ext cx="1678781" cy="152876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32B2C3-B53B-3347-8274-D07BAB7DC700}"/>
              </a:ext>
            </a:extLst>
          </p:cNvPr>
          <p:cNvSpPr txBox="1"/>
          <p:nvPr/>
        </p:nvSpPr>
        <p:spPr>
          <a:xfrm>
            <a:off x="6076709" y="1241291"/>
            <a:ext cx="1855929" cy="461665"/>
          </a:xfrm>
          <a:prstGeom prst="rect">
            <a:avLst/>
          </a:prstGeom>
          <a:noFill/>
        </p:spPr>
        <p:txBody>
          <a:bodyPr wrap="square" rtlCol="0">
            <a:spAutoFit/>
          </a:bodyPr>
          <a:lstStyle/>
          <a:p>
            <a:r>
              <a:rPr lang="en-US" sz="2400">
                <a:solidFill>
                  <a:schemeClr val="bg1"/>
                </a:solidFill>
                <a:highlight>
                  <a:srgbClr val="00FF00"/>
                </a:highlight>
                <a:latin typeface="Eras Bold ITC" panose="020B0907030504020204" pitchFamily="34" charset="0"/>
              </a:rPr>
              <a:t>CORRECT!</a:t>
            </a:r>
          </a:p>
        </p:txBody>
      </p:sp>
      <p:pic>
        <p:nvPicPr>
          <p:cNvPr id="11" name="Picture 2" descr="Twisted Arrow Left To Top icon PNG and SVG Vector Free Download">
            <a:extLst>
              <a:ext uri="{FF2B5EF4-FFF2-40B4-BE49-F238E27FC236}">
                <a16:creationId xmlns:a16="http://schemas.microsoft.com/office/drawing/2014/main" id="{1F601359-5CCD-B8F8-3F4B-EDB1D883C6BA}"/>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8585654">
            <a:off x="3327562" y="4616281"/>
            <a:ext cx="958004" cy="87239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6E220C-B42F-9B21-8A50-3B24999FE247}"/>
              </a:ext>
            </a:extLst>
          </p:cNvPr>
          <p:cNvSpPr txBox="1"/>
          <p:nvPr/>
        </p:nvSpPr>
        <p:spPr>
          <a:xfrm>
            <a:off x="445770" y="5026296"/>
            <a:ext cx="3360794" cy="1200329"/>
          </a:xfrm>
          <a:prstGeom prst="rect">
            <a:avLst/>
          </a:prstGeom>
          <a:noFill/>
        </p:spPr>
        <p:txBody>
          <a:bodyPr wrap="square" rtlCol="0">
            <a:spAutoFit/>
          </a:bodyPr>
          <a:lstStyle/>
          <a:p>
            <a:pPr algn="r"/>
            <a:r>
              <a:rPr lang="en-US" sz="2400">
                <a:solidFill>
                  <a:schemeClr val="bg1"/>
                </a:solidFill>
                <a:highlight>
                  <a:srgbClr val="FF0000"/>
                </a:highlight>
                <a:latin typeface="Eras Bold ITC" panose="020B0907030504020204" pitchFamily="34" charset="0"/>
              </a:rPr>
              <a:t>WRONG!</a:t>
            </a:r>
          </a:p>
          <a:p>
            <a:pPr algn="r"/>
            <a:r>
              <a:rPr lang="en-US" sz="2400">
                <a:solidFill>
                  <a:schemeClr val="bg1"/>
                </a:solidFill>
                <a:highlight>
                  <a:srgbClr val="FF0000"/>
                </a:highlight>
                <a:latin typeface="Eras Bold ITC" panose="020B0907030504020204" pitchFamily="34" charset="0"/>
              </a:rPr>
              <a:t>Don’t tear the paper!</a:t>
            </a:r>
          </a:p>
        </p:txBody>
      </p:sp>
      <p:pic>
        <p:nvPicPr>
          <p:cNvPr id="13" name="Picture 2" descr="Twisted Arrow Left To Top icon PNG and SVG Vector Free Download">
            <a:extLst>
              <a:ext uri="{FF2B5EF4-FFF2-40B4-BE49-F238E27FC236}">
                <a16:creationId xmlns:a16="http://schemas.microsoft.com/office/drawing/2014/main" id="{0E9F8179-0207-C223-FD57-C40085235BD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13264656">
            <a:off x="8159440" y="3824580"/>
            <a:ext cx="958004" cy="87239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3EBDD4E-238D-3690-83B4-2D3E719D9107}"/>
              </a:ext>
            </a:extLst>
          </p:cNvPr>
          <p:cNvSpPr txBox="1"/>
          <p:nvPr/>
        </p:nvSpPr>
        <p:spPr>
          <a:xfrm>
            <a:off x="5204412" y="3290395"/>
            <a:ext cx="3360794" cy="830997"/>
          </a:xfrm>
          <a:prstGeom prst="rect">
            <a:avLst/>
          </a:prstGeom>
          <a:noFill/>
        </p:spPr>
        <p:txBody>
          <a:bodyPr wrap="square" rtlCol="0">
            <a:spAutoFit/>
          </a:bodyPr>
          <a:lstStyle/>
          <a:p>
            <a:pPr algn="r"/>
            <a:r>
              <a:rPr lang="en-US" sz="2400">
                <a:solidFill>
                  <a:schemeClr val="bg1"/>
                </a:solidFill>
                <a:highlight>
                  <a:srgbClr val="FF0000"/>
                </a:highlight>
                <a:latin typeface="Eras Bold ITC" panose="020B0907030504020204" pitchFamily="34" charset="0"/>
              </a:rPr>
              <a:t>WRONG!</a:t>
            </a:r>
          </a:p>
          <a:p>
            <a:pPr algn="r"/>
            <a:r>
              <a:rPr lang="en-US" sz="2400">
                <a:solidFill>
                  <a:schemeClr val="bg1"/>
                </a:solidFill>
                <a:highlight>
                  <a:srgbClr val="FF0000"/>
                </a:highlight>
                <a:latin typeface="Eras Bold ITC" panose="020B0907030504020204" pitchFamily="34" charset="0"/>
              </a:rPr>
              <a:t>Fill in the squares</a:t>
            </a:r>
          </a:p>
        </p:txBody>
      </p:sp>
      <p:sp>
        <p:nvSpPr>
          <p:cNvPr id="2" name="Slide Number Placeholder 5">
            <a:extLst>
              <a:ext uri="{FF2B5EF4-FFF2-40B4-BE49-F238E27FC236}">
                <a16:creationId xmlns:a16="http://schemas.microsoft.com/office/drawing/2014/main" id="{664D084D-FAC2-2A03-0564-4FDB375BA790}"/>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4</a:t>
            </a:fld>
            <a:endParaRPr lang="en-US" dirty="0"/>
          </a:p>
        </p:txBody>
      </p:sp>
    </p:spTree>
    <p:extLst>
      <p:ext uri="{BB962C8B-B14F-4D97-AF65-F5344CB8AC3E}">
        <p14:creationId xmlns:p14="http://schemas.microsoft.com/office/powerpoint/2010/main" val="409257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1: A Single Processor</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a:xfrm>
            <a:off x="457200" y="1556327"/>
            <a:ext cx="6540500" cy="4586896"/>
          </a:xfrm>
        </p:spPr>
        <p:txBody>
          <a:bodyPr/>
          <a:lstStyle/>
          <a:p>
            <a:pPr marL="0" indent="0">
              <a:buNone/>
            </a:pPr>
            <a:r>
              <a:rPr lang="en-US" b="1" dirty="0"/>
              <a:t>Two people:</a:t>
            </a:r>
          </a:p>
          <a:p>
            <a:pPr marL="342900" indent="-290513">
              <a:lnSpc>
                <a:spcPct val="107916"/>
              </a:lnSpc>
              <a:spcBef>
                <a:spcPts val="900"/>
              </a:spcBef>
              <a:buClr>
                <a:schemeClr val="dk1"/>
              </a:buClr>
              <a:buSzPts val="2500"/>
              <a:buAutoNum type="arabicPeriod"/>
            </a:pPr>
            <a:r>
              <a:rPr lang="en-US" b="1" dirty="0">
                <a:solidFill>
                  <a:schemeClr val="dk1"/>
                </a:solidFill>
                <a:highlight>
                  <a:srgbClr val="FFFF00"/>
                </a:highlight>
                <a:ea typeface="Aptos"/>
                <a:cs typeface="Aptos"/>
                <a:sym typeface="Aptos"/>
              </a:rPr>
              <a:t>The Processor</a:t>
            </a:r>
            <a:r>
              <a:rPr lang="en-US" dirty="0">
                <a:solidFill>
                  <a:schemeClr val="dk1"/>
                </a:solidFill>
                <a:ea typeface="Aptos"/>
                <a:cs typeface="Aptos"/>
                <a:sym typeface="Aptos"/>
              </a:rPr>
              <a:t>: colors first stripe (cell by cell), second stripe (cell by cell), third stripe (cell by cell), and then fourth stripe (cell by cell)</a:t>
            </a:r>
          </a:p>
          <a:p>
            <a:pPr marL="342900" indent="-290513">
              <a:lnSpc>
                <a:spcPct val="107916"/>
              </a:lnSpc>
              <a:spcBef>
                <a:spcPts val="600"/>
              </a:spcBef>
              <a:spcAft>
                <a:spcPts val="6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 Processor</a:t>
            </a:r>
          </a:p>
          <a:p>
            <a:endParaRPr lang="en-US" dirty="0"/>
          </a:p>
        </p:txBody>
      </p:sp>
      <p:graphicFrame>
        <p:nvGraphicFramePr>
          <p:cNvPr id="6" name="Google Shape;70;p15">
            <a:extLst>
              <a:ext uri="{FF2B5EF4-FFF2-40B4-BE49-F238E27FC236}">
                <a16:creationId xmlns:a16="http://schemas.microsoft.com/office/drawing/2014/main" id="{6A86A4F7-F20C-C218-6B44-FF486E2C726C}"/>
              </a:ext>
            </a:extLst>
          </p:cNvPr>
          <p:cNvGraphicFramePr/>
          <p:nvPr>
            <p:extLst>
              <p:ext uri="{D42A27DB-BD31-4B8C-83A1-F6EECF244321}">
                <p14:modId xmlns:p14="http://schemas.microsoft.com/office/powerpoint/2010/main" val="3710271675"/>
              </p:ext>
            </p:extLst>
          </p:nvPr>
        </p:nvGraphicFramePr>
        <p:xfrm>
          <a:off x="5198391" y="3429000"/>
          <a:ext cx="3488409" cy="2112040"/>
        </p:xfrm>
        <a:graphic>
          <a:graphicData uri="http://schemas.openxmlformats.org/drawingml/2006/table">
            <a:tbl>
              <a:tblPr bandRow="1">
                <a:noFill/>
              </a:tblPr>
              <a:tblGrid>
                <a:gridCol w="559385">
                  <a:extLst>
                    <a:ext uri="{9D8B030D-6E8A-4147-A177-3AD203B41FA5}">
                      <a16:colId xmlns:a16="http://schemas.microsoft.com/office/drawing/2014/main" val="20000"/>
                    </a:ext>
                  </a:extLst>
                </a:gridCol>
                <a:gridCol w="366128">
                  <a:extLst>
                    <a:ext uri="{9D8B030D-6E8A-4147-A177-3AD203B41FA5}">
                      <a16:colId xmlns:a16="http://schemas.microsoft.com/office/drawing/2014/main" val="20001"/>
                    </a:ext>
                  </a:extLst>
                </a:gridCol>
                <a:gridCol w="366128">
                  <a:extLst>
                    <a:ext uri="{9D8B030D-6E8A-4147-A177-3AD203B41FA5}">
                      <a16:colId xmlns:a16="http://schemas.microsoft.com/office/drawing/2014/main" val="20002"/>
                    </a:ext>
                  </a:extLst>
                </a:gridCol>
                <a:gridCol w="366128">
                  <a:extLst>
                    <a:ext uri="{9D8B030D-6E8A-4147-A177-3AD203B41FA5}">
                      <a16:colId xmlns:a16="http://schemas.microsoft.com/office/drawing/2014/main" val="20003"/>
                    </a:ext>
                  </a:extLst>
                </a:gridCol>
                <a:gridCol w="366128">
                  <a:extLst>
                    <a:ext uri="{9D8B030D-6E8A-4147-A177-3AD203B41FA5}">
                      <a16:colId xmlns:a16="http://schemas.microsoft.com/office/drawing/2014/main" val="20004"/>
                    </a:ext>
                  </a:extLst>
                </a:gridCol>
                <a:gridCol w="366128">
                  <a:extLst>
                    <a:ext uri="{9D8B030D-6E8A-4147-A177-3AD203B41FA5}">
                      <a16:colId xmlns:a16="http://schemas.microsoft.com/office/drawing/2014/main" val="20005"/>
                    </a:ext>
                  </a:extLst>
                </a:gridCol>
                <a:gridCol w="366128">
                  <a:extLst>
                    <a:ext uri="{9D8B030D-6E8A-4147-A177-3AD203B41FA5}">
                      <a16:colId xmlns:a16="http://schemas.microsoft.com/office/drawing/2014/main" val="20006"/>
                    </a:ext>
                  </a:extLst>
                </a:gridCol>
                <a:gridCol w="366128">
                  <a:extLst>
                    <a:ext uri="{9D8B030D-6E8A-4147-A177-3AD203B41FA5}">
                      <a16:colId xmlns:a16="http://schemas.microsoft.com/office/drawing/2014/main" val="20007"/>
                    </a:ext>
                  </a:extLst>
                </a:gridCol>
                <a:gridCol w="366128">
                  <a:extLst>
                    <a:ext uri="{9D8B030D-6E8A-4147-A177-3AD203B41FA5}">
                      <a16:colId xmlns:a16="http://schemas.microsoft.com/office/drawing/2014/main" val="20008"/>
                    </a:ext>
                  </a:extLst>
                </a:gridCol>
              </a:tblGrid>
              <a:tr h="264005">
                <a:tc rowSpan="8">
                  <a:txBody>
                    <a:bodyPr/>
                    <a:lstStyle/>
                    <a:p>
                      <a:pPr marL="0" lvl="0" indent="0" algn="ctr" rtl="0">
                        <a:spcBef>
                          <a:spcPts val="0"/>
                        </a:spcBef>
                        <a:spcAft>
                          <a:spcPts val="0"/>
                        </a:spcAft>
                        <a:buNone/>
                      </a:pPr>
                      <a:r>
                        <a:rPr lang="en" sz="1400" b="1" dirty="0">
                          <a:solidFill>
                            <a:schemeClr val="tx1"/>
                          </a:solidFill>
                          <a:latin typeface="Aptos"/>
                          <a:ea typeface="Aptos"/>
                          <a:cs typeface="Aptos"/>
                          <a:sym typeface="Aptos"/>
                        </a:rPr>
                        <a:t>P1</a:t>
                      </a:r>
                      <a:endParaRPr sz="1400" b="1" dirty="0">
                        <a:solidFill>
                          <a:schemeClr val="tx1"/>
                        </a:solidFill>
                        <a:latin typeface="Aptos"/>
                        <a:ea typeface="Aptos"/>
                        <a:cs typeface="Aptos"/>
                        <a:sym typeface="Aptos"/>
                      </a:endParaRPr>
                    </a:p>
                  </a:txBody>
                  <a:tcPr marL="51431" marR="51431" marT="0" marB="0" anchor="ct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1</a:t>
                      </a:r>
                      <a:endParaRPr sz="1400" b="1" dirty="0">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a:t>
                      </a:r>
                      <a:endParaRPr sz="14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3</a:t>
                      </a:r>
                      <a:endParaRPr sz="1400" b="1" dirty="0">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a:t>
                      </a:r>
                      <a:endParaRPr sz="14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a:t>
                      </a:r>
                      <a:endParaRPr sz="14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6</a:t>
                      </a:r>
                      <a:endParaRPr sz="14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7</a:t>
                      </a:r>
                      <a:endParaRPr sz="14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8</a:t>
                      </a:r>
                      <a:endParaRPr sz="1400" b="1">
                        <a:solidFill>
                          <a:schemeClr val="tx1"/>
                        </a:solidFill>
                        <a:latin typeface="Aptos"/>
                        <a:ea typeface="Aptos"/>
                        <a:cs typeface="Aptos"/>
                        <a:sym typeface="Aptos"/>
                      </a:endParaRPr>
                    </a:p>
                  </a:txBody>
                  <a:tcPr marL="51431" marR="51431" marT="0" marB="0">
                    <a:solidFill>
                      <a:srgbClr val="FF0000"/>
                    </a:solidFill>
                  </a:tcPr>
                </a:tc>
                <a:extLst>
                  <a:ext uri="{0D108BD9-81ED-4DB2-BD59-A6C34878D82A}">
                    <a16:rowId xmlns:a16="http://schemas.microsoft.com/office/drawing/2014/main" val="10000"/>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9</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10</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11</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12</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13</a:t>
                      </a:r>
                      <a:endParaRPr sz="1400" b="1" dirty="0">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14</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15</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16</a:t>
                      </a:r>
                      <a:endParaRPr sz="14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17</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18</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19</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20</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21</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22</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23</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24</a:t>
                      </a:r>
                      <a:endParaRPr sz="14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25</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26</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27</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28</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29</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30</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31</a:t>
                      </a:r>
                      <a:endParaRPr sz="14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32</a:t>
                      </a:r>
                      <a:endParaRPr sz="1400" b="1">
                        <a:solidFill>
                          <a:schemeClr val="tx1"/>
                        </a:solidFill>
                        <a:latin typeface="Aptos"/>
                        <a:ea typeface="Aptos"/>
                        <a:cs typeface="Aptos"/>
                        <a:sym typeface="Aptos"/>
                      </a:endParaRPr>
                    </a:p>
                  </a:txBody>
                  <a:tcPr marL="51431" marR="51431" marT="0" marB="0">
                    <a:solidFill>
                      <a:srgbClr val="4C94D8"/>
                    </a:solidFill>
                  </a:tcPr>
                </a:tc>
                <a:extLst>
                  <a:ext uri="{0D108BD9-81ED-4DB2-BD59-A6C34878D82A}">
                    <a16:rowId xmlns:a16="http://schemas.microsoft.com/office/drawing/2014/main" val="10003"/>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33</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34</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35</a:t>
                      </a:r>
                      <a:endParaRPr sz="1400" b="1" dirty="0">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36</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37</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38</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39</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40</a:t>
                      </a:r>
                      <a:endParaRPr sz="1400" b="1">
                        <a:solidFill>
                          <a:schemeClr val="tx1"/>
                        </a:solidFill>
                        <a:latin typeface="Aptos"/>
                        <a:ea typeface="Aptos"/>
                        <a:cs typeface="Aptos"/>
                        <a:sym typeface="Aptos"/>
                      </a:endParaRPr>
                    </a:p>
                  </a:txBody>
                  <a:tcPr marL="51431" marR="51431" marT="0" marB="0">
                    <a:solidFill>
                      <a:srgbClr val="FFFF00"/>
                    </a:solidFill>
                  </a:tcPr>
                </a:tc>
                <a:extLst>
                  <a:ext uri="{0D108BD9-81ED-4DB2-BD59-A6C34878D82A}">
                    <a16:rowId xmlns:a16="http://schemas.microsoft.com/office/drawing/2014/main" val="10004"/>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41</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42</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43</a:t>
                      </a:r>
                      <a:endParaRPr sz="1400" b="1" dirty="0">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44</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45</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46</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47</a:t>
                      </a:r>
                      <a:endParaRPr sz="14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48</a:t>
                      </a:r>
                      <a:endParaRPr sz="1400" b="1">
                        <a:solidFill>
                          <a:schemeClr val="tx1"/>
                        </a:solidFill>
                        <a:latin typeface="Aptos"/>
                        <a:ea typeface="Aptos"/>
                        <a:cs typeface="Aptos"/>
                        <a:sym typeface="Aptos"/>
                      </a:endParaRPr>
                    </a:p>
                  </a:txBody>
                  <a:tcPr marL="51431" marR="51431" marT="0" marB="0">
                    <a:solidFill>
                      <a:srgbClr val="FFFF00"/>
                    </a:solidFill>
                  </a:tcPr>
                </a:tc>
                <a:extLst>
                  <a:ext uri="{0D108BD9-81ED-4DB2-BD59-A6C34878D82A}">
                    <a16:rowId xmlns:a16="http://schemas.microsoft.com/office/drawing/2014/main" val="10005"/>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49</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50</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51</a:t>
                      </a:r>
                      <a:endParaRPr sz="1400" b="1" dirty="0">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52</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53</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54</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55</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56</a:t>
                      </a:r>
                      <a:endParaRPr sz="1400" b="1">
                        <a:solidFill>
                          <a:schemeClr val="tx1"/>
                        </a:solidFill>
                        <a:latin typeface="Aptos"/>
                        <a:ea typeface="Aptos"/>
                        <a:cs typeface="Aptos"/>
                        <a:sym typeface="Aptos"/>
                      </a:endParaRPr>
                    </a:p>
                  </a:txBody>
                  <a:tcPr marL="51431" marR="51431" marT="0" marB="0">
                    <a:solidFill>
                      <a:srgbClr val="8ED873"/>
                    </a:solidFill>
                  </a:tcPr>
                </a:tc>
                <a:extLst>
                  <a:ext uri="{0D108BD9-81ED-4DB2-BD59-A6C34878D82A}">
                    <a16:rowId xmlns:a16="http://schemas.microsoft.com/office/drawing/2014/main" val="10006"/>
                  </a:ext>
                </a:extLst>
              </a:tr>
              <a:tr h="264005">
                <a:tc vMerge="1">
                  <a:txBody>
                    <a:bodyPr/>
                    <a:lstStyle/>
                    <a:p>
                      <a:endParaRPr lang="en-US"/>
                    </a:p>
                  </a:txBody>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57</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58</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59</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60</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61</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62</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a:solidFill>
                            <a:schemeClr val="tx1"/>
                          </a:solidFill>
                          <a:latin typeface="Aptos"/>
                          <a:ea typeface="Aptos"/>
                          <a:cs typeface="Aptos"/>
                          <a:sym typeface="Aptos"/>
                        </a:rPr>
                        <a:t>63</a:t>
                      </a:r>
                      <a:endParaRPr sz="14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l" rtl="0">
                        <a:spcBef>
                          <a:spcPts val="0"/>
                        </a:spcBef>
                        <a:spcAft>
                          <a:spcPts val="0"/>
                        </a:spcAft>
                        <a:buNone/>
                      </a:pPr>
                      <a:r>
                        <a:rPr lang="en-US" sz="1400" b="1" dirty="0">
                          <a:solidFill>
                            <a:schemeClr val="tx1"/>
                          </a:solidFill>
                          <a:latin typeface="Aptos"/>
                          <a:ea typeface="Aptos"/>
                          <a:cs typeface="Aptos"/>
                          <a:sym typeface="Aptos"/>
                        </a:rPr>
                        <a:t>64</a:t>
                      </a:r>
                      <a:endParaRPr sz="1400" b="1" dirty="0">
                        <a:solidFill>
                          <a:schemeClr val="tx1"/>
                        </a:solidFill>
                        <a:latin typeface="Aptos"/>
                        <a:ea typeface="Aptos"/>
                        <a:cs typeface="Aptos"/>
                        <a:sym typeface="Aptos"/>
                      </a:endParaRPr>
                    </a:p>
                  </a:txBody>
                  <a:tcPr marL="51431" marR="51431" marT="0" marB="0">
                    <a:solidFill>
                      <a:srgbClr val="8ED873"/>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0C5B77A-4112-3466-D271-49DEBFDB7A5D}"/>
              </a:ext>
            </a:extLst>
          </p:cNvPr>
          <p:cNvSpPr txBox="1"/>
          <p:nvPr/>
        </p:nvSpPr>
        <p:spPr>
          <a:xfrm>
            <a:off x="3446003" y="5740569"/>
            <a:ext cx="5592094" cy="646331"/>
          </a:xfrm>
          <a:prstGeom prst="rect">
            <a:avLst/>
          </a:prstGeom>
          <a:noFill/>
        </p:spPr>
        <p:txBody>
          <a:bodyPr wrap="square" rtlCol="0">
            <a:spAutoFit/>
          </a:bodyPr>
          <a:lstStyle/>
          <a:p>
            <a:r>
              <a:rPr lang="en-US" sz="1800" b="1" dirty="0">
                <a:solidFill>
                  <a:schemeClr val="tx1"/>
                </a:solidFill>
              </a:rPr>
              <a:t>Remember: </a:t>
            </a:r>
            <a:r>
              <a:rPr lang="en-US" sz="1800" b="1" dirty="0">
                <a:solidFill>
                  <a:srgbClr val="7030A0"/>
                </a:solidFill>
              </a:rPr>
              <a:t>squares must be mostly colored in &amp; </a:t>
            </a:r>
            <a:br>
              <a:rPr lang="en-US" sz="1800" b="1" dirty="0">
                <a:solidFill>
                  <a:srgbClr val="7030A0"/>
                </a:solidFill>
              </a:rPr>
            </a:br>
            <a:r>
              <a:rPr lang="en-US" sz="1800" b="1" dirty="0">
                <a:solidFill>
                  <a:srgbClr val="7030A0"/>
                </a:solidFill>
              </a:rPr>
              <a:t>you can only color one square at a time!</a:t>
            </a:r>
          </a:p>
        </p:txBody>
      </p:sp>
      <p:sp>
        <p:nvSpPr>
          <p:cNvPr id="2" name="Slide Number Placeholder 5">
            <a:extLst>
              <a:ext uri="{FF2B5EF4-FFF2-40B4-BE49-F238E27FC236}">
                <a16:creationId xmlns:a16="http://schemas.microsoft.com/office/drawing/2014/main" id="{F40946A5-ED65-58AF-B991-A2279D987151}"/>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5</a:t>
            </a:fld>
            <a:endParaRPr lang="en-US" dirty="0"/>
          </a:p>
        </p:txBody>
      </p:sp>
    </p:spTree>
    <p:extLst>
      <p:ext uri="{BB962C8B-B14F-4D97-AF65-F5344CB8AC3E}">
        <p14:creationId xmlns:p14="http://schemas.microsoft.com/office/powerpoint/2010/main" val="752428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1: A Single Processor</a:t>
            </a:r>
            <a:br>
              <a:rPr lang="en-US" sz="2800" dirty="0"/>
            </a:br>
            <a:r>
              <a:rPr lang="en-US" sz="2800" dirty="0">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p:txBody>
          <a:bodyPr/>
          <a:lstStyle/>
          <a:p>
            <a:pPr marL="342900" indent="-290513">
              <a:lnSpc>
                <a:spcPct val="107916"/>
              </a:lnSpc>
              <a:spcBef>
                <a:spcPts val="900"/>
              </a:spcBef>
              <a:buClr>
                <a:schemeClr val="dk1"/>
              </a:buClr>
              <a:buSzPts val="2500"/>
              <a:buAutoNum type="arabicPeriod"/>
            </a:pPr>
            <a:r>
              <a:rPr lang="en-US" b="1" dirty="0">
                <a:solidFill>
                  <a:schemeClr val="dk1"/>
                </a:solidFill>
                <a:ea typeface="Aptos"/>
                <a:cs typeface="Aptos"/>
                <a:sym typeface="Aptos"/>
              </a:rPr>
              <a:t>Why does this process take a long time with only one “processor”?</a:t>
            </a:r>
          </a:p>
          <a:p>
            <a:pPr marL="342900" indent="-290513">
              <a:lnSpc>
                <a:spcPct val="107916"/>
              </a:lnSpc>
              <a:spcBef>
                <a:spcPts val="900"/>
              </a:spcBef>
              <a:buClr>
                <a:schemeClr val="dk1"/>
              </a:buClr>
              <a:buSzPts val="2500"/>
              <a:buAutoNum type="arabicPeriod"/>
            </a:pPr>
            <a:endParaRPr lang="en-US" b="1" dirty="0">
              <a:solidFill>
                <a:schemeClr val="dk1"/>
              </a:solidFill>
              <a:ea typeface="Aptos"/>
              <a:cs typeface="Aptos"/>
              <a:sym typeface="Aptos"/>
            </a:endParaRPr>
          </a:p>
          <a:p>
            <a:pPr marL="342900" indent="-290513">
              <a:lnSpc>
                <a:spcPct val="107916"/>
              </a:lnSpc>
              <a:spcBef>
                <a:spcPts val="900"/>
              </a:spcBef>
              <a:buClr>
                <a:schemeClr val="dk1"/>
              </a:buClr>
              <a:buSzPts val="2500"/>
              <a:buAutoNum type="arabicPeriod"/>
            </a:pPr>
            <a:r>
              <a:rPr lang="en-US" b="1" dirty="0">
                <a:solidFill>
                  <a:schemeClr val="dk1"/>
                </a:solidFill>
                <a:ea typeface="Aptos"/>
                <a:cs typeface="Aptos"/>
                <a:sym typeface="Aptos"/>
              </a:rPr>
              <a:t>How could this approach cause inefficiency in more complex tasks?</a:t>
            </a:r>
            <a:endParaRPr lang="en-US" dirty="0">
              <a:solidFill>
                <a:schemeClr val="dk1"/>
              </a:solidFill>
              <a:ea typeface="Aptos"/>
              <a:cs typeface="Aptos"/>
              <a:sym typeface="Aptos"/>
            </a:endParaRPr>
          </a:p>
        </p:txBody>
      </p:sp>
      <p:sp>
        <p:nvSpPr>
          <p:cNvPr id="2" name="Slide Number Placeholder 5">
            <a:extLst>
              <a:ext uri="{FF2B5EF4-FFF2-40B4-BE49-F238E27FC236}">
                <a16:creationId xmlns:a16="http://schemas.microsoft.com/office/drawing/2014/main" id="{16926EFB-3619-85D7-F2AA-40AD0E827D04}"/>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6</a:t>
            </a:fld>
            <a:endParaRPr lang="en-US" dirty="0"/>
          </a:p>
        </p:txBody>
      </p:sp>
    </p:spTree>
    <p:extLst>
      <p:ext uri="{BB962C8B-B14F-4D97-AF65-F5344CB8AC3E}">
        <p14:creationId xmlns:p14="http://schemas.microsoft.com/office/powerpoint/2010/main" val="398912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A0D4B3-BB65-7D3F-65CE-DA47717503C1}"/>
              </a:ext>
            </a:extLst>
          </p:cNvPr>
          <p:cNvSpPr>
            <a:spLocks noGrp="1"/>
          </p:cNvSpPr>
          <p:nvPr>
            <p:ph type="title"/>
          </p:nvPr>
        </p:nvSpPr>
        <p:spPr/>
        <p:txBody>
          <a:bodyPr/>
          <a:lstStyle/>
          <a:p>
            <a:r>
              <a:rPr lang="en-US" sz="2800" dirty="0">
                <a:sym typeface="Aptos"/>
              </a:rPr>
              <a:t>Why does this process take a long time with only one “processor”?</a:t>
            </a:r>
            <a:endParaRPr lang="en-US" sz="2800" dirty="0"/>
          </a:p>
        </p:txBody>
      </p:sp>
      <p:sp>
        <p:nvSpPr>
          <p:cNvPr id="8" name="Content Placeholder 7">
            <a:extLst>
              <a:ext uri="{FF2B5EF4-FFF2-40B4-BE49-F238E27FC236}">
                <a16:creationId xmlns:a16="http://schemas.microsoft.com/office/drawing/2014/main" id="{1CF0DAF2-D368-3C36-84FA-474B22344692}"/>
              </a:ext>
            </a:extLst>
          </p:cNvPr>
          <p:cNvSpPr>
            <a:spLocks noGrp="1"/>
          </p:cNvSpPr>
          <p:nvPr>
            <p:ph sz="quarter" idx="13"/>
          </p:nvPr>
        </p:nvSpPr>
        <p:spPr/>
        <p:txBody>
          <a:bodyPr/>
          <a:lstStyle/>
          <a:p>
            <a:r>
              <a:rPr lang="en-US" b="1" dirty="0"/>
              <a:t>Sequential Processing</a:t>
            </a:r>
            <a:r>
              <a:rPr lang="en-US" dirty="0"/>
              <a:t>: Each action is executed one at a time, meaning every cell is processed sequentially.</a:t>
            </a:r>
          </a:p>
          <a:p>
            <a:r>
              <a:rPr lang="en-US" b="1" dirty="0"/>
              <a:t>Single-Threaded Limitation</a:t>
            </a:r>
            <a:r>
              <a:rPr lang="en-US" dirty="0"/>
              <a:t>:</a:t>
            </a:r>
            <a:br>
              <a:rPr lang="en-US" dirty="0"/>
            </a:br>
            <a:r>
              <a:rPr lang="en-US" dirty="0"/>
              <a:t>Tasks cannot be divided or handled in parallel, leading to longer completion times.</a:t>
            </a:r>
          </a:p>
          <a:p>
            <a:r>
              <a:rPr lang="en-US" b="1" dirty="0"/>
              <a:t>Processing Bottlenecks</a:t>
            </a:r>
            <a:r>
              <a:rPr lang="en-US" dirty="0"/>
              <a:t>:</a:t>
            </a:r>
            <a:br>
              <a:rPr lang="en-US" dirty="0"/>
            </a:br>
            <a:r>
              <a:rPr lang="en-US" dirty="0"/>
              <a:t>This highlights how a single-threaded system becomes a bottleneck when handling multiple or repetitive tasks.</a:t>
            </a:r>
          </a:p>
        </p:txBody>
      </p:sp>
      <p:sp>
        <p:nvSpPr>
          <p:cNvPr id="6" name="Slide Number Placeholder 5">
            <a:extLst>
              <a:ext uri="{FF2B5EF4-FFF2-40B4-BE49-F238E27FC236}">
                <a16:creationId xmlns:a16="http://schemas.microsoft.com/office/drawing/2014/main" id="{B24579D1-120F-F3C5-2FDE-D25BD054309B}"/>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7</a:t>
            </a:fld>
            <a:endParaRPr lang="en-US" dirty="0"/>
          </a:p>
        </p:txBody>
      </p:sp>
    </p:spTree>
    <p:extLst>
      <p:ext uri="{BB962C8B-B14F-4D97-AF65-F5344CB8AC3E}">
        <p14:creationId xmlns:p14="http://schemas.microsoft.com/office/powerpoint/2010/main" val="426330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3BE6AEA-1B65-DCAE-0A14-7956DD708266}"/>
              </a:ext>
            </a:extLst>
          </p:cNvPr>
          <p:cNvSpPr>
            <a:spLocks noGrp="1"/>
          </p:cNvSpPr>
          <p:nvPr>
            <p:ph type="title"/>
          </p:nvPr>
        </p:nvSpPr>
        <p:spPr/>
        <p:txBody>
          <a:bodyPr/>
          <a:lstStyle/>
          <a:p>
            <a:r>
              <a:rPr lang="en-US" sz="2800" dirty="0"/>
              <a:t>How Could This Approach Cause Inefficiency in More Complex Tasks?</a:t>
            </a:r>
          </a:p>
        </p:txBody>
      </p:sp>
      <p:sp>
        <p:nvSpPr>
          <p:cNvPr id="8" name="Content Placeholder 7">
            <a:extLst>
              <a:ext uri="{FF2B5EF4-FFF2-40B4-BE49-F238E27FC236}">
                <a16:creationId xmlns:a16="http://schemas.microsoft.com/office/drawing/2014/main" id="{C9AA0C21-C902-6B23-0A4D-DE7AF3071B62}"/>
              </a:ext>
            </a:extLst>
          </p:cNvPr>
          <p:cNvSpPr>
            <a:spLocks noGrp="1"/>
          </p:cNvSpPr>
          <p:nvPr>
            <p:ph sz="quarter" idx="13"/>
          </p:nvPr>
        </p:nvSpPr>
        <p:spPr/>
        <p:txBody>
          <a:bodyPr/>
          <a:lstStyle/>
          <a:p>
            <a:r>
              <a:rPr lang="en-US" b="1" dirty="0"/>
              <a:t>Slow Performance for Complex Tasks</a:t>
            </a:r>
            <a:r>
              <a:rPr lang="en-US" dirty="0"/>
              <a:t>:</a:t>
            </a:r>
          </a:p>
          <a:p>
            <a:pPr lvl="1"/>
            <a:r>
              <a:rPr lang="en-US" sz="2000" dirty="0"/>
              <a:t>A single processor processes each item individually, making it inefficient for data-heavy tasks.</a:t>
            </a:r>
          </a:p>
          <a:p>
            <a:r>
              <a:rPr lang="en-US" b="1" dirty="0"/>
              <a:t>Scalability Issues</a:t>
            </a:r>
            <a:r>
              <a:rPr lang="en-US" dirty="0"/>
              <a:t>:</a:t>
            </a:r>
          </a:p>
          <a:p>
            <a:pPr lvl="1"/>
            <a:r>
              <a:rPr lang="en-US" sz="2000" dirty="0"/>
              <a:t>In general, a problem is scalable if it can handle ever increasing problem sizes.</a:t>
            </a:r>
          </a:p>
          <a:p>
            <a:pPr lvl="1"/>
            <a:r>
              <a:rPr lang="en-US" sz="2000" dirty="0"/>
              <a:t>While sequential processing ensures accuracy, it’s not scalable for tasks requiring high efficiency or speed.</a:t>
            </a:r>
          </a:p>
          <a:p>
            <a:r>
              <a:rPr lang="en-US" b="1" dirty="0"/>
              <a:t>Inefficient Resource Utilization</a:t>
            </a:r>
            <a:r>
              <a:rPr lang="en-US" dirty="0"/>
              <a:t>:</a:t>
            </a:r>
          </a:p>
          <a:p>
            <a:pPr lvl="1"/>
            <a:r>
              <a:rPr lang="en-US" sz="2000" dirty="0"/>
              <a:t>Single-threaded systems often cannot handle modern workloads effectively.</a:t>
            </a:r>
          </a:p>
        </p:txBody>
      </p:sp>
      <p:sp>
        <p:nvSpPr>
          <p:cNvPr id="6" name="Slide Number Placeholder 5">
            <a:extLst>
              <a:ext uri="{FF2B5EF4-FFF2-40B4-BE49-F238E27FC236}">
                <a16:creationId xmlns:a16="http://schemas.microsoft.com/office/drawing/2014/main" id="{B4640FAC-D2AB-C398-14A0-A241F05788DD}"/>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8</a:t>
            </a:fld>
            <a:endParaRPr lang="en-US" dirty="0"/>
          </a:p>
        </p:txBody>
      </p:sp>
    </p:spTree>
    <p:extLst>
      <p:ext uri="{BB962C8B-B14F-4D97-AF65-F5344CB8AC3E}">
        <p14:creationId xmlns:p14="http://schemas.microsoft.com/office/powerpoint/2010/main" val="46922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2: Two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a:xfrm>
            <a:off x="457200" y="1556327"/>
            <a:ext cx="4217914" cy="4586896"/>
          </a:xfrm>
        </p:spPr>
        <p:txBody>
          <a:bodyPr/>
          <a:lstStyle/>
          <a:p>
            <a:pPr marL="0" indent="0">
              <a:buNone/>
            </a:pPr>
            <a:r>
              <a:rPr lang="en-US" b="1" dirty="0"/>
              <a:t>Three people:</a:t>
            </a:r>
          </a:p>
          <a:p>
            <a:pPr marL="342900" indent="-290513">
              <a:lnSpc>
                <a:spcPct val="107916"/>
              </a:lnSpc>
              <a:spcBef>
                <a:spcPts val="900"/>
              </a:spcBef>
              <a:buClr>
                <a:schemeClr val="dk1"/>
              </a:buClr>
              <a:buSzPts val="2500"/>
              <a:buAutoNum type="arabicPeriod"/>
            </a:pPr>
            <a:r>
              <a:rPr lang="en-US" b="1" dirty="0">
                <a:solidFill>
                  <a:schemeClr val="dk1"/>
                </a:solidFill>
                <a:highlight>
                  <a:srgbClr val="FFFF00"/>
                </a:highlight>
                <a:ea typeface="Aptos"/>
                <a:cs typeface="Aptos"/>
                <a:sym typeface="Aptos"/>
              </a:rPr>
              <a:t>Processor 1</a:t>
            </a:r>
            <a:r>
              <a:rPr lang="en-US" dirty="0">
                <a:solidFill>
                  <a:schemeClr val="dk1"/>
                </a:solidFill>
                <a:ea typeface="Aptos"/>
                <a:cs typeface="Aptos"/>
                <a:sym typeface="Aptos"/>
              </a:rPr>
              <a:t>: Colors red and blue stripes (cell by cell)</a:t>
            </a:r>
          </a:p>
          <a:p>
            <a:pPr marL="342900" indent="-290513">
              <a:lnSpc>
                <a:spcPct val="107916"/>
              </a:lnSpc>
              <a:spcBef>
                <a:spcPts val="600"/>
              </a:spcBef>
              <a:spcAft>
                <a:spcPts val="600"/>
              </a:spcAft>
              <a:buClr>
                <a:schemeClr val="dk1"/>
              </a:buClr>
              <a:buSzPts val="2500"/>
              <a:buAutoNum type="arabicPeriod"/>
            </a:pPr>
            <a:r>
              <a:rPr lang="en-US" b="1" dirty="0">
                <a:solidFill>
                  <a:schemeClr val="dk1"/>
                </a:solidFill>
                <a:highlight>
                  <a:srgbClr val="FFFF00"/>
                </a:highlight>
              </a:rPr>
              <a:t>Processor 2</a:t>
            </a:r>
            <a:r>
              <a:rPr lang="en-US" dirty="0">
                <a:solidFill>
                  <a:schemeClr val="dk1"/>
                </a:solidFill>
              </a:rPr>
              <a:t>: Colors yellow and green stripes (cell by cell)</a:t>
            </a:r>
          </a:p>
          <a:p>
            <a:pPr marL="342900" indent="-290513">
              <a:lnSpc>
                <a:spcPct val="107916"/>
              </a:lnSpc>
              <a:spcBef>
                <a:spcPts val="600"/>
              </a:spcBef>
              <a:spcAft>
                <a:spcPts val="6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them; stop when </a:t>
            </a:r>
            <a:r>
              <a:rPr lang="en-US" b="1" dirty="0">
                <a:solidFill>
                  <a:schemeClr val="dk1"/>
                </a:solidFill>
              </a:rPr>
              <a:t>all</a:t>
            </a:r>
            <a:r>
              <a:rPr lang="en-US" dirty="0">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4675114" y="5328707"/>
            <a:ext cx="4945367" cy="923330"/>
          </a:xfrm>
          <a:prstGeom prst="rect">
            <a:avLst/>
          </a:prstGeom>
          <a:noFill/>
        </p:spPr>
        <p:txBody>
          <a:bodyPr wrap="square" rtlCol="0">
            <a:spAutoFit/>
          </a:bodyPr>
          <a:lstStyle/>
          <a:p>
            <a:r>
              <a:rPr lang="en-US" sz="1800" b="1" dirty="0">
                <a:solidFill>
                  <a:schemeClr val="tx1"/>
                </a:solidFill>
              </a:rPr>
              <a:t>Remember: </a:t>
            </a:r>
            <a:r>
              <a:rPr lang="en-US" sz="1800" b="1" dirty="0">
                <a:solidFill>
                  <a:srgbClr val="7030A0"/>
                </a:solidFill>
              </a:rPr>
              <a:t>squares must be mostly colored in &amp; </a:t>
            </a:r>
            <a:br>
              <a:rPr lang="en-US" sz="1800" b="1" dirty="0">
                <a:solidFill>
                  <a:srgbClr val="7030A0"/>
                </a:solidFill>
              </a:rPr>
            </a:br>
            <a:r>
              <a:rPr lang="en-US" sz="1800" b="1" dirty="0">
                <a:solidFill>
                  <a:srgbClr val="7030A0"/>
                </a:solidFill>
              </a:rPr>
              <a:t>you can only color one square at a time!</a:t>
            </a:r>
          </a:p>
        </p:txBody>
      </p:sp>
      <p:graphicFrame>
        <p:nvGraphicFramePr>
          <p:cNvPr id="4" name="Google Shape;77;p16">
            <a:extLst>
              <a:ext uri="{FF2B5EF4-FFF2-40B4-BE49-F238E27FC236}">
                <a16:creationId xmlns:a16="http://schemas.microsoft.com/office/drawing/2014/main" id="{DEED791F-C49D-1FF1-5983-9C27805577A0}"/>
              </a:ext>
            </a:extLst>
          </p:cNvPr>
          <p:cNvGraphicFramePr/>
          <p:nvPr>
            <p:extLst>
              <p:ext uri="{D42A27DB-BD31-4B8C-83A1-F6EECF244321}">
                <p14:modId xmlns:p14="http://schemas.microsoft.com/office/powerpoint/2010/main" val="150104660"/>
              </p:ext>
            </p:extLst>
          </p:nvPr>
        </p:nvGraphicFramePr>
        <p:xfrm>
          <a:off x="4675114" y="2855142"/>
          <a:ext cx="4070088" cy="2391592"/>
        </p:xfrm>
        <a:graphic>
          <a:graphicData uri="http://schemas.openxmlformats.org/drawingml/2006/table">
            <a:tbl>
              <a:tblPr bandRow="1">
                <a:noFill/>
              </a:tblPr>
              <a:tblGrid>
                <a:gridCol w="459272">
                  <a:extLst>
                    <a:ext uri="{9D8B030D-6E8A-4147-A177-3AD203B41FA5}">
                      <a16:colId xmlns:a16="http://schemas.microsoft.com/office/drawing/2014/main" val="20000"/>
                    </a:ext>
                  </a:extLst>
                </a:gridCol>
                <a:gridCol w="451352">
                  <a:extLst>
                    <a:ext uri="{9D8B030D-6E8A-4147-A177-3AD203B41FA5}">
                      <a16:colId xmlns:a16="http://schemas.microsoft.com/office/drawing/2014/main" val="20001"/>
                    </a:ext>
                  </a:extLst>
                </a:gridCol>
                <a:gridCol w="451352">
                  <a:extLst>
                    <a:ext uri="{9D8B030D-6E8A-4147-A177-3AD203B41FA5}">
                      <a16:colId xmlns:a16="http://schemas.microsoft.com/office/drawing/2014/main" val="20002"/>
                    </a:ext>
                  </a:extLst>
                </a:gridCol>
                <a:gridCol w="451352">
                  <a:extLst>
                    <a:ext uri="{9D8B030D-6E8A-4147-A177-3AD203B41FA5}">
                      <a16:colId xmlns:a16="http://schemas.microsoft.com/office/drawing/2014/main" val="20003"/>
                    </a:ext>
                  </a:extLst>
                </a:gridCol>
                <a:gridCol w="451352">
                  <a:extLst>
                    <a:ext uri="{9D8B030D-6E8A-4147-A177-3AD203B41FA5}">
                      <a16:colId xmlns:a16="http://schemas.microsoft.com/office/drawing/2014/main" val="20004"/>
                    </a:ext>
                  </a:extLst>
                </a:gridCol>
                <a:gridCol w="451352">
                  <a:extLst>
                    <a:ext uri="{9D8B030D-6E8A-4147-A177-3AD203B41FA5}">
                      <a16:colId xmlns:a16="http://schemas.microsoft.com/office/drawing/2014/main" val="20005"/>
                    </a:ext>
                  </a:extLst>
                </a:gridCol>
                <a:gridCol w="451352">
                  <a:extLst>
                    <a:ext uri="{9D8B030D-6E8A-4147-A177-3AD203B41FA5}">
                      <a16:colId xmlns:a16="http://schemas.microsoft.com/office/drawing/2014/main" val="20006"/>
                    </a:ext>
                  </a:extLst>
                </a:gridCol>
                <a:gridCol w="451352">
                  <a:extLst>
                    <a:ext uri="{9D8B030D-6E8A-4147-A177-3AD203B41FA5}">
                      <a16:colId xmlns:a16="http://schemas.microsoft.com/office/drawing/2014/main" val="20007"/>
                    </a:ext>
                  </a:extLst>
                </a:gridCol>
                <a:gridCol w="451352">
                  <a:extLst>
                    <a:ext uri="{9D8B030D-6E8A-4147-A177-3AD203B41FA5}">
                      <a16:colId xmlns:a16="http://schemas.microsoft.com/office/drawing/2014/main" val="20008"/>
                    </a:ext>
                  </a:extLst>
                </a:gridCol>
              </a:tblGrid>
              <a:tr h="298949">
                <a:tc rowSpan="4">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P1</a:t>
                      </a:r>
                      <a:endParaRPr sz="1500" b="1">
                        <a:solidFill>
                          <a:schemeClr val="tx1"/>
                        </a:solidFill>
                        <a:latin typeface="Aptos"/>
                        <a:ea typeface="Aptos"/>
                        <a:cs typeface="Aptos"/>
                        <a:sym typeface="Aptos"/>
                      </a:endParaRPr>
                    </a:p>
                  </a:txBody>
                  <a:tcPr marL="51431" marR="51431"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solidFill>
                      <a:srgbClr val="FF0000"/>
                    </a:solidFill>
                  </a:tcPr>
                </a:tc>
                <a:extLst>
                  <a:ext uri="{0D108BD9-81ED-4DB2-BD59-A6C34878D82A}">
                    <a16:rowId xmlns:a16="http://schemas.microsoft.com/office/drawing/2014/main" val="10000"/>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11</a:t>
                      </a:r>
                      <a:endParaRPr sz="1500" b="1" dirty="0">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17</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18</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19</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20</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21</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22</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23</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24</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25</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26</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27</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28</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29</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30</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31</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32</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298949">
                <a:tc rowSpan="4">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P2</a:t>
                      </a:r>
                      <a:endParaRPr sz="1500" b="1">
                        <a:solidFill>
                          <a:schemeClr val="tx1"/>
                        </a:solidFill>
                        <a:latin typeface="Aptos"/>
                        <a:ea typeface="Aptos"/>
                        <a:cs typeface="Aptos"/>
                        <a:sym typeface="Aptos"/>
                      </a:endParaRPr>
                    </a:p>
                  </a:txBody>
                  <a:tcPr marL="51431" marR="51431" marT="0" marB="0" anchor="ctr">
                    <a:lnT w="38100" cap="flat" cmpd="sng">
                      <a:solidFill>
                        <a:srgbClr val="000000"/>
                      </a:solidFill>
                      <a:prstDash val="solid"/>
                      <a:round/>
                      <a:headEnd type="none" w="sm" len="sm"/>
                      <a:tailEnd type="none" w="sm" len="sm"/>
                    </a:lnT>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17</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18</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19</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20</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21</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22</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23</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24</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6"/>
                  </a:ext>
                </a:extLst>
              </a:tr>
              <a:tr h="298949">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25</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26</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27</a:t>
                      </a:r>
                      <a:endParaRPr sz="1500" b="1" dirty="0">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28</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29</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30</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31</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32</a:t>
                      </a:r>
                      <a:endParaRPr sz="1500" b="1" dirty="0">
                        <a:solidFill>
                          <a:schemeClr val="tx1"/>
                        </a:solidFill>
                        <a:latin typeface="Aptos"/>
                        <a:ea typeface="Aptos"/>
                        <a:cs typeface="Aptos"/>
                        <a:sym typeface="Aptos"/>
                      </a:endParaRPr>
                    </a:p>
                  </a:txBody>
                  <a:tcPr marL="51431" marR="51431" marT="0" marB="0">
                    <a:solidFill>
                      <a:srgbClr val="8ED873"/>
                    </a:solidFill>
                  </a:tcPr>
                </a:tc>
                <a:extLst>
                  <a:ext uri="{0D108BD9-81ED-4DB2-BD59-A6C34878D82A}">
                    <a16:rowId xmlns:a16="http://schemas.microsoft.com/office/drawing/2014/main" val="10007"/>
                  </a:ext>
                </a:extLst>
              </a:tr>
            </a:tbl>
          </a:graphicData>
        </a:graphic>
      </p:graphicFrame>
      <p:sp>
        <p:nvSpPr>
          <p:cNvPr id="6" name="Slide Number Placeholder 5">
            <a:extLst>
              <a:ext uri="{FF2B5EF4-FFF2-40B4-BE49-F238E27FC236}">
                <a16:creationId xmlns:a16="http://schemas.microsoft.com/office/drawing/2014/main" id="{1715F0B1-F85B-9F74-4B3D-0E19D0FF7D10}"/>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9</a:t>
            </a:fld>
            <a:endParaRPr lang="en-US" dirty="0"/>
          </a:p>
        </p:txBody>
      </p:sp>
    </p:spTree>
    <p:extLst>
      <p:ext uri="{BB962C8B-B14F-4D97-AF65-F5344CB8AC3E}">
        <p14:creationId xmlns:p14="http://schemas.microsoft.com/office/powerpoint/2010/main" val="228146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2: Two Processors Collaborating</a:t>
            </a:r>
            <a:br>
              <a:rPr lang="en-US" sz="2800" dirty="0"/>
            </a:br>
            <a:r>
              <a:rPr lang="en-US" sz="2800" dirty="0">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p:txBody>
          <a:bodyPr/>
          <a:lstStyle/>
          <a:p>
            <a:pPr marL="342900" indent="-290513">
              <a:lnSpc>
                <a:spcPct val="107916"/>
              </a:lnSpc>
              <a:spcBef>
                <a:spcPts val="900"/>
              </a:spcBef>
              <a:buClr>
                <a:schemeClr val="dk1"/>
              </a:buClr>
              <a:buSzPts val="2500"/>
              <a:buAutoNum type="arabicPeriod"/>
            </a:pPr>
            <a:r>
              <a:rPr lang="en-US" b="1" dirty="0">
                <a:solidFill>
                  <a:schemeClr val="dk1"/>
                </a:solidFill>
                <a:ea typeface="Aptos"/>
                <a:cs typeface="Aptos"/>
                <a:sym typeface="Aptos"/>
              </a:rPr>
              <a:t>How does the addition of a second processor impact the overall completion time?</a:t>
            </a:r>
            <a:br>
              <a:rPr lang="en-US" b="1" dirty="0">
                <a:solidFill>
                  <a:schemeClr val="dk1"/>
                </a:solidFill>
                <a:ea typeface="Aptos"/>
                <a:cs typeface="Aptos"/>
                <a:sym typeface="Aptos"/>
              </a:rPr>
            </a:br>
            <a:endParaRPr lang="en-US" b="1" dirty="0">
              <a:solidFill>
                <a:schemeClr val="dk1"/>
              </a:solidFill>
              <a:ea typeface="Aptos"/>
              <a:cs typeface="Aptos"/>
              <a:sym typeface="Aptos"/>
            </a:endParaRPr>
          </a:p>
          <a:p>
            <a:pPr marL="342900" indent="-290513">
              <a:lnSpc>
                <a:spcPct val="107916"/>
              </a:lnSpc>
              <a:spcBef>
                <a:spcPts val="900"/>
              </a:spcBef>
              <a:buClr>
                <a:schemeClr val="dk1"/>
              </a:buClr>
              <a:buSzPts val="2500"/>
              <a:buAutoNum type="arabicPeriod"/>
            </a:pPr>
            <a:r>
              <a:rPr lang="en-US" b="1" dirty="0">
                <a:solidFill>
                  <a:schemeClr val="dk1"/>
                </a:solidFill>
                <a:ea typeface="Aptos"/>
                <a:cs typeface="Aptos"/>
                <a:sym typeface="Aptos"/>
              </a:rPr>
              <a:t>What potential problems could arise if both processors were given overlapping tasks such as coloring the same stripes?</a:t>
            </a:r>
            <a:endParaRPr lang="en-US" dirty="0">
              <a:solidFill>
                <a:schemeClr val="dk1"/>
              </a:solidFill>
              <a:ea typeface="Aptos"/>
              <a:cs typeface="Aptos"/>
              <a:sym typeface="Aptos"/>
            </a:endParaRPr>
          </a:p>
        </p:txBody>
      </p:sp>
      <p:sp>
        <p:nvSpPr>
          <p:cNvPr id="2" name="Slide Number Placeholder 5">
            <a:extLst>
              <a:ext uri="{FF2B5EF4-FFF2-40B4-BE49-F238E27FC236}">
                <a16:creationId xmlns:a16="http://schemas.microsoft.com/office/drawing/2014/main" id="{C2D4506C-6C76-3902-357B-B4E9F31AFAE8}"/>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10</a:t>
            </a:fld>
            <a:endParaRPr lang="en-US" dirty="0"/>
          </a:p>
        </p:txBody>
      </p:sp>
    </p:spTree>
    <p:extLst>
      <p:ext uri="{BB962C8B-B14F-4D97-AF65-F5344CB8AC3E}">
        <p14:creationId xmlns:p14="http://schemas.microsoft.com/office/powerpoint/2010/main" val="3936561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8AE2EE-0646-C5B8-9EBC-CEB76D51576F}"/>
              </a:ext>
            </a:extLst>
          </p:cNvPr>
          <p:cNvSpPr>
            <a:spLocks noGrp="1"/>
          </p:cNvSpPr>
          <p:nvPr>
            <p:ph type="title"/>
          </p:nvPr>
        </p:nvSpPr>
        <p:spPr/>
        <p:txBody>
          <a:bodyPr/>
          <a:lstStyle/>
          <a:p>
            <a:r>
              <a:rPr lang="en-US" sz="2800" dirty="0"/>
              <a:t>How Does the Addition of a Second Processor Impact Completion Time?</a:t>
            </a:r>
          </a:p>
        </p:txBody>
      </p:sp>
      <p:sp>
        <p:nvSpPr>
          <p:cNvPr id="8" name="Content Placeholder 7">
            <a:extLst>
              <a:ext uri="{FF2B5EF4-FFF2-40B4-BE49-F238E27FC236}">
                <a16:creationId xmlns:a16="http://schemas.microsoft.com/office/drawing/2014/main" id="{5314061D-56FD-2D52-962C-7870E69A33E8}"/>
              </a:ext>
            </a:extLst>
          </p:cNvPr>
          <p:cNvSpPr>
            <a:spLocks noGrp="1"/>
          </p:cNvSpPr>
          <p:nvPr>
            <p:ph sz="quarter" idx="13"/>
          </p:nvPr>
        </p:nvSpPr>
        <p:spPr/>
        <p:txBody>
          <a:bodyPr/>
          <a:lstStyle/>
          <a:p>
            <a:r>
              <a:rPr lang="en-US" b="1" dirty="0"/>
              <a:t>Parallel Processing Advantage</a:t>
            </a:r>
            <a:r>
              <a:rPr lang="en-US" dirty="0"/>
              <a:t>:</a:t>
            </a:r>
            <a:br>
              <a:rPr lang="en-US" dirty="0"/>
            </a:br>
            <a:r>
              <a:rPr lang="en-US" dirty="0"/>
              <a:t>With two processors, tasks can be split and executed simultaneously, e.g., one processor handles red/blue stripes, and another handles yellow/green.</a:t>
            </a:r>
          </a:p>
          <a:p>
            <a:r>
              <a:rPr lang="en-US" b="1" dirty="0"/>
              <a:t>Increased Efficiency</a:t>
            </a:r>
            <a:r>
              <a:rPr lang="en-US" dirty="0"/>
              <a:t>:</a:t>
            </a:r>
            <a:br>
              <a:rPr lang="en-US" dirty="0"/>
            </a:br>
            <a:r>
              <a:rPr lang="en-US" dirty="0"/>
              <a:t>The total completion time is effectively halved, as the workload is distributed across two processors.</a:t>
            </a:r>
          </a:p>
          <a:p>
            <a:r>
              <a:rPr lang="en-US" b="1" dirty="0"/>
              <a:t>Demonstration of Scalability</a:t>
            </a:r>
            <a:r>
              <a:rPr lang="en-US" dirty="0"/>
              <a:t>:</a:t>
            </a:r>
            <a:br>
              <a:rPr lang="en-US" dirty="0"/>
            </a:br>
            <a:r>
              <a:rPr lang="en-US" dirty="0"/>
              <a:t>Adding processors improves performance for divisible tasks, showing how multi-threading can optimize workflow.</a:t>
            </a:r>
          </a:p>
        </p:txBody>
      </p:sp>
      <p:sp>
        <p:nvSpPr>
          <p:cNvPr id="6" name="Slide Number Placeholder 5">
            <a:extLst>
              <a:ext uri="{FF2B5EF4-FFF2-40B4-BE49-F238E27FC236}">
                <a16:creationId xmlns:a16="http://schemas.microsoft.com/office/drawing/2014/main" id="{AB202C3F-D54D-420B-C3C3-366B714047D1}"/>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11</a:t>
            </a:fld>
            <a:endParaRPr lang="en-US" dirty="0"/>
          </a:p>
        </p:txBody>
      </p:sp>
    </p:spTree>
    <p:extLst>
      <p:ext uri="{BB962C8B-B14F-4D97-AF65-F5344CB8AC3E}">
        <p14:creationId xmlns:p14="http://schemas.microsoft.com/office/powerpoint/2010/main" val="403356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460558F-85F7-0C79-AF94-938C04F1665B}"/>
              </a:ext>
            </a:extLst>
          </p:cNvPr>
          <p:cNvSpPr>
            <a:spLocks noGrp="1"/>
          </p:cNvSpPr>
          <p:nvPr>
            <p:ph type="title"/>
          </p:nvPr>
        </p:nvSpPr>
        <p:spPr/>
        <p:txBody>
          <a:bodyPr/>
          <a:lstStyle/>
          <a:p>
            <a:r>
              <a:rPr lang="en-US" sz="2800" dirty="0"/>
              <a:t>What Potential Problems Could Arise if Tasks Overlap?</a:t>
            </a:r>
          </a:p>
        </p:txBody>
      </p:sp>
      <p:sp>
        <p:nvSpPr>
          <p:cNvPr id="8" name="Content Placeholder 7">
            <a:extLst>
              <a:ext uri="{FF2B5EF4-FFF2-40B4-BE49-F238E27FC236}">
                <a16:creationId xmlns:a16="http://schemas.microsoft.com/office/drawing/2014/main" id="{A319C51D-11BA-5144-DB27-1C776FF53ADA}"/>
              </a:ext>
            </a:extLst>
          </p:cNvPr>
          <p:cNvSpPr>
            <a:spLocks noGrp="1"/>
          </p:cNvSpPr>
          <p:nvPr>
            <p:ph sz="quarter" idx="13"/>
          </p:nvPr>
        </p:nvSpPr>
        <p:spPr/>
        <p:txBody>
          <a:bodyPr/>
          <a:lstStyle/>
          <a:p>
            <a:r>
              <a:rPr lang="en-US" b="1" dirty="0"/>
              <a:t>Race Conditions</a:t>
            </a:r>
            <a:r>
              <a:rPr lang="en-US" dirty="0"/>
              <a:t>:</a:t>
            </a:r>
            <a:br>
              <a:rPr lang="en-US" dirty="0"/>
            </a:br>
            <a:r>
              <a:rPr lang="en-US" dirty="0"/>
              <a:t>If both processors attempt to work on the same stripes, they may overwrite each other’s results, causing inconsistencies.</a:t>
            </a:r>
          </a:p>
          <a:p>
            <a:r>
              <a:rPr lang="en-US" b="1" dirty="0"/>
              <a:t>Need for Coordination</a:t>
            </a:r>
            <a:r>
              <a:rPr lang="en-US" dirty="0"/>
              <a:t>:</a:t>
            </a:r>
            <a:br>
              <a:rPr lang="en-US" dirty="0"/>
            </a:br>
            <a:r>
              <a:rPr lang="en-US" dirty="0"/>
              <a:t>Proper task assignment or locking mechanisms are required to prevent overlapping and ensure accurate results.</a:t>
            </a:r>
          </a:p>
        </p:txBody>
      </p:sp>
      <p:sp>
        <p:nvSpPr>
          <p:cNvPr id="6" name="Slide Number Placeholder 5">
            <a:extLst>
              <a:ext uri="{FF2B5EF4-FFF2-40B4-BE49-F238E27FC236}">
                <a16:creationId xmlns:a16="http://schemas.microsoft.com/office/drawing/2014/main" id="{0BABB65C-44A8-A32B-72D5-B43B787E9EC2}"/>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12</a:t>
            </a:fld>
            <a:endParaRPr lang="en-US" dirty="0"/>
          </a:p>
        </p:txBody>
      </p:sp>
    </p:spTree>
    <p:extLst>
      <p:ext uri="{BB962C8B-B14F-4D97-AF65-F5344CB8AC3E}">
        <p14:creationId xmlns:p14="http://schemas.microsoft.com/office/powerpoint/2010/main" val="1831082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3: Four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a:xfrm>
            <a:off x="457200" y="1556327"/>
            <a:ext cx="4026543" cy="4586896"/>
          </a:xfrm>
        </p:spPr>
        <p:txBody>
          <a:bodyPr/>
          <a:lstStyle/>
          <a:p>
            <a:pPr marL="0" indent="0">
              <a:buNone/>
            </a:pPr>
            <a:r>
              <a:rPr lang="en-US" b="1" dirty="0"/>
              <a:t>Five people:</a:t>
            </a:r>
          </a:p>
          <a:p>
            <a:pPr marL="342900" indent="-290513">
              <a:lnSpc>
                <a:spcPct val="107916"/>
              </a:lnSpc>
              <a:spcBef>
                <a:spcPts val="900"/>
              </a:spcBef>
              <a:buClr>
                <a:schemeClr val="dk1"/>
              </a:buClr>
              <a:buSzPts val="2500"/>
              <a:buAutoNum type="arabicPeriod"/>
            </a:pPr>
            <a:r>
              <a:rPr lang="en-US" b="1" dirty="0">
                <a:solidFill>
                  <a:schemeClr val="dk1"/>
                </a:solidFill>
                <a:highlight>
                  <a:srgbClr val="FFFF00"/>
                </a:highlight>
                <a:ea typeface="Aptos"/>
                <a:cs typeface="Aptos"/>
                <a:sym typeface="Aptos"/>
              </a:rPr>
              <a:t>Processors 1-4</a:t>
            </a:r>
            <a:r>
              <a:rPr lang="en-US" dirty="0">
                <a:solidFill>
                  <a:schemeClr val="dk1"/>
                </a:solidFill>
                <a:ea typeface="Aptos"/>
                <a:cs typeface="Aptos"/>
                <a:sym typeface="Aptos"/>
              </a:rPr>
              <a:t>: Each assigned to one color, which they color (cell by cell)</a:t>
            </a:r>
          </a:p>
          <a:p>
            <a:pPr marL="342900" indent="-290513">
              <a:lnSpc>
                <a:spcPct val="107916"/>
              </a:lnSpc>
              <a:spcBef>
                <a:spcPts val="600"/>
              </a:spcBef>
              <a:spcAft>
                <a:spcPts val="6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them; stop when </a:t>
            </a:r>
            <a:r>
              <a:rPr lang="en-US" b="1" dirty="0">
                <a:solidFill>
                  <a:schemeClr val="dk1"/>
                </a:solidFill>
              </a:rPr>
              <a:t>all</a:t>
            </a:r>
            <a:r>
              <a:rPr lang="en-US" dirty="0">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4015649" y="5212109"/>
            <a:ext cx="4978417" cy="923330"/>
          </a:xfrm>
          <a:prstGeom prst="rect">
            <a:avLst/>
          </a:prstGeom>
          <a:noFill/>
        </p:spPr>
        <p:txBody>
          <a:bodyPr wrap="square" rtlCol="0">
            <a:spAutoFit/>
          </a:bodyPr>
          <a:lstStyle/>
          <a:p>
            <a:r>
              <a:rPr lang="en-US" sz="1800" b="1" dirty="0">
                <a:solidFill>
                  <a:schemeClr val="tx1"/>
                </a:solidFill>
              </a:rPr>
              <a:t>Remember: </a:t>
            </a:r>
            <a:r>
              <a:rPr lang="en-US" sz="1800" b="1" dirty="0">
                <a:solidFill>
                  <a:srgbClr val="7030A0"/>
                </a:solidFill>
              </a:rPr>
              <a:t>squares must be mostly colored in &amp; </a:t>
            </a:r>
            <a:br>
              <a:rPr lang="en-US" sz="1800" b="1" dirty="0">
                <a:solidFill>
                  <a:srgbClr val="7030A0"/>
                </a:solidFill>
              </a:rPr>
            </a:br>
            <a:r>
              <a:rPr lang="en-US" sz="1800" b="1" dirty="0">
                <a:solidFill>
                  <a:srgbClr val="7030A0"/>
                </a:solidFill>
              </a:rPr>
              <a:t>you can only color one square at a time!</a:t>
            </a:r>
          </a:p>
        </p:txBody>
      </p:sp>
      <p:graphicFrame>
        <p:nvGraphicFramePr>
          <p:cNvPr id="6" name="Google Shape;84;p17">
            <a:extLst>
              <a:ext uri="{FF2B5EF4-FFF2-40B4-BE49-F238E27FC236}">
                <a16:creationId xmlns:a16="http://schemas.microsoft.com/office/drawing/2014/main" id="{3CCDCD75-D58E-1265-53B0-0C304213CC06}"/>
              </a:ext>
            </a:extLst>
          </p:cNvPr>
          <p:cNvGraphicFramePr/>
          <p:nvPr>
            <p:extLst>
              <p:ext uri="{D42A27DB-BD31-4B8C-83A1-F6EECF244321}">
                <p14:modId xmlns:p14="http://schemas.microsoft.com/office/powerpoint/2010/main" val="3284850156"/>
              </p:ext>
            </p:extLst>
          </p:nvPr>
        </p:nvGraphicFramePr>
        <p:xfrm>
          <a:off x="4483743" y="2408663"/>
          <a:ext cx="4468962" cy="2408968"/>
        </p:xfrm>
        <a:graphic>
          <a:graphicData uri="http://schemas.openxmlformats.org/drawingml/2006/table">
            <a:tbl>
              <a:tblPr bandRow="1">
                <a:noFill/>
              </a:tblPr>
              <a:tblGrid>
                <a:gridCol w="526316">
                  <a:extLst>
                    <a:ext uri="{9D8B030D-6E8A-4147-A177-3AD203B41FA5}">
                      <a16:colId xmlns:a16="http://schemas.microsoft.com/office/drawing/2014/main" val="20000"/>
                    </a:ext>
                  </a:extLst>
                </a:gridCol>
                <a:gridCol w="322134">
                  <a:extLst>
                    <a:ext uri="{9D8B030D-6E8A-4147-A177-3AD203B41FA5}">
                      <a16:colId xmlns:a16="http://schemas.microsoft.com/office/drawing/2014/main" val="20001"/>
                    </a:ext>
                  </a:extLst>
                </a:gridCol>
                <a:gridCol w="517216">
                  <a:extLst>
                    <a:ext uri="{9D8B030D-6E8A-4147-A177-3AD203B41FA5}">
                      <a16:colId xmlns:a16="http://schemas.microsoft.com/office/drawing/2014/main" val="20002"/>
                    </a:ext>
                  </a:extLst>
                </a:gridCol>
                <a:gridCol w="517216">
                  <a:extLst>
                    <a:ext uri="{9D8B030D-6E8A-4147-A177-3AD203B41FA5}">
                      <a16:colId xmlns:a16="http://schemas.microsoft.com/office/drawing/2014/main" val="20003"/>
                    </a:ext>
                  </a:extLst>
                </a:gridCol>
                <a:gridCol w="517216">
                  <a:extLst>
                    <a:ext uri="{9D8B030D-6E8A-4147-A177-3AD203B41FA5}">
                      <a16:colId xmlns:a16="http://schemas.microsoft.com/office/drawing/2014/main" val="20004"/>
                    </a:ext>
                  </a:extLst>
                </a:gridCol>
                <a:gridCol w="517216">
                  <a:extLst>
                    <a:ext uri="{9D8B030D-6E8A-4147-A177-3AD203B41FA5}">
                      <a16:colId xmlns:a16="http://schemas.microsoft.com/office/drawing/2014/main" val="20005"/>
                    </a:ext>
                  </a:extLst>
                </a:gridCol>
                <a:gridCol w="517216">
                  <a:extLst>
                    <a:ext uri="{9D8B030D-6E8A-4147-A177-3AD203B41FA5}">
                      <a16:colId xmlns:a16="http://schemas.microsoft.com/office/drawing/2014/main" val="20006"/>
                    </a:ext>
                  </a:extLst>
                </a:gridCol>
                <a:gridCol w="517216">
                  <a:extLst>
                    <a:ext uri="{9D8B030D-6E8A-4147-A177-3AD203B41FA5}">
                      <a16:colId xmlns:a16="http://schemas.microsoft.com/office/drawing/2014/main" val="20007"/>
                    </a:ext>
                  </a:extLst>
                </a:gridCol>
                <a:gridCol w="517216">
                  <a:extLst>
                    <a:ext uri="{9D8B030D-6E8A-4147-A177-3AD203B41FA5}">
                      <a16:colId xmlns:a16="http://schemas.microsoft.com/office/drawing/2014/main" val="20008"/>
                    </a:ext>
                  </a:extLst>
                </a:gridCol>
              </a:tblGrid>
              <a:tr h="301121">
                <a:tc row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P1</a:t>
                      </a:r>
                      <a:endParaRPr sz="1500" b="1">
                        <a:solidFill>
                          <a:schemeClr val="tx1"/>
                        </a:solidFill>
                        <a:latin typeface="Aptos"/>
                        <a:ea typeface="Aptos"/>
                        <a:cs typeface="Aptos"/>
                        <a:sym typeface="Aptos"/>
                      </a:endParaRPr>
                    </a:p>
                  </a:txBody>
                  <a:tcPr marL="51431" marR="51431"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solidFill>
                      <a:srgbClr val="FF0000"/>
                    </a:solidFill>
                  </a:tcPr>
                </a:tc>
                <a:extLst>
                  <a:ext uri="{0D108BD9-81ED-4DB2-BD59-A6C34878D82A}">
                    <a16:rowId xmlns:a16="http://schemas.microsoft.com/office/drawing/2014/main" val="10000"/>
                  </a:ext>
                </a:extLst>
              </a:tr>
              <a:tr h="301121">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01121">
                <a:tc row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P2</a:t>
                      </a:r>
                      <a:endParaRPr sz="1500" b="1">
                        <a:solidFill>
                          <a:schemeClr val="tx1"/>
                        </a:solidFill>
                        <a:latin typeface="Aptos"/>
                        <a:ea typeface="Aptos"/>
                        <a:cs typeface="Aptos"/>
                        <a:sym typeface="Aptos"/>
                      </a:endParaRPr>
                    </a:p>
                  </a:txBody>
                  <a:tcPr marL="51431" marR="51431"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01121">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11</a:t>
                      </a:r>
                      <a:endParaRPr sz="1500" b="1" dirty="0">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301121">
                <a:tc row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P3</a:t>
                      </a:r>
                      <a:endParaRPr sz="1500" b="1">
                        <a:solidFill>
                          <a:schemeClr val="tx1"/>
                        </a:solidFill>
                        <a:latin typeface="Aptos"/>
                        <a:ea typeface="Aptos"/>
                        <a:cs typeface="Aptos"/>
                        <a:sym typeface="Aptos"/>
                      </a:endParaRPr>
                    </a:p>
                  </a:txBody>
                  <a:tcPr marL="51431" marR="51431"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301121">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B w="381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301121">
                <a:tc row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P4</a:t>
                      </a:r>
                      <a:endParaRPr sz="1500" b="1">
                        <a:solidFill>
                          <a:schemeClr val="tx1"/>
                        </a:solidFill>
                        <a:latin typeface="Aptos"/>
                        <a:ea typeface="Aptos"/>
                        <a:cs typeface="Aptos"/>
                        <a:sym typeface="Aptos"/>
                      </a:endParaRPr>
                    </a:p>
                  </a:txBody>
                  <a:tcPr marL="51431" marR="51431" marT="0" marB="0" anchor="ctr">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extLst>
                  <a:ext uri="{0D108BD9-81ED-4DB2-BD59-A6C34878D82A}">
                    <a16:rowId xmlns:a16="http://schemas.microsoft.com/office/drawing/2014/main" val="10006"/>
                  </a:ext>
                </a:extLst>
              </a:tr>
              <a:tr h="301121">
                <a:tc vMerge="1">
                  <a:txBody>
                    <a:bodyPr/>
                    <a:lstStyle/>
                    <a:p>
                      <a:endParaRPr lang="en-US"/>
                    </a:p>
                  </a:txBody>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16</a:t>
                      </a:r>
                      <a:endParaRPr sz="1500" b="1" dirty="0">
                        <a:solidFill>
                          <a:schemeClr val="tx1"/>
                        </a:solidFill>
                        <a:latin typeface="Aptos"/>
                        <a:ea typeface="Aptos"/>
                        <a:cs typeface="Aptos"/>
                        <a:sym typeface="Aptos"/>
                      </a:endParaRPr>
                    </a:p>
                  </a:txBody>
                  <a:tcPr marL="51431" marR="51431" marT="0" marB="0">
                    <a:lnT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7"/>
                  </a:ext>
                </a:extLst>
              </a:tr>
            </a:tbl>
          </a:graphicData>
        </a:graphic>
      </p:graphicFrame>
      <p:sp>
        <p:nvSpPr>
          <p:cNvPr id="4" name="Slide Number Placeholder 5">
            <a:extLst>
              <a:ext uri="{FF2B5EF4-FFF2-40B4-BE49-F238E27FC236}">
                <a16:creationId xmlns:a16="http://schemas.microsoft.com/office/drawing/2014/main" id="{29723AC4-24FF-4D6E-1C0D-39AE73238CA4}"/>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13</a:t>
            </a:fld>
            <a:endParaRPr lang="en-US" dirty="0"/>
          </a:p>
        </p:txBody>
      </p:sp>
    </p:spTree>
    <p:extLst>
      <p:ext uri="{BB962C8B-B14F-4D97-AF65-F5344CB8AC3E}">
        <p14:creationId xmlns:p14="http://schemas.microsoft.com/office/powerpoint/2010/main" val="270168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3: Four Processors Collaborating</a:t>
            </a:r>
            <a:br>
              <a:rPr lang="en-US" sz="2800" dirty="0"/>
            </a:br>
            <a:r>
              <a:rPr lang="en-US" sz="2800" dirty="0">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p:txBody>
          <a:bodyPr/>
          <a:lstStyle/>
          <a:p>
            <a:pPr marL="342900" indent="-290513">
              <a:lnSpc>
                <a:spcPct val="107916"/>
              </a:lnSpc>
              <a:spcBef>
                <a:spcPts val="900"/>
              </a:spcBef>
              <a:buClr>
                <a:schemeClr val="dk1"/>
              </a:buClr>
              <a:buSzPts val="2500"/>
              <a:buAutoNum type="arabicPeriod"/>
            </a:pPr>
            <a:r>
              <a:rPr lang="en-US" b="1"/>
              <a:t>How does using four processors further improve efficiency, and what challenges might this bring?</a:t>
            </a:r>
            <a:br>
              <a:rPr lang="en-US" b="1"/>
            </a:br>
            <a:endParaRPr lang="en-US" b="1"/>
          </a:p>
          <a:p>
            <a:pPr marL="342900" indent="-290513">
              <a:lnSpc>
                <a:spcPct val="107916"/>
              </a:lnSpc>
              <a:spcBef>
                <a:spcPts val="900"/>
              </a:spcBef>
              <a:buClr>
                <a:schemeClr val="dk1"/>
              </a:buClr>
              <a:buSzPts val="2500"/>
              <a:buAutoNum type="arabicPeriod"/>
            </a:pPr>
            <a:r>
              <a:rPr lang="en-US" b="1"/>
              <a:t>What would happen if one processor finished its task significantly earlier than the others?</a:t>
            </a:r>
            <a:endParaRPr lang="en-US" b="1">
              <a:solidFill>
                <a:schemeClr val="dk1"/>
              </a:solidFill>
              <a:ea typeface="Aptos"/>
              <a:cs typeface="Aptos"/>
              <a:sym typeface="Aptos"/>
            </a:endParaRPr>
          </a:p>
        </p:txBody>
      </p:sp>
      <p:sp>
        <p:nvSpPr>
          <p:cNvPr id="2" name="Slide Number Placeholder 5">
            <a:extLst>
              <a:ext uri="{FF2B5EF4-FFF2-40B4-BE49-F238E27FC236}">
                <a16:creationId xmlns:a16="http://schemas.microsoft.com/office/drawing/2014/main" id="{B4288C90-95C7-828B-1537-5C8FFCDD11E6}"/>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14</a:t>
            </a:fld>
            <a:endParaRPr lang="en-US" dirty="0"/>
          </a:p>
        </p:txBody>
      </p:sp>
    </p:spTree>
    <p:extLst>
      <p:ext uri="{BB962C8B-B14F-4D97-AF65-F5344CB8AC3E}">
        <p14:creationId xmlns:p14="http://schemas.microsoft.com/office/powerpoint/2010/main" val="1502275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20A34AC-39E4-05A7-A339-34E7744D2E82}"/>
              </a:ext>
            </a:extLst>
          </p:cNvPr>
          <p:cNvSpPr>
            <a:spLocks noGrp="1"/>
          </p:cNvSpPr>
          <p:nvPr>
            <p:ph type="title"/>
          </p:nvPr>
        </p:nvSpPr>
        <p:spPr/>
        <p:txBody>
          <a:bodyPr/>
          <a:lstStyle/>
          <a:p>
            <a:r>
              <a:rPr lang="en-US" sz="2800" dirty="0"/>
              <a:t>How Does Using Four Processors Improve Efficiency?</a:t>
            </a:r>
          </a:p>
        </p:txBody>
      </p:sp>
      <p:sp>
        <p:nvSpPr>
          <p:cNvPr id="8" name="Content Placeholder 7">
            <a:extLst>
              <a:ext uri="{FF2B5EF4-FFF2-40B4-BE49-F238E27FC236}">
                <a16:creationId xmlns:a16="http://schemas.microsoft.com/office/drawing/2014/main" id="{F1D90B0D-249D-9FA8-F64D-64AE08395320}"/>
              </a:ext>
            </a:extLst>
          </p:cNvPr>
          <p:cNvSpPr>
            <a:spLocks noGrp="1"/>
          </p:cNvSpPr>
          <p:nvPr>
            <p:ph sz="quarter" idx="13"/>
          </p:nvPr>
        </p:nvSpPr>
        <p:spPr>
          <a:xfrm>
            <a:off x="457200" y="1556327"/>
            <a:ext cx="8229600" cy="4586896"/>
          </a:xfrm>
        </p:spPr>
        <p:txBody>
          <a:bodyPr/>
          <a:lstStyle/>
          <a:p>
            <a:r>
              <a:rPr lang="en-US" b="1" dirty="0"/>
              <a:t>Parallel Processing at Scale</a:t>
            </a:r>
            <a:r>
              <a:rPr lang="en-US" dirty="0"/>
              <a:t>:</a:t>
            </a:r>
          </a:p>
          <a:p>
            <a:pPr lvl="1"/>
            <a:r>
              <a:rPr lang="en-US" sz="2000" dirty="0"/>
              <a:t>Each processor works on a single color stripe independently, drastically reducing the total completion time. </a:t>
            </a:r>
          </a:p>
          <a:p>
            <a:pPr lvl="1"/>
            <a:r>
              <a:rPr lang="en-US" sz="2000" dirty="0"/>
              <a:t>More processors mean the task is divided into smaller portions, making processing faster and more efficient.</a:t>
            </a:r>
          </a:p>
          <a:p>
            <a:r>
              <a:rPr lang="en-US" b="1" dirty="0"/>
              <a:t>Speedup</a:t>
            </a:r>
            <a:endParaRPr lang="en-US" dirty="0"/>
          </a:p>
          <a:p>
            <a:pPr lvl="1"/>
            <a:r>
              <a:rPr lang="en-US" sz="2000" dirty="0"/>
              <a:t>Number of processors: </a:t>
            </a:r>
            <a:r>
              <a:rPr lang="en-US" sz="2000" b="1" i="1" dirty="0"/>
              <a:t>p</a:t>
            </a:r>
            <a:r>
              <a:rPr lang="en-US" sz="2000" dirty="0"/>
              <a:t> </a:t>
            </a:r>
          </a:p>
          <a:p>
            <a:pPr lvl="1"/>
            <a:r>
              <a:rPr lang="en-US" sz="2000" i="1" dirty="0"/>
              <a:t>Serial run-time = </a:t>
            </a:r>
            <a:r>
              <a:rPr lang="en-US" sz="2000" b="1" i="1" dirty="0" err="1"/>
              <a:t>T</a:t>
            </a:r>
            <a:r>
              <a:rPr lang="en-US" sz="2000" b="1" i="1" baseline="-25000" dirty="0" err="1"/>
              <a:t>serial</a:t>
            </a:r>
            <a:endParaRPr lang="en-US" sz="2000" b="1" i="1" dirty="0"/>
          </a:p>
          <a:p>
            <a:pPr lvl="1"/>
            <a:r>
              <a:rPr lang="en-US" sz="2000" i="1" dirty="0"/>
              <a:t>Parallel run-time = </a:t>
            </a:r>
            <a:r>
              <a:rPr lang="en-US" sz="2000" b="1" i="1" dirty="0" err="1"/>
              <a:t>T</a:t>
            </a:r>
            <a:r>
              <a:rPr lang="en-US" sz="2000" b="1" i="1" baseline="-25000" dirty="0" err="1"/>
              <a:t>parallel</a:t>
            </a:r>
            <a:endParaRPr lang="en-US" sz="2000" b="1" i="1" dirty="0"/>
          </a:p>
          <a:p>
            <a:pPr lvl="1"/>
            <a:r>
              <a:rPr lang="en-US" sz="2000" b="1" i="1" dirty="0" err="1"/>
              <a:t>T</a:t>
            </a:r>
            <a:r>
              <a:rPr lang="en-US" sz="2000" b="1" i="1" baseline="-25000" dirty="0" err="1"/>
              <a:t>parallel</a:t>
            </a:r>
            <a:r>
              <a:rPr lang="en-US" sz="2000" b="1" i="1" dirty="0"/>
              <a:t> = </a:t>
            </a:r>
            <a:r>
              <a:rPr lang="en-US" sz="2000" b="1" i="1" dirty="0" err="1"/>
              <a:t>T</a:t>
            </a:r>
            <a:r>
              <a:rPr lang="en-US" sz="2000" b="1" i="1" baseline="-25000" dirty="0" err="1"/>
              <a:t>serial</a:t>
            </a:r>
            <a:r>
              <a:rPr lang="en-US" sz="2000" b="1" i="1" dirty="0"/>
              <a:t> / p</a:t>
            </a:r>
          </a:p>
          <a:p>
            <a:pPr lvl="1"/>
            <a:r>
              <a:rPr lang="en-US" sz="2000" b="1" i="1" dirty="0"/>
              <a:t>Speedup = </a:t>
            </a:r>
            <a:r>
              <a:rPr lang="en-US" sz="2000" b="1" i="1" dirty="0" err="1"/>
              <a:t>T</a:t>
            </a:r>
            <a:r>
              <a:rPr lang="en-US" sz="2000" b="1" i="1" baseline="-25000" dirty="0" err="1"/>
              <a:t>serial</a:t>
            </a:r>
            <a:r>
              <a:rPr lang="en-US" sz="2000" b="1" i="1" dirty="0"/>
              <a:t> / </a:t>
            </a:r>
            <a:r>
              <a:rPr lang="en-US" sz="2000" b="1" i="1" dirty="0" err="1"/>
              <a:t>T</a:t>
            </a:r>
            <a:r>
              <a:rPr lang="en-US" sz="2000" b="1" i="1" baseline="-25000" dirty="0" err="1"/>
              <a:t>parallel</a:t>
            </a:r>
            <a:endParaRPr lang="en-US" sz="2000" b="1" i="1" dirty="0"/>
          </a:p>
        </p:txBody>
      </p:sp>
      <p:sp>
        <p:nvSpPr>
          <p:cNvPr id="6" name="Slide Number Placeholder 5">
            <a:extLst>
              <a:ext uri="{FF2B5EF4-FFF2-40B4-BE49-F238E27FC236}">
                <a16:creationId xmlns:a16="http://schemas.microsoft.com/office/drawing/2014/main" id="{8BCB4F44-AC3D-B348-52A4-5F50A818AF31}"/>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15</a:t>
            </a:fld>
            <a:endParaRPr lang="en-US" dirty="0"/>
          </a:p>
        </p:txBody>
      </p:sp>
    </p:spTree>
    <p:extLst>
      <p:ext uri="{BB962C8B-B14F-4D97-AF65-F5344CB8AC3E}">
        <p14:creationId xmlns:p14="http://schemas.microsoft.com/office/powerpoint/2010/main" val="4012125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4C36-5387-5682-B31D-F9CEBD66529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3960AEF-3428-4AE0-D2A7-E74975BE9481}"/>
              </a:ext>
            </a:extLst>
          </p:cNvPr>
          <p:cNvSpPr>
            <a:spLocks noGrp="1"/>
          </p:cNvSpPr>
          <p:nvPr>
            <p:ph type="title"/>
          </p:nvPr>
        </p:nvSpPr>
        <p:spPr/>
        <p:txBody>
          <a:bodyPr/>
          <a:lstStyle/>
          <a:p>
            <a:r>
              <a:rPr lang="en-US" sz="2800" dirty="0"/>
              <a:t>How Does Using Four Processors Improve Efficiency?</a:t>
            </a:r>
          </a:p>
        </p:txBody>
      </p:sp>
      <p:sp>
        <p:nvSpPr>
          <p:cNvPr id="8" name="Content Placeholder 7">
            <a:extLst>
              <a:ext uri="{FF2B5EF4-FFF2-40B4-BE49-F238E27FC236}">
                <a16:creationId xmlns:a16="http://schemas.microsoft.com/office/drawing/2014/main" id="{A6C72187-93DD-4F46-7EDD-4487E8C00620}"/>
              </a:ext>
            </a:extLst>
          </p:cNvPr>
          <p:cNvSpPr>
            <a:spLocks noGrp="1"/>
          </p:cNvSpPr>
          <p:nvPr>
            <p:ph sz="quarter" idx="13"/>
          </p:nvPr>
        </p:nvSpPr>
        <p:spPr/>
        <p:txBody>
          <a:bodyPr/>
          <a:lstStyle/>
          <a:p>
            <a:r>
              <a:rPr lang="en-US" b="1" dirty="0"/>
              <a:t>Parallel Processing at Scale</a:t>
            </a:r>
            <a:r>
              <a:rPr lang="en-US" dirty="0"/>
              <a:t>:</a:t>
            </a:r>
          </a:p>
          <a:p>
            <a:pPr lvl="1"/>
            <a:r>
              <a:rPr lang="en-US" sz="2000" dirty="0"/>
              <a:t>Each processor works on a single color stripe independently, drastically reducing the total completion time.</a:t>
            </a:r>
          </a:p>
          <a:p>
            <a:r>
              <a:rPr lang="en-US" b="1" dirty="0"/>
              <a:t>Scalability</a:t>
            </a:r>
            <a:r>
              <a:rPr lang="en-US" dirty="0"/>
              <a:t>:</a:t>
            </a:r>
          </a:p>
          <a:p>
            <a:pPr lvl="1"/>
            <a:r>
              <a:rPr lang="en-US" sz="2000" dirty="0"/>
              <a:t>More processors mean the task is divided into smaller portions, making processing faster and more efficient.</a:t>
            </a:r>
            <a:endParaRPr lang="en-US" sz="2000" b="1" dirty="0"/>
          </a:p>
          <a:p>
            <a:r>
              <a:rPr lang="en-US" b="1" dirty="0"/>
              <a:t>Challenges of Synchronization</a:t>
            </a:r>
            <a:r>
              <a:rPr lang="en-US" dirty="0"/>
              <a:t>:</a:t>
            </a:r>
          </a:p>
          <a:p>
            <a:pPr lvl="1"/>
            <a:r>
              <a:rPr lang="en-US" sz="2000" dirty="0"/>
              <a:t>Synchronization imposes order constraints and is used to protect access to shared data. </a:t>
            </a:r>
          </a:p>
          <a:p>
            <a:pPr lvl="1"/>
            <a:r>
              <a:rPr lang="en-US" sz="2000" dirty="0"/>
              <a:t>As the number of processors increases, synchronization becomes crucial to ensure they don’t interfere with each other’s work, which can lead to increased </a:t>
            </a:r>
            <a:r>
              <a:rPr lang="en-US" sz="2000" b="1" dirty="0"/>
              <a:t>coordination complexity</a:t>
            </a:r>
            <a:r>
              <a:rPr lang="en-US" sz="2000" dirty="0"/>
              <a:t>.</a:t>
            </a:r>
          </a:p>
        </p:txBody>
      </p:sp>
      <p:sp>
        <p:nvSpPr>
          <p:cNvPr id="6" name="Slide Number Placeholder 5">
            <a:extLst>
              <a:ext uri="{FF2B5EF4-FFF2-40B4-BE49-F238E27FC236}">
                <a16:creationId xmlns:a16="http://schemas.microsoft.com/office/drawing/2014/main" id="{E258CE14-549D-F6A8-A79F-13272A9868BE}"/>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16</a:t>
            </a:fld>
            <a:endParaRPr lang="en-US" dirty="0"/>
          </a:p>
        </p:txBody>
      </p:sp>
    </p:spTree>
    <p:extLst>
      <p:ext uri="{BB962C8B-B14F-4D97-AF65-F5344CB8AC3E}">
        <p14:creationId xmlns:p14="http://schemas.microsoft.com/office/powerpoint/2010/main" val="2146326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FBC5-912E-4466-2FBC-D2687D08DAB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A226A2C-722D-CC48-E7A8-DCD4B09E46D1}"/>
              </a:ext>
            </a:extLst>
          </p:cNvPr>
          <p:cNvSpPr>
            <a:spLocks noGrp="1"/>
          </p:cNvSpPr>
          <p:nvPr>
            <p:ph type="title"/>
          </p:nvPr>
        </p:nvSpPr>
        <p:spPr/>
        <p:txBody>
          <a:bodyPr/>
          <a:lstStyle/>
          <a:p>
            <a:r>
              <a:rPr lang="en-US" sz="2800" dirty="0"/>
              <a:t>What Happens if One Processor Finishes Early?</a:t>
            </a:r>
          </a:p>
        </p:txBody>
      </p:sp>
      <p:sp>
        <p:nvSpPr>
          <p:cNvPr id="8" name="Content Placeholder 7">
            <a:extLst>
              <a:ext uri="{FF2B5EF4-FFF2-40B4-BE49-F238E27FC236}">
                <a16:creationId xmlns:a16="http://schemas.microsoft.com/office/drawing/2014/main" id="{89301A28-D652-B8B3-4AA9-04EFF22CA668}"/>
              </a:ext>
            </a:extLst>
          </p:cNvPr>
          <p:cNvSpPr>
            <a:spLocks noGrp="1"/>
          </p:cNvSpPr>
          <p:nvPr>
            <p:ph sz="quarter" idx="13"/>
          </p:nvPr>
        </p:nvSpPr>
        <p:spPr/>
        <p:txBody>
          <a:bodyPr/>
          <a:lstStyle/>
          <a:p>
            <a:r>
              <a:rPr lang="en-US" b="1" dirty="0"/>
              <a:t>Underutilization</a:t>
            </a:r>
            <a:r>
              <a:rPr lang="en-US" dirty="0"/>
              <a:t>:</a:t>
            </a:r>
            <a:br>
              <a:rPr lang="en-US" dirty="0"/>
            </a:br>
            <a:r>
              <a:rPr lang="en-US" dirty="0"/>
              <a:t>A processor completing its task early remains idle while others finish their tasks, wasting resources.</a:t>
            </a:r>
          </a:p>
          <a:p>
            <a:r>
              <a:rPr lang="en-US" b="1" dirty="0"/>
              <a:t>Importance of Load Balancing</a:t>
            </a:r>
            <a:r>
              <a:rPr lang="en-US" dirty="0"/>
              <a:t>:</a:t>
            </a:r>
            <a:br>
              <a:rPr lang="en-US" dirty="0"/>
            </a:br>
            <a:r>
              <a:rPr lang="en-US" dirty="0"/>
              <a:t>Distributing tasks of equal duration among processors ensures all are fully utilized and efficient.</a:t>
            </a:r>
          </a:p>
          <a:p>
            <a:r>
              <a:rPr lang="en-US" b="1" dirty="0"/>
              <a:t>Real-World Insight</a:t>
            </a:r>
            <a:r>
              <a:rPr lang="en-US" dirty="0"/>
              <a:t>:</a:t>
            </a:r>
            <a:br>
              <a:rPr lang="en-US" dirty="0"/>
            </a:br>
            <a:r>
              <a:rPr lang="en-US" dirty="0"/>
              <a:t>Load balancing techniques are critical in multi-processor systems to prevent idle time and maximize throughput.</a:t>
            </a:r>
          </a:p>
        </p:txBody>
      </p:sp>
      <p:sp>
        <p:nvSpPr>
          <p:cNvPr id="6" name="Slide Number Placeholder 5">
            <a:extLst>
              <a:ext uri="{FF2B5EF4-FFF2-40B4-BE49-F238E27FC236}">
                <a16:creationId xmlns:a16="http://schemas.microsoft.com/office/drawing/2014/main" id="{A073FBB6-7499-F3B0-D72A-828D997D8EF4}"/>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17</a:t>
            </a:fld>
            <a:endParaRPr lang="en-US" dirty="0"/>
          </a:p>
        </p:txBody>
      </p:sp>
    </p:spTree>
    <p:extLst>
      <p:ext uri="{BB962C8B-B14F-4D97-AF65-F5344CB8AC3E}">
        <p14:creationId xmlns:p14="http://schemas.microsoft.com/office/powerpoint/2010/main" val="2724059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p:txBody>
          <a:bodyPr/>
          <a:lstStyle/>
          <a:p>
            <a:r>
              <a:rPr lang="en-US" sz="2800" dirty="0"/>
              <a:t>Scenario 4: Four Processors Collaborating a Different Way (Column Assignments)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a:xfrm>
            <a:off x="457200" y="1556327"/>
            <a:ext cx="4510901" cy="4586896"/>
          </a:xfrm>
        </p:spPr>
        <p:txBody>
          <a:bodyPr/>
          <a:lstStyle/>
          <a:p>
            <a:pPr marL="0" indent="0">
              <a:buNone/>
            </a:pPr>
            <a:r>
              <a:rPr lang="en-US" b="1" dirty="0"/>
              <a:t>Five people:</a:t>
            </a:r>
          </a:p>
          <a:p>
            <a:pPr marL="342900" indent="-290513">
              <a:lnSpc>
                <a:spcPct val="107916"/>
              </a:lnSpc>
              <a:spcBef>
                <a:spcPts val="900"/>
              </a:spcBef>
              <a:buClr>
                <a:schemeClr val="dk1"/>
              </a:buClr>
              <a:buSzPts val="2500"/>
              <a:buAutoNum type="arabicPeriod"/>
            </a:pPr>
            <a:r>
              <a:rPr lang="en-US" b="1" dirty="0">
                <a:solidFill>
                  <a:schemeClr val="dk1"/>
                </a:solidFill>
                <a:highlight>
                  <a:srgbClr val="FFFF00"/>
                </a:highlight>
                <a:ea typeface="Aptos"/>
                <a:cs typeface="Aptos"/>
                <a:sym typeface="Aptos"/>
              </a:rPr>
              <a:t>Processors 1-4</a:t>
            </a:r>
            <a:r>
              <a:rPr lang="en-US" dirty="0">
                <a:solidFill>
                  <a:schemeClr val="dk1"/>
                </a:solidFill>
                <a:ea typeface="Aptos"/>
                <a:cs typeface="Aptos"/>
                <a:sym typeface="Aptos"/>
              </a:rPr>
              <a:t>: Each assigned a strip of two columns (first takes left 2 columns, second takes next two columns, etc.) Processors colors these the correct color cell by cell.</a:t>
            </a:r>
          </a:p>
          <a:p>
            <a:pPr marL="342900" indent="-290513">
              <a:lnSpc>
                <a:spcPct val="107916"/>
              </a:lnSpc>
              <a:spcBef>
                <a:spcPts val="600"/>
              </a:spcBef>
              <a:spcAft>
                <a:spcPts val="6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them; stop when </a:t>
            </a:r>
            <a:r>
              <a:rPr lang="en-US" b="1" dirty="0">
                <a:solidFill>
                  <a:schemeClr val="dk1"/>
                </a:solidFill>
              </a:rPr>
              <a:t>all</a:t>
            </a:r>
            <a:r>
              <a:rPr lang="en-US" dirty="0">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4851400" y="4914882"/>
            <a:ext cx="4449094" cy="923330"/>
          </a:xfrm>
          <a:prstGeom prst="rect">
            <a:avLst/>
          </a:prstGeom>
          <a:noFill/>
        </p:spPr>
        <p:txBody>
          <a:bodyPr wrap="square" rtlCol="0">
            <a:spAutoFit/>
          </a:bodyPr>
          <a:lstStyle/>
          <a:p>
            <a:r>
              <a:rPr lang="en-US" sz="1800" b="1" dirty="0">
                <a:solidFill>
                  <a:schemeClr val="tx1"/>
                </a:solidFill>
              </a:rPr>
              <a:t>Remember: </a:t>
            </a:r>
            <a:r>
              <a:rPr lang="en-US" sz="1800" b="1" dirty="0">
                <a:solidFill>
                  <a:srgbClr val="7030A0"/>
                </a:solidFill>
              </a:rPr>
              <a:t>squares must be mostly colored in &amp; you can only color one square at a time!</a:t>
            </a:r>
          </a:p>
        </p:txBody>
      </p:sp>
      <p:graphicFrame>
        <p:nvGraphicFramePr>
          <p:cNvPr id="4" name="Table 3">
            <a:extLst>
              <a:ext uri="{FF2B5EF4-FFF2-40B4-BE49-F238E27FC236}">
                <a16:creationId xmlns:a16="http://schemas.microsoft.com/office/drawing/2014/main" id="{3C21F8A0-5F2C-0050-CA2D-2EF308542430}"/>
              </a:ext>
            </a:extLst>
          </p:cNvPr>
          <p:cNvGraphicFramePr>
            <a:graphicFrameLocks noGrp="1"/>
          </p:cNvGraphicFramePr>
          <p:nvPr>
            <p:extLst>
              <p:ext uri="{D42A27DB-BD31-4B8C-83A1-F6EECF244321}">
                <p14:modId xmlns:p14="http://schemas.microsoft.com/office/powerpoint/2010/main" val="1265039637"/>
              </p:ext>
            </p:extLst>
          </p:nvPr>
        </p:nvGraphicFramePr>
        <p:xfrm>
          <a:off x="4968101" y="2403376"/>
          <a:ext cx="3704582" cy="2267829"/>
        </p:xfrm>
        <a:graphic>
          <a:graphicData uri="http://schemas.openxmlformats.org/drawingml/2006/table">
            <a:tbl>
              <a:tblPr bandRow="1">
                <a:noFill/>
              </a:tblPr>
              <a:tblGrid>
                <a:gridCol w="480060">
                  <a:extLst>
                    <a:ext uri="{9D8B030D-6E8A-4147-A177-3AD203B41FA5}">
                      <a16:colId xmlns:a16="http://schemas.microsoft.com/office/drawing/2014/main" val="2801298083"/>
                    </a:ext>
                  </a:extLst>
                </a:gridCol>
                <a:gridCol w="480060">
                  <a:extLst>
                    <a:ext uri="{9D8B030D-6E8A-4147-A177-3AD203B41FA5}">
                      <a16:colId xmlns:a16="http://schemas.microsoft.com/office/drawing/2014/main" val="1794596300"/>
                    </a:ext>
                  </a:extLst>
                </a:gridCol>
                <a:gridCol w="480060">
                  <a:extLst>
                    <a:ext uri="{9D8B030D-6E8A-4147-A177-3AD203B41FA5}">
                      <a16:colId xmlns:a16="http://schemas.microsoft.com/office/drawing/2014/main" val="4232396029"/>
                    </a:ext>
                  </a:extLst>
                </a:gridCol>
                <a:gridCol w="480060">
                  <a:extLst>
                    <a:ext uri="{9D8B030D-6E8A-4147-A177-3AD203B41FA5}">
                      <a16:colId xmlns:a16="http://schemas.microsoft.com/office/drawing/2014/main" val="816336286"/>
                    </a:ext>
                  </a:extLst>
                </a:gridCol>
                <a:gridCol w="480060">
                  <a:extLst>
                    <a:ext uri="{9D8B030D-6E8A-4147-A177-3AD203B41FA5}">
                      <a16:colId xmlns:a16="http://schemas.microsoft.com/office/drawing/2014/main" val="1572026895"/>
                    </a:ext>
                  </a:extLst>
                </a:gridCol>
                <a:gridCol w="344162">
                  <a:extLst>
                    <a:ext uri="{9D8B030D-6E8A-4147-A177-3AD203B41FA5}">
                      <a16:colId xmlns:a16="http://schemas.microsoft.com/office/drawing/2014/main" val="2079077827"/>
                    </a:ext>
                  </a:extLst>
                </a:gridCol>
                <a:gridCol w="480060">
                  <a:extLst>
                    <a:ext uri="{9D8B030D-6E8A-4147-A177-3AD203B41FA5}">
                      <a16:colId xmlns:a16="http://schemas.microsoft.com/office/drawing/2014/main" val="1589705213"/>
                    </a:ext>
                  </a:extLst>
                </a:gridCol>
                <a:gridCol w="480060">
                  <a:extLst>
                    <a:ext uri="{9D8B030D-6E8A-4147-A177-3AD203B41FA5}">
                      <a16:colId xmlns:a16="http://schemas.microsoft.com/office/drawing/2014/main" val="3402741152"/>
                    </a:ext>
                  </a:extLst>
                </a:gridCol>
              </a:tblGrid>
              <a:tr h="251981">
                <a:tc grid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P1</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P2</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P3</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P4</a:t>
                      </a:r>
                      <a:endParaRPr sz="1500" b="1" dirty="0">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511096073"/>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9</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FF00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a:t>
                      </a:r>
                      <a:endParaRPr sz="1500" b="1" dirty="0">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9</a:t>
                      </a:r>
                      <a:endParaRPr sz="1500" b="1">
                        <a:solidFill>
                          <a:schemeClr val="tx1"/>
                        </a:solidFill>
                        <a:latin typeface="Aptos"/>
                        <a:ea typeface="Aptos"/>
                        <a:cs typeface="Aptos"/>
                        <a:sym typeface="Aptos"/>
                      </a:endParaRPr>
                    </a:p>
                  </a:txBody>
                  <a:tcPr marL="51431" marR="51431" marT="0" marB="0">
                    <a:lnL w="12700" cap="flat" cmpd="sng" algn="ctr">
                      <a:solidFill>
                        <a:schemeClr val="tx1"/>
                      </a:solidFill>
                      <a:prstDash val="solid"/>
                      <a:round/>
                      <a:headEnd type="none" w="med" len="med"/>
                      <a:tailEnd type="none" w="med" len="med"/>
                    </a:lnL>
                    <a:solidFill>
                      <a:srgbClr val="FF0000"/>
                    </a:solidFill>
                  </a:tcPr>
                </a:tc>
                <a:extLst>
                  <a:ext uri="{0D108BD9-81ED-4DB2-BD59-A6C34878D82A}">
                    <a16:rowId xmlns:a16="http://schemas.microsoft.com/office/drawing/2014/main" val="1467559164"/>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10</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2</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10</a:t>
                      </a:r>
                      <a:endParaRPr sz="1500" b="1">
                        <a:solidFill>
                          <a:schemeClr val="tx1"/>
                        </a:solidFill>
                        <a:latin typeface="Aptos"/>
                        <a:ea typeface="Aptos"/>
                        <a:cs typeface="Aptos"/>
                        <a:sym typeface="Aptos"/>
                      </a:endParaRPr>
                    </a:p>
                  </a:txBody>
                  <a:tcPr marL="51431" marR="51431"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3219614609"/>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11</a:t>
                      </a:r>
                      <a:endParaRPr sz="1500" b="1" dirty="0">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11</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3</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11</a:t>
                      </a:r>
                      <a:endParaRPr sz="1500" b="1">
                        <a:solidFill>
                          <a:schemeClr val="tx1"/>
                        </a:solidFill>
                        <a:latin typeface="Aptos"/>
                        <a:ea typeface="Aptos"/>
                        <a:cs typeface="Aptos"/>
                        <a:sym typeface="Aptos"/>
                      </a:endParaRPr>
                    </a:p>
                  </a:txBody>
                  <a:tcPr marL="51431" marR="51431"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544984096"/>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12</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4</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solidFill>
                      <a:srgbClr val="4C94D8"/>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12</a:t>
                      </a:r>
                      <a:endParaRPr sz="1500" b="1">
                        <a:solidFill>
                          <a:schemeClr val="tx1"/>
                        </a:solidFill>
                        <a:latin typeface="Aptos"/>
                        <a:ea typeface="Aptos"/>
                        <a:cs typeface="Aptos"/>
                        <a:sym typeface="Aptos"/>
                      </a:endParaRPr>
                    </a:p>
                  </a:txBody>
                  <a:tcPr marL="51431" marR="51431" marT="0" marB="0">
                    <a:solidFill>
                      <a:srgbClr val="4C94D8"/>
                    </a:solidFill>
                  </a:tcPr>
                </a:tc>
                <a:extLst>
                  <a:ext uri="{0D108BD9-81ED-4DB2-BD59-A6C34878D82A}">
                    <a16:rowId xmlns:a16="http://schemas.microsoft.com/office/drawing/2014/main" val="919575061"/>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13</a:t>
                      </a:r>
                      <a:endParaRPr sz="1500" b="1" dirty="0">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13</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5</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13</a:t>
                      </a:r>
                      <a:endParaRPr sz="1500" b="1">
                        <a:solidFill>
                          <a:schemeClr val="tx1"/>
                        </a:solidFill>
                        <a:latin typeface="Aptos"/>
                        <a:ea typeface="Aptos"/>
                        <a:cs typeface="Aptos"/>
                        <a:sym typeface="Aptos"/>
                      </a:endParaRPr>
                    </a:p>
                  </a:txBody>
                  <a:tcPr marL="51431" marR="51431" marT="0" marB="0">
                    <a:solidFill>
                      <a:srgbClr val="FFFF00"/>
                    </a:solidFill>
                  </a:tcPr>
                </a:tc>
                <a:extLst>
                  <a:ext uri="{0D108BD9-81ED-4DB2-BD59-A6C34878D82A}">
                    <a16:rowId xmlns:a16="http://schemas.microsoft.com/office/drawing/2014/main" val="2506825096"/>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14</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6</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14</a:t>
                      </a:r>
                      <a:endParaRPr sz="1500" b="1">
                        <a:solidFill>
                          <a:schemeClr val="tx1"/>
                        </a:solidFill>
                        <a:latin typeface="Aptos"/>
                        <a:ea typeface="Aptos"/>
                        <a:cs typeface="Aptos"/>
                        <a:sym typeface="Aptos"/>
                      </a:endParaRPr>
                    </a:p>
                  </a:txBody>
                  <a:tcPr marL="51431" marR="51431" marT="0" marB="0">
                    <a:solidFill>
                      <a:srgbClr val="FFFF00"/>
                    </a:solidFill>
                  </a:tcPr>
                </a:tc>
                <a:extLst>
                  <a:ext uri="{0D108BD9-81ED-4DB2-BD59-A6C34878D82A}">
                    <a16:rowId xmlns:a16="http://schemas.microsoft.com/office/drawing/2014/main" val="3587633970"/>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15</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7</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15</a:t>
                      </a:r>
                      <a:endParaRPr sz="1500" b="1">
                        <a:solidFill>
                          <a:schemeClr val="tx1"/>
                        </a:solidFill>
                        <a:latin typeface="Aptos"/>
                        <a:ea typeface="Aptos"/>
                        <a:cs typeface="Aptos"/>
                        <a:sym typeface="Aptos"/>
                      </a:endParaRPr>
                    </a:p>
                  </a:txBody>
                  <a:tcPr marL="51431" marR="51431" marT="0" marB="0">
                    <a:solidFill>
                      <a:srgbClr val="8ED873"/>
                    </a:solidFill>
                  </a:tcPr>
                </a:tc>
                <a:extLst>
                  <a:ext uri="{0D108BD9-81ED-4DB2-BD59-A6C34878D82A}">
                    <a16:rowId xmlns:a16="http://schemas.microsoft.com/office/drawing/2014/main" val="2119102714"/>
                  </a:ext>
                </a:extLst>
              </a:tr>
              <a:tr h="251981">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16</a:t>
                      </a:r>
                      <a:endParaRPr sz="1500" b="1">
                        <a:solidFill>
                          <a:schemeClr val="tx1"/>
                        </a:solidFill>
                        <a:latin typeface="Aptos"/>
                        <a:ea typeface="Aptos"/>
                        <a:cs typeface="Aptos"/>
                        <a:sym typeface="Aptos"/>
                      </a:endParaRPr>
                    </a:p>
                  </a:txBody>
                  <a:tcPr marL="51431" marR="51431"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16</a:t>
                      </a:r>
                      <a:endParaRPr sz="1500" b="1" dirty="0">
                        <a:solidFill>
                          <a:schemeClr val="tx1"/>
                        </a:solidFill>
                        <a:latin typeface="Aptos"/>
                        <a:ea typeface="Aptos"/>
                        <a:cs typeface="Aptos"/>
                        <a:sym typeface="Aptos"/>
                      </a:endParaRPr>
                    </a:p>
                  </a:txBody>
                  <a:tcPr marL="51431" marR="51431" marT="0" marB="0">
                    <a:lnR w="57150" cap="flat" cmpd="sng" algn="ctr">
                      <a:solidFill>
                        <a:schemeClr val="tx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1500" b="1">
                          <a:solidFill>
                            <a:schemeClr val="tx1"/>
                          </a:solidFill>
                          <a:latin typeface="Aptos"/>
                          <a:ea typeface="Aptos"/>
                          <a:cs typeface="Aptos"/>
                          <a:sym typeface="Aptos"/>
                        </a:rPr>
                        <a:t>8</a:t>
                      </a:r>
                      <a:endParaRPr sz="1500" b="1">
                        <a:solidFill>
                          <a:schemeClr val="tx1"/>
                        </a:solidFill>
                        <a:latin typeface="Aptos"/>
                        <a:ea typeface="Aptos"/>
                        <a:cs typeface="Aptos"/>
                        <a:sym typeface="Aptos"/>
                      </a:endParaRPr>
                    </a:p>
                  </a:txBody>
                  <a:tcPr marL="51431" marR="51431" marT="0" marB="0">
                    <a:lnL w="57150" cap="flat" cmpd="sng" algn="ctr">
                      <a:solidFill>
                        <a:schemeClr val="tx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1500" b="1" dirty="0">
                          <a:solidFill>
                            <a:schemeClr val="tx1"/>
                          </a:solidFill>
                          <a:latin typeface="Aptos"/>
                          <a:ea typeface="Aptos"/>
                          <a:cs typeface="Aptos"/>
                          <a:sym typeface="Aptos"/>
                        </a:rPr>
                        <a:t>16</a:t>
                      </a:r>
                      <a:endParaRPr sz="1500" b="1" dirty="0">
                        <a:solidFill>
                          <a:schemeClr val="tx1"/>
                        </a:solidFill>
                        <a:latin typeface="Aptos"/>
                        <a:ea typeface="Aptos"/>
                        <a:cs typeface="Aptos"/>
                        <a:sym typeface="Aptos"/>
                      </a:endParaRPr>
                    </a:p>
                  </a:txBody>
                  <a:tcPr marL="51431" marR="51431" marT="0" marB="0">
                    <a:solidFill>
                      <a:srgbClr val="8ED873"/>
                    </a:solidFill>
                  </a:tcPr>
                </a:tc>
                <a:extLst>
                  <a:ext uri="{0D108BD9-81ED-4DB2-BD59-A6C34878D82A}">
                    <a16:rowId xmlns:a16="http://schemas.microsoft.com/office/drawing/2014/main" val="2461272119"/>
                  </a:ext>
                </a:extLst>
              </a:tr>
            </a:tbl>
          </a:graphicData>
        </a:graphic>
      </p:graphicFrame>
      <p:sp>
        <p:nvSpPr>
          <p:cNvPr id="6" name="Slide Number Placeholder 5">
            <a:extLst>
              <a:ext uri="{FF2B5EF4-FFF2-40B4-BE49-F238E27FC236}">
                <a16:creationId xmlns:a16="http://schemas.microsoft.com/office/drawing/2014/main" id="{2ADE967A-B022-A20F-C368-2464F9817650}"/>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18</a:t>
            </a:fld>
            <a:endParaRPr lang="en-US" dirty="0"/>
          </a:p>
        </p:txBody>
      </p:sp>
    </p:spTree>
    <p:extLst>
      <p:ext uri="{BB962C8B-B14F-4D97-AF65-F5344CB8AC3E}">
        <p14:creationId xmlns:p14="http://schemas.microsoft.com/office/powerpoint/2010/main" val="1220320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457200" y="650048"/>
            <a:ext cx="8229600" cy="1097279"/>
          </a:xfrm>
        </p:spPr>
        <p:txBody>
          <a:bodyPr/>
          <a:lstStyle/>
          <a:p>
            <a:r>
              <a:rPr lang="en-US" sz="2800" dirty="0"/>
              <a:t>Scenario 4: Four Processors Collaborating a Different Way (Column Assignments)</a:t>
            </a:r>
            <a:br>
              <a:rPr lang="en-US" sz="2800" dirty="0"/>
            </a:br>
            <a:r>
              <a:rPr lang="en-US" sz="2800" dirty="0">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sz="quarter" idx="13"/>
          </p:nvPr>
        </p:nvSpPr>
        <p:spPr>
          <a:xfrm>
            <a:off x="457200" y="1848427"/>
            <a:ext cx="8229600" cy="4586896"/>
          </a:xfrm>
        </p:spPr>
        <p:txBody>
          <a:bodyPr/>
          <a:lstStyle/>
          <a:p>
            <a:pPr marL="342900" indent="-290513">
              <a:lnSpc>
                <a:spcPct val="107916"/>
              </a:lnSpc>
              <a:spcBef>
                <a:spcPts val="900"/>
              </a:spcBef>
              <a:buClr>
                <a:schemeClr val="dk1"/>
              </a:buClr>
              <a:buSzPts val="2500"/>
              <a:buAutoNum type="arabicPeriod"/>
            </a:pPr>
            <a:r>
              <a:rPr lang="en-US" b="1" dirty="0"/>
              <a:t>How does assigning processors by columns rather than stripes impact performance and potential errors?</a:t>
            </a:r>
            <a:br>
              <a:rPr lang="en-US" dirty="0"/>
            </a:br>
            <a:endParaRPr lang="en-US" dirty="0"/>
          </a:p>
          <a:p>
            <a:pPr marL="342900" indent="-290513">
              <a:lnSpc>
                <a:spcPct val="107916"/>
              </a:lnSpc>
              <a:spcBef>
                <a:spcPts val="900"/>
              </a:spcBef>
              <a:buClr>
                <a:schemeClr val="dk1"/>
              </a:buClr>
              <a:buSzPts val="2500"/>
              <a:buAutoNum type="arabicPeriod"/>
            </a:pPr>
            <a:r>
              <a:rPr lang="en-US" b="1" dirty="0"/>
              <a:t>How does this scenario reflect real-world issues in distributed systems?</a:t>
            </a:r>
            <a:endParaRPr lang="en-US" b="1" dirty="0">
              <a:solidFill>
                <a:schemeClr val="dk1"/>
              </a:solidFill>
              <a:ea typeface="Aptos"/>
              <a:cs typeface="Aptos"/>
              <a:sym typeface="Aptos"/>
            </a:endParaRPr>
          </a:p>
        </p:txBody>
      </p:sp>
      <p:sp>
        <p:nvSpPr>
          <p:cNvPr id="2" name="Slide Number Placeholder 5">
            <a:extLst>
              <a:ext uri="{FF2B5EF4-FFF2-40B4-BE49-F238E27FC236}">
                <a16:creationId xmlns:a16="http://schemas.microsoft.com/office/drawing/2014/main" id="{483E880D-F98E-44CA-FB11-141C50C2052E}"/>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19</a:t>
            </a:fld>
            <a:endParaRPr lang="en-US" dirty="0"/>
          </a:p>
        </p:txBody>
      </p:sp>
    </p:spTree>
    <p:extLst>
      <p:ext uri="{BB962C8B-B14F-4D97-AF65-F5344CB8AC3E}">
        <p14:creationId xmlns:p14="http://schemas.microsoft.com/office/powerpoint/2010/main" val="3428333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6C62DFE-E2D1-6882-F8F5-6BD577FFCE53}"/>
              </a:ext>
            </a:extLst>
          </p:cNvPr>
          <p:cNvSpPr>
            <a:spLocks noGrp="1"/>
          </p:cNvSpPr>
          <p:nvPr>
            <p:ph type="title"/>
          </p:nvPr>
        </p:nvSpPr>
        <p:spPr/>
        <p:txBody>
          <a:bodyPr/>
          <a:lstStyle/>
          <a:p>
            <a:r>
              <a:rPr lang="en-US" sz="2800" dirty="0"/>
              <a:t>How Does Assigning Processors by Columns Impact Performance?</a:t>
            </a:r>
          </a:p>
        </p:txBody>
      </p:sp>
      <p:sp>
        <p:nvSpPr>
          <p:cNvPr id="8" name="Content Placeholder 7">
            <a:extLst>
              <a:ext uri="{FF2B5EF4-FFF2-40B4-BE49-F238E27FC236}">
                <a16:creationId xmlns:a16="http://schemas.microsoft.com/office/drawing/2014/main" id="{CC077BF0-3AF3-9082-1726-94AB67343008}"/>
              </a:ext>
            </a:extLst>
          </p:cNvPr>
          <p:cNvSpPr>
            <a:spLocks noGrp="1"/>
          </p:cNvSpPr>
          <p:nvPr>
            <p:ph sz="quarter" idx="13"/>
          </p:nvPr>
        </p:nvSpPr>
        <p:spPr/>
        <p:txBody>
          <a:bodyPr/>
          <a:lstStyle/>
          <a:p>
            <a:r>
              <a:rPr lang="en-US" b="1" dirty="0"/>
              <a:t>Efficiency in Task Distribution</a:t>
            </a:r>
            <a:r>
              <a:rPr lang="en-US" dirty="0"/>
              <a:t>:</a:t>
            </a:r>
            <a:br>
              <a:rPr lang="en-US" dirty="0"/>
            </a:br>
            <a:r>
              <a:rPr lang="en-US" dirty="0"/>
              <a:t>Assigning processors by columns allows each to handle portions across all colors, potentially speeding up tasks when coloring large sections by stripe is inefficient.</a:t>
            </a:r>
          </a:p>
          <a:p>
            <a:r>
              <a:rPr lang="en-US" b="1" dirty="0"/>
              <a:t>Challenges at Boundaries</a:t>
            </a:r>
            <a:r>
              <a:rPr lang="en-US" dirty="0"/>
              <a:t>:</a:t>
            </a:r>
            <a:br>
              <a:rPr lang="en-US" dirty="0"/>
            </a:br>
            <a:r>
              <a:rPr lang="en-US" dirty="0"/>
              <a:t>Processors risk overlapping at the edges of their assigned columns, leading to potential errors or race conditions.</a:t>
            </a:r>
          </a:p>
          <a:p>
            <a:r>
              <a:rPr lang="en-US" b="1" dirty="0"/>
              <a:t>Error Mitigation</a:t>
            </a:r>
            <a:r>
              <a:rPr lang="en-US" dirty="0"/>
              <a:t>:</a:t>
            </a:r>
            <a:br>
              <a:rPr lang="en-US" dirty="0"/>
            </a:br>
            <a:r>
              <a:rPr lang="en-US" dirty="0"/>
              <a:t>Clear separation of workspaces or boundary management is essential to avoid stepping into other processors’ tasks.</a:t>
            </a:r>
          </a:p>
        </p:txBody>
      </p:sp>
      <p:sp>
        <p:nvSpPr>
          <p:cNvPr id="6" name="Slide Number Placeholder 5">
            <a:extLst>
              <a:ext uri="{FF2B5EF4-FFF2-40B4-BE49-F238E27FC236}">
                <a16:creationId xmlns:a16="http://schemas.microsoft.com/office/drawing/2014/main" id="{69A17BB0-E32A-3FBD-A110-FD78B4A5B5FD}"/>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20</a:t>
            </a:fld>
            <a:endParaRPr lang="en-US" dirty="0"/>
          </a:p>
        </p:txBody>
      </p:sp>
    </p:spTree>
    <p:extLst>
      <p:ext uri="{BB962C8B-B14F-4D97-AF65-F5344CB8AC3E}">
        <p14:creationId xmlns:p14="http://schemas.microsoft.com/office/powerpoint/2010/main" val="2813850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CD8C9F5-326B-432E-755C-214E66AD6D78}"/>
              </a:ext>
            </a:extLst>
          </p:cNvPr>
          <p:cNvSpPr>
            <a:spLocks noGrp="1"/>
          </p:cNvSpPr>
          <p:nvPr>
            <p:ph type="title"/>
          </p:nvPr>
        </p:nvSpPr>
        <p:spPr/>
        <p:txBody>
          <a:bodyPr/>
          <a:lstStyle/>
          <a:p>
            <a:r>
              <a:rPr lang="en-US" sz="2800" b="1" dirty="0"/>
              <a:t>Real-World Reflection: Distributed Systems</a:t>
            </a:r>
            <a:endParaRPr lang="en-US" sz="2800" dirty="0"/>
          </a:p>
        </p:txBody>
      </p:sp>
      <p:sp>
        <p:nvSpPr>
          <p:cNvPr id="8" name="Content Placeholder 7">
            <a:extLst>
              <a:ext uri="{FF2B5EF4-FFF2-40B4-BE49-F238E27FC236}">
                <a16:creationId xmlns:a16="http://schemas.microsoft.com/office/drawing/2014/main" id="{314C685B-3D29-E870-7B49-B74ACF9A266E}"/>
              </a:ext>
            </a:extLst>
          </p:cNvPr>
          <p:cNvSpPr>
            <a:spLocks noGrp="1"/>
          </p:cNvSpPr>
          <p:nvPr>
            <p:ph sz="quarter" idx="13"/>
          </p:nvPr>
        </p:nvSpPr>
        <p:spPr/>
        <p:txBody>
          <a:bodyPr/>
          <a:lstStyle/>
          <a:p>
            <a:r>
              <a:rPr lang="en-US" b="1" dirty="0"/>
              <a:t>Pipelining</a:t>
            </a:r>
            <a:endParaRPr lang="en-US" dirty="0"/>
          </a:p>
          <a:p>
            <a:pPr lvl="1"/>
            <a:r>
              <a:rPr lang="en-US" sz="2000" dirty="0"/>
              <a:t>Pipelining is a technique used in computer systems to improve efficiency by organizing tasks into sequential stages. Stages in Scenario 4: coloring Red-&gt;Blue-&gt;Yellow-&gt;Green</a:t>
            </a:r>
          </a:p>
          <a:p>
            <a:pPr lvl="1"/>
            <a:r>
              <a:rPr lang="en-US" sz="2000" dirty="0"/>
              <a:t>Processors pass work between stages, maintain steady progress (e.g. marker sharing). Pipelining benefits systems by keeping all components active once initiated. </a:t>
            </a:r>
          </a:p>
          <a:p>
            <a:r>
              <a:rPr lang="en-US" b="1" dirty="0"/>
              <a:t>Contention and Dependencies</a:t>
            </a:r>
          </a:p>
          <a:p>
            <a:pPr lvl="1"/>
            <a:r>
              <a:rPr lang="en-US" sz="2000" dirty="0"/>
              <a:t>Contention occurs when processors compete for shared resources (e.g., markers in this activity)</a:t>
            </a:r>
          </a:p>
          <a:p>
            <a:pPr lvl="1"/>
            <a:r>
              <a:rPr lang="en-US" sz="2000" dirty="0"/>
              <a:t>Dependencies: Certain tasks require others to finish before proceeding (e.g., coloring red before blue)</a:t>
            </a:r>
          </a:p>
          <a:p>
            <a:pPr lvl="1"/>
            <a:r>
              <a:rPr lang="en-US" sz="2000" dirty="0"/>
              <a:t>Adding resources (e.g. more markers) can reduce contention but not eliminate dependencies.</a:t>
            </a:r>
          </a:p>
        </p:txBody>
      </p:sp>
      <p:sp>
        <p:nvSpPr>
          <p:cNvPr id="6" name="Slide Number Placeholder 5">
            <a:extLst>
              <a:ext uri="{FF2B5EF4-FFF2-40B4-BE49-F238E27FC236}">
                <a16:creationId xmlns:a16="http://schemas.microsoft.com/office/drawing/2014/main" id="{786CFBBC-C5B2-F971-ACD0-FC6F9A66C8AF}"/>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21</a:t>
            </a:fld>
            <a:endParaRPr lang="en-US" dirty="0"/>
          </a:p>
        </p:txBody>
      </p:sp>
    </p:spTree>
    <p:extLst>
      <p:ext uri="{BB962C8B-B14F-4D97-AF65-F5344CB8AC3E}">
        <p14:creationId xmlns:p14="http://schemas.microsoft.com/office/powerpoint/2010/main" val="795665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9DAF-213B-36A7-A8B2-56ABC8628AF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BD2B35-5006-9AA7-754B-8261D57D708D}"/>
              </a:ext>
            </a:extLst>
          </p:cNvPr>
          <p:cNvSpPr>
            <a:spLocks noGrp="1"/>
          </p:cNvSpPr>
          <p:nvPr>
            <p:ph type="title"/>
          </p:nvPr>
        </p:nvSpPr>
        <p:spPr/>
        <p:txBody>
          <a:bodyPr/>
          <a:lstStyle/>
          <a:p>
            <a:r>
              <a:rPr lang="en-US" sz="2800" b="1" dirty="0"/>
              <a:t>Real-World Reflection: Distributed Systems</a:t>
            </a:r>
            <a:endParaRPr lang="en-US" sz="2800" dirty="0"/>
          </a:p>
        </p:txBody>
      </p:sp>
      <p:sp>
        <p:nvSpPr>
          <p:cNvPr id="8" name="Content Placeholder 7">
            <a:extLst>
              <a:ext uri="{FF2B5EF4-FFF2-40B4-BE49-F238E27FC236}">
                <a16:creationId xmlns:a16="http://schemas.microsoft.com/office/drawing/2014/main" id="{BA0A7FA6-33CF-D01E-659A-2AD8029C85C6}"/>
              </a:ext>
            </a:extLst>
          </p:cNvPr>
          <p:cNvSpPr>
            <a:spLocks noGrp="1"/>
          </p:cNvSpPr>
          <p:nvPr>
            <p:ph sz="quarter" idx="13"/>
          </p:nvPr>
        </p:nvSpPr>
        <p:spPr/>
        <p:txBody>
          <a:bodyPr/>
          <a:lstStyle/>
          <a:p>
            <a:r>
              <a:rPr lang="en-US" b="1" dirty="0"/>
              <a:t>Spatial Task Allocation</a:t>
            </a:r>
            <a:r>
              <a:rPr lang="en-US" dirty="0"/>
              <a:t>:</a:t>
            </a:r>
            <a:br>
              <a:rPr lang="en-US" dirty="0"/>
            </a:br>
            <a:r>
              <a:rPr lang="en-US" dirty="0"/>
              <a:t>Distributed systems often divide tasks spatially, similar to assigning processors to columns.</a:t>
            </a:r>
          </a:p>
          <a:p>
            <a:r>
              <a:rPr lang="en-US" b="1" dirty="0"/>
              <a:t>Boundary Management</a:t>
            </a:r>
            <a:r>
              <a:rPr lang="en-US" dirty="0"/>
              <a:t>:</a:t>
            </a:r>
            <a:br>
              <a:rPr lang="en-US" dirty="0"/>
            </a:br>
            <a:r>
              <a:rPr lang="en-US" dirty="0"/>
              <a:t>Overlaps or conflicts at task boundaries mimic real-world issues like race conditions in distributed systems.</a:t>
            </a:r>
          </a:p>
          <a:p>
            <a:r>
              <a:rPr lang="en-US" b="1" dirty="0"/>
              <a:t>Coordination Protocols</a:t>
            </a:r>
            <a:r>
              <a:rPr lang="en-US" dirty="0"/>
              <a:t>:</a:t>
            </a:r>
            <a:br>
              <a:rPr lang="en-US" dirty="0"/>
            </a:br>
            <a:r>
              <a:rPr lang="en-US" dirty="0"/>
              <a:t>Robust systems implement protocols to synchronize operations and ensure data integrity, just as processors need coordination here.</a:t>
            </a:r>
          </a:p>
        </p:txBody>
      </p:sp>
      <p:sp>
        <p:nvSpPr>
          <p:cNvPr id="6" name="Slide Number Placeholder 5">
            <a:extLst>
              <a:ext uri="{FF2B5EF4-FFF2-40B4-BE49-F238E27FC236}">
                <a16:creationId xmlns:a16="http://schemas.microsoft.com/office/drawing/2014/main" id="{8F6B40BB-F094-4043-34C8-1C3B996A6C88}"/>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22</a:t>
            </a:fld>
            <a:endParaRPr lang="en-US" dirty="0"/>
          </a:p>
        </p:txBody>
      </p:sp>
    </p:spTree>
    <p:extLst>
      <p:ext uri="{BB962C8B-B14F-4D97-AF65-F5344CB8AC3E}">
        <p14:creationId xmlns:p14="http://schemas.microsoft.com/office/powerpoint/2010/main" val="3247623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F1028-50A0-E9C8-416D-354A5ABBC0CB}"/>
              </a:ext>
            </a:extLst>
          </p:cNvPr>
          <p:cNvSpPr>
            <a:spLocks noGrp="1"/>
          </p:cNvSpPr>
          <p:nvPr>
            <p:ph type="title"/>
          </p:nvPr>
        </p:nvSpPr>
        <p:spPr/>
        <p:txBody>
          <a:bodyPr/>
          <a:lstStyle/>
          <a:p>
            <a:r>
              <a:rPr lang="en-US" dirty="0"/>
              <a:t>Animation</a:t>
            </a:r>
          </a:p>
        </p:txBody>
      </p:sp>
      <p:sp>
        <p:nvSpPr>
          <p:cNvPr id="3" name="Content Placeholder 2">
            <a:extLst>
              <a:ext uri="{FF2B5EF4-FFF2-40B4-BE49-F238E27FC236}">
                <a16:creationId xmlns:a16="http://schemas.microsoft.com/office/drawing/2014/main" id="{083CE776-400E-0F76-3D22-BB4BEB6DC7C1}"/>
              </a:ext>
            </a:extLst>
          </p:cNvPr>
          <p:cNvSpPr>
            <a:spLocks noGrp="1"/>
          </p:cNvSpPr>
          <p:nvPr>
            <p:ph sz="quarter" idx="13"/>
          </p:nvPr>
        </p:nvSpPr>
        <p:spPr/>
        <p:txBody>
          <a:bodyPr/>
          <a:lstStyle/>
          <a:p>
            <a:r>
              <a:rPr lang="en-US" dirty="0">
                <a:hlinkClick r:id="rId2"/>
              </a:rPr>
              <a:t>https://raw.githack.com/xiaoyuansuo51-webster/Flag_Coloring_Activity/refs/heads/main/flags.html</a:t>
            </a:r>
            <a:endParaRPr lang="en-US" dirty="0"/>
          </a:p>
          <a:p>
            <a:endParaRPr lang="en-US" dirty="0"/>
          </a:p>
        </p:txBody>
      </p:sp>
      <p:sp>
        <p:nvSpPr>
          <p:cNvPr id="4" name="Content Placeholder 3">
            <a:extLst>
              <a:ext uri="{FF2B5EF4-FFF2-40B4-BE49-F238E27FC236}">
                <a16:creationId xmlns:a16="http://schemas.microsoft.com/office/drawing/2014/main" id="{84D25E60-5074-5EEB-2591-0BE83EC899F0}"/>
              </a:ext>
            </a:extLst>
          </p:cNvPr>
          <p:cNvSpPr>
            <a:spLocks noGrp="1"/>
          </p:cNvSpPr>
          <p:nvPr>
            <p:ph sz="quarter" idx="14"/>
          </p:nvPr>
        </p:nvSpPr>
        <p:spPr/>
        <p:txBody>
          <a:bodyPr/>
          <a:lstStyle/>
          <a:p>
            <a:r>
              <a:rPr lang="en-US" dirty="0">
                <a:hlinkClick r:id="rId3"/>
              </a:rPr>
              <a:t>https://raw.githack.com/xiaoyuansuo51-webster/Flag_Coloring_Activity/refs/heads/main/parallel_linked_list.html</a:t>
            </a:r>
            <a:endParaRPr lang="en-US" dirty="0"/>
          </a:p>
          <a:p>
            <a:endParaRPr lang="en-US" dirty="0"/>
          </a:p>
        </p:txBody>
      </p:sp>
      <p:sp>
        <p:nvSpPr>
          <p:cNvPr id="6" name="Slide Number Placeholder 5">
            <a:extLst>
              <a:ext uri="{FF2B5EF4-FFF2-40B4-BE49-F238E27FC236}">
                <a16:creationId xmlns:a16="http://schemas.microsoft.com/office/drawing/2014/main" id="{44FDE604-BFB6-DCA8-AAFB-421468FEDEFA}"/>
              </a:ext>
            </a:extLst>
          </p:cNvPr>
          <p:cNvSpPr>
            <a:spLocks noGrp="1"/>
          </p:cNvSpPr>
          <p:nvPr>
            <p:ph type="sldNum" idx="4"/>
          </p:nvPr>
        </p:nvSpPr>
        <p:spPr/>
        <p:txBody>
          <a:bodyPr/>
          <a:lstStyle/>
          <a:p>
            <a:pPr algn="r">
              <a:buSzPct val="25000"/>
              <a:defRPr/>
            </a:pPr>
            <a:fld id="{00000000-1234-1234-1234-123412341234}" type="slidenum">
              <a:rPr lang="en-US" smtClean="0"/>
              <a:pPr algn="r">
                <a:buSzPct val="25000"/>
                <a:defRPr/>
              </a:pPr>
              <a:t>23</a:t>
            </a:fld>
            <a:endParaRPr lang="en-US" dirty="0"/>
          </a:p>
        </p:txBody>
      </p:sp>
    </p:spTree>
    <p:extLst>
      <p:ext uri="{BB962C8B-B14F-4D97-AF65-F5344CB8AC3E}">
        <p14:creationId xmlns:p14="http://schemas.microsoft.com/office/powerpoint/2010/main" val="3522263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p:txBody>
          <a:bodyPr/>
          <a:lstStyle/>
          <a:p>
            <a:r>
              <a:rPr lang="en-US" sz="2800" dirty="0"/>
              <a:t>STEP 3: Post-Activity Quiz</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p:txBody>
          <a:bodyPr lIns="0" tIns="342900" rIns="0" bIns="0" anchor="t" anchorCtr="0">
            <a:normAutofit/>
          </a:bodyPr>
          <a:lstStyle/>
          <a:p>
            <a:pPr marL="0" indent="0">
              <a:buNone/>
            </a:pPr>
            <a:r>
              <a:rPr lang="en-US" dirty="0"/>
              <a:t>Please take the post-activity quiz to assess the knowledge of the lab.</a:t>
            </a:r>
            <a:r>
              <a:rPr lang="zh-CN" altLang="en-US" dirty="0"/>
              <a:t> </a:t>
            </a:r>
            <a:endParaRPr lang="en-US" dirty="0"/>
          </a:p>
        </p:txBody>
      </p:sp>
      <p:sp>
        <p:nvSpPr>
          <p:cNvPr id="4" name="Slide Number Placeholder 5">
            <a:extLst>
              <a:ext uri="{FF2B5EF4-FFF2-40B4-BE49-F238E27FC236}">
                <a16:creationId xmlns:a16="http://schemas.microsoft.com/office/drawing/2014/main" id="{86665090-0947-074D-2C2F-74D54F331EA6}"/>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24</a:t>
            </a:fld>
            <a:endParaRPr lang="en-US" dirty="0"/>
          </a:p>
        </p:txBody>
      </p:sp>
    </p:spTree>
    <p:extLst>
      <p:ext uri="{BB962C8B-B14F-4D97-AF65-F5344CB8AC3E}">
        <p14:creationId xmlns:p14="http://schemas.microsoft.com/office/powerpoint/2010/main" val="3724670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02F3A-5895-C0A2-A22D-C73BA5B07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F693E-F39E-BE0B-8188-67EA6C813E39}"/>
              </a:ext>
            </a:extLst>
          </p:cNvPr>
          <p:cNvSpPr>
            <a:spLocks noGrp="1"/>
          </p:cNvSpPr>
          <p:nvPr>
            <p:ph type="title"/>
          </p:nvPr>
        </p:nvSpPr>
        <p:spPr/>
        <p:txBody>
          <a:bodyPr/>
          <a:lstStyle/>
          <a:p>
            <a:r>
              <a:rPr lang="en-US" sz="2800" dirty="0"/>
              <a:t>STEP 4: Post-Activity Survey</a:t>
            </a:r>
          </a:p>
        </p:txBody>
      </p:sp>
      <p:sp>
        <p:nvSpPr>
          <p:cNvPr id="3" name="Text Placeholder 2">
            <a:extLst>
              <a:ext uri="{FF2B5EF4-FFF2-40B4-BE49-F238E27FC236}">
                <a16:creationId xmlns:a16="http://schemas.microsoft.com/office/drawing/2014/main" id="{1719DA2F-FC09-04C8-9B1F-0B63B807CF00}"/>
              </a:ext>
            </a:extLst>
          </p:cNvPr>
          <p:cNvSpPr>
            <a:spLocks noGrp="1"/>
          </p:cNvSpPr>
          <p:nvPr>
            <p:ph sz="quarter" idx="13"/>
          </p:nvPr>
        </p:nvSpPr>
        <p:spPr/>
        <p:txBody>
          <a:bodyPr lIns="0" tIns="342900" rIns="0" bIns="0" anchor="t" anchorCtr="0">
            <a:normAutofit/>
          </a:bodyPr>
          <a:lstStyle/>
          <a:p>
            <a:pPr marL="0" indent="0">
              <a:buNone/>
            </a:pPr>
            <a:endParaRPr lang="en-US" dirty="0"/>
          </a:p>
        </p:txBody>
      </p:sp>
      <p:sp>
        <p:nvSpPr>
          <p:cNvPr id="4" name="Slide Number Placeholder 5">
            <a:extLst>
              <a:ext uri="{FF2B5EF4-FFF2-40B4-BE49-F238E27FC236}">
                <a16:creationId xmlns:a16="http://schemas.microsoft.com/office/drawing/2014/main" id="{D8362825-4F74-268F-EA65-15CB95F0DB2D}"/>
              </a:ext>
            </a:extLst>
          </p:cNvPr>
          <p:cNvSpPr>
            <a:spLocks noGrp="1"/>
          </p:cNvSpPr>
          <p:nvPr>
            <p:ph type="sldNum" idx="4"/>
          </p:nvPr>
        </p:nvSpPr>
        <p:spPr>
          <a:xfrm>
            <a:off x="8469311" y="113071"/>
            <a:ext cx="551783" cy="182879"/>
          </a:xfrm>
        </p:spPr>
        <p:txBody>
          <a:bodyPr/>
          <a:lstStyle/>
          <a:p>
            <a:pPr algn="r">
              <a:buSzPct val="25000"/>
              <a:defRPr/>
            </a:pPr>
            <a:fld id="{00000000-1234-1234-1234-123412341234}" type="slidenum">
              <a:rPr lang="en-US" smtClean="0"/>
              <a:pPr algn="r">
                <a:buSzPct val="25000"/>
                <a:defRPr/>
              </a:pPr>
              <a:t>25</a:t>
            </a:fld>
            <a:endParaRPr lang="en-US" dirty="0"/>
          </a:p>
        </p:txBody>
      </p:sp>
    </p:spTree>
    <p:extLst>
      <p:ext uri="{BB962C8B-B14F-4D97-AF65-F5344CB8AC3E}">
        <p14:creationId xmlns:p14="http://schemas.microsoft.com/office/powerpoint/2010/main" val="3612286628"/>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163419</TotalTime>
  <Words>2408</Words>
  <Application>Microsoft Macintosh PowerPoint</Application>
  <PresentationFormat>On-screen Show (4:3)</PresentationFormat>
  <Paragraphs>438</Paragraphs>
  <Slides>25</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Eras Bold ITC</vt:lpstr>
      <vt:lpstr>Verdana</vt:lpstr>
      <vt:lpstr>Noto Sans Symbols</vt:lpstr>
      <vt:lpstr>Aptos</vt:lpstr>
      <vt:lpstr>Arial</vt:lpstr>
      <vt:lpstr>Times New Roman</vt:lpstr>
      <vt:lpstr>USHE</vt:lpstr>
      <vt:lpstr>USHE_slide options</vt:lpstr>
      <vt:lpstr>CSIT 111: Fundamentals of Programming I</vt:lpstr>
      <vt:lpstr>STEP 1:Pre-activity Quiz</vt:lpstr>
      <vt:lpstr>STEP TWO: FlagMaker Activity</vt:lpstr>
      <vt:lpstr>FlagMaker Activity</vt:lpstr>
      <vt:lpstr>Scenario 1: A Single Processor</vt:lpstr>
      <vt:lpstr>Scenario 1: A Single Processor QUESTIONS</vt:lpstr>
      <vt:lpstr>Why does this process take a long time with only one “processor”?</vt:lpstr>
      <vt:lpstr>How Could This Approach Cause Inefficiency in More Complex Tasks?</vt:lpstr>
      <vt:lpstr>Scenario 2: Two Processors Collaborating</vt:lpstr>
      <vt:lpstr>Scenario 2: Two Processors Collaborating QUESTIONS</vt:lpstr>
      <vt:lpstr>How Does the Addition of a Second Processor Impact Completion Time?</vt:lpstr>
      <vt:lpstr>What Potential Problems Could Arise if Tasks Overlap?</vt:lpstr>
      <vt:lpstr>Scenario 3: Four Processors Collaborating</vt:lpstr>
      <vt:lpstr>Scenario 3: Four Processors Collaborating QUESTIONS</vt:lpstr>
      <vt:lpstr>How Does Using Four Processors Improve Efficiency?</vt:lpstr>
      <vt:lpstr>How Does Using Four Processors Improve Efficiency?</vt:lpstr>
      <vt:lpstr>What Happens if One Processor Finishes Early?</vt:lpstr>
      <vt:lpstr>Scenario 4: Four Processors Collaborating a Different Way (Column Assignments)</vt:lpstr>
      <vt:lpstr>Scenario 4: Four Processors Collaborating a Different Way (Column Assignments) QUESTIONS</vt:lpstr>
      <vt:lpstr>How Does Assigning Processors by Columns Impact Performance?</vt:lpstr>
      <vt:lpstr>Real-World Reflection: Distributed Systems</vt:lpstr>
      <vt:lpstr>Real-World Reflection: Distributed Systems</vt:lpstr>
      <vt:lpstr>Animation</vt:lpstr>
      <vt:lpstr>STEP 3: Post-Activity Quiz</vt:lpstr>
      <vt:lpstr>STEP 4: Post-Activity Survey</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Software Solutions: Foundations of Program Design, Tenth Edition, Chapter 9, Inheritance</dc:title>
  <dc:subject>Higher Education</dc:subject>
  <dc:creator>Lewis/Loftus</dc:creator>
  <cp:keywords>Java Software Solutions</cp:keywords>
  <dc:description>This deck contains code snippets and screen reader users may need to increase verbosity levels; Long description alt-text is inserted in the notes pane.</dc:description>
  <cp:lastModifiedBy>Jiayin Wang</cp:lastModifiedBy>
  <cp:revision>1749</cp:revision>
  <cp:lastPrinted>2024-12-05T13:47:51Z</cp:lastPrinted>
  <dcterms:modified xsi:type="dcterms:W3CDTF">2026-07-24T00:54:05Z</dcterms:modified>
</cp:coreProperties>
</file>
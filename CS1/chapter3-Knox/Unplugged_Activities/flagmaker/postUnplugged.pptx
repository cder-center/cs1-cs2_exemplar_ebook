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2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94756"/>
  </p:normalViewPr>
  <p:slideViewPr>
    <p:cSldViewPr snapToGrid="0">
      <p:cViewPr varScale="1">
        <p:scale>
          <a:sx n="114" d="100"/>
          <a:sy n="114" d="100"/>
        </p:scale>
        <p:origin x="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C9D3-A4D7-BF9D-BB4F-3B4DF3475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EFD24-54D4-1AA2-59B2-9DE4A5A6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410F-C47D-B48D-25A0-0E4A623F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7D510-0D20-D9C5-149C-88F2DBE0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75BA-3C49-F26D-23D0-DAFF993F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3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CD7A-064E-C783-E5BA-D33D00BF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CD74C-4917-B80A-C937-B05B2C7B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DBDFF-0B6B-ACD3-1C47-CA236674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ACCCB-FFA2-9390-C8E0-77E960B4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653B-510A-0421-B77B-8BF93641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0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1DD5-AE47-2BE4-BAE1-9C3EE446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5904-5F45-5EEF-5EC4-342B29196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D7F05-4D7A-9CBF-F985-48D9E11A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CDC7B-8277-264D-6E9F-D092720C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EB8F-8D62-FF8A-F00B-15525771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62DA-6321-0B23-295F-07554A8A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1E35-8AA8-FBA5-7439-9674D9199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91581-8C24-4095-1DA1-C08F989FA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54659-BFF1-C25D-5E7C-9128BA3DF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6105C-EE06-F521-310F-126F85CB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901EE-FE6D-D21F-8E29-01E9BEA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559A-A01F-8985-32EF-36D33332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56D7-8C6F-499E-6416-6CD82521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5876-9099-1651-5217-B5DE2FBF8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5CCFF-25EC-4114-B68A-1B56CF58F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567A9-70CE-2318-DB0F-AEC952ACA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8AF62-D7BB-B709-F16A-88DDAD55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0F1A5-899F-31D8-3149-ACFF0B0D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EEBDB-2B94-CEF2-FBAF-2571FC3B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4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0381-6DB3-A8AF-952B-CBEBD74D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1AA39-EF98-D4B9-56D2-472E5CF2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2F9FF-6EAA-C88D-EB23-398B1D7F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017E0-4AC0-0D61-43BB-A3EBC2D8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6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C433D-9649-8D9C-805F-7D9378CA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19731-735D-CF60-9361-CB2C2BF7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4318-807B-D414-874E-A38C8422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4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C549-CD01-CE37-A093-EB687F9E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D4BA-68C6-E49D-9929-E35F53F7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2C482-B9B3-D2B6-0C28-233AC9679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2DA32-AF92-966F-A245-5372D8F1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D58AA-2380-8E37-DE10-B1C22D63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8ED20-51E1-615C-1B62-75A3A65D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3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6DC5-03DF-695C-E209-E1EEE4C0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5806D-9932-76E9-F5C4-38A0F9516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A8F0F-F1E3-C240-D884-BC2C104EA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B300C-FB85-8F74-1FFF-1AD8C591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F40DA-E79B-27DA-776D-B68F7871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702F-7695-470E-B3AA-3E7DE03A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984D-978B-918F-6CC9-F65E6B41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09DF7-85B7-E033-0840-0BC8F0482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E57E6-2DCD-A9D2-0B94-7113BA96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206E2-956B-5C2B-404B-470E6C9E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D6996-239E-8759-1C9E-A8F03801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5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5F858-73EE-9985-A621-4D029CFBE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736EE-586E-DC0B-4176-FDB01A71E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3818-E3DA-89E0-7766-6FAF93CE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58689-4902-08A8-7DC4-B7F4DACE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82E38-7C47-3D18-19E7-726AE7FE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4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FCA6C-6EFE-36E6-5209-3BBEA443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1BF76-1B70-591D-BC93-A096E907B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37B3-D81E-455B-4C2A-8C1B53B6D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A0B44-3972-1C47-A0B1-D757917130E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FF56A-5140-C4F5-47DA-E3EE7E5D9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DB38C-BDE4-3E49-8291-EA8E6831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15830-328E-7847-B406-B68A261A3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4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first cell that this code colors?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27756399"/>
              </p:ext>
            </p:extLst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888E8F-2A1A-FD44-773B-74C42129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90688"/>
            <a:ext cx="5181600" cy="4351338"/>
          </a:xfrm>
        </p:spPr>
        <p:txBody>
          <a:bodyPr/>
          <a:lstStyle/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rows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g.getNumRows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cols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g.getNumCols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for(int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=0;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&lt;rows;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++)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for(int j=0; j&lt;cols;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j++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    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g.setColor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j,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Color.RED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     }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}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09DC3-F4F6-5DA0-AD85-6268074B9B67}"/>
              </a:ext>
            </a:extLst>
          </p:cNvPr>
          <p:cNvSpPr txBox="1"/>
          <p:nvPr/>
        </p:nvSpPr>
        <p:spPr>
          <a:xfrm>
            <a:off x="6467061" y="2034872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11EF4-4DBB-54D2-D38D-06C6E28AD44C}"/>
              </a:ext>
            </a:extLst>
          </p:cNvPr>
          <p:cNvSpPr txBox="1"/>
          <p:nvPr/>
        </p:nvSpPr>
        <p:spPr>
          <a:xfrm>
            <a:off x="7616035" y="5167312"/>
            <a:ext cx="2910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E: None of the above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EE2CB-87F6-CA2C-2692-11E56B83CDD9}"/>
              </a:ext>
            </a:extLst>
          </p:cNvPr>
          <p:cNvSpPr txBox="1"/>
          <p:nvPr/>
        </p:nvSpPr>
        <p:spPr>
          <a:xfrm>
            <a:off x="6453809" y="4398238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6CD9D-81D0-B278-6A98-5D2AD3898575}"/>
              </a:ext>
            </a:extLst>
          </p:cNvPr>
          <p:cNvSpPr txBox="1"/>
          <p:nvPr/>
        </p:nvSpPr>
        <p:spPr>
          <a:xfrm>
            <a:off x="11331055" y="204812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A70-E0A1-27FC-79E0-432CC44D2A59}"/>
              </a:ext>
            </a:extLst>
          </p:cNvPr>
          <p:cNvSpPr txBox="1"/>
          <p:nvPr/>
        </p:nvSpPr>
        <p:spPr>
          <a:xfrm>
            <a:off x="11318231" y="437918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4555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first cell that this code colors?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888E8F-2A1A-FD44-773B-74C42129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90688"/>
            <a:ext cx="5181600" cy="4351338"/>
          </a:xfrm>
        </p:spPr>
        <p:txBody>
          <a:bodyPr/>
          <a:lstStyle/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rows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g.getNumRows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cols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g.getNumCols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for(int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=0;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&lt;rows;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++)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for(int j=0; j&lt;cols;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j++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    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g.setColor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j,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Color.RED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     }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09DC3-F4F6-5DA0-AD85-6268074B9B67}"/>
              </a:ext>
            </a:extLst>
          </p:cNvPr>
          <p:cNvSpPr txBox="1"/>
          <p:nvPr/>
        </p:nvSpPr>
        <p:spPr>
          <a:xfrm>
            <a:off x="6467061" y="2034872"/>
            <a:ext cx="36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11EF4-4DBB-54D2-D38D-06C6E28AD44C}"/>
              </a:ext>
            </a:extLst>
          </p:cNvPr>
          <p:cNvSpPr txBox="1"/>
          <p:nvPr/>
        </p:nvSpPr>
        <p:spPr>
          <a:xfrm>
            <a:off x="7616035" y="5167312"/>
            <a:ext cx="2910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E: None of the above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EE2CB-87F6-CA2C-2692-11E56B83CDD9}"/>
              </a:ext>
            </a:extLst>
          </p:cNvPr>
          <p:cNvSpPr txBox="1"/>
          <p:nvPr/>
        </p:nvSpPr>
        <p:spPr>
          <a:xfrm>
            <a:off x="6453809" y="4398238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6CD9D-81D0-B278-6A98-5D2AD3898575}"/>
              </a:ext>
            </a:extLst>
          </p:cNvPr>
          <p:cNvSpPr txBox="1"/>
          <p:nvPr/>
        </p:nvSpPr>
        <p:spPr>
          <a:xfrm>
            <a:off x="11331055" y="204812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A70-E0A1-27FC-79E0-432CC44D2A59}"/>
              </a:ext>
            </a:extLst>
          </p:cNvPr>
          <p:cNvSpPr txBox="1"/>
          <p:nvPr/>
        </p:nvSpPr>
        <p:spPr>
          <a:xfrm>
            <a:off x="11318231" y="437918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5363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second cell that this code colors?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888E8F-2A1A-FD44-773B-74C42129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90688"/>
            <a:ext cx="5181600" cy="4351338"/>
          </a:xfrm>
        </p:spPr>
        <p:txBody>
          <a:bodyPr/>
          <a:lstStyle/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rows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g.getNumRows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cols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g.getNumCols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for(int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=0;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&lt;rows;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++)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for(int j=0; j&lt;cols;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j++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    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g.setColor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j,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Color.RED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     }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}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09DC3-F4F6-5DA0-AD85-6268074B9B67}"/>
              </a:ext>
            </a:extLst>
          </p:cNvPr>
          <p:cNvSpPr txBox="1"/>
          <p:nvPr/>
        </p:nvSpPr>
        <p:spPr>
          <a:xfrm>
            <a:off x="6782747" y="2034872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11EF4-4DBB-54D2-D38D-06C6E28AD44C}"/>
              </a:ext>
            </a:extLst>
          </p:cNvPr>
          <p:cNvSpPr txBox="1"/>
          <p:nvPr/>
        </p:nvSpPr>
        <p:spPr>
          <a:xfrm>
            <a:off x="7616035" y="5167312"/>
            <a:ext cx="2910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E: None of the above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EE2CB-87F6-CA2C-2692-11E56B83CDD9}"/>
              </a:ext>
            </a:extLst>
          </p:cNvPr>
          <p:cNvSpPr txBox="1"/>
          <p:nvPr/>
        </p:nvSpPr>
        <p:spPr>
          <a:xfrm>
            <a:off x="6782747" y="2402233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6CD9D-81D0-B278-6A98-5D2AD3898575}"/>
              </a:ext>
            </a:extLst>
          </p:cNvPr>
          <p:cNvSpPr txBox="1"/>
          <p:nvPr/>
        </p:nvSpPr>
        <p:spPr>
          <a:xfrm>
            <a:off x="6476024" y="239449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A70-E0A1-27FC-79E0-432CC44D2A59}"/>
              </a:ext>
            </a:extLst>
          </p:cNvPr>
          <p:cNvSpPr txBox="1"/>
          <p:nvPr/>
        </p:nvSpPr>
        <p:spPr>
          <a:xfrm>
            <a:off x="11318231" y="437918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96233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second cell that this code colors?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888E8F-2A1A-FD44-773B-74C42129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90688"/>
            <a:ext cx="5181600" cy="4351338"/>
          </a:xfrm>
        </p:spPr>
        <p:txBody>
          <a:bodyPr/>
          <a:lstStyle/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rows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g.getNumRows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 cols =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g.getNumCols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();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for(int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=0;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&lt;rows;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++)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for(int j=0; j&lt;cols;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j++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 {</a:t>
            </a:r>
            <a:endParaRPr lang="en-US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       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g.setColor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j, </a:t>
            </a:r>
            <a:r>
              <a:rPr lang="en-US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Color.RED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     }</a:t>
            </a:r>
          </a:p>
          <a:p>
            <a:pPr mar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}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09DC3-F4F6-5DA0-AD85-6268074B9B67}"/>
              </a:ext>
            </a:extLst>
          </p:cNvPr>
          <p:cNvSpPr txBox="1"/>
          <p:nvPr/>
        </p:nvSpPr>
        <p:spPr>
          <a:xfrm>
            <a:off x="6782747" y="2034872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11EF4-4DBB-54D2-D38D-06C6E28AD44C}"/>
              </a:ext>
            </a:extLst>
          </p:cNvPr>
          <p:cNvSpPr txBox="1"/>
          <p:nvPr/>
        </p:nvSpPr>
        <p:spPr>
          <a:xfrm>
            <a:off x="7616035" y="5167312"/>
            <a:ext cx="2910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E: None of the above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EE2CB-87F6-CA2C-2692-11E56B83CDD9}"/>
              </a:ext>
            </a:extLst>
          </p:cNvPr>
          <p:cNvSpPr txBox="1"/>
          <p:nvPr/>
        </p:nvSpPr>
        <p:spPr>
          <a:xfrm>
            <a:off x="6782747" y="2402233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6CD9D-81D0-B278-6A98-5D2AD3898575}"/>
              </a:ext>
            </a:extLst>
          </p:cNvPr>
          <p:cNvSpPr txBox="1"/>
          <p:nvPr/>
        </p:nvSpPr>
        <p:spPr>
          <a:xfrm>
            <a:off x="6476024" y="239449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A70-E0A1-27FC-79E0-432CC44D2A59}"/>
              </a:ext>
            </a:extLst>
          </p:cNvPr>
          <p:cNvSpPr txBox="1"/>
          <p:nvPr/>
        </p:nvSpPr>
        <p:spPr>
          <a:xfrm>
            <a:off x="11318231" y="437918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2437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would you draw the British flag?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4144978"/>
              </p:ext>
            </p:extLst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16A7B46-EF98-172D-3A4F-9FEA400F6B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199" y="2087879"/>
            <a:ext cx="4555435" cy="273326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62D10A-4940-D566-7B0B-F5A53FCCAE3B}"/>
              </a:ext>
            </a:extLst>
          </p:cNvPr>
          <p:cNvSpPr txBox="1"/>
          <p:nvPr/>
        </p:nvSpPr>
        <p:spPr>
          <a:xfrm>
            <a:off x="1258957" y="6338986"/>
            <a:ext cx="9087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en.wikipedia.org</a:t>
            </a:r>
            <a:r>
              <a:rPr lang="en-US" sz="1400" dirty="0"/>
              <a:t>/wiki/</a:t>
            </a:r>
            <a:r>
              <a:rPr lang="en-US" sz="1400" dirty="0" err="1"/>
              <a:t>Flag_of_Great_Britain</a:t>
            </a:r>
            <a:r>
              <a:rPr lang="en-US" sz="1400" dirty="0"/>
              <a:t>#/media/</a:t>
            </a:r>
            <a:r>
              <a:rPr lang="en-US" sz="1400" dirty="0" err="1"/>
              <a:t>File:Flag_of_Great_Britain</a:t>
            </a:r>
            <a:r>
              <a:rPr lang="en-US" sz="1400" dirty="0"/>
              <a:t>_(1707%E2%80%931800).</a:t>
            </a:r>
            <a:r>
              <a:rPr lang="en-US" sz="1400" dirty="0" err="1"/>
              <a:t>svg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2199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154AB-E57C-898A-2469-5FABB8C9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One strategy: Drawing “layers”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5810D3-B2FD-5D94-BECA-540C8E8E52A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8137125"/>
              </p:ext>
            </p:extLst>
          </p:nvPr>
        </p:nvGraphicFramePr>
        <p:xfrm>
          <a:off x="6480313" y="2087880"/>
          <a:ext cx="51816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AA7DC-883C-99BD-3084-85F52836D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088" y="1918390"/>
            <a:ext cx="5181600" cy="4351338"/>
          </a:xfrm>
        </p:spPr>
        <p:txBody>
          <a:bodyPr/>
          <a:lstStyle/>
          <a:p>
            <a:r>
              <a:rPr lang="en-US" dirty="0"/>
              <a:t>Color entire background blue</a:t>
            </a:r>
          </a:p>
          <a:p>
            <a:endParaRPr lang="en-US" dirty="0"/>
          </a:p>
          <a:p>
            <a:r>
              <a:rPr lang="en-US" dirty="0"/>
              <a:t>Draw white diagonals</a:t>
            </a:r>
          </a:p>
          <a:p>
            <a:endParaRPr lang="en-US" dirty="0"/>
          </a:p>
          <a:p>
            <a:r>
              <a:rPr lang="en-US" dirty="0"/>
              <a:t>Draw vertical and horizontal red lines</a:t>
            </a:r>
          </a:p>
        </p:txBody>
      </p:sp>
    </p:spTree>
    <p:extLst>
      <p:ext uri="{BB962C8B-B14F-4D97-AF65-F5344CB8AC3E}">
        <p14:creationId xmlns:p14="http://schemas.microsoft.com/office/powerpoint/2010/main" val="333756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BA5B90-32AF-E90A-EEB1-4810E49F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Advanced topic: Parallel computation</a:t>
            </a:r>
            <a:br>
              <a:rPr lang="en-US" dirty="0"/>
            </a:br>
            <a:r>
              <a:rPr lang="en-US" sz="2400" dirty="0"/>
              <a:t>(concept only now, do in later courses)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48DD5-B6EF-B5EB-60C2-50E0B2D5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computers are all multicore (dual-core, quad-core, …) so they can perform multiple operations at a time</a:t>
            </a:r>
          </a:p>
          <a:p>
            <a:endParaRPr lang="en-US" dirty="0"/>
          </a:p>
          <a:p>
            <a:r>
              <a:rPr lang="en-US" dirty="0"/>
              <a:t>Potentially speeds up some tasks, like drawing the Armenian flag</a:t>
            </a:r>
          </a:p>
          <a:p>
            <a:pPr marL="457200" lvl="1" indent="0">
              <a:buNone/>
            </a:pPr>
            <a:r>
              <a:rPr lang="en-US" dirty="0"/>
              <a:t>Simultaneously do these tasks:</a:t>
            </a:r>
          </a:p>
          <a:p>
            <a:pPr lvl="1"/>
            <a:r>
              <a:rPr lang="en-US" dirty="0"/>
              <a:t>Draw red stripe</a:t>
            </a:r>
          </a:p>
          <a:p>
            <a:pPr lvl="1"/>
            <a:r>
              <a:rPr lang="en-US" dirty="0"/>
              <a:t>Draw blue stripe</a:t>
            </a:r>
          </a:p>
          <a:p>
            <a:pPr lvl="1"/>
            <a:r>
              <a:rPr lang="en-US" dirty="0"/>
              <a:t>Draw yellow stripe</a:t>
            </a:r>
          </a:p>
        </p:txBody>
      </p:sp>
      <p:pic>
        <p:nvPicPr>
          <p:cNvPr id="8" name="Picture 7" descr="A red blue and yellow grid&#10;&#10;Description automatically generated">
            <a:extLst>
              <a:ext uri="{FF2B5EF4-FFF2-40B4-BE49-F238E27FC236}">
                <a16:creationId xmlns:a16="http://schemas.microsoft.com/office/drawing/2014/main" id="{1FE10246-CCB3-59DD-D8AD-99A2EF090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840" y="3697360"/>
            <a:ext cx="3493139" cy="177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7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BA5B90-32AF-E90A-EEB1-4810E49F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Advanced topic: Parallel computation</a:t>
            </a:r>
            <a:br>
              <a:rPr lang="en-US" dirty="0"/>
            </a:br>
            <a:r>
              <a:rPr lang="en-US" sz="2400" dirty="0"/>
              <a:t>(concept only now, do in later courses)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48DD5-B6EF-B5EB-60C2-50E0B2D5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computers are all multicore (dual-core, quad-core, …) so they can perform multiple operations at a time</a:t>
            </a:r>
          </a:p>
          <a:p>
            <a:endParaRPr lang="en-US" dirty="0"/>
          </a:p>
          <a:p>
            <a:r>
              <a:rPr lang="en-US" dirty="0"/>
              <a:t>Potentially speeds up some tasks, like drawing the Armenian flag</a:t>
            </a:r>
          </a:p>
          <a:p>
            <a:pPr marL="457200" lvl="1" indent="0">
              <a:buNone/>
            </a:pPr>
            <a:r>
              <a:rPr lang="en-US" dirty="0"/>
              <a:t>Simultaneously do these tasks:</a:t>
            </a:r>
          </a:p>
          <a:p>
            <a:pPr lvl="1"/>
            <a:r>
              <a:rPr lang="en-US" dirty="0"/>
              <a:t>Draw red stripe</a:t>
            </a:r>
          </a:p>
          <a:p>
            <a:pPr lvl="1"/>
            <a:r>
              <a:rPr lang="en-US" dirty="0"/>
              <a:t>Draw blue stripe</a:t>
            </a:r>
          </a:p>
          <a:p>
            <a:pPr lvl="1"/>
            <a:r>
              <a:rPr lang="en-US" dirty="0"/>
              <a:t>Draw yellow stripe</a:t>
            </a:r>
          </a:p>
        </p:txBody>
      </p:sp>
      <p:pic>
        <p:nvPicPr>
          <p:cNvPr id="8" name="Picture 7" descr="A red blue and yellow grid&#10;&#10;Description automatically generated">
            <a:extLst>
              <a:ext uri="{FF2B5EF4-FFF2-40B4-BE49-F238E27FC236}">
                <a16:creationId xmlns:a16="http://schemas.microsoft.com/office/drawing/2014/main" id="{1FE10246-CCB3-59DD-D8AD-99A2EF090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840" y="3697360"/>
            <a:ext cx="3493139" cy="17788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96A6F-8621-C3B2-22A8-7D32D2230057}"/>
              </a:ext>
            </a:extLst>
          </p:cNvPr>
          <p:cNvSpPr txBox="1"/>
          <p:nvPr/>
        </p:nvSpPr>
        <p:spPr>
          <a:xfrm>
            <a:off x="212036" y="5715298"/>
            <a:ext cx="4873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Can we do this with the British flag?</a:t>
            </a:r>
          </a:p>
        </p:txBody>
      </p:sp>
      <p:pic>
        <p:nvPicPr>
          <p:cNvPr id="9" name="Picture 8" descr="A red and blue cross with black squares&#10;&#10;Description automatically generated">
            <a:extLst>
              <a:ext uri="{FF2B5EF4-FFF2-40B4-BE49-F238E27FC236}">
                <a16:creationId xmlns:a16="http://schemas.microsoft.com/office/drawing/2014/main" id="{C577D74E-4DC4-0BF4-D30D-B99307AFE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678" y="5573722"/>
            <a:ext cx="1594064" cy="8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8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38F2-742C-C7D2-CC3A-FA5D9C6A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“Task Graph”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BB7C-036F-E6D8-E54F-B46EF693F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65" y="1825625"/>
            <a:ext cx="11168270" cy="4351338"/>
          </a:xfrm>
        </p:spPr>
        <p:txBody>
          <a:bodyPr/>
          <a:lstStyle/>
          <a:p>
            <a:r>
              <a:rPr lang="en-US" dirty="0"/>
              <a:t>Diagram of dependencies (when one thing must come before another)</a:t>
            </a:r>
          </a:p>
          <a:p>
            <a:pPr lvl="1"/>
            <a:r>
              <a:rPr lang="en-US" dirty="0"/>
              <a:t>For flags: when operations would color a tile different colors</a:t>
            </a:r>
          </a:p>
          <a:p>
            <a:pPr lvl="1"/>
            <a:r>
              <a:rPr lang="en-US" dirty="0"/>
              <a:t>Draw arrows to show which must come before others</a:t>
            </a:r>
          </a:p>
        </p:txBody>
      </p:sp>
      <p:pic>
        <p:nvPicPr>
          <p:cNvPr id="6" name="Picture 5" descr="A red blue and yellow grid&#10;&#10;Description automatically generated">
            <a:extLst>
              <a:ext uri="{FF2B5EF4-FFF2-40B4-BE49-F238E27FC236}">
                <a16:creationId xmlns:a16="http://schemas.microsoft.com/office/drawing/2014/main" id="{BDA8A1FE-F4E7-03A4-DD84-57BAC7CA3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16" y="3185037"/>
            <a:ext cx="1876564" cy="9556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4DA728-8288-2F55-3E08-4567570B2659}"/>
              </a:ext>
            </a:extLst>
          </p:cNvPr>
          <p:cNvSpPr/>
          <p:nvPr/>
        </p:nvSpPr>
        <p:spPr>
          <a:xfrm>
            <a:off x="3383606" y="4573243"/>
            <a:ext cx="1179444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red stripe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AF7D75-392B-DC05-925D-40313F303A70}"/>
              </a:ext>
            </a:extLst>
          </p:cNvPr>
          <p:cNvSpPr/>
          <p:nvPr/>
        </p:nvSpPr>
        <p:spPr>
          <a:xfrm>
            <a:off x="1844108" y="4573243"/>
            <a:ext cx="1179444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blue stripe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A6071-C8C6-10C9-520F-480988E83592}"/>
              </a:ext>
            </a:extLst>
          </p:cNvPr>
          <p:cNvSpPr/>
          <p:nvPr/>
        </p:nvSpPr>
        <p:spPr>
          <a:xfrm>
            <a:off x="2535467" y="5469134"/>
            <a:ext cx="1437861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yellow stripe</a:t>
            </a:r>
          </a:p>
        </p:txBody>
      </p:sp>
      <p:pic>
        <p:nvPicPr>
          <p:cNvPr id="11" name="Picture 10" descr="A red and blue cross with black squares&#10;&#10;Description automatically generated">
            <a:extLst>
              <a:ext uri="{FF2B5EF4-FFF2-40B4-BE49-F238E27FC236}">
                <a16:creationId xmlns:a16="http://schemas.microsoft.com/office/drawing/2014/main" id="{C25B48B4-0535-1655-31D1-1E6F398E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47" y="3122677"/>
            <a:ext cx="1835311" cy="9556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A9B096-157B-D360-3260-7D47D1088476}"/>
              </a:ext>
            </a:extLst>
          </p:cNvPr>
          <p:cNvSpPr/>
          <p:nvPr/>
        </p:nvSpPr>
        <p:spPr>
          <a:xfrm>
            <a:off x="6346903" y="4844687"/>
            <a:ext cx="1411357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blue background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BAFC-1B75-84B1-05E7-9553892891CC}"/>
              </a:ext>
            </a:extLst>
          </p:cNvPr>
          <p:cNvSpPr/>
          <p:nvPr/>
        </p:nvSpPr>
        <p:spPr>
          <a:xfrm>
            <a:off x="9952380" y="4301799"/>
            <a:ext cx="1575517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red vertical stripe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2C89C-12AC-7636-CF85-052812546A2B}"/>
              </a:ext>
            </a:extLst>
          </p:cNvPr>
          <p:cNvSpPr/>
          <p:nvPr/>
        </p:nvSpPr>
        <p:spPr>
          <a:xfrm>
            <a:off x="9952380" y="5273016"/>
            <a:ext cx="1835311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red horizontal stripe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15707A-7771-C985-4460-8694FAA4C37B}"/>
              </a:ext>
            </a:extLst>
          </p:cNvPr>
          <p:cNvSpPr/>
          <p:nvPr/>
        </p:nvSpPr>
        <p:spPr>
          <a:xfrm>
            <a:off x="8232300" y="4301799"/>
            <a:ext cx="1298717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white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\ stripe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BD9F1-B111-F100-D768-CBED9F568967}"/>
              </a:ext>
            </a:extLst>
          </p:cNvPr>
          <p:cNvSpPr/>
          <p:nvPr/>
        </p:nvSpPr>
        <p:spPr>
          <a:xfrm>
            <a:off x="8232300" y="5271588"/>
            <a:ext cx="1298717" cy="624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Draw white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 stripe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457F1C-DEA1-6441-2BBC-39CCCE2138EB}"/>
              </a:ext>
            </a:extLst>
          </p:cNvPr>
          <p:cNvCxnSpPr>
            <a:cxnSpLocks/>
          </p:cNvCxnSpPr>
          <p:nvPr/>
        </p:nvCxnSpPr>
        <p:spPr>
          <a:xfrm>
            <a:off x="9531017" y="4600602"/>
            <a:ext cx="376361" cy="812397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879C77-2458-D8D6-8AF2-7D3BF13FA09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9531017" y="4730011"/>
            <a:ext cx="376361" cy="853801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603D45-FFF3-1C32-55E0-09BDAFCC163B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9531017" y="4614023"/>
            <a:ext cx="421363" cy="0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8C4A0D-BC76-F165-69E3-03B684DE1A8C}"/>
              </a:ext>
            </a:extLst>
          </p:cNvPr>
          <p:cNvCxnSpPr>
            <a:cxnSpLocks/>
          </p:cNvCxnSpPr>
          <p:nvPr/>
        </p:nvCxnSpPr>
        <p:spPr>
          <a:xfrm>
            <a:off x="9531017" y="5552947"/>
            <a:ext cx="421363" cy="0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5BAD88-BFC2-1BB5-EFC5-FC9362B42C41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7758260" y="4614023"/>
            <a:ext cx="474040" cy="542888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068478-6598-C242-99B9-1B5994EAB8CA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781779" y="5154829"/>
            <a:ext cx="450521" cy="428983"/>
          </a:xfrm>
          <a:prstGeom prst="straightConnector1">
            <a:avLst/>
          </a:prstGeom>
          <a:ln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94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339B-D08E-5D6D-FFDA-BA287456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Create a task graph to draw the flag of Jordan</a:t>
            </a:r>
          </a:p>
        </p:txBody>
      </p:sp>
      <p:pic>
        <p:nvPicPr>
          <p:cNvPr id="5" name="Picture 4" descr="A flag with a red triangle and green and white stripes&#10;&#10;Description automatically generated">
            <a:extLst>
              <a:ext uri="{FF2B5EF4-FFF2-40B4-BE49-F238E27FC236}">
                <a16:creationId xmlns:a16="http://schemas.microsoft.com/office/drawing/2014/main" id="{D46AB10F-B270-7A16-6570-409FE5E3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1897379"/>
            <a:ext cx="5364480" cy="3017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D96F9-DAFB-CF6B-5419-7A990D786C0F}"/>
              </a:ext>
            </a:extLst>
          </p:cNvPr>
          <p:cNvSpPr txBox="1"/>
          <p:nvPr/>
        </p:nvSpPr>
        <p:spPr>
          <a:xfrm>
            <a:off x="2875721" y="6349378"/>
            <a:ext cx="7591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/commons/c/c0/</a:t>
            </a:r>
            <a:r>
              <a:rPr lang="en-US" dirty="0" err="1"/>
              <a:t>Flag_of_Jordan.svg</a:t>
            </a:r>
            <a:endParaRPr lang="en-US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255713EF-5111-1377-220B-82FF1CF274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44958964"/>
              </p:ext>
            </p:extLst>
          </p:nvPr>
        </p:nvGraphicFramePr>
        <p:xfrm>
          <a:off x="6553202" y="1897380"/>
          <a:ext cx="5181600" cy="301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07756208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916072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3700023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408817723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39278934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701088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46292476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4874758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94904028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04089173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201644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72279103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74419876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7877253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02107854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96591422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614833081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46390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1137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02032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75980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981519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92741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88054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79786"/>
                  </a:ext>
                </a:extLst>
              </a:tr>
              <a:tr h="24059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99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15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30416</TotalTime>
  <Words>607</Words>
  <Application>Microsoft Macintosh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What is the first cell that this code colors?</vt:lpstr>
      <vt:lpstr>What is the first cell that this code colors?</vt:lpstr>
      <vt:lpstr>What is the second cell that this code colors?</vt:lpstr>
      <vt:lpstr>What is the second cell that this code colors?</vt:lpstr>
      <vt:lpstr>How would you draw the British flag?</vt:lpstr>
      <vt:lpstr>One strategy: Drawing “layers”</vt:lpstr>
      <vt:lpstr>Advanced topic: Parallel computation (concept only now, do in later courses)</vt:lpstr>
      <vt:lpstr>Advanced topic: Parallel computation (concept only now, do in later courses)</vt:lpstr>
      <vt:lpstr>“Task Graph”</vt:lpstr>
      <vt:lpstr>Create a task graph to draw the flag of Jordan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Bunde</dc:creator>
  <cp:lastModifiedBy>David Bunde</cp:lastModifiedBy>
  <cp:revision>7</cp:revision>
  <cp:lastPrinted>2024-09-25T15:08:41Z</cp:lastPrinted>
  <dcterms:created xsi:type="dcterms:W3CDTF">2024-09-06T13:26:06Z</dcterms:created>
  <dcterms:modified xsi:type="dcterms:W3CDTF">2026-07-29T21:20:17Z</dcterms:modified>
</cp:coreProperties>
</file>
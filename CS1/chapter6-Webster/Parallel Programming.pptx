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7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20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aoyuan Suo" userId="cd9f34e3-6ed0-421f-ba41-1fb55451b1e3" providerId="ADAL" clId="{B69657C8-3607-4F05-8233-55662F2C1053}"/>
    <pc:docChg chg="undo custSel addSld modSld sldOrd">
      <pc:chgData name="Xiaoyuan Suo" userId="cd9f34e3-6ed0-421f-ba41-1fb55451b1e3" providerId="ADAL" clId="{B69657C8-3607-4F05-8233-55662F2C1053}" dt="2026-05-07T19:19:41.239" v="67" actId="20577"/>
      <pc:docMkLst>
        <pc:docMk/>
      </pc:docMkLst>
      <pc:sldChg chg="modSp mod">
        <pc:chgData name="Xiaoyuan Suo" userId="cd9f34e3-6ed0-421f-ba41-1fb55451b1e3" providerId="ADAL" clId="{B69657C8-3607-4F05-8233-55662F2C1053}" dt="2026-05-07T18:29:33.569" v="1" actId="1076"/>
        <pc:sldMkLst>
          <pc:docMk/>
          <pc:sldMk cId="1497796340" sldId="264"/>
        </pc:sldMkLst>
        <pc:spChg chg="mod">
          <ac:chgData name="Xiaoyuan Suo" userId="cd9f34e3-6ed0-421f-ba41-1fb55451b1e3" providerId="ADAL" clId="{B69657C8-3607-4F05-8233-55662F2C1053}" dt="2026-05-07T18:29:33.569" v="1" actId="1076"/>
          <ac:spMkLst>
            <pc:docMk/>
            <pc:sldMk cId="1497796340" sldId="264"/>
            <ac:spMk id="3" creationId="{24C56AE5-4895-DAB7-FFC9-225D889E30FD}"/>
          </ac:spMkLst>
        </pc:spChg>
      </pc:sldChg>
      <pc:sldChg chg="addSp delSp modSp new mod ord modClrScheme chgLayout">
        <pc:chgData name="Xiaoyuan Suo" userId="cd9f34e3-6ed0-421f-ba41-1fb55451b1e3" providerId="ADAL" clId="{B69657C8-3607-4F05-8233-55662F2C1053}" dt="2026-05-07T19:19:41.239" v="67" actId="20577"/>
        <pc:sldMkLst>
          <pc:docMk/>
          <pc:sldMk cId="3796445920" sldId="267"/>
        </pc:sldMkLst>
        <pc:spChg chg="del mod ord">
          <ac:chgData name="Xiaoyuan Suo" userId="cd9f34e3-6ed0-421f-ba41-1fb55451b1e3" providerId="ADAL" clId="{B69657C8-3607-4F05-8233-55662F2C1053}" dt="2026-05-07T19:19:25.211" v="5" actId="700"/>
          <ac:spMkLst>
            <pc:docMk/>
            <pc:sldMk cId="3796445920" sldId="267"/>
            <ac:spMk id="2" creationId="{C7F90908-829F-8123-FBB3-161B29C62237}"/>
          </ac:spMkLst>
        </pc:spChg>
        <pc:spChg chg="del mod ord">
          <ac:chgData name="Xiaoyuan Suo" userId="cd9f34e3-6ed0-421f-ba41-1fb55451b1e3" providerId="ADAL" clId="{B69657C8-3607-4F05-8233-55662F2C1053}" dt="2026-05-07T19:19:25.211" v="5" actId="700"/>
          <ac:spMkLst>
            <pc:docMk/>
            <pc:sldMk cId="3796445920" sldId="267"/>
            <ac:spMk id="3" creationId="{3C33A2C1-FF1F-B4FC-90A9-8529E0003F3C}"/>
          </ac:spMkLst>
        </pc:spChg>
        <pc:spChg chg="add mod ord">
          <ac:chgData name="Xiaoyuan Suo" userId="cd9f34e3-6ed0-421f-ba41-1fb55451b1e3" providerId="ADAL" clId="{B69657C8-3607-4F05-8233-55662F2C1053}" dt="2026-05-07T19:19:32.826" v="36" actId="20577"/>
          <ac:spMkLst>
            <pc:docMk/>
            <pc:sldMk cId="3796445920" sldId="267"/>
            <ac:spMk id="4" creationId="{9C795187-00CB-1F78-13D0-67BBA62ADC3D}"/>
          </ac:spMkLst>
        </pc:spChg>
        <pc:spChg chg="add mod ord">
          <ac:chgData name="Xiaoyuan Suo" userId="cd9f34e3-6ed0-421f-ba41-1fb55451b1e3" providerId="ADAL" clId="{B69657C8-3607-4F05-8233-55662F2C1053}" dt="2026-05-07T19:19:41.239" v="67" actId="20577"/>
          <ac:spMkLst>
            <pc:docMk/>
            <pc:sldMk cId="3796445920" sldId="267"/>
            <ac:spMk id="5" creationId="{67B864C3-B6E3-4EC5-9A12-86565585C9B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DAAAC-40F8-4435-964B-C7FE27EDCD03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A17900-E0ED-48E4-8BD3-C10DE5DDA3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217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‘for’ means that the following loop is what is used by the parallel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A17900-E0ED-48E4-8BD3-C10DE5DDA3F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481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7DE07-5B77-30ED-13DF-5827275BAC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2E922E-3434-8476-849C-8CD536099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6DA09-1474-DAB5-0ACB-DDB009B9E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B61A-13CB-41F8-B787-AF159CDF403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E6504-DDDE-D01D-2269-09749A721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664F5-7E3E-AB74-16E0-907C5FA66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0ECE1-8973-4EF9-98C4-B7E95626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794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F8EA6-70CD-E246-6505-A1A4BA5B5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0FF4-5370-C757-3FEE-DF04D07EB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B55E7-495A-E82A-0DBE-F61BA2556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B61A-13CB-41F8-B787-AF159CDF403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EEA07-11D4-F654-BA65-F221DFBD9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9A722-9A07-99BA-D7E4-62CF8F281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0ECE1-8973-4EF9-98C4-B7E95626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371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DDEE5-F1F4-66F4-5262-00FBF0FCC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943EE-2ACA-15E1-6DC5-9927DFDC7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C93DC-C823-AD7C-AE82-D1D71926A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B61A-13CB-41F8-B787-AF159CDF403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6C702-31BF-8DF1-A074-143DDCEDA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4EB1E-9DDF-4548-F8F3-F25C5A493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0ECE1-8973-4EF9-98C4-B7E95626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202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C988D-9B45-4E2A-0B6D-1D32430EF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B5D28-DE60-6134-98BF-382F7608A7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3E50F9-85B0-A439-2EDF-A47E920AF6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7BF7C8-67AC-93CA-DE88-E9EB10C1E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B61A-13CB-41F8-B787-AF159CDF403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71F87-1712-E56D-9B9C-969E651FC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FC9DC-9C9D-4A5B-718F-3A423F783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0ECE1-8973-4EF9-98C4-B7E95626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4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B04A3-F9C4-76F0-E8AF-7DC5575C3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F1565-5FE2-FD61-D443-BDAF5E208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D1685-8C41-D807-B918-81D8DE6654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3C58F8-9A11-BB8B-3BF2-4912F385B9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7CA19E-91A2-4B47-0AD6-85351408FD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174F43-FA61-9F44-90D0-F1A4EC94C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B61A-13CB-41F8-B787-AF159CDF403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9BE386-2A6C-F858-F6DD-6F977D078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6D81D0-C84C-D31C-993A-E543CB5F7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0ECE1-8973-4EF9-98C4-B7E95626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950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0EB9D-F78F-BD39-7E83-81123FCBF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8E6CE9-22ED-F025-ED03-7559CA9AD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B61A-13CB-41F8-B787-AF159CDF403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D0639-F8CB-48FF-B32D-5FC3552EB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4519E2-16D6-B5C6-6961-5D17823C6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0ECE1-8973-4EF9-98C4-B7E95626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36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C816D2-D41B-CE58-615D-083C5499C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B61A-13CB-41F8-B787-AF159CDF403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6D68CF-9618-4D5F-76D0-82EDEFCF9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89132-47AA-20CD-5ABF-78697586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0ECE1-8973-4EF9-98C4-B7E95626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845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B5A8D-8277-B30A-60EB-A750084F9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7F068-FD60-9254-0B1C-46129BA28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A835FD-1FF8-D54B-23EE-60BF0A2FB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59437-2BC4-FF0B-AAA8-A1E9D88C0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B61A-13CB-41F8-B787-AF159CDF403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8ECB9-8455-B43F-40F4-D706D15F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241D34-D5C6-FD84-2266-8DF619AA6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0ECE1-8973-4EF9-98C4-B7E95626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677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FD114-A374-382D-ADC2-39ABDE8C7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B2C664-E6CA-1E36-03DE-7244473CD7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B712E-5672-64AC-FA52-1F735D123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97EBED-3F89-2E19-8A2C-874C3BC6E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B61A-13CB-41F8-B787-AF159CDF403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F748DB-C789-6685-8E89-ADC6A4F01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784F1-96E8-84C6-7547-7469606B5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0ECE1-8973-4EF9-98C4-B7E95626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108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0F493-B77B-1349-068A-6761386B6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D43A0F-B69F-891C-5E14-D892E624FF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F045E-DDEA-00D4-C8CD-5A4269E40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B61A-13CB-41F8-B787-AF159CDF403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88B86-20E8-0701-A7A1-22252847D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21954-DCC3-3FA0-47A6-2036BD0A0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0ECE1-8973-4EF9-98C4-B7E95626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769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CD955B-AB62-8804-040C-C2B3BE7751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9834C-3F16-8B80-2480-C89267B06D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0778D-5BFA-5BEB-5233-A91638888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B61A-13CB-41F8-B787-AF159CDF403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88666-C5D2-AB9D-C93D-678C0DE58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CC29E-54BC-8AC3-32A0-79995CE30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0ECE1-8973-4EF9-98C4-B7E95626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873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3A7658-845D-C5D0-7D6E-1678A987C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A6763F-1E47-6599-9649-9D1B70117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C56F6-BE2E-07F0-4F19-6B964B9C2F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5CB61A-13CB-41F8-B787-AF159CDF403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D85AF-D83F-D25A-C61A-A603E911F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83311-3803-48F0-68B0-7C88716A02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80ECE1-8973-4EF9-98C4-B7E95626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000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795187-00CB-1F78-13D0-67BBA62ADC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 to Parallel Programming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B864C3-B6E3-4EC5-9A12-86565585C9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Xiaoyuan Suo</a:t>
            </a:r>
            <a:br>
              <a:rPr lang="en-US" dirty="0"/>
            </a:br>
            <a:r>
              <a:rPr lang="en-US" dirty="0"/>
              <a:t>Webster University</a:t>
            </a:r>
          </a:p>
        </p:txBody>
      </p:sp>
    </p:spTree>
    <p:extLst>
      <p:ext uri="{BB962C8B-B14F-4D97-AF65-F5344CB8AC3E}">
        <p14:creationId xmlns:p14="http://schemas.microsoft.com/office/powerpoint/2010/main" val="3796445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32B66-556A-0466-7C7A-2DBDBA99B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081E0-99B1-DE75-32CB-8C3344389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Parallel programming is all about breaking down tasks into smaller tasks and executing them simultaneously</a:t>
            </a:r>
          </a:p>
          <a:p>
            <a:r>
              <a:rPr lang="en-US" dirty="0"/>
              <a:t>Threads are lightweight units of execution within a process</a:t>
            </a:r>
          </a:p>
          <a:p>
            <a:r>
              <a:rPr lang="en-US" dirty="0"/>
              <a:t>C++ offers std::thread for creating and managing threads, allowing different parts of a program to run concurrently</a:t>
            </a:r>
          </a:p>
        </p:txBody>
      </p:sp>
    </p:spTree>
    <p:extLst>
      <p:ext uri="{BB962C8B-B14F-4D97-AF65-F5344CB8AC3E}">
        <p14:creationId xmlns:p14="http://schemas.microsoft.com/office/powerpoint/2010/main" val="2556169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A0C34-4BF9-938E-6656-D45E885DD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Memory vs. Message Passing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4F146-03E3-4756-B29F-FD61EFAEA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Shared Memory:</a:t>
            </a:r>
          </a:p>
          <a:p>
            <a:pPr lvl="1"/>
            <a:r>
              <a:rPr lang="en-US" dirty="0"/>
              <a:t>Threads within a single process can access a common memory space</a:t>
            </a:r>
          </a:p>
          <a:p>
            <a:pPr lvl="1"/>
            <a:r>
              <a:rPr lang="en-US" dirty="0"/>
              <a:t>This model is often used with libraries like OpenMP, which provides directives to parallelize code sections and loops</a:t>
            </a:r>
          </a:p>
          <a:p>
            <a:r>
              <a:rPr lang="en-US" dirty="0"/>
              <a:t>Message Passing: </a:t>
            </a:r>
          </a:p>
          <a:p>
            <a:pPr lvl="1"/>
            <a:r>
              <a:rPr lang="en-US" dirty="0"/>
              <a:t>Processes communicate by sending and receiving messages</a:t>
            </a:r>
          </a:p>
          <a:p>
            <a:pPr lvl="1"/>
            <a:r>
              <a:rPr lang="en-US" dirty="0"/>
              <a:t>This is typically used for distributed memory systems, where processes run on different machines, and libraries like MPI (Message Passing Interface) facilitate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319021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033CF-6069-476B-954B-5880F9033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Parallel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F7475-8D3A-D7CF-F98A-5CD817092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simplest sense, </a:t>
            </a:r>
            <a:r>
              <a:rPr lang="en-US" b="1" i="1" dirty="0"/>
              <a:t>parallel computing</a:t>
            </a:r>
            <a:r>
              <a:rPr lang="en-US" dirty="0"/>
              <a:t> is the simultaneous use of multiple compute resources to solve a computational problem:</a:t>
            </a:r>
          </a:p>
          <a:p>
            <a:pPr lvl="1"/>
            <a:r>
              <a:rPr lang="en-US" dirty="0"/>
              <a:t>A problem is broken into discrete parts that can be solved concurrently</a:t>
            </a:r>
          </a:p>
          <a:p>
            <a:pPr lvl="1"/>
            <a:r>
              <a:rPr lang="en-US" dirty="0"/>
              <a:t>Each part is further broken down to a series of instructions</a:t>
            </a:r>
          </a:p>
          <a:p>
            <a:pPr lvl="1"/>
            <a:r>
              <a:rPr lang="en-US" dirty="0"/>
              <a:t>Instructions from each part execute simultaneously on different processors</a:t>
            </a:r>
          </a:p>
          <a:p>
            <a:pPr lvl="1"/>
            <a:r>
              <a:rPr lang="en-US" dirty="0"/>
              <a:t>An overall control/coordination mechanism is employed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367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9347F-6B46-25E6-C283-1CFCA5770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Tasks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3A058C-83B9-76AD-763B-98CBD0F699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3533" y="1971674"/>
            <a:ext cx="7905441" cy="446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844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54D11-641A-2BB7-9CF3-A5488EAEA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Tasks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B0FEB1-53BE-3E95-624E-944CAF8503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9747" y="1988503"/>
            <a:ext cx="7985156" cy="433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730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AAB4A-2677-6407-22F4-42A3DAC6A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91EC6-188D-59CE-3128-F8C8BA646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computational problem should be able to: </a:t>
            </a:r>
          </a:p>
          <a:p>
            <a:pPr lvl="1"/>
            <a:r>
              <a:rPr lang="en-US" dirty="0"/>
              <a:t>Be broken apart into discrete pieces of work that can be solved simultaneously</a:t>
            </a:r>
          </a:p>
          <a:p>
            <a:pPr lvl="1"/>
            <a:r>
              <a:rPr lang="en-US" dirty="0"/>
              <a:t>Execute multiple program instructions at any moment in time</a:t>
            </a:r>
          </a:p>
          <a:p>
            <a:pPr lvl="1"/>
            <a:r>
              <a:rPr lang="en-US" dirty="0"/>
              <a:t>Be solved in less time with multiple compute resources than with a single compute resource</a:t>
            </a:r>
          </a:p>
          <a:p>
            <a:r>
              <a:rPr lang="en-US" dirty="0"/>
              <a:t>The compute resources are typically: </a:t>
            </a:r>
          </a:p>
          <a:p>
            <a:pPr lvl="1"/>
            <a:r>
              <a:rPr lang="en-US" dirty="0"/>
              <a:t>A single computer with multiple processors/cores</a:t>
            </a:r>
          </a:p>
          <a:p>
            <a:pPr lvl="1"/>
            <a:r>
              <a:rPr lang="en-US" dirty="0"/>
              <a:t>An arbitrary number of such computers connected by a network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296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592AA-BE85-F522-078D-02F6F88EC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60632-9D14-D834-6328-5C0DA8954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int sum_serial(int n)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	int sum = 0;</a:t>
            </a:r>
          </a:p>
          <a:p>
            <a:pPr marL="0" indent="0">
              <a:buNone/>
            </a:pPr>
            <a:r>
              <a:rPr lang="nn-NO" dirty="0"/>
              <a:t>	for (int i = 0; i &lt;= n; ++i) {</a:t>
            </a:r>
          </a:p>
          <a:p>
            <a:pPr marL="0" indent="0">
              <a:buNone/>
            </a:pPr>
            <a:r>
              <a:rPr lang="en-US" dirty="0"/>
              <a:t>		sum +=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return sum;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69453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2F2CB-C2A6-D6B4-4D82-D8D846984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56AE5-4895-DAB7-FFC9-225D889E3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n-NO" dirty="0"/>
              <a:t>int sum_parallel(int n)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int sum = 0;</a:t>
            </a:r>
          </a:p>
          <a:p>
            <a:pPr marL="0" indent="0">
              <a:buNone/>
            </a:pPr>
            <a:r>
              <a:rPr lang="en-US" dirty="0"/>
              <a:t>	#pragma </a:t>
            </a:r>
            <a:r>
              <a:rPr lang="en-US" dirty="0" err="1"/>
              <a:t>omp</a:t>
            </a:r>
            <a:r>
              <a:rPr lang="en-US" dirty="0"/>
              <a:t> parallel for reduction(+ : sum)</a:t>
            </a:r>
          </a:p>
          <a:p>
            <a:pPr marL="0" indent="0">
              <a:buNone/>
            </a:pPr>
            <a:r>
              <a:rPr lang="nn-NO" dirty="0"/>
              <a:t>	for (int i = 0; i &lt;= n; ++i) {</a:t>
            </a:r>
          </a:p>
          <a:p>
            <a:pPr marL="0" indent="0">
              <a:buNone/>
            </a:pPr>
            <a:r>
              <a:rPr lang="en-US" dirty="0"/>
              <a:t>		sum +=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return sum;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97796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81712-286E-1B7C-0355-58E47776F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Function – Another Option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FE69A-9FC2-567D-5F13-8A3B21E83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n-NO" dirty="0"/>
              <a:t>int sum_parallel(int n)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int sum = 0;</a:t>
            </a:r>
          </a:p>
          <a:p>
            <a:pPr marL="0" indent="0">
              <a:buNone/>
            </a:pPr>
            <a:r>
              <a:rPr lang="en-US" dirty="0"/>
              <a:t>	#pragma </a:t>
            </a:r>
            <a:r>
              <a:rPr lang="en-US" dirty="0" err="1"/>
              <a:t>omp</a:t>
            </a:r>
            <a:r>
              <a:rPr lang="en-US" dirty="0"/>
              <a:t> parallel for</a:t>
            </a:r>
          </a:p>
          <a:p>
            <a:pPr marL="0" indent="0">
              <a:buNone/>
            </a:pPr>
            <a:r>
              <a:rPr lang="nn-NO" dirty="0"/>
              <a:t>	for (int i = 0; i &lt;= n; ++i) {</a:t>
            </a:r>
          </a:p>
          <a:p>
            <a:pPr marL="0" indent="0">
              <a:buNone/>
            </a:pPr>
            <a:r>
              <a:rPr lang="en-US" dirty="0"/>
              <a:t>		sum +=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return sum;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506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ADF32-00D7-7F61-6E1B-7BA55ACE0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Improvement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9AA35D7-E72A-E728-17C1-379514D378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161" y="2667000"/>
            <a:ext cx="9930942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625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449</Words>
  <Application>Microsoft Office PowerPoint</Application>
  <PresentationFormat>Widescreen</PresentationFormat>
  <Paragraphs>61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Intro to Parallel Programming</vt:lpstr>
      <vt:lpstr>Parallel Programming</vt:lpstr>
      <vt:lpstr>Shared Memory vs. Message Passing</vt:lpstr>
      <vt:lpstr>Benefits of Parallel Programming</vt:lpstr>
      <vt:lpstr>Multiple Tasks</vt:lpstr>
      <vt:lpstr>Multiple Tasks</vt:lpstr>
      <vt:lpstr>Parallel Programming</vt:lpstr>
      <vt:lpstr>Regular Function</vt:lpstr>
      <vt:lpstr>Parallel Function</vt:lpstr>
      <vt:lpstr>Parallel Function – Another Option</vt:lpstr>
      <vt:lpstr>Time Improvement</vt:lpstr>
    </vt:vector>
  </TitlesOfParts>
  <Company>Webster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Maher</dc:creator>
  <cp:lastModifiedBy>Xiaoyuan Suo</cp:lastModifiedBy>
  <cp:revision>1</cp:revision>
  <dcterms:created xsi:type="dcterms:W3CDTF">2025-10-27T17:42:57Z</dcterms:created>
  <dcterms:modified xsi:type="dcterms:W3CDTF">2026-05-07T19:19:43Z</dcterms:modified>
</cp:coreProperties>
</file>
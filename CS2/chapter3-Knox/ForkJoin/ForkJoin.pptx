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56" r:id="rId2"/>
    <p:sldId id="258" r:id="rId3"/>
    <p:sldId id="338" r:id="rId4"/>
    <p:sldId id="339" r:id="rId5"/>
    <p:sldId id="359" r:id="rId6"/>
    <p:sldId id="360" r:id="rId7"/>
    <p:sldId id="340" r:id="rId8"/>
    <p:sldId id="341" r:id="rId9"/>
    <p:sldId id="342" r:id="rId10"/>
    <p:sldId id="343" r:id="rId11"/>
    <p:sldId id="379" r:id="rId12"/>
    <p:sldId id="380" r:id="rId13"/>
    <p:sldId id="344" r:id="rId14"/>
    <p:sldId id="403" r:id="rId15"/>
    <p:sldId id="345" r:id="rId16"/>
    <p:sldId id="384" r:id="rId17"/>
    <p:sldId id="370" r:id="rId18"/>
    <p:sldId id="381" r:id="rId19"/>
    <p:sldId id="372" r:id="rId20"/>
    <p:sldId id="382" r:id="rId21"/>
    <p:sldId id="347" r:id="rId22"/>
    <p:sldId id="348" r:id="rId23"/>
    <p:sldId id="383" r:id="rId24"/>
    <p:sldId id="278" r:id="rId25"/>
    <p:sldId id="282" r:id="rId26"/>
    <p:sldId id="283" r:id="rId27"/>
    <p:sldId id="361" r:id="rId28"/>
    <p:sldId id="363" r:id="rId29"/>
    <p:sldId id="364" r:id="rId30"/>
    <p:sldId id="365" r:id="rId31"/>
    <p:sldId id="358" r:id="rId32"/>
    <p:sldId id="366" r:id="rId33"/>
    <p:sldId id="351" r:id="rId34"/>
    <p:sldId id="396" r:id="rId35"/>
    <p:sldId id="395" r:id="rId36"/>
    <p:sldId id="394" r:id="rId37"/>
    <p:sldId id="397" r:id="rId38"/>
    <p:sldId id="375" r:id="rId39"/>
    <p:sldId id="376" r:id="rId40"/>
    <p:sldId id="398" r:id="rId41"/>
    <p:sldId id="400" r:id="rId42"/>
    <p:sldId id="399" r:id="rId43"/>
    <p:sldId id="356" r:id="rId44"/>
    <p:sldId id="392" r:id="rId45"/>
    <p:sldId id="401" r:id="rId46"/>
    <p:sldId id="402" r:id="rId47"/>
    <p:sldId id="393" r:id="rId48"/>
    <p:sldId id="378" r:id="rId49"/>
    <p:sldId id="391" r:id="rId50"/>
    <p:sldId id="386" r:id="rId51"/>
    <p:sldId id="387" r:id="rId52"/>
    <p:sldId id="388" r:id="rId53"/>
    <p:sldId id="389" r:id="rId54"/>
    <p:sldId id="390"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71983"/>
  </p:normalViewPr>
  <p:slideViewPr>
    <p:cSldViewPr snapToGrid="0">
      <p:cViewPr varScale="1">
        <p:scale>
          <a:sx n="85" d="100"/>
          <a:sy n="85" d="100"/>
        </p:scale>
        <p:origin x="77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9B3288-19B3-6649-87B4-34A95A3B3130}" type="datetimeFigureOut">
              <a:rPr lang="en-US" smtClean="0"/>
              <a:t>7/4/26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82EF64-3428-584D-A63A-043EE25F7F71}" type="slidenum">
              <a:rPr lang="en-US" smtClean="0"/>
              <a:t>‹#›</a:t>
            </a:fld>
            <a:endParaRPr lang="en-US"/>
          </a:p>
        </p:txBody>
      </p:sp>
    </p:spTree>
    <p:extLst>
      <p:ext uri="{BB962C8B-B14F-4D97-AF65-F5344CB8AC3E}">
        <p14:creationId xmlns:p14="http://schemas.microsoft.com/office/powerpoint/2010/main" val="15311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82EF64-3428-584D-A63A-043EE25F7F71}" type="slidenum">
              <a:rPr lang="en-US" smtClean="0"/>
              <a:t>1</a:t>
            </a:fld>
            <a:endParaRPr lang="en-US"/>
          </a:p>
        </p:txBody>
      </p:sp>
    </p:spTree>
    <p:extLst>
      <p:ext uri="{BB962C8B-B14F-4D97-AF65-F5344CB8AC3E}">
        <p14:creationId xmlns:p14="http://schemas.microsoft.com/office/powerpoint/2010/main" val="3195256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Motivating the idea of using parallelism– we already have the hardware for it so how do we use that?  We want to create programs where appropriate parts of them can run in parallel (at the same time on different cores) so that the program can finish faster.</a:t>
            </a:r>
          </a:p>
        </p:txBody>
      </p:sp>
      <p:sp>
        <p:nvSpPr>
          <p:cNvPr id="4" name="Slide Number Placeholder 3"/>
          <p:cNvSpPr>
            <a:spLocks noGrp="1"/>
          </p:cNvSpPr>
          <p:nvPr>
            <p:ph type="sldNum" sz="quarter" idx="5"/>
          </p:nvPr>
        </p:nvSpPr>
        <p:spPr/>
        <p:txBody>
          <a:bodyPr/>
          <a:lstStyle/>
          <a:p>
            <a:fld id="{9B82EF64-3428-584D-A63A-043EE25F7F71}" type="slidenum">
              <a:rPr lang="en-US" smtClean="0"/>
              <a:t>2</a:t>
            </a:fld>
            <a:endParaRPr lang="en-US"/>
          </a:p>
        </p:txBody>
      </p:sp>
    </p:spTree>
    <p:extLst>
      <p:ext uri="{BB962C8B-B14F-4D97-AF65-F5344CB8AC3E}">
        <p14:creationId xmlns:p14="http://schemas.microsoft.com/office/powerpoint/2010/main" val="411854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start by looking at a very simple problem, summing the values in an array.  It’s not clear that we would actually want to do this in parallel since it has so little computation, but we’re going to use it as our example since it’s a simple problem or the right type.</a:t>
            </a:r>
          </a:p>
          <a:p>
            <a:endParaRPr lang="en-US" dirty="0"/>
          </a:p>
          <a:p>
            <a:r>
              <a:rPr lang="en-US" dirty="0"/>
              <a:t>Talk through the code, which sums the values in indices &gt;=low and &lt; hi</a:t>
            </a:r>
          </a:p>
          <a:p>
            <a:endParaRPr lang="en-US" dirty="0"/>
          </a:p>
          <a:p>
            <a:r>
              <a:rPr lang="en-US" dirty="0"/>
              <a:t>Transition: This is an example of a problem that we should be able to parallelize.  In particular, summing different parts of the array are completely independent operations and thus could be done simultaneously on different cores.  We can’t do this in the for loop, however.  Instead, we need to split the task into different parts. </a:t>
            </a:r>
          </a:p>
        </p:txBody>
      </p:sp>
      <p:sp>
        <p:nvSpPr>
          <p:cNvPr id="4" name="Slide Number Placeholder 3"/>
          <p:cNvSpPr>
            <a:spLocks noGrp="1"/>
          </p:cNvSpPr>
          <p:nvPr>
            <p:ph type="sldNum" sz="quarter" idx="5"/>
          </p:nvPr>
        </p:nvSpPr>
        <p:spPr/>
        <p:txBody>
          <a:bodyPr/>
          <a:lstStyle/>
          <a:p>
            <a:fld id="{9B82EF64-3428-584D-A63A-043EE25F7F71}" type="slidenum">
              <a:rPr lang="en-US" smtClean="0"/>
              <a:t>3</a:t>
            </a:fld>
            <a:endParaRPr lang="en-US"/>
          </a:p>
        </p:txBody>
      </p:sp>
    </p:spTree>
    <p:extLst>
      <p:ext uri="{BB962C8B-B14F-4D97-AF65-F5344CB8AC3E}">
        <p14:creationId xmlns:p14="http://schemas.microsoft.com/office/powerpoint/2010/main" val="306855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summing problem split into two different parts.  Talk through the code, pointing out that the left and right halves are separate problems.</a:t>
            </a:r>
          </a:p>
          <a:p>
            <a:endParaRPr lang="en-US" dirty="0"/>
          </a:p>
          <a:p>
            <a:r>
              <a:rPr lang="en-US" dirty="0"/>
              <a:t>Transition: So how do we run the calls to </a:t>
            </a:r>
            <a:r>
              <a:rPr lang="en-US" dirty="0" err="1"/>
              <a:t>simpleSum</a:t>
            </a:r>
            <a:r>
              <a:rPr lang="en-US" dirty="0"/>
              <a:t> in parallel?</a:t>
            </a:r>
          </a:p>
        </p:txBody>
      </p:sp>
      <p:sp>
        <p:nvSpPr>
          <p:cNvPr id="4" name="Slide Number Placeholder 3"/>
          <p:cNvSpPr>
            <a:spLocks noGrp="1"/>
          </p:cNvSpPr>
          <p:nvPr>
            <p:ph type="sldNum" sz="quarter" idx="5"/>
          </p:nvPr>
        </p:nvSpPr>
        <p:spPr/>
        <p:txBody>
          <a:bodyPr/>
          <a:lstStyle/>
          <a:p>
            <a:fld id="{9B82EF64-3428-584D-A63A-043EE25F7F71}" type="slidenum">
              <a:rPr lang="en-US" smtClean="0"/>
              <a:t>4</a:t>
            </a:fld>
            <a:endParaRPr lang="en-US"/>
          </a:p>
        </p:txBody>
      </p:sp>
    </p:spTree>
    <p:extLst>
      <p:ext uri="{BB962C8B-B14F-4D97-AF65-F5344CB8AC3E}">
        <p14:creationId xmlns:p14="http://schemas.microsoft.com/office/powerpoint/2010/main" val="190055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now, we’re going to express parallel computing with two new keywords, fork and join.  These are NOT actual keywords in Java.  Later in the lecture, I’ll show you the way to write this in actual Java and it will be clear why we’re using this notation instead.  The idea is to talk about what we want to do first and then we’ll figure out how to do it in the actual programming language.</a:t>
            </a:r>
          </a:p>
          <a:p>
            <a:endParaRPr lang="en-US" dirty="0"/>
          </a:p>
          <a:p>
            <a:r>
              <a:rPr lang="en-US" dirty="0"/>
              <a:t>The first keywork, fork, is used to mark some code as being able to be run in parallel.  When you add fork to the beginning of a line, the rest of that line is marked as a separate strand of code that can be run at the same time as the next part of the method.  In this example, the first call to </a:t>
            </a:r>
            <a:r>
              <a:rPr lang="en-US" dirty="0" err="1"/>
              <a:t>simpleSum</a:t>
            </a:r>
            <a:r>
              <a:rPr lang="en-US" dirty="0"/>
              <a:t> can run in parallel with the second call.  </a:t>
            </a:r>
          </a:p>
          <a:p>
            <a:endParaRPr lang="en-US" dirty="0"/>
          </a:p>
          <a:p>
            <a:r>
              <a:rPr lang="en-US" dirty="0"/>
              <a:t>(next slide)</a:t>
            </a:r>
          </a:p>
        </p:txBody>
      </p:sp>
      <p:sp>
        <p:nvSpPr>
          <p:cNvPr id="4" name="Slide Number Placeholder 3"/>
          <p:cNvSpPr>
            <a:spLocks noGrp="1"/>
          </p:cNvSpPr>
          <p:nvPr>
            <p:ph type="sldNum" sz="quarter" idx="5"/>
          </p:nvPr>
        </p:nvSpPr>
        <p:spPr/>
        <p:txBody>
          <a:bodyPr/>
          <a:lstStyle/>
          <a:p>
            <a:fld id="{9B82EF64-3428-584D-A63A-043EE25F7F71}" type="slidenum">
              <a:rPr lang="en-US" smtClean="0"/>
              <a:t>5</a:t>
            </a:fld>
            <a:endParaRPr lang="en-US"/>
          </a:p>
        </p:txBody>
      </p:sp>
    </p:spTree>
    <p:extLst>
      <p:ext uri="{BB962C8B-B14F-4D97-AF65-F5344CB8AC3E}">
        <p14:creationId xmlns:p14="http://schemas.microsoft.com/office/powerpoint/2010/main" val="3643967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how we’d like the schedule to change.  The boxes represent the work being done, laid out over time.  Before the addition of fork, a single core had to run the entire method.  With fork, the method is split into two parts.  Hopefully, two different cores will run the two different parts and they’ll both finish earlier.</a:t>
            </a:r>
          </a:p>
          <a:p>
            <a:endParaRPr lang="en-US" dirty="0"/>
          </a:p>
          <a:p>
            <a:r>
              <a:rPr lang="en-US" dirty="0"/>
              <a:t>Whether the code actually runs in parallel or not is determined by the system scheduler; fork just marks the code as something that can run in parallel.  By putting fork in our code, we are giving the scheduler that option.</a:t>
            </a:r>
          </a:p>
          <a:p>
            <a:endParaRPr lang="en-US" dirty="0"/>
          </a:p>
          <a:p>
            <a:r>
              <a:rPr lang="en-US" dirty="0"/>
              <a:t>The other keyword, join, causes the program to wait until all the strands started above it have finished.  This is needed because both left and right have to be computed before we run the method’s last line.</a:t>
            </a:r>
          </a:p>
          <a:p>
            <a:endParaRPr lang="en-US" dirty="0"/>
          </a:p>
        </p:txBody>
      </p:sp>
      <p:sp>
        <p:nvSpPr>
          <p:cNvPr id="4" name="Slide Number Placeholder 3"/>
          <p:cNvSpPr>
            <a:spLocks noGrp="1"/>
          </p:cNvSpPr>
          <p:nvPr>
            <p:ph type="sldNum" sz="quarter" idx="5"/>
          </p:nvPr>
        </p:nvSpPr>
        <p:spPr/>
        <p:txBody>
          <a:bodyPr/>
          <a:lstStyle/>
          <a:p>
            <a:fld id="{9B82EF64-3428-584D-A63A-043EE25F7F71}" type="slidenum">
              <a:rPr lang="en-US" smtClean="0"/>
              <a:t>6</a:t>
            </a:fld>
            <a:endParaRPr lang="en-US"/>
          </a:p>
        </p:txBody>
      </p:sp>
    </p:spTree>
    <p:extLst>
      <p:ext uri="{BB962C8B-B14F-4D97-AF65-F5344CB8AC3E}">
        <p14:creationId xmlns:p14="http://schemas.microsoft.com/office/powerpoint/2010/main" val="24601871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a graphical way to look at fork and join.  We start with a serial program that runs A, then B, then C, and then D.  This can be depicted as 4 boxes with arrows from one to another.  Each box represents a piece of code (in this case a function) that doesn’t use fork or join.  We call these strands.  The arrows represent precedence constraints on when the different functions have to run.  The arrow from A to B means that we have to finish A before we start B.  The figure shows how the code runs; each method finishes before the next one starts.</a:t>
            </a:r>
          </a:p>
        </p:txBody>
      </p:sp>
      <p:sp>
        <p:nvSpPr>
          <p:cNvPr id="4" name="Slide Number Placeholder 3"/>
          <p:cNvSpPr>
            <a:spLocks noGrp="1"/>
          </p:cNvSpPr>
          <p:nvPr>
            <p:ph type="sldNum" sz="quarter" idx="5"/>
          </p:nvPr>
        </p:nvSpPr>
        <p:spPr/>
        <p:txBody>
          <a:bodyPr/>
          <a:lstStyle/>
          <a:p>
            <a:fld id="{9B82EF64-3428-584D-A63A-043EE25F7F71}" type="slidenum">
              <a:rPr lang="en-US" smtClean="0"/>
              <a:t>7</a:t>
            </a:fld>
            <a:endParaRPr lang="en-US"/>
          </a:p>
        </p:txBody>
      </p:sp>
    </p:spTree>
    <p:extLst>
      <p:ext uri="{BB962C8B-B14F-4D97-AF65-F5344CB8AC3E}">
        <p14:creationId xmlns:p14="http://schemas.microsoft.com/office/powerpoint/2010/main" val="3434778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four methods, but now we’ve added a fork and join, which changes the precedence diagram.  B still has to run after A because the call that creates the strand for B is after A finishes.  C also has to wait for A to finish because we call C after the call to A.  Note that C doesn’t have to wait for B, however.  The call “fork B” sets up the strand, but doesn’t necessarily run B immediately.  Thus, C could run before, after, or at the same time as B.  Both B and C must run before D, though.  C must run before D because the call to D is after the call to C.  B must run before D because D doesn’t run until after the join command, which waits for B to finish.</a:t>
            </a:r>
          </a:p>
          <a:p>
            <a:endParaRPr lang="en-US" dirty="0"/>
          </a:p>
          <a:p>
            <a:r>
              <a:rPr lang="en-US" dirty="0"/>
              <a:t>Make sure questions are answered before proceeding.</a:t>
            </a:r>
          </a:p>
        </p:txBody>
      </p:sp>
      <p:sp>
        <p:nvSpPr>
          <p:cNvPr id="4" name="Slide Number Placeholder 3"/>
          <p:cNvSpPr>
            <a:spLocks noGrp="1"/>
          </p:cNvSpPr>
          <p:nvPr>
            <p:ph type="sldNum" sz="quarter" idx="5"/>
          </p:nvPr>
        </p:nvSpPr>
        <p:spPr/>
        <p:txBody>
          <a:bodyPr/>
          <a:lstStyle/>
          <a:p>
            <a:fld id="{9B82EF64-3428-584D-A63A-043EE25F7F71}" type="slidenum">
              <a:rPr lang="en-US" smtClean="0"/>
              <a:t>8</a:t>
            </a:fld>
            <a:endParaRPr lang="en-US"/>
          </a:p>
        </p:txBody>
      </p:sp>
    </p:spTree>
    <p:extLst>
      <p:ext uri="{BB962C8B-B14F-4D97-AF65-F5344CB8AC3E}">
        <p14:creationId xmlns:p14="http://schemas.microsoft.com/office/powerpoint/2010/main" val="1433752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clicker question.  Here is a different collection of fork and join calls and the methods now print things.  Which of the sequences of numbers could this code print?</a:t>
            </a:r>
          </a:p>
          <a:p>
            <a:endParaRPr lang="en-US" dirty="0"/>
          </a:p>
          <a:p>
            <a:r>
              <a:rPr lang="en-US" dirty="0"/>
              <a:t>Give time for them to answer individually.  Then, unless either everyone gets it right or everyone gets it wrong, have them explain their answers to their neighbors and vote again.</a:t>
            </a:r>
          </a:p>
        </p:txBody>
      </p:sp>
      <p:sp>
        <p:nvSpPr>
          <p:cNvPr id="4" name="Slide Number Placeholder 3"/>
          <p:cNvSpPr>
            <a:spLocks noGrp="1"/>
          </p:cNvSpPr>
          <p:nvPr>
            <p:ph type="sldNum" sz="quarter" idx="5"/>
          </p:nvPr>
        </p:nvSpPr>
        <p:spPr/>
        <p:txBody>
          <a:bodyPr/>
          <a:lstStyle/>
          <a:p>
            <a:fld id="{9B82EF64-3428-584D-A63A-043EE25F7F71}" type="slidenum">
              <a:rPr lang="en-US" smtClean="0"/>
              <a:t>9</a:t>
            </a:fld>
            <a:endParaRPr lang="en-US"/>
          </a:p>
        </p:txBody>
      </p:sp>
    </p:spTree>
    <p:extLst>
      <p:ext uri="{BB962C8B-B14F-4D97-AF65-F5344CB8AC3E}">
        <p14:creationId xmlns:p14="http://schemas.microsoft.com/office/powerpoint/2010/main" val="39579124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someone to explain the correct answer.  Then elaborate on it and ask questions.</a:t>
            </a:r>
          </a:p>
          <a:p>
            <a:endParaRPr lang="en-US" dirty="0"/>
          </a:p>
          <a:p>
            <a:r>
              <a:rPr lang="en-US" dirty="0"/>
              <a:t>Precedence diagram for this code:</a:t>
            </a:r>
          </a:p>
          <a:p>
            <a:r>
              <a:rPr lang="en-US" dirty="0"/>
              <a:t>1 -&gt; 4</a:t>
            </a:r>
          </a:p>
          <a:p>
            <a:r>
              <a:rPr lang="en-US" dirty="0"/>
              <a:t>        ^</a:t>
            </a:r>
          </a:p>
          <a:p>
            <a:r>
              <a:rPr lang="en-US" dirty="0"/>
              <a:t>        |</a:t>
            </a:r>
          </a:p>
          <a:p>
            <a:r>
              <a:rPr lang="en-US" dirty="0"/>
              <a:t>2 -&gt; 3</a:t>
            </a:r>
          </a:p>
          <a:p>
            <a:endParaRPr lang="en-US" dirty="0"/>
          </a:p>
          <a:p>
            <a:r>
              <a:rPr lang="en-US" dirty="0"/>
              <a:t>I is not allowed because 3 can’t come before 2</a:t>
            </a:r>
          </a:p>
          <a:p>
            <a:r>
              <a:rPr lang="en-US" dirty="0"/>
              <a:t>II can happen with appropriate switching between strands without predecessors</a:t>
            </a:r>
          </a:p>
          <a:p>
            <a:r>
              <a:rPr lang="en-US" dirty="0"/>
              <a:t>III is not allowed because 4 can’t come before 3</a:t>
            </a:r>
          </a:p>
        </p:txBody>
      </p:sp>
      <p:sp>
        <p:nvSpPr>
          <p:cNvPr id="4" name="Slide Number Placeholder 3"/>
          <p:cNvSpPr>
            <a:spLocks noGrp="1"/>
          </p:cNvSpPr>
          <p:nvPr>
            <p:ph type="sldNum" sz="quarter" idx="5"/>
          </p:nvPr>
        </p:nvSpPr>
        <p:spPr/>
        <p:txBody>
          <a:bodyPr/>
          <a:lstStyle/>
          <a:p>
            <a:fld id="{9B82EF64-3428-584D-A63A-043EE25F7F71}" type="slidenum">
              <a:rPr lang="en-US" smtClean="0"/>
              <a:t>10</a:t>
            </a:fld>
            <a:endParaRPr lang="en-US"/>
          </a:p>
        </p:txBody>
      </p:sp>
    </p:spTree>
    <p:extLst>
      <p:ext uri="{BB962C8B-B14F-4D97-AF65-F5344CB8AC3E}">
        <p14:creationId xmlns:p14="http://schemas.microsoft.com/office/powerpoint/2010/main" val="2283335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of the same type of problem.   Could be skipped if the class did well on the first one.  (My class still needed the practice…)</a:t>
            </a:r>
          </a:p>
        </p:txBody>
      </p:sp>
      <p:sp>
        <p:nvSpPr>
          <p:cNvPr id="4" name="Slide Number Placeholder 3"/>
          <p:cNvSpPr>
            <a:spLocks noGrp="1"/>
          </p:cNvSpPr>
          <p:nvPr>
            <p:ph type="sldNum" sz="quarter" idx="5"/>
          </p:nvPr>
        </p:nvSpPr>
        <p:spPr/>
        <p:txBody>
          <a:bodyPr/>
          <a:lstStyle/>
          <a:p>
            <a:fld id="{9B82EF64-3428-584D-A63A-043EE25F7F71}" type="slidenum">
              <a:rPr lang="en-US" smtClean="0"/>
              <a:t>11</a:t>
            </a:fld>
            <a:endParaRPr lang="en-US"/>
          </a:p>
        </p:txBody>
      </p:sp>
    </p:spTree>
    <p:extLst>
      <p:ext uri="{BB962C8B-B14F-4D97-AF65-F5344CB8AC3E}">
        <p14:creationId xmlns:p14="http://schemas.microsoft.com/office/powerpoint/2010/main" val="3166964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one of them to explain the answer and then talk through all the possibilities.</a:t>
            </a:r>
          </a:p>
          <a:p>
            <a:endParaRPr lang="en-US" dirty="0"/>
          </a:p>
          <a:p>
            <a:r>
              <a:rPr lang="en-US" dirty="0"/>
              <a:t>I is possible if 2 prints immediately</a:t>
            </a:r>
          </a:p>
          <a:p>
            <a:r>
              <a:rPr lang="en-US" dirty="0"/>
              <a:t>II is not possible because 1 has to print before 2</a:t>
            </a:r>
          </a:p>
          <a:p>
            <a:r>
              <a:rPr lang="en-US" dirty="0"/>
              <a:t>III is possible if 2 waits until after 3 (it can run immediately, but doesn’t have to)</a:t>
            </a:r>
          </a:p>
        </p:txBody>
      </p:sp>
      <p:sp>
        <p:nvSpPr>
          <p:cNvPr id="4" name="Slide Number Placeholder 3"/>
          <p:cNvSpPr>
            <a:spLocks noGrp="1"/>
          </p:cNvSpPr>
          <p:nvPr>
            <p:ph type="sldNum" sz="quarter" idx="5"/>
          </p:nvPr>
        </p:nvSpPr>
        <p:spPr/>
        <p:txBody>
          <a:bodyPr/>
          <a:lstStyle/>
          <a:p>
            <a:fld id="{9B82EF64-3428-584D-A63A-043EE25F7F71}" type="slidenum">
              <a:rPr lang="en-US" smtClean="0"/>
              <a:t>12</a:t>
            </a:fld>
            <a:endParaRPr lang="en-US"/>
          </a:p>
        </p:txBody>
      </p:sp>
    </p:spTree>
    <p:extLst>
      <p:ext uri="{BB962C8B-B14F-4D97-AF65-F5344CB8AC3E}">
        <p14:creationId xmlns:p14="http://schemas.microsoft.com/office/powerpoint/2010/main" val="26853542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looked at going from code to a precedence graph.  Now, what does it look like when such a program is run.  Basically, the strands need to be scheduled to the available cores.  Here is how that works.  (Go through the slide.)</a:t>
            </a:r>
          </a:p>
        </p:txBody>
      </p:sp>
      <p:sp>
        <p:nvSpPr>
          <p:cNvPr id="4" name="Slide Number Placeholder 3"/>
          <p:cNvSpPr>
            <a:spLocks noGrp="1"/>
          </p:cNvSpPr>
          <p:nvPr>
            <p:ph type="sldNum" sz="quarter" idx="5"/>
          </p:nvPr>
        </p:nvSpPr>
        <p:spPr/>
        <p:txBody>
          <a:bodyPr/>
          <a:lstStyle/>
          <a:p>
            <a:fld id="{9B82EF64-3428-584D-A63A-043EE25F7F71}" type="slidenum">
              <a:rPr lang="en-US" smtClean="0"/>
              <a:t>13</a:t>
            </a:fld>
            <a:endParaRPr lang="en-US"/>
          </a:p>
        </p:txBody>
      </p:sp>
    </p:spTree>
    <p:extLst>
      <p:ext uri="{BB962C8B-B14F-4D97-AF65-F5344CB8AC3E}">
        <p14:creationId xmlns:p14="http://schemas.microsoft.com/office/powerpoint/2010/main" val="28758150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an example, this graph on the bottom left.</a:t>
            </a:r>
          </a:p>
          <a:p>
            <a:r>
              <a:rPr lang="en-US" dirty="0"/>
              <a:t>If we have 2 processors, one of them will run A in the first time unit.  (Note how the schedule works; each row represents the strands run on a single processor and each column corresponds to a single time unit.) Nothing else can run because of the precedence constraints so the other processor will be idle.</a:t>
            </a:r>
          </a:p>
          <a:p>
            <a:r>
              <a:rPr lang="en-US" dirty="0"/>
              <a:t>For the second time unit, both B and C are available to run so they both will.</a:t>
            </a:r>
          </a:p>
          <a:p>
            <a:r>
              <a:rPr lang="en-US" dirty="0"/>
              <a:t>Then D becomes available and runs in the third time unit.</a:t>
            </a:r>
          </a:p>
          <a:p>
            <a:endParaRPr lang="en-US" dirty="0"/>
          </a:p>
          <a:p>
            <a:r>
              <a:rPr lang="en-US" dirty="0"/>
              <a:t>Make sure questions are answered.</a:t>
            </a:r>
          </a:p>
        </p:txBody>
      </p:sp>
      <p:sp>
        <p:nvSpPr>
          <p:cNvPr id="4" name="Slide Number Placeholder 3"/>
          <p:cNvSpPr>
            <a:spLocks noGrp="1"/>
          </p:cNvSpPr>
          <p:nvPr>
            <p:ph type="sldNum" sz="quarter" idx="5"/>
          </p:nvPr>
        </p:nvSpPr>
        <p:spPr/>
        <p:txBody>
          <a:bodyPr/>
          <a:lstStyle/>
          <a:p>
            <a:fld id="{9B82EF64-3428-584D-A63A-043EE25F7F71}" type="slidenum">
              <a:rPr lang="en-US" smtClean="0"/>
              <a:t>14</a:t>
            </a:fld>
            <a:endParaRPr lang="en-US"/>
          </a:p>
        </p:txBody>
      </p:sp>
    </p:spTree>
    <p:extLst>
      <p:ext uri="{BB962C8B-B14F-4D97-AF65-F5344CB8AC3E}">
        <p14:creationId xmlns:p14="http://schemas.microsoft.com/office/powerpoint/2010/main" val="3089980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time for you to do it yourself.  Here is a graph.  How long can a legal schedule for this graph take on 2 processors?  There may be more than one, which is why more than one running time might be possible.</a:t>
            </a:r>
          </a:p>
        </p:txBody>
      </p:sp>
      <p:sp>
        <p:nvSpPr>
          <p:cNvPr id="4" name="Slide Number Placeholder 3"/>
          <p:cNvSpPr>
            <a:spLocks noGrp="1"/>
          </p:cNvSpPr>
          <p:nvPr>
            <p:ph type="sldNum" sz="quarter" idx="5"/>
          </p:nvPr>
        </p:nvSpPr>
        <p:spPr/>
        <p:txBody>
          <a:bodyPr/>
          <a:lstStyle/>
          <a:p>
            <a:fld id="{9B82EF64-3428-584D-A63A-043EE25F7F71}" type="slidenum">
              <a:rPr lang="en-US" smtClean="0"/>
              <a:t>15</a:t>
            </a:fld>
            <a:endParaRPr lang="en-US"/>
          </a:p>
        </p:txBody>
      </p:sp>
    </p:spTree>
    <p:extLst>
      <p:ext uri="{BB962C8B-B14F-4D97-AF65-F5344CB8AC3E}">
        <p14:creationId xmlns:p14="http://schemas.microsoft.com/office/powerpoint/2010/main" val="28831294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to have students give you these schedules.</a:t>
            </a:r>
          </a:p>
          <a:p>
            <a:endParaRPr lang="en-US" dirty="0"/>
          </a:p>
          <a:p>
            <a:r>
              <a:rPr lang="en-US" dirty="0"/>
              <a:t>4 unit schedule:</a:t>
            </a:r>
          </a:p>
          <a:p>
            <a:r>
              <a:rPr lang="en-US" dirty="0"/>
              <a:t>A  B E F</a:t>
            </a:r>
          </a:p>
          <a:p>
            <a:r>
              <a:rPr lang="en-US" dirty="0"/>
              <a:t>    C D</a:t>
            </a:r>
          </a:p>
          <a:p>
            <a:r>
              <a:rPr lang="en-US" dirty="0"/>
              <a:t>Nothing can be faster than this because only one of the leftmost strands (A, B, E, F) can run at a time</a:t>
            </a:r>
          </a:p>
          <a:p>
            <a:endParaRPr lang="en-US" dirty="0"/>
          </a:p>
          <a:p>
            <a:r>
              <a:rPr lang="en-US" dirty="0"/>
              <a:t>5 unit schedule:</a:t>
            </a:r>
          </a:p>
          <a:p>
            <a:r>
              <a:rPr lang="en-US" dirty="0"/>
              <a:t>A  C  B  E F</a:t>
            </a:r>
          </a:p>
          <a:p>
            <a:r>
              <a:rPr lang="en-US" dirty="0"/>
              <a:t>    D</a:t>
            </a:r>
          </a:p>
          <a:p>
            <a:r>
              <a:rPr lang="en-US" dirty="0"/>
              <a:t>Nothing can be slower than this because both C and D can run in the second time unit (and thus will) and there can’t be any idle time.</a:t>
            </a:r>
          </a:p>
          <a:p>
            <a:endParaRPr lang="en-US" dirty="0"/>
          </a:p>
          <a:p>
            <a:r>
              <a:rPr lang="en-US" dirty="0"/>
              <a:t>When I did this in class, this was the last slide I covered in the first (70-minute) period.  (I did cover a few minutes worth of other stuff before the first slide of this deck, but it a 50-minute class probably needs to end before this slide…)</a:t>
            </a:r>
          </a:p>
        </p:txBody>
      </p:sp>
      <p:sp>
        <p:nvSpPr>
          <p:cNvPr id="4" name="Slide Number Placeholder 3"/>
          <p:cNvSpPr>
            <a:spLocks noGrp="1"/>
          </p:cNvSpPr>
          <p:nvPr>
            <p:ph type="sldNum" sz="quarter" idx="5"/>
          </p:nvPr>
        </p:nvSpPr>
        <p:spPr/>
        <p:txBody>
          <a:bodyPr/>
          <a:lstStyle/>
          <a:p>
            <a:fld id="{9B82EF64-3428-584D-A63A-043EE25F7F71}" type="slidenum">
              <a:rPr lang="en-US" smtClean="0"/>
              <a:t>16</a:t>
            </a:fld>
            <a:endParaRPr lang="en-US"/>
          </a:p>
        </p:txBody>
      </p:sp>
    </p:spTree>
    <p:extLst>
      <p:ext uri="{BB962C8B-B14F-4D97-AF65-F5344CB8AC3E}">
        <p14:creationId xmlns:p14="http://schemas.microsoft.com/office/powerpoint/2010/main" val="26087573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about this one?</a:t>
            </a:r>
          </a:p>
          <a:p>
            <a:endParaRPr lang="en-US" dirty="0"/>
          </a:p>
          <a:p>
            <a:r>
              <a:rPr lang="en-US" dirty="0"/>
              <a:t>Can potentially skip this one.  The point of both of these questions to see that the length of the longest chain (i.e. the span) is a limiting factor in the time. </a:t>
            </a:r>
          </a:p>
        </p:txBody>
      </p:sp>
      <p:sp>
        <p:nvSpPr>
          <p:cNvPr id="4" name="Slide Number Placeholder 3"/>
          <p:cNvSpPr>
            <a:spLocks noGrp="1"/>
          </p:cNvSpPr>
          <p:nvPr>
            <p:ph type="sldNum" sz="quarter" idx="5"/>
          </p:nvPr>
        </p:nvSpPr>
        <p:spPr/>
        <p:txBody>
          <a:bodyPr/>
          <a:lstStyle/>
          <a:p>
            <a:fld id="{9B82EF64-3428-584D-A63A-043EE25F7F71}" type="slidenum">
              <a:rPr lang="en-US" smtClean="0"/>
              <a:t>17</a:t>
            </a:fld>
            <a:endParaRPr lang="en-US"/>
          </a:p>
        </p:txBody>
      </p:sp>
    </p:spTree>
    <p:extLst>
      <p:ext uri="{BB962C8B-B14F-4D97-AF65-F5344CB8AC3E}">
        <p14:creationId xmlns:p14="http://schemas.microsoft.com/office/powerpoint/2010/main" val="13739171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Ideally have them construct the schedules</a:t>
            </a:r>
          </a:p>
          <a:p>
            <a:endParaRPr lang="en-US" dirty="0"/>
          </a:p>
          <a:p>
            <a:r>
              <a:rPr lang="en-US" dirty="0"/>
              <a:t>5 unit schedule</a:t>
            </a:r>
          </a:p>
          <a:p>
            <a:r>
              <a:rPr lang="en-US" dirty="0"/>
              <a:t>A  B  E  H  I</a:t>
            </a:r>
          </a:p>
          <a:p>
            <a:r>
              <a:rPr lang="en-US" dirty="0"/>
              <a:t>    C  D  F  G</a:t>
            </a:r>
          </a:p>
          <a:p>
            <a:r>
              <a:rPr lang="en-US" dirty="0"/>
              <a:t>Can’t be better than this because of long chain along the left edge</a:t>
            </a:r>
          </a:p>
          <a:p>
            <a:endParaRPr lang="en-US" dirty="0"/>
          </a:p>
          <a:p>
            <a:r>
              <a:rPr lang="en-US" dirty="0"/>
              <a:t>6 unit schedule</a:t>
            </a:r>
          </a:p>
          <a:p>
            <a:r>
              <a:rPr lang="en-US" dirty="0"/>
              <a:t>A  C  B  E  H  I</a:t>
            </a:r>
          </a:p>
          <a:p>
            <a:r>
              <a:rPr lang="en-US" dirty="0"/>
              <a:t>    D  F  G</a:t>
            </a:r>
          </a:p>
          <a:p>
            <a:endParaRPr lang="en-US" dirty="0"/>
          </a:p>
          <a:p>
            <a:r>
              <a:rPr lang="en-US" dirty="0"/>
              <a:t>7 unit schedule</a:t>
            </a:r>
          </a:p>
          <a:p>
            <a:r>
              <a:rPr lang="en-US" dirty="0"/>
              <a:t>A  C  F  B  E  H  I</a:t>
            </a:r>
          </a:p>
          <a:p>
            <a:r>
              <a:rPr lang="en-US" dirty="0"/>
              <a:t>    D  G</a:t>
            </a:r>
          </a:p>
          <a:p>
            <a:r>
              <a:rPr lang="en-US" dirty="0"/>
              <a:t>Can’t be longer than this because definitely finish everything except long chain in 3 units of both processors working on them</a:t>
            </a:r>
          </a:p>
        </p:txBody>
      </p:sp>
      <p:sp>
        <p:nvSpPr>
          <p:cNvPr id="4" name="Slide Number Placeholder 3"/>
          <p:cNvSpPr>
            <a:spLocks noGrp="1"/>
          </p:cNvSpPr>
          <p:nvPr>
            <p:ph type="sldNum" sz="quarter" idx="5"/>
          </p:nvPr>
        </p:nvSpPr>
        <p:spPr/>
        <p:txBody>
          <a:bodyPr/>
          <a:lstStyle/>
          <a:p>
            <a:fld id="{9B82EF64-3428-584D-A63A-043EE25F7F71}" type="slidenum">
              <a:rPr lang="en-US" smtClean="0"/>
              <a:t>18</a:t>
            </a:fld>
            <a:endParaRPr lang="en-US"/>
          </a:p>
        </p:txBody>
      </p:sp>
    </p:spTree>
    <p:extLst>
      <p:ext uri="{BB962C8B-B14F-4D97-AF65-F5344CB8AC3E}">
        <p14:creationId xmlns:p14="http://schemas.microsoft.com/office/powerpoint/2010/main" val="21390947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has short span, but still takes a long time.  It’s running time is more based on the total work.</a:t>
            </a:r>
          </a:p>
          <a:p>
            <a:r>
              <a:rPr lang="en-US" dirty="0"/>
              <a:t>Could potentially skip it as long as you make this point.</a:t>
            </a:r>
          </a:p>
        </p:txBody>
      </p:sp>
      <p:sp>
        <p:nvSpPr>
          <p:cNvPr id="4" name="Slide Number Placeholder 3"/>
          <p:cNvSpPr>
            <a:spLocks noGrp="1"/>
          </p:cNvSpPr>
          <p:nvPr>
            <p:ph type="sldNum" sz="quarter" idx="5"/>
          </p:nvPr>
        </p:nvSpPr>
        <p:spPr/>
        <p:txBody>
          <a:bodyPr/>
          <a:lstStyle/>
          <a:p>
            <a:fld id="{9B82EF64-3428-584D-A63A-043EE25F7F71}" type="slidenum">
              <a:rPr lang="en-US" smtClean="0"/>
              <a:t>19</a:t>
            </a:fld>
            <a:endParaRPr lang="en-US"/>
          </a:p>
        </p:txBody>
      </p:sp>
    </p:spTree>
    <p:extLst>
      <p:ext uri="{BB962C8B-B14F-4D97-AF65-F5344CB8AC3E}">
        <p14:creationId xmlns:p14="http://schemas.microsoft.com/office/powerpoint/2010/main" val="41442656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unit schedule:</a:t>
            </a:r>
          </a:p>
          <a:p>
            <a:r>
              <a:rPr lang="en-US" dirty="0"/>
              <a:t>A  B  D  G  H</a:t>
            </a:r>
          </a:p>
          <a:p>
            <a:r>
              <a:rPr lang="en-US" dirty="0"/>
              <a:t>    C  F  E  I</a:t>
            </a:r>
          </a:p>
          <a:p>
            <a:r>
              <a:rPr lang="en-US" dirty="0"/>
              <a:t>Can’t be less than this because 9 tasks take &gt;= 5 time units on 2 processors (only 8 can finish in 4 time units)</a:t>
            </a:r>
          </a:p>
          <a:p>
            <a:endParaRPr lang="en-US" dirty="0"/>
          </a:p>
          <a:p>
            <a:r>
              <a:rPr lang="en-US" dirty="0"/>
              <a:t>6 unit schedule:</a:t>
            </a:r>
          </a:p>
          <a:p>
            <a:r>
              <a:rPr lang="en-US" dirty="0"/>
              <a:t>A  D  G  B  C  F</a:t>
            </a:r>
          </a:p>
          <a:p>
            <a:r>
              <a:rPr lang="en-US" dirty="0"/>
              <a:t>    E  H  I</a:t>
            </a:r>
          </a:p>
          <a:p>
            <a:r>
              <a:rPr lang="en-US" dirty="0"/>
              <a:t>Can’t be longer than this because times 2-4 consume all but 2 strands (always have enough options to keep both processors busy; seem to need to look at cases for this argument)</a:t>
            </a:r>
          </a:p>
        </p:txBody>
      </p:sp>
      <p:sp>
        <p:nvSpPr>
          <p:cNvPr id="4" name="Slide Number Placeholder 3"/>
          <p:cNvSpPr>
            <a:spLocks noGrp="1"/>
          </p:cNvSpPr>
          <p:nvPr>
            <p:ph type="sldNum" sz="quarter" idx="5"/>
          </p:nvPr>
        </p:nvSpPr>
        <p:spPr/>
        <p:txBody>
          <a:bodyPr/>
          <a:lstStyle/>
          <a:p>
            <a:fld id="{9B82EF64-3428-584D-A63A-043EE25F7F71}" type="slidenum">
              <a:rPr lang="en-US" smtClean="0"/>
              <a:t>20</a:t>
            </a:fld>
            <a:endParaRPr lang="en-US"/>
          </a:p>
        </p:txBody>
      </p:sp>
    </p:spTree>
    <p:extLst>
      <p:ext uri="{BB962C8B-B14F-4D97-AF65-F5344CB8AC3E}">
        <p14:creationId xmlns:p14="http://schemas.microsoft.com/office/powerpoint/2010/main" val="41090436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Bringing our observations together.  The time can depend on the number of strands (work) so we want to minimize that.  The time can also depend on the length of the longest path (span) so we want to minimize that.</a:t>
            </a:r>
          </a:p>
          <a:p>
            <a:endParaRPr lang="en-US" dirty="0"/>
          </a:p>
          <a:p>
            <a:r>
              <a:rPr lang="en-US" dirty="0"/>
              <a:t>notation comes from </a:t>
            </a:r>
            <a:r>
              <a:rPr lang="en-US" dirty="0" err="1"/>
              <a:t>T_p</a:t>
            </a:r>
            <a:r>
              <a:rPr lang="en-US" dirty="0"/>
              <a:t> being the time on p processors.</a:t>
            </a:r>
          </a:p>
          <a:p>
            <a:r>
              <a:rPr lang="en-US" dirty="0"/>
              <a:t>T_1 runs one strand per time unit on a single processor.  It isn’t idle until all strands are run so the time is exactly the number of strands.</a:t>
            </a:r>
          </a:p>
          <a:p>
            <a:r>
              <a:rPr lang="en-US" dirty="0" err="1"/>
              <a:t>T_infinity</a:t>
            </a:r>
            <a:r>
              <a:rPr lang="en-US" dirty="0"/>
              <a:t> considers having an infinite number of processors.  In this case, every available strand is completed in each time unit.  Doing this once shortens the length of every path of precedence constraints.  Thus, the time is the length of the longest such path.</a:t>
            </a:r>
          </a:p>
          <a:p>
            <a:endParaRPr lang="en-US" dirty="0"/>
          </a:p>
          <a:p>
            <a:r>
              <a:rPr lang="en-US" dirty="0"/>
              <a:t>Note that work and span are both properties of the precedence graph, not a schedule.  (Though the length of the schedule depends on them.)</a:t>
            </a:r>
          </a:p>
        </p:txBody>
      </p:sp>
      <p:sp>
        <p:nvSpPr>
          <p:cNvPr id="4" name="Slide Number Placeholder 3"/>
          <p:cNvSpPr>
            <a:spLocks noGrp="1"/>
          </p:cNvSpPr>
          <p:nvPr>
            <p:ph type="sldNum" sz="quarter" idx="5"/>
          </p:nvPr>
        </p:nvSpPr>
        <p:spPr/>
        <p:txBody>
          <a:bodyPr/>
          <a:lstStyle/>
          <a:p>
            <a:fld id="{9B82EF64-3428-584D-A63A-043EE25F7F71}" type="slidenum">
              <a:rPr lang="en-US" smtClean="0"/>
              <a:t>21</a:t>
            </a:fld>
            <a:endParaRPr lang="en-US"/>
          </a:p>
        </p:txBody>
      </p:sp>
    </p:spTree>
    <p:extLst>
      <p:ext uri="{BB962C8B-B14F-4D97-AF65-F5344CB8AC3E}">
        <p14:creationId xmlns:p14="http://schemas.microsoft.com/office/powerpoint/2010/main" val="32985804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apply these concepts to a graph.</a:t>
            </a:r>
          </a:p>
        </p:txBody>
      </p:sp>
      <p:sp>
        <p:nvSpPr>
          <p:cNvPr id="4" name="Slide Number Placeholder 3"/>
          <p:cNvSpPr>
            <a:spLocks noGrp="1"/>
          </p:cNvSpPr>
          <p:nvPr>
            <p:ph type="sldNum" sz="quarter" idx="5"/>
          </p:nvPr>
        </p:nvSpPr>
        <p:spPr/>
        <p:txBody>
          <a:bodyPr/>
          <a:lstStyle/>
          <a:p>
            <a:fld id="{9B82EF64-3428-584D-A63A-043EE25F7F71}" type="slidenum">
              <a:rPr lang="en-US" smtClean="0"/>
              <a:t>22</a:t>
            </a:fld>
            <a:endParaRPr lang="en-US"/>
          </a:p>
        </p:txBody>
      </p:sp>
    </p:spTree>
    <p:extLst>
      <p:ext uri="{BB962C8B-B14F-4D97-AF65-F5344CB8AC3E}">
        <p14:creationId xmlns:p14="http://schemas.microsoft.com/office/powerpoint/2010/main" val="890780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is just the number of boxes, i.e. 6.</a:t>
            </a:r>
          </a:p>
          <a:p>
            <a:r>
              <a:rPr lang="en-US" dirty="0"/>
              <a:t>Span is length of longest path (</a:t>
            </a:r>
            <a:r>
              <a:rPr lang="en-US" dirty="0" err="1"/>
              <a:t>a,b,e,f</a:t>
            </a:r>
            <a:r>
              <a:rPr lang="en-US" dirty="0"/>
              <a:t>) so 4</a:t>
            </a:r>
          </a:p>
          <a:p>
            <a:endParaRPr lang="en-US" dirty="0"/>
          </a:p>
        </p:txBody>
      </p:sp>
      <p:sp>
        <p:nvSpPr>
          <p:cNvPr id="4" name="Slide Number Placeholder 3"/>
          <p:cNvSpPr>
            <a:spLocks noGrp="1"/>
          </p:cNvSpPr>
          <p:nvPr>
            <p:ph type="sldNum" sz="quarter" idx="5"/>
          </p:nvPr>
        </p:nvSpPr>
        <p:spPr/>
        <p:txBody>
          <a:bodyPr/>
          <a:lstStyle/>
          <a:p>
            <a:fld id="{9B82EF64-3428-584D-A63A-043EE25F7F71}" type="slidenum">
              <a:rPr lang="en-US" smtClean="0"/>
              <a:t>23</a:t>
            </a:fld>
            <a:endParaRPr lang="en-US"/>
          </a:p>
        </p:txBody>
      </p:sp>
    </p:spTree>
    <p:extLst>
      <p:ext uri="{BB962C8B-B14F-4D97-AF65-F5344CB8AC3E}">
        <p14:creationId xmlns:p14="http://schemas.microsoft.com/office/powerpoint/2010/main" val="40249218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how we can analyze programs based on these metrics.</a:t>
            </a:r>
          </a:p>
          <a:p>
            <a:r>
              <a:rPr lang="en-US" dirty="0"/>
              <a:t>It relies on two kinds of operations in the program.</a:t>
            </a:r>
          </a:p>
          <a:p>
            <a:r>
              <a:rPr lang="en-US" dirty="0"/>
              <a:t>The first is a sequence, do A and then do B.</a:t>
            </a:r>
          </a:p>
          <a:p>
            <a:r>
              <a:rPr lang="en-US" dirty="0"/>
              <a:t>The other is a fork-join so that A and B are done in parallel and then the program proceeds after both are completed.</a:t>
            </a:r>
          </a:p>
          <a:p>
            <a:r>
              <a:rPr lang="en-US" dirty="0"/>
              <a:t>The idea is that the precedence graph for the program can be represented as the composition of these two operations.</a:t>
            </a:r>
          </a:p>
          <a:p>
            <a:endParaRPr lang="en-US" dirty="0"/>
          </a:p>
          <a:p>
            <a:r>
              <a:rPr lang="en-US" dirty="0"/>
              <a:t>How does each of them affect the work and span?</a:t>
            </a:r>
          </a:p>
          <a:p>
            <a:r>
              <a:rPr lang="en-US" dirty="0"/>
              <a:t>Let’s start with work; what is the work of each of these combinations in terms of the work of A and the work of B?</a:t>
            </a:r>
          </a:p>
        </p:txBody>
      </p:sp>
      <p:sp>
        <p:nvSpPr>
          <p:cNvPr id="4" name="Slide Number Placeholder 3"/>
          <p:cNvSpPr>
            <a:spLocks noGrp="1"/>
          </p:cNvSpPr>
          <p:nvPr>
            <p:ph type="sldNum" sz="quarter" idx="5"/>
          </p:nvPr>
        </p:nvSpPr>
        <p:spPr/>
        <p:txBody>
          <a:bodyPr/>
          <a:lstStyle/>
          <a:p>
            <a:fld id="{9B82EF64-3428-584D-A63A-043EE25F7F71}" type="slidenum">
              <a:rPr lang="en-US" smtClean="0"/>
              <a:t>24</a:t>
            </a:fld>
            <a:endParaRPr lang="en-US"/>
          </a:p>
        </p:txBody>
      </p:sp>
    </p:spTree>
    <p:extLst>
      <p:ext uri="{BB962C8B-B14F-4D97-AF65-F5344CB8AC3E}">
        <p14:creationId xmlns:p14="http://schemas.microsoft.com/office/powerpoint/2010/main" val="10344261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is just additive.  It doesn’t matter how the parts of the program are arranged since all work cares about is the number of strands.  Thus, the work for either combination is just the sum of the work for each part.</a:t>
            </a:r>
          </a:p>
          <a:p>
            <a:endParaRPr lang="en-US" dirty="0"/>
          </a:p>
          <a:p>
            <a:r>
              <a:rPr lang="en-US" dirty="0"/>
              <a:t>What about span?  How does the span of each combination depend on the span of A and the span of B?</a:t>
            </a:r>
          </a:p>
        </p:txBody>
      </p:sp>
      <p:sp>
        <p:nvSpPr>
          <p:cNvPr id="4" name="Slide Number Placeholder 3"/>
          <p:cNvSpPr>
            <a:spLocks noGrp="1"/>
          </p:cNvSpPr>
          <p:nvPr>
            <p:ph type="sldNum" sz="quarter" idx="5"/>
          </p:nvPr>
        </p:nvSpPr>
        <p:spPr/>
        <p:txBody>
          <a:bodyPr/>
          <a:lstStyle/>
          <a:p>
            <a:fld id="{9B82EF64-3428-584D-A63A-043EE25F7F71}" type="slidenum">
              <a:rPr lang="en-US" smtClean="0"/>
              <a:t>25</a:t>
            </a:fld>
            <a:endParaRPr lang="en-US"/>
          </a:p>
        </p:txBody>
      </p:sp>
    </p:spTree>
    <p:extLst>
      <p:ext uri="{BB962C8B-B14F-4D97-AF65-F5344CB8AC3E}">
        <p14:creationId xmlns:p14="http://schemas.microsoft.com/office/powerpoint/2010/main" val="23482755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see a difference.</a:t>
            </a:r>
          </a:p>
          <a:p>
            <a:r>
              <a:rPr lang="en-US" dirty="0"/>
              <a:t>For the sequence, the span is the sum of the spans of A and B.  That’s because every path in B isn’t begun until after the longest path in A.  The longest path in the combination is the longest path in A followed by the longest path in B.</a:t>
            </a:r>
          </a:p>
          <a:p>
            <a:endParaRPr lang="en-US" dirty="0"/>
          </a:p>
          <a:p>
            <a:r>
              <a:rPr lang="en-US" dirty="0"/>
              <a:t>For the fork-join, the longest path in the combination is the maximum of the spans.  That’s because the longest path now is either the longest path in A or the longest path in B.</a:t>
            </a:r>
          </a:p>
          <a:p>
            <a:endParaRPr lang="en-US" dirty="0"/>
          </a:p>
        </p:txBody>
      </p:sp>
      <p:sp>
        <p:nvSpPr>
          <p:cNvPr id="4" name="Slide Number Placeholder 3"/>
          <p:cNvSpPr>
            <a:spLocks noGrp="1"/>
          </p:cNvSpPr>
          <p:nvPr>
            <p:ph type="sldNum" sz="quarter" idx="5"/>
          </p:nvPr>
        </p:nvSpPr>
        <p:spPr/>
        <p:txBody>
          <a:bodyPr/>
          <a:lstStyle/>
          <a:p>
            <a:fld id="{9B82EF64-3428-584D-A63A-043EE25F7F71}" type="slidenum">
              <a:rPr lang="en-US" smtClean="0"/>
              <a:t>26</a:t>
            </a:fld>
            <a:endParaRPr lang="en-US"/>
          </a:p>
        </p:txBody>
      </p:sp>
    </p:spTree>
    <p:extLst>
      <p:ext uri="{BB962C8B-B14F-4D97-AF65-F5344CB8AC3E}">
        <p14:creationId xmlns:p14="http://schemas.microsoft.com/office/powerpoint/2010/main" val="13442164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before only allows 2 strands to run in parallel.  What if we have more cores than that?  Here are versions of the code for 3 and 4 cores.  Talk through each of them.</a:t>
            </a:r>
          </a:p>
          <a:p>
            <a:endParaRPr lang="en-US" dirty="0"/>
          </a:p>
          <a:p>
            <a:r>
              <a:rPr lang="en-US" dirty="0"/>
              <a:t>What is the problem with this approach?  (hard coding the number of strands; need to edit program for each new size of computer)</a:t>
            </a:r>
          </a:p>
        </p:txBody>
      </p:sp>
      <p:sp>
        <p:nvSpPr>
          <p:cNvPr id="4" name="Slide Number Placeholder 3"/>
          <p:cNvSpPr>
            <a:spLocks noGrp="1"/>
          </p:cNvSpPr>
          <p:nvPr>
            <p:ph type="sldNum" sz="quarter" idx="5"/>
          </p:nvPr>
        </p:nvSpPr>
        <p:spPr/>
        <p:txBody>
          <a:bodyPr/>
          <a:lstStyle/>
          <a:p>
            <a:fld id="{9B82EF64-3428-584D-A63A-043EE25F7F71}" type="slidenum">
              <a:rPr lang="en-US" smtClean="0"/>
              <a:t>27</a:t>
            </a:fld>
            <a:endParaRPr lang="en-US"/>
          </a:p>
        </p:txBody>
      </p:sp>
    </p:spTree>
    <p:extLst>
      <p:ext uri="{BB962C8B-B14F-4D97-AF65-F5344CB8AC3E}">
        <p14:creationId xmlns:p14="http://schemas.microsoft.com/office/powerpoint/2010/main" val="36738645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more general solution.  We get the number of cores from a system call (or set it elsewhere in the program) and then use a loop to create that number of strands.</a:t>
            </a:r>
          </a:p>
          <a:p>
            <a:endParaRPr lang="en-US" dirty="0"/>
          </a:p>
          <a:p>
            <a:r>
              <a:rPr lang="en-US" dirty="0"/>
              <a:t>Talk through the method.  Particularly observe that the value of e in one iteration is the same as the value of s in the next iteration.  Also s and e are low and hi respectively on the 0</a:t>
            </a:r>
            <a:r>
              <a:rPr lang="en-US" baseline="30000" dirty="0"/>
              <a:t>th</a:t>
            </a:r>
            <a:r>
              <a:rPr lang="en-US" dirty="0"/>
              <a:t> and (c-1)</a:t>
            </a:r>
            <a:r>
              <a:rPr lang="en-US" dirty="0" err="1"/>
              <a:t>st</a:t>
            </a:r>
            <a:r>
              <a:rPr lang="en-US" dirty="0"/>
              <a:t> iterations</a:t>
            </a:r>
          </a:p>
          <a:p>
            <a:endParaRPr lang="en-US" dirty="0"/>
          </a:p>
          <a:p>
            <a:r>
              <a:rPr lang="en-US" dirty="0"/>
              <a:t>What could go wrong with this?</a:t>
            </a:r>
          </a:p>
        </p:txBody>
      </p:sp>
      <p:sp>
        <p:nvSpPr>
          <p:cNvPr id="4" name="Slide Number Placeholder 3"/>
          <p:cNvSpPr>
            <a:spLocks noGrp="1"/>
          </p:cNvSpPr>
          <p:nvPr>
            <p:ph type="sldNum" sz="quarter" idx="5"/>
          </p:nvPr>
        </p:nvSpPr>
        <p:spPr/>
        <p:txBody>
          <a:bodyPr/>
          <a:lstStyle/>
          <a:p>
            <a:fld id="{9B82EF64-3428-584D-A63A-043EE25F7F71}" type="slidenum">
              <a:rPr lang="en-US" smtClean="0"/>
              <a:t>28</a:t>
            </a:fld>
            <a:endParaRPr lang="en-US"/>
          </a:p>
        </p:txBody>
      </p:sp>
    </p:spTree>
    <p:extLst>
      <p:ext uri="{BB962C8B-B14F-4D97-AF65-F5344CB8AC3E}">
        <p14:creationId xmlns:p14="http://schemas.microsoft.com/office/powerpoint/2010/main" val="16044854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because the system has c cores doesn’t mean the operating system will give them all to you.  (The user is watching Netflix while running your program and that uses a core.)  The OS can also change its mind (it decides to take a backup or do some other task during the run so the number of available cores changes).  In this case, one or more of the cores will end up doing an extra strand (figure shows 3 strands running on 2 cores).</a:t>
            </a:r>
          </a:p>
        </p:txBody>
      </p:sp>
      <p:sp>
        <p:nvSpPr>
          <p:cNvPr id="4" name="Slide Number Placeholder 3"/>
          <p:cNvSpPr>
            <a:spLocks noGrp="1"/>
          </p:cNvSpPr>
          <p:nvPr>
            <p:ph type="sldNum" sz="quarter" idx="5"/>
          </p:nvPr>
        </p:nvSpPr>
        <p:spPr/>
        <p:txBody>
          <a:bodyPr/>
          <a:lstStyle/>
          <a:p>
            <a:fld id="{9B82EF64-3428-584D-A63A-043EE25F7F71}" type="slidenum">
              <a:rPr lang="en-US" smtClean="0"/>
              <a:t>29</a:t>
            </a:fld>
            <a:endParaRPr lang="en-US"/>
          </a:p>
        </p:txBody>
      </p:sp>
    </p:spTree>
    <p:extLst>
      <p:ext uri="{BB962C8B-B14F-4D97-AF65-F5344CB8AC3E}">
        <p14:creationId xmlns:p14="http://schemas.microsoft.com/office/powerpoint/2010/main" val="12286971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strands might require different amounts of work.  (Not so much for this example, but consider splitting a more complicated task into parts.)  if one of the strands takes longer than the other than putting one on each core will still give an uneven work distribution.</a:t>
            </a:r>
          </a:p>
          <a:p>
            <a:endParaRPr lang="en-US" dirty="0"/>
          </a:p>
          <a:p>
            <a:r>
              <a:rPr lang="en-US" dirty="0"/>
              <a:t>Transition: What can we do?</a:t>
            </a:r>
          </a:p>
        </p:txBody>
      </p:sp>
      <p:sp>
        <p:nvSpPr>
          <p:cNvPr id="4" name="Slide Number Placeholder 3"/>
          <p:cNvSpPr>
            <a:spLocks noGrp="1"/>
          </p:cNvSpPr>
          <p:nvPr>
            <p:ph type="sldNum" sz="quarter" idx="5"/>
          </p:nvPr>
        </p:nvSpPr>
        <p:spPr/>
        <p:txBody>
          <a:bodyPr/>
          <a:lstStyle/>
          <a:p>
            <a:fld id="{9B82EF64-3428-584D-A63A-043EE25F7F71}" type="slidenum">
              <a:rPr lang="en-US" smtClean="0"/>
              <a:t>30</a:t>
            </a:fld>
            <a:endParaRPr lang="en-US"/>
          </a:p>
        </p:txBody>
      </p:sp>
    </p:spTree>
    <p:extLst>
      <p:ext uri="{BB962C8B-B14F-4D97-AF65-F5344CB8AC3E}">
        <p14:creationId xmlns:p14="http://schemas.microsoft.com/office/powerpoint/2010/main" val="9483454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turns out that a recursive solution can help here.  Talk through this code: base case is a small number of elements, which we sum with a loop.  Otherwise, the array is split into two parts, each in a separate strand.</a:t>
            </a:r>
          </a:p>
          <a:p>
            <a:endParaRPr lang="en-US" dirty="0"/>
          </a:p>
        </p:txBody>
      </p:sp>
      <p:sp>
        <p:nvSpPr>
          <p:cNvPr id="4" name="Slide Number Placeholder 3"/>
          <p:cNvSpPr>
            <a:spLocks noGrp="1"/>
          </p:cNvSpPr>
          <p:nvPr>
            <p:ph type="sldNum" sz="quarter" idx="5"/>
          </p:nvPr>
        </p:nvSpPr>
        <p:spPr/>
        <p:txBody>
          <a:bodyPr/>
          <a:lstStyle/>
          <a:p>
            <a:fld id="{9B82EF64-3428-584D-A63A-043EE25F7F71}" type="slidenum">
              <a:rPr lang="en-US" smtClean="0"/>
              <a:t>31</a:t>
            </a:fld>
            <a:endParaRPr lang="en-US"/>
          </a:p>
        </p:txBody>
      </p:sp>
    </p:spTree>
    <p:extLst>
      <p:ext uri="{BB962C8B-B14F-4D97-AF65-F5344CB8AC3E}">
        <p14:creationId xmlns:p14="http://schemas.microsoft.com/office/powerpoint/2010/main" val="24619364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work?</a:t>
            </a:r>
          </a:p>
          <a:p>
            <a:r>
              <a:rPr lang="en-US" dirty="0"/>
              <a:t>Creates a bunch of extra strands (actually too many; we’ll come back to this later)</a:t>
            </a:r>
          </a:p>
          <a:p>
            <a:r>
              <a:rPr lang="en-US" dirty="0"/>
              <a:t>By having more strands than cores, we’ll automatically load balance; whenever a core finishes one strand, it will just start another until they are all done.  Draw some pictures showing how this gives good balance: 2 cores with 7 stands of the same size (and observe that it gets more balanced as the number of strands increases), 2 cores with strands of different sizes (“arbitrarily” picking them so that the larger strands are run fairly early in the process)</a:t>
            </a:r>
          </a:p>
        </p:txBody>
      </p:sp>
      <p:sp>
        <p:nvSpPr>
          <p:cNvPr id="4" name="Slide Number Placeholder 3"/>
          <p:cNvSpPr>
            <a:spLocks noGrp="1"/>
          </p:cNvSpPr>
          <p:nvPr>
            <p:ph type="sldNum" sz="quarter" idx="5"/>
          </p:nvPr>
        </p:nvSpPr>
        <p:spPr/>
        <p:txBody>
          <a:bodyPr/>
          <a:lstStyle/>
          <a:p>
            <a:fld id="{9B82EF64-3428-584D-A63A-043EE25F7F71}" type="slidenum">
              <a:rPr lang="en-US" smtClean="0"/>
              <a:t>32</a:t>
            </a:fld>
            <a:endParaRPr lang="en-US"/>
          </a:p>
        </p:txBody>
      </p:sp>
    </p:spTree>
    <p:extLst>
      <p:ext uri="{BB962C8B-B14F-4D97-AF65-F5344CB8AC3E}">
        <p14:creationId xmlns:p14="http://schemas.microsoft.com/office/powerpoint/2010/main" val="26898299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work and span in the context of a program.  Here is the recursive program to compute the sum of an array.  A high-level precedence graph for it is shown to the right.  This is a sequence of three parts:</a:t>
            </a:r>
          </a:p>
          <a:p>
            <a:pPr marL="228600" indent="-228600">
              <a:buAutoNum type="arabicParenR"/>
            </a:pPr>
            <a:r>
              <a:rPr lang="en-US" dirty="0"/>
              <a:t>The base case and making the recursive calls.  </a:t>
            </a:r>
          </a:p>
          <a:p>
            <a:pPr marL="228600" indent="-228600">
              <a:buAutoNum type="arabicParenR"/>
            </a:pPr>
            <a:r>
              <a:rPr lang="en-US" dirty="0"/>
              <a:t>The recursive calls.  This part is an instance of the fork-join pattern.  The recursive calls in each will also split the graph into more parts (left half is itself this entire graph, with a base case, each of its halves, and then adding the </a:t>
            </a:r>
            <a:r>
              <a:rPr lang="en-US" dirty="0" err="1"/>
              <a:t>subresults</a:t>
            </a:r>
            <a:r>
              <a:rPr lang="en-US" dirty="0"/>
              <a:t>).</a:t>
            </a:r>
          </a:p>
          <a:p>
            <a:pPr marL="228600" indent="-228600">
              <a:buAutoNum type="arabicParenR"/>
            </a:pPr>
            <a:r>
              <a:rPr lang="en-US" dirty="0"/>
              <a:t>Adding the result from each recursive call</a:t>
            </a:r>
          </a:p>
        </p:txBody>
      </p:sp>
      <p:sp>
        <p:nvSpPr>
          <p:cNvPr id="4" name="Slide Number Placeholder 3"/>
          <p:cNvSpPr>
            <a:spLocks noGrp="1"/>
          </p:cNvSpPr>
          <p:nvPr>
            <p:ph type="sldNum" sz="quarter" idx="5"/>
          </p:nvPr>
        </p:nvSpPr>
        <p:spPr/>
        <p:txBody>
          <a:bodyPr/>
          <a:lstStyle/>
          <a:p>
            <a:fld id="{9B82EF64-3428-584D-A63A-043EE25F7F71}" type="slidenum">
              <a:rPr lang="en-US" smtClean="0"/>
              <a:t>33</a:t>
            </a:fld>
            <a:endParaRPr lang="en-US"/>
          </a:p>
        </p:txBody>
      </p:sp>
    </p:spTree>
    <p:extLst>
      <p:ext uri="{BB962C8B-B14F-4D97-AF65-F5344CB8AC3E}">
        <p14:creationId xmlns:p14="http://schemas.microsoft.com/office/powerpoint/2010/main" val="31938226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E6FE4-8E95-F7E9-2277-E8178F577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9CAFC0-6E2C-938C-4152-D41BB8840C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3FFA70-8885-5059-5294-284E96D9F122}"/>
              </a:ext>
            </a:extLst>
          </p:cNvPr>
          <p:cNvSpPr>
            <a:spLocks noGrp="1"/>
          </p:cNvSpPr>
          <p:nvPr>
            <p:ph type="body" idx="1"/>
          </p:nvPr>
        </p:nvSpPr>
        <p:spPr/>
        <p:txBody>
          <a:bodyPr/>
          <a:lstStyle/>
          <a:p>
            <a:r>
              <a:rPr lang="en-US" dirty="0"/>
              <a:t>Now looking at the span</a:t>
            </a:r>
          </a:p>
        </p:txBody>
      </p:sp>
      <p:sp>
        <p:nvSpPr>
          <p:cNvPr id="4" name="Slide Number Placeholder 3">
            <a:extLst>
              <a:ext uri="{FF2B5EF4-FFF2-40B4-BE49-F238E27FC236}">
                <a16:creationId xmlns:a16="http://schemas.microsoft.com/office/drawing/2014/main" id="{E43FB994-A484-C3BA-9460-FB32F5D69003}"/>
              </a:ext>
            </a:extLst>
          </p:cNvPr>
          <p:cNvSpPr>
            <a:spLocks noGrp="1"/>
          </p:cNvSpPr>
          <p:nvPr>
            <p:ph type="sldNum" sz="quarter" idx="5"/>
          </p:nvPr>
        </p:nvSpPr>
        <p:spPr/>
        <p:txBody>
          <a:bodyPr/>
          <a:lstStyle/>
          <a:p>
            <a:fld id="{9B82EF64-3428-584D-A63A-043EE25F7F71}" type="slidenum">
              <a:rPr lang="en-US" smtClean="0"/>
              <a:t>34</a:t>
            </a:fld>
            <a:endParaRPr lang="en-US"/>
          </a:p>
        </p:txBody>
      </p:sp>
    </p:spTree>
    <p:extLst>
      <p:ext uri="{BB962C8B-B14F-4D97-AF65-F5344CB8AC3E}">
        <p14:creationId xmlns:p14="http://schemas.microsoft.com/office/powerpoint/2010/main" val="5980297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17725-8B18-217E-3AAD-F1DE2F7D30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309325-B95F-81D8-3F73-0658982E5F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04D49-C39B-659E-08E6-9CFDBD579EF7}"/>
              </a:ext>
            </a:extLst>
          </p:cNvPr>
          <p:cNvSpPr>
            <a:spLocks noGrp="1"/>
          </p:cNvSpPr>
          <p:nvPr>
            <p:ph type="body" idx="1"/>
          </p:nvPr>
        </p:nvSpPr>
        <p:spPr/>
        <p:txBody>
          <a:bodyPr/>
          <a:lstStyle/>
          <a:p>
            <a:r>
              <a:rPr lang="en-US" dirty="0"/>
              <a:t>For the recurrence, the middle part is just the max of the two halves.  Since they are each half the array, they will have the same span.  Thus, the recurrence is </a:t>
            </a:r>
            <a:r>
              <a:rPr lang="en-US" dirty="0" err="1"/>
              <a:t>T_inf</a:t>
            </a:r>
            <a:r>
              <a:rPr lang="en-US" dirty="0"/>
              <a:t>(n) = </a:t>
            </a:r>
            <a:r>
              <a:rPr lang="en-US" dirty="0" err="1"/>
              <a:t>T_inf</a:t>
            </a:r>
            <a:r>
              <a:rPr lang="en-US" dirty="0"/>
              <a:t>(n/2) + c.  This is same as binary search or you can unroll it to verify that it’s O(log n).</a:t>
            </a:r>
          </a:p>
          <a:p>
            <a:endParaRPr lang="en-US" dirty="0"/>
          </a:p>
          <a:p>
            <a:r>
              <a:rPr lang="en-US" dirty="0"/>
              <a:t>Asking this on a slide where they’re looking at the full tree (as suggested on the answer slide for the question about work) should make this more clear.</a:t>
            </a:r>
          </a:p>
          <a:p>
            <a:endParaRPr lang="en-US" dirty="0"/>
          </a:p>
          <a:p>
            <a:r>
              <a:rPr lang="en-US" dirty="0"/>
              <a:t>Summary: this version gives O(n) work and O(log n) span.</a:t>
            </a:r>
          </a:p>
        </p:txBody>
      </p:sp>
      <p:sp>
        <p:nvSpPr>
          <p:cNvPr id="4" name="Slide Number Placeholder 3">
            <a:extLst>
              <a:ext uri="{FF2B5EF4-FFF2-40B4-BE49-F238E27FC236}">
                <a16:creationId xmlns:a16="http://schemas.microsoft.com/office/drawing/2014/main" id="{10920092-7472-BD07-6B13-25E465DD37DE}"/>
              </a:ext>
            </a:extLst>
          </p:cNvPr>
          <p:cNvSpPr>
            <a:spLocks noGrp="1"/>
          </p:cNvSpPr>
          <p:nvPr>
            <p:ph type="sldNum" sz="quarter" idx="5"/>
          </p:nvPr>
        </p:nvSpPr>
        <p:spPr/>
        <p:txBody>
          <a:bodyPr/>
          <a:lstStyle/>
          <a:p>
            <a:fld id="{9B82EF64-3428-584D-A63A-043EE25F7F71}" type="slidenum">
              <a:rPr lang="en-US" smtClean="0"/>
              <a:t>35</a:t>
            </a:fld>
            <a:endParaRPr lang="en-US"/>
          </a:p>
        </p:txBody>
      </p:sp>
    </p:spTree>
    <p:extLst>
      <p:ext uri="{BB962C8B-B14F-4D97-AF65-F5344CB8AC3E}">
        <p14:creationId xmlns:p14="http://schemas.microsoft.com/office/powerpoint/2010/main" val="25353314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5D58A-9637-06F4-514C-45557D3D8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EDC63-1CED-2BD1-00E2-87F601CDD3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5F2C4C-ACB6-7488-694B-3BE88664CC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047F10-B880-15F7-56A7-B9A48423DDCD}"/>
              </a:ext>
            </a:extLst>
          </p:cNvPr>
          <p:cNvSpPr>
            <a:spLocks noGrp="1"/>
          </p:cNvSpPr>
          <p:nvPr>
            <p:ph type="sldNum" sz="quarter" idx="5"/>
          </p:nvPr>
        </p:nvSpPr>
        <p:spPr/>
        <p:txBody>
          <a:bodyPr/>
          <a:lstStyle/>
          <a:p>
            <a:fld id="{9B82EF64-3428-584D-A63A-043EE25F7F71}" type="slidenum">
              <a:rPr lang="en-US" smtClean="0"/>
              <a:t>36</a:t>
            </a:fld>
            <a:endParaRPr lang="en-US"/>
          </a:p>
        </p:txBody>
      </p:sp>
    </p:spTree>
    <p:extLst>
      <p:ext uri="{BB962C8B-B14F-4D97-AF65-F5344CB8AC3E}">
        <p14:creationId xmlns:p14="http://schemas.microsoft.com/office/powerpoint/2010/main" val="9011746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7DB1D-199B-2CB1-5022-21342C8ABF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50EDF-1B9E-6078-FB5A-C08AC0ABC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8EA70C-9E96-3C55-C8DA-E2334BAED132}"/>
              </a:ext>
            </a:extLst>
          </p:cNvPr>
          <p:cNvSpPr>
            <a:spLocks noGrp="1"/>
          </p:cNvSpPr>
          <p:nvPr>
            <p:ph type="body" idx="1"/>
          </p:nvPr>
        </p:nvSpPr>
        <p:spPr/>
        <p:txBody>
          <a:bodyPr/>
          <a:lstStyle/>
          <a:p>
            <a:r>
              <a:rPr lang="en-US" dirty="0"/>
              <a:t>For the work, we get the sum of the two parts.  This is going to be n.  As a recurrence, it would be T_1(n)=2T_1(n/2</a:t>
            </a:r>
            <a:r>
              <a:rPr lang="en-US"/>
              <a:t>)+1.  </a:t>
            </a:r>
            <a:r>
              <a:rPr lang="en-US" dirty="0"/>
              <a:t>If you expand the fanning out part as a tree, there is 1 work on the first level, 2 on the second, 4 on the third, </a:t>
            </a:r>
            <a:r>
              <a:rPr lang="en-US" dirty="0" err="1"/>
              <a:t>etc</a:t>
            </a:r>
            <a:r>
              <a:rPr lang="en-US" dirty="0"/>
              <a:t> down to n/2 parts.  The total work from all of that is a decreasing geometric series, giving O(n).</a:t>
            </a:r>
          </a:p>
        </p:txBody>
      </p:sp>
      <p:sp>
        <p:nvSpPr>
          <p:cNvPr id="4" name="Slide Number Placeholder 3">
            <a:extLst>
              <a:ext uri="{FF2B5EF4-FFF2-40B4-BE49-F238E27FC236}">
                <a16:creationId xmlns:a16="http://schemas.microsoft.com/office/drawing/2014/main" id="{246B64DC-E3F6-B6C0-6109-C112DCB901B0}"/>
              </a:ext>
            </a:extLst>
          </p:cNvPr>
          <p:cNvSpPr>
            <a:spLocks noGrp="1"/>
          </p:cNvSpPr>
          <p:nvPr>
            <p:ph type="sldNum" sz="quarter" idx="5"/>
          </p:nvPr>
        </p:nvSpPr>
        <p:spPr/>
        <p:txBody>
          <a:bodyPr/>
          <a:lstStyle/>
          <a:p>
            <a:fld id="{9B82EF64-3428-584D-A63A-043EE25F7F71}" type="slidenum">
              <a:rPr lang="en-US" smtClean="0"/>
              <a:t>37</a:t>
            </a:fld>
            <a:endParaRPr lang="en-US"/>
          </a:p>
        </p:txBody>
      </p:sp>
    </p:spTree>
    <p:extLst>
      <p:ext uri="{BB962C8B-B14F-4D97-AF65-F5344CB8AC3E}">
        <p14:creationId xmlns:p14="http://schemas.microsoft.com/office/powerpoint/2010/main" val="19628117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the work and span of the serial version compare to the parallel version?</a:t>
            </a:r>
          </a:p>
        </p:txBody>
      </p:sp>
      <p:sp>
        <p:nvSpPr>
          <p:cNvPr id="4" name="Slide Number Placeholder 3"/>
          <p:cNvSpPr>
            <a:spLocks noGrp="1"/>
          </p:cNvSpPr>
          <p:nvPr>
            <p:ph type="sldNum" sz="quarter" idx="5"/>
          </p:nvPr>
        </p:nvSpPr>
        <p:spPr/>
        <p:txBody>
          <a:bodyPr/>
          <a:lstStyle/>
          <a:p>
            <a:fld id="{9B82EF64-3428-584D-A63A-043EE25F7F71}" type="slidenum">
              <a:rPr lang="en-US" smtClean="0"/>
              <a:t>38</a:t>
            </a:fld>
            <a:endParaRPr lang="en-US"/>
          </a:p>
        </p:txBody>
      </p:sp>
    </p:spTree>
    <p:extLst>
      <p:ext uri="{BB962C8B-B14F-4D97-AF65-F5344CB8AC3E}">
        <p14:creationId xmlns:p14="http://schemas.microsoft.com/office/powerpoint/2010/main" val="41258099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fork and join, everything is in sequence so work and span are the same.  They must both be O(n) since that’s how long the loop runs for.</a:t>
            </a:r>
          </a:p>
          <a:p>
            <a:endParaRPr lang="en-US" dirty="0"/>
          </a:p>
          <a:p>
            <a:r>
              <a:rPr lang="en-US" dirty="0"/>
              <a:t>Thus, our parallel version has (asymptotically) the same work as the serial version, but reduces the span from O(n) to O(log n).  This is largely what we’ll be going for with parallelism: same amount of work, but logarithmic (or poly-log) span.  Remember that log is much less than linear (doubling problem size only increases the span by 1) so this means we get fast programs as the number of nodes increases.</a:t>
            </a:r>
          </a:p>
        </p:txBody>
      </p:sp>
      <p:sp>
        <p:nvSpPr>
          <p:cNvPr id="4" name="Slide Number Placeholder 3"/>
          <p:cNvSpPr>
            <a:spLocks noGrp="1"/>
          </p:cNvSpPr>
          <p:nvPr>
            <p:ph type="sldNum" sz="quarter" idx="5"/>
          </p:nvPr>
        </p:nvSpPr>
        <p:spPr/>
        <p:txBody>
          <a:bodyPr/>
          <a:lstStyle/>
          <a:p>
            <a:fld id="{9B82EF64-3428-584D-A63A-043EE25F7F71}" type="slidenum">
              <a:rPr lang="en-US" smtClean="0"/>
              <a:t>39</a:t>
            </a:fld>
            <a:endParaRPr lang="en-US"/>
          </a:p>
        </p:txBody>
      </p:sp>
    </p:spTree>
    <p:extLst>
      <p:ext uri="{BB962C8B-B14F-4D97-AF65-F5344CB8AC3E}">
        <p14:creationId xmlns:p14="http://schemas.microsoft.com/office/powerpoint/2010/main" val="22602872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0EADE-F7BA-74BB-DF96-2443C87D2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39C81C-AC7E-0572-24B5-3F6D3A1D91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B091FA-D092-E55E-CCA3-6F1121DEFCA7}"/>
              </a:ext>
            </a:extLst>
          </p:cNvPr>
          <p:cNvSpPr>
            <a:spLocks noGrp="1"/>
          </p:cNvSpPr>
          <p:nvPr>
            <p:ph type="body" idx="1"/>
          </p:nvPr>
        </p:nvSpPr>
        <p:spPr/>
        <p:txBody>
          <a:bodyPr/>
          <a:lstStyle/>
          <a:p>
            <a:r>
              <a:rPr lang="en-US" dirty="0"/>
              <a:t>Everything so far has been using the imaginary fork and join notation.  What does the actual Java for this look like?</a:t>
            </a:r>
          </a:p>
          <a:p>
            <a:endParaRPr lang="en-US" dirty="0"/>
          </a:p>
          <a:p>
            <a:r>
              <a:rPr lang="en-US" dirty="0"/>
              <a:t>To represent a strand, we need to create a class that extends </a:t>
            </a:r>
            <a:r>
              <a:rPr lang="en-US" dirty="0" err="1"/>
              <a:t>RecursiveTask</a:t>
            </a:r>
            <a:r>
              <a:rPr lang="en-US" dirty="0"/>
              <a:t>.  An object of this type will represent one call to the sum method.  </a:t>
            </a:r>
            <a:r>
              <a:rPr lang="en-US" dirty="0" err="1"/>
              <a:t>RecursiveTask</a:t>
            </a:r>
            <a:r>
              <a:rPr lang="en-US" dirty="0"/>
              <a:t> has a compute method, which does the actual computation.  Since </a:t>
            </a:r>
            <a:r>
              <a:rPr lang="en-US" dirty="0" err="1"/>
              <a:t>RecursiveTask</a:t>
            </a:r>
            <a:r>
              <a:rPr lang="en-US" dirty="0"/>
              <a:t> must represent any recursive method on which we want to call fork/join, the return type is a generic type.  In our case, we’ll be using an Integer.  (Recall that we can’t use int because Java generic types must always be a reference/object type.  Don’t worry, autoboxing and unboxing let us pretend that compute returns an int.)</a:t>
            </a:r>
          </a:p>
          <a:p>
            <a:endParaRPr lang="en-US" dirty="0"/>
          </a:p>
          <a:p>
            <a:r>
              <a:rPr lang="en-US" dirty="0"/>
              <a:t>Other problem: Because </a:t>
            </a:r>
            <a:r>
              <a:rPr lang="en-US" dirty="0" err="1"/>
              <a:t>RecursiveTask</a:t>
            </a:r>
            <a:r>
              <a:rPr lang="en-US" dirty="0"/>
              <a:t> must work for any computation like this, it’s compute method doesn’t take the arguments that I need to pass sum.  How can I fix/get around this?</a:t>
            </a:r>
          </a:p>
        </p:txBody>
      </p:sp>
      <p:sp>
        <p:nvSpPr>
          <p:cNvPr id="4" name="Slide Number Placeholder 3">
            <a:extLst>
              <a:ext uri="{FF2B5EF4-FFF2-40B4-BE49-F238E27FC236}">
                <a16:creationId xmlns:a16="http://schemas.microsoft.com/office/drawing/2014/main" id="{F252212B-D9A7-EECA-D6B6-E691A668B741}"/>
              </a:ext>
            </a:extLst>
          </p:cNvPr>
          <p:cNvSpPr>
            <a:spLocks noGrp="1"/>
          </p:cNvSpPr>
          <p:nvPr>
            <p:ph type="sldNum" sz="quarter" idx="5"/>
          </p:nvPr>
        </p:nvSpPr>
        <p:spPr/>
        <p:txBody>
          <a:bodyPr/>
          <a:lstStyle/>
          <a:p>
            <a:fld id="{9B82EF64-3428-584D-A63A-043EE25F7F71}" type="slidenum">
              <a:rPr lang="en-US" smtClean="0"/>
              <a:t>40</a:t>
            </a:fld>
            <a:endParaRPr lang="en-US"/>
          </a:p>
        </p:txBody>
      </p:sp>
    </p:spTree>
    <p:extLst>
      <p:ext uri="{BB962C8B-B14F-4D97-AF65-F5344CB8AC3E}">
        <p14:creationId xmlns:p14="http://schemas.microsoft.com/office/powerpoint/2010/main" val="33622262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D7534-22CD-CE89-5619-58C79DC0A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0458B-4657-83A8-97D5-AD9DC1D490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661A0D-5E45-7B0E-9B23-95E9F09E8D09}"/>
              </a:ext>
            </a:extLst>
          </p:cNvPr>
          <p:cNvSpPr>
            <a:spLocks noGrp="1"/>
          </p:cNvSpPr>
          <p:nvPr>
            <p:ph type="body" idx="1"/>
          </p:nvPr>
        </p:nvSpPr>
        <p:spPr/>
        <p:txBody>
          <a:bodyPr/>
          <a:lstStyle/>
          <a:p>
            <a:r>
              <a:rPr lang="en-US" dirty="0"/>
              <a:t>The arguments will be passed to the constructor and stored in attributes.  Here are attribute declarations and a constructor suitable for the sum code.</a:t>
            </a:r>
          </a:p>
        </p:txBody>
      </p:sp>
      <p:sp>
        <p:nvSpPr>
          <p:cNvPr id="4" name="Slide Number Placeholder 3">
            <a:extLst>
              <a:ext uri="{FF2B5EF4-FFF2-40B4-BE49-F238E27FC236}">
                <a16:creationId xmlns:a16="http://schemas.microsoft.com/office/drawing/2014/main" id="{5A85A974-815D-02E5-653A-91784560B65F}"/>
              </a:ext>
            </a:extLst>
          </p:cNvPr>
          <p:cNvSpPr>
            <a:spLocks noGrp="1"/>
          </p:cNvSpPr>
          <p:nvPr>
            <p:ph type="sldNum" sz="quarter" idx="5"/>
          </p:nvPr>
        </p:nvSpPr>
        <p:spPr/>
        <p:txBody>
          <a:bodyPr/>
          <a:lstStyle/>
          <a:p>
            <a:fld id="{9B82EF64-3428-584D-A63A-043EE25F7F71}" type="slidenum">
              <a:rPr lang="en-US" smtClean="0"/>
              <a:t>41</a:t>
            </a:fld>
            <a:endParaRPr lang="en-US"/>
          </a:p>
        </p:txBody>
      </p:sp>
    </p:spTree>
    <p:extLst>
      <p:ext uri="{BB962C8B-B14F-4D97-AF65-F5344CB8AC3E}">
        <p14:creationId xmlns:p14="http://schemas.microsoft.com/office/powerpoint/2010/main" val="22142107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37F24-27B1-E7C8-9FA9-95F58D028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1ABBEE-EA9B-2A23-936F-CE24E636CD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F2D275-0503-D180-917F-054C7D1CFC06}"/>
              </a:ext>
            </a:extLst>
          </p:cNvPr>
          <p:cNvSpPr>
            <a:spLocks noGrp="1"/>
          </p:cNvSpPr>
          <p:nvPr>
            <p:ph type="body" idx="1"/>
          </p:nvPr>
        </p:nvSpPr>
        <p:spPr/>
        <p:txBody>
          <a:bodyPr/>
          <a:lstStyle/>
          <a:p>
            <a:r>
              <a:rPr lang="en-US" dirty="0"/>
              <a:t>The compute method pretty much follows sum except that recursive calls are replaced by creating objects.</a:t>
            </a:r>
          </a:p>
          <a:p>
            <a:r>
              <a:rPr lang="en-US" dirty="0" err="1"/>
              <a:t>left.fork</a:t>
            </a:r>
            <a:r>
              <a:rPr lang="en-US" dirty="0"/>
              <a:t>() creates the new strand that will compute the left side.</a:t>
            </a:r>
          </a:p>
          <a:p>
            <a:endParaRPr lang="en-US" dirty="0"/>
          </a:p>
          <a:p>
            <a:r>
              <a:rPr lang="en-US" dirty="0"/>
              <a:t>Two optimizations are added:</a:t>
            </a:r>
          </a:p>
          <a:p>
            <a:pPr marL="228600" indent="-228600">
              <a:buAutoNum type="arabicParenR"/>
            </a:pPr>
            <a:r>
              <a:rPr lang="en-US" dirty="0"/>
              <a:t>Instead of recursing all the way to a single value, we recurse until the array size is at most the value of some threshold.  This reduces overhead since a for loop is more efficient than recursion for small problem sizes.</a:t>
            </a:r>
          </a:p>
          <a:p>
            <a:pPr marL="228600" indent="-228600">
              <a:buAutoNum type="arabicParenR"/>
            </a:pPr>
            <a:r>
              <a:rPr lang="en-US" dirty="0"/>
              <a:t>compute is a recursive call that doesn’t create a new </a:t>
            </a:r>
            <a:r>
              <a:rPr lang="en-US" dirty="0" err="1"/>
              <a:t>RecursiveTask</a:t>
            </a:r>
            <a:r>
              <a:rPr lang="en-US" dirty="0"/>
              <a:t>.  Instead, it just runs the right half using the same object.</a:t>
            </a:r>
          </a:p>
        </p:txBody>
      </p:sp>
      <p:sp>
        <p:nvSpPr>
          <p:cNvPr id="4" name="Slide Number Placeholder 3">
            <a:extLst>
              <a:ext uri="{FF2B5EF4-FFF2-40B4-BE49-F238E27FC236}">
                <a16:creationId xmlns:a16="http://schemas.microsoft.com/office/drawing/2014/main" id="{F1EF7212-1CE1-55E4-C419-41E15935C0FC}"/>
              </a:ext>
            </a:extLst>
          </p:cNvPr>
          <p:cNvSpPr>
            <a:spLocks noGrp="1"/>
          </p:cNvSpPr>
          <p:nvPr>
            <p:ph type="sldNum" sz="quarter" idx="5"/>
          </p:nvPr>
        </p:nvSpPr>
        <p:spPr/>
        <p:txBody>
          <a:bodyPr/>
          <a:lstStyle/>
          <a:p>
            <a:fld id="{9B82EF64-3428-584D-A63A-043EE25F7F71}" type="slidenum">
              <a:rPr lang="en-US" smtClean="0"/>
              <a:t>42</a:t>
            </a:fld>
            <a:endParaRPr lang="en-US"/>
          </a:p>
        </p:txBody>
      </p:sp>
    </p:spTree>
    <p:extLst>
      <p:ext uri="{BB962C8B-B14F-4D97-AF65-F5344CB8AC3E}">
        <p14:creationId xmlns:p14="http://schemas.microsoft.com/office/powerpoint/2010/main" val="8257337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thing: the first call (from main or whatever) needs to take this form.  Yuck!  A </a:t>
            </a:r>
            <a:r>
              <a:rPr lang="en-US" dirty="0" err="1"/>
              <a:t>ForkJoinPool</a:t>
            </a:r>
            <a:r>
              <a:rPr lang="en-US" dirty="0"/>
              <a:t> Is a collection of workers than can run our strands.  When compute creates new </a:t>
            </a:r>
            <a:r>
              <a:rPr lang="en-US" dirty="0" err="1"/>
              <a:t>RecursiveTask</a:t>
            </a:r>
            <a:r>
              <a:rPr lang="en-US" dirty="0"/>
              <a:t> objects for the recursive calls, these are automatically associated with the same </a:t>
            </a:r>
            <a:r>
              <a:rPr lang="en-US" dirty="0" err="1"/>
              <a:t>ForkJoinPool</a:t>
            </a:r>
            <a:r>
              <a:rPr lang="en-US" dirty="0"/>
              <a:t>.  </a:t>
            </a:r>
            <a:r>
              <a:rPr lang="en-US" dirty="0" err="1"/>
              <a:t>commonPool</a:t>
            </a:r>
            <a:r>
              <a:rPr lang="en-US" dirty="0"/>
              <a:t> is a static attribute, a pool that it automatically created so we don’t have to create and populate one.  invoke puts a </a:t>
            </a:r>
            <a:r>
              <a:rPr lang="en-US" dirty="0" err="1"/>
              <a:t>RecursiveTask</a:t>
            </a:r>
            <a:r>
              <a:rPr lang="en-US" dirty="0"/>
              <a:t> object into the pool for scheduling.</a:t>
            </a:r>
          </a:p>
          <a:p>
            <a:endParaRPr lang="en-US" dirty="0"/>
          </a:p>
          <a:p>
            <a:r>
              <a:rPr lang="en-US" dirty="0"/>
              <a:t>It’s fine to treat this as “magic”, but you need to use it.</a:t>
            </a:r>
          </a:p>
        </p:txBody>
      </p:sp>
      <p:sp>
        <p:nvSpPr>
          <p:cNvPr id="4" name="Slide Number Placeholder 3"/>
          <p:cNvSpPr>
            <a:spLocks noGrp="1"/>
          </p:cNvSpPr>
          <p:nvPr>
            <p:ph type="sldNum" sz="quarter" idx="5"/>
          </p:nvPr>
        </p:nvSpPr>
        <p:spPr/>
        <p:txBody>
          <a:bodyPr/>
          <a:lstStyle/>
          <a:p>
            <a:fld id="{9B82EF64-3428-584D-A63A-043EE25F7F71}" type="slidenum">
              <a:rPr lang="en-US" smtClean="0"/>
              <a:t>43</a:t>
            </a:fld>
            <a:endParaRPr lang="en-US"/>
          </a:p>
        </p:txBody>
      </p:sp>
    </p:spTree>
    <p:extLst>
      <p:ext uri="{BB962C8B-B14F-4D97-AF65-F5344CB8AC3E}">
        <p14:creationId xmlns:p14="http://schemas.microsoft.com/office/powerpoint/2010/main" val="3829958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what we’ve done so far, with all the code on a single slide.</a:t>
            </a:r>
          </a:p>
        </p:txBody>
      </p:sp>
      <p:sp>
        <p:nvSpPr>
          <p:cNvPr id="4" name="Slide Number Placeholder 3"/>
          <p:cNvSpPr>
            <a:spLocks noGrp="1"/>
          </p:cNvSpPr>
          <p:nvPr>
            <p:ph type="sldNum" sz="quarter" idx="5"/>
          </p:nvPr>
        </p:nvSpPr>
        <p:spPr/>
        <p:txBody>
          <a:bodyPr/>
          <a:lstStyle/>
          <a:p>
            <a:fld id="{9B82EF64-3428-584D-A63A-043EE25F7F71}" type="slidenum">
              <a:rPr lang="en-US" smtClean="0"/>
              <a:t>44</a:t>
            </a:fld>
            <a:endParaRPr lang="en-US"/>
          </a:p>
        </p:txBody>
      </p:sp>
    </p:spTree>
    <p:extLst>
      <p:ext uri="{BB962C8B-B14F-4D97-AF65-F5344CB8AC3E}">
        <p14:creationId xmlns:p14="http://schemas.microsoft.com/office/powerpoint/2010/main" val="3899613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057BA-FFAD-6C2D-649D-03B404EF0C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901776-8EB5-194F-3494-88B8722F12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22324B-028B-BC04-F4C7-D813EF22B1D9}"/>
              </a:ext>
            </a:extLst>
          </p:cNvPr>
          <p:cNvSpPr>
            <a:spLocks noGrp="1"/>
          </p:cNvSpPr>
          <p:nvPr>
            <p:ph type="body" idx="1"/>
          </p:nvPr>
        </p:nvSpPr>
        <p:spPr/>
        <p:txBody>
          <a:bodyPr/>
          <a:lstStyle/>
          <a:p>
            <a:r>
              <a:rPr lang="en-US" dirty="0"/>
              <a:t>This begins a separate topic.  This was (part of) a separate lecture from the code above, one that introduces the idea of a reduction and shows some other examples.</a:t>
            </a:r>
          </a:p>
          <a:p>
            <a:endParaRPr lang="en-US" dirty="0"/>
          </a:p>
          <a:p>
            <a:r>
              <a:rPr lang="en-US" dirty="0"/>
              <a:t>What has to change if I wanted to compute the minimum of the array instead of its sum?</a:t>
            </a:r>
          </a:p>
          <a:p>
            <a:r>
              <a:rPr lang="en-US" dirty="0"/>
              <a:t>Only the base case (keep track of the minimum value so far and then return this value at the end of the loop) and the last line (return the min of </a:t>
            </a:r>
            <a:r>
              <a:rPr lang="en-US" dirty="0" err="1"/>
              <a:t>right.compute</a:t>
            </a:r>
            <a:r>
              <a:rPr lang="en-US" dirty="0"/>
              <a:t>() and </a:t>
            </a:r>
            <a:r>
              <a:rPr lang="en-US" dirty="0" err="1"/>
              <a:t>left.join</a:t>
            </a:r>
            <a:r>
              <a:rPr lang="en-US" dirty="0"/>
              <a:t>() instead of their sum).</a:t>
            </a:r>
          </a:p>
        </p:txBody>
      </p:sp>
      <p:sp>
        <p:nvSpPr>
          <p:cNvPr id="4" name="Slide Number Placeholder 3">
            <a:extLst>
              <a:ext uri="{FF2B5EF4-FFF2-40B4-BE49-F238E27FC236}">
                <a16:creationId xmlns:a16="http://schemas.microsoft.com/office/drawing/2014/main" id="{B8DD1072-BF3D-5D39-CDFA-2229DF149844}"/>
              </a:ext>
            </a:extLst>
          </p:cNvPr>
          <p:cNvSpPr>
            <a:spLocks noGrp="1"/>
          </p:cNvSpPr>
          <p:nvPr>
            <p:ph type="sldNum" sz="quarter" idx="5"/>
          </p:nvPr>
        </p:nvSpPr>
        <p:spPr/>
        <p:txBody>
          <a:bodyPr/>
          <a:lstStyle/>
          <a:p>
            <a:fld id="{9B82EF64-3428-584D-A63A-043EE25F7F71}" type="slidenum">
              <a:rPr lang="en-US" smtClean="0"/>
              <a:t>45</a:t>
            </a:fld>
            <a:endParaRPr lang="en-US"/>
          </a:p>
        </p:txBody>
      </p:sp>
    </p:spTree>
    <p:extLst>
      <p:ext uri="{BB962C8B-B14F-4D97-AF65-F5344CB8AC3E}">
        <p14:creationId xmlns:p14="http://schemas.microsoft.com/office/powerpoint/2010/main" val="7774325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4602F-297E-A90A-2B7C-B76BE82563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BDF698-EDC4-6B71-469F-FE7E81F39F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7060C-2000-E0CA-F550-C70A9546E57F}"/>
              </a:ext>
            </a:extLst>
          </p:cNvPr>
          <p:cNvSpPr>
            <a:spLocks noGrp="1"/>
          </p:cNvSpPr>
          <p:nvPr>
            <p:ph type="body" idx="1"/>
          </p:nvPr>
        </p:nvSpPr>
        <p:spPr/>
        <p:txBody>
          <a:bodyPr/>
          <a:lstStyle/>
          <a:p>
            <a:r>
              <a:rPr lang="en-US" dirty="0"/>
              <a:t>What about finding the index where this minimum value occurs?</a:t>
            </a:r>
          </a:p>
          <a:p>
            <a:endParaRPr lang="en-US" dirty="0"/>
          </a:p>
          <a:p>
            <a:r>
              <a:rPr lang="en-US" dirty="0"/>
              <a:t>Need to modify the return value from Integer to another class, a pair that stores the minimum value and the index where it appears.</a:t>
            </a:r>
          </a:p>
          <a:p>
            <a:r>
              <a:rPr lang="en-US" dirty="0"/>
              <a:t>Then modify the base case to keep track of the index as it looks for the minimum and the last line to decide which object to return based on the values, but the return the pair with the smaller value.</a:t>
            </a:r>
          </a:p>
          <a:p>
            <a:endParaRPr lang="en-US" dirty="0"/>
          </a:p>
          <a:p>
            <a:r>
              <a:rPr lang="en-US" dirty="0"/>
              <a:t>Pretty much the same idea; the only changes are in some of the implementation details.</a:t>
            </a:r>
          </a:p>
        </p:txBody>
      </p:sp>
      <p:sp>
        <p:nvSpPr>
          <p:cNvPr id="4" name="Slide Number Placeholder 3">
            <a:extLst>
              <a:ext uri="{FF2B5EF4-FFF2-40B4-BE49-F238E27FC236}">
                <a16:creationId xmlns:a16="http://schemas.microsoft.com/office/drawing/2014/main" id="{7613F8D0-FC67-8CD2-2CA8-D3DB7520BFBD}"/>
              </a:ext>
            </a:extLst>
          </p:cNvPr>
          <p:cNvSpPr>
            <a:spLocks noGrp="1"/>
          </p:cNvSpPr>
          <p:nvPr>
            <p:ph type="sldNum" sz="quarter" idx="5"/>
          </p:nvPr>
        </p:nvSpPr>
        <p:spPr/>
        <p:txBody>
          <a:bodyPr/>
          <a:lstStyle/>
          <a:p>
            <a:fld id="{9B82EF64-3428-584D-A63A-043EE25F7F71}" type="slidenum">
              <a:rPr lang="en-US" smtClean="0"/>
              <a:t>46</a:t>
            </a:fld>
            <a:endParaRPr lang="en-US"/>
          </a:p>
        </p:txBody>
      </p:sp>
    </p:spTree>
    <p:extLst>
      <p:ext uri="{BB962C8B-B14F-4D97-AF65-F5344CB8AC3E}">
        <p14:creationId xmlns:p14="http://schemas.microsoft.com/office/powerpoint/2010/main" val="23986279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turns out that these operations (sum, min, </a:t>
            </a:r>
            <a:r>
              <a:rPr lang="en-US" dirty="0" err="1"/>
              <a:t>minIndex</a:t>
            </a:r>
            <a:r>
              <a:rPr lang="en-US" dirty="0"/>
              <a:t>) are examples of a general phenomenon called a reduction.  Go through this list of reductions and the changes that would be needed for each.  (What is the return type, what should be base case do, and how are </a:t>
            </a:r>
            <a:r>
              <a:rPr lang="en-US" dirty="0" err="1"/>
              <a:t>right.compute</a:t>
            </a:r>
            <a:r>
              <a:rPr lang="en-US" dirty="0"/>
              <a:t>() and </a:t>
            </a:r>
            <a:r>
              <a:rPr lang="en-US" dirty="0" err="1"/>
              <a:t>left.join</a:t>
            </a:r>
            <a:r>
              <a:rPr lang="en-US" dirty="0"/>
              <a:t>() combined?)</a:t>
            </a:r>
          </a:p>
          <a:p>
            <a:endParaRPr lang="en-US" dirty="0"/>
          </a:p>
        </p:txBody>
      </p:sp>
      <p:sp>
        <p:nvSpPr>
          <p:cNvPr id="4" name="Slide Number Placeholder 3"/>
          <p:cNvSpPr>
            <a:spLocks noGrp="1"/>
          </p:cNvSpPr>
          <p:nvPr>
            <p:ph type="sldNum" sz="quarter" idx="5"/>
          </p:nvPr>
        </p:nvSpPr>
        <p:spPr/>
        <p:txBody>
          <a:bodyPr/>
          <a:lstStyle/>
          <a:p>
            <a:fld id="{9B82EF64-3428-584D-A63A-043EE25F7F71}" type="slidenum">
              <a:rPr lang="en-US" smtClean="0"/>
              <a:t>47</a:t>
            </a:fld>
            <a:endParaRPr lang="en-US"/>
          </a:p>
        </p:txBody>
      </p:sp>
    </p:spTree>
    <p:extLst>
      <p:ext uri="{BB962C8B-B14F-4D97-AF65-F5344CB8AC3E}">
        <p14:creationId xmlns:p14="http://schemas.microsoft.com/office/powerpoint/2010/main" val="26375750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Could be a bonus slide as well.</a:t>
            </a:r>
          </a:p>
          <a:p>
            <a:endParaRPr lang="en-US" dirty="0"/>
          </a:p>
          <a:p>
            <a:r>
              <a:rPr lang="en-US" dirty="0"/>
              <a:t>Idea is to break out of 1D nature of the examples so far.  If you want to parallelize a doubly-nested loop, can parallelize one loop (splitting one dimension), one and then the other (splitting on </a:t>
            </a:r>
            <a:r>
              <a:rPr lang="en-US" dirty="0" err="1"/>
              <a:t>i</a:t>
            </a:r>
            <a:r>
              <a:rPr lang="en-US" dirty="0"/>
              <a:t> and then starting to split on j in the base case), or split on both (have 4 recursive calls, one for each quadrant).  Probably makes sense to split only one dimension (putting the width of the other into the base case) unless both dimensions are really large.</a:t>
            </a:r>
          </a:p>
          <a:p>
            <a:endParaRPr lang="en-US" dirty="0"/>
          </a:p>
        </p:txBody>
      </p:sp>
      <p:sp>
        <p:nvSpPr>
          <p:cNvPr id="4" name="Slide Number Placeholder 3"/>
          <p:cNvSpPr>
            <a:spLocks noGrp="1"/>
          </p:cNvSpPr>
          <p:nvPr>
            <p:ph type="sldNum" sz="quarter" idx="5"/>
          </p:nvPr>
        </p:nvSpPr>
        <p:spPr/>
        <p:txBody>
          <a:bodyPr/>
          <a:lstStyle/>
          <a:p>
            <a:fld id="{9B82EF64-3428-584D-A63A-043EE25F7F71}" type="slidenum">
              <a:rPr lang="en-US" smtClean="0"/>
              <a:t>48</a:t>
            </a:fld>
            <a:endParaRPr lang="en-US"/>
          </a:p>
        </p:txBody>
      </p:sp>
    </p:spTree>
    <p:extLst>
      <p:ext uri="{BB962C8B-B14F-4D97-AF65-F5344CB8AC3E}">
        <p14:creationId xmlns:p14="http://schemas.microsoft.com/office/powerpoint/2010/main" val="2658278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they can actually do O(n log k); keep the k smallest in a maxheap (to update, add the new value and then remove the max)</a:t>
            </a:r>
          </a:p>
        </p:txBody>
      </p:sp>
      <p:sp>
        <p:nvSpPr>
          <p:cNvPr id="4" name="Slide Number Placeholder 3"/>
          <p:cNvSpPr>
            <a:spLocks noGrp="1"/>
          </p:cNvSpPr>
          <p:nvPr>
            <p:ph type="sldNum" sz="quarter" idx="5"/>
          </p:nvPr>
        </p:nvSpPr>
        <p:spPr/>
        <p:txBody>
          <a:bodyPr/>
          <a:lstStyle/>
          <a:p>
            <a:fld id="{B3B526D9-12D7-8549-9606-AF41FAB2B8EB}" type="slidenum">
              <a:rPr lang="en-US" smtClean="0"/>
              <a:t>54</a:t>
            </a:fld>
            <a:endParaRPr lang="en-US"/>
          </a:p>
        </p:txBody>
      </p:sp>
    </p:spTree>
    <p:extLst>
      <p:ext uri="{BB962C8B-B14F-4D97-AF65-F5344CB8AC3E}">
        <p14:creationId xmlns:p14="http://schemas.microsoft.com/office/powerpoint/2010/main" val="3654688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0937E-EDF8-D67F-90E5-4124CD76D6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36FD65-CD73-9620-F31A-2BEC6C5BA8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D5A0EC-EA68-0123-9D57-5AB12743DFCD}"/>
              </a:ext>
            </a:extLst>
          </p:cNvPr>
          <p:cNvSpPr>
            <a:spLocks noGrp="1"/>
          </p:cNvSpPr>
          <p:nvPr>
            <p:ph type="dt" sz="half" idx="10"/>
          </p:nvPr>
        </p:nvSpPr>
        <p:spPr/>
        <p:txBody>
          <a:bodyPr/>
          <a:lstStyle/>
          <a:p>
            <a:fld id="{9F7CEB52-D0D6-0F44-B1F2-10915C4CF9E6}" type="datetimeFigureOut">
              <a:rPr lang="en-US" smtClean="0"/>
              <a:t>7/4/26</a:t>
            </a:fld>
            <a:endParaRPr lang="en-US"/>
          </a:p>
        </p:txBody>
      </p:sp>
      <p:sp>
        <p:nvSpPr>
          <p:cNvPr id="5" name="Footer Placeholder 4">
            <a:extLst>
              <a:ext uri="{FF2B5EF4-FFF2-40B4-BE49-F238E27FC236}">
                <a16:creationId xmlns:a16="http://schemas.microsoft.com/office/drawing/2014/main" id="{ABD41361-F12C-943E-D491-9837CEBAB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AAB99C-10D2-E59F-4063-F4CCFD0659E9}"/>
              </a:ext>
            </a:extLst>
          </p:cNvPr>
          <p:cNvSpPr>
            <a:spLocks noGrp="1"/>
          </p:cNvSpPr>
          <p:nvPr>
            <p:ph type="sldNum" sz="quarter" idx="12"/>
          </p:nvPr>
        </p:nvSpPr>
        <p:spPr/>
        <p:txBody>
          <a:bodyPr/>
          <a:lstStyle/>
          <a:p>
            <a:fld id="{8E4E6075-2900-A943-BAAF-853FA6EE9462}" type="slidenum">
              <a:rPr lang="en-US" smtClean="0"/>
              <a:t>‹#›</a:t>
            </a:fld>
            <a:endParaRPr lang="en-US"/>
          </a:p>
        </p:txBody>
      </p:sp>
    </p:spTree>
    <p:extLst>
      <p:ext uri="{BB962C8B-B14F-4D97-AF65-F5344CB8AC3E}">
        <p14:creationId xmlns:p14="http://schemas.microsoft.com/office/powerpoint/2010/main" val="3881907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7BB8D-9DD6-56FA-6894-BDBC8E16E4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828C33-C0F9-5E13-5A84-1F0884B9E6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6CBADE-D903-4607-ADEA-AD8EEB118E37}"/>
              </a:ext>
            </a:extLst>
          </p:cNvPr>
          <p:cNvSpPr>
            <a:spLocks noGrp="1"/>
          </p:cNvSpPr>
          <p:nvPr>
            <p:ph type="dt" sz="half" idx="10"/>
          </p:nvPr>
        </p:nvSpPr>
        <p:spPr/>
        <p:txBody>
          <a:bodyPr/>
          <a:lstStyle/>
          <a:p>
            <a:fld id="{9F7CEB52-D0D6-0F44-B1F2-10915C4CF9E6}" type="datetimeFigureOut">
              <a:rPr lang="en-US" smtClean="0"/>
              <a:t>7/4/26</a:t>
            </a:fld>
            <a:endParaRPr lang="en-US"/>
          </a:p>
        </p:txBody>
      </p:sp>
      <p:sp>
        <p:nvSpPr>
          <p:cNvPr id="5" name="Footer Placeholder 4">
            <a:extLst>
              <a:ext uri="{FF2B5EF4-FFF2-40B4-BE49-F238E27FC236}">
                <a16:creationId xmlns:a16="http://schemas.microsoft.com/office/drawing/2014/main" id="{B5039858-6502-E3E1-BDF0-24DCECCCB4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B8B44-1D6C-3404-A3F7-E1432E60E78B}"/>
              </a:ext>
            </a:extLst>
          </p:cNvPr>
          <p:cNvSpPr>
            <a:spLocks noGrp="1"/>
          </p:cNvSpPr>
          <p:nvPr>
            <p:ph type="sldNum" sz="quarter" idx="12"/>
          </p:nvPr>
        </p:nvSpPr>
        <p:spPr/>
        <p:txBody>
          <a:bodyPr/>
          <a:lstStyle/>
          <a:p>
            <a:fld id="{8E4E6075-2900-A943-BAAF-853FA6EE9462}" type="slidenum">
              <a:rPr lang="en-US" smtClean="0"/>
              <a:t>‹#›</a:t>
            </a:fld>
            <a:endParaRPr lang="en-US"/>
          </a:p>
        </p:txBody>
      </p:sp>
    </p:spTree>
    <p:extLst>
      <p:ext uri="{BB962C8B-B14F-4D97-AF65-F5344CB8AC3E}">
        <p14:creationId xmlns:p14="http://schemas.microsoft.com/office/powerpoint/2010/main" val="2064169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50902-8C76-E516-53A3-45A3322BC3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77325D3-B4C4-C471-A532-A35992D671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C0316C-D3A8-1ED9-7A4C-4EED9324A3BC}"/>
              </a:ext>
            </a:extLst>
          </p:cNvPr>
          <p:cNvSpPr>
            <a:spLocks noGrp="1"/>
          </p:cNvSpPr>
          <p:nvPr>
            <p:ph type="dt" sz="half" idx="10"/>
          </p:nvPr>
        </p:nvSpPr>
        <p:spPr/>
        <p:txBody>
          <a:bodyPr/>
          <a:lstStyle/>
          <a:p>
            <a:fld id="{9F7CEB52-D0D6-0F44-B1F2-10915C4CF9E6}" type="datetimeFigureOut">
              <a:rPr lang="en-US" smtClean="0"/>
              <a:t>7/4/26</a:t>
            </a:fld>
            <a:endParaRPr lang="en-US"/>
          </a:p>
        </p:txBody>
      </p:sp>
      <p:sp>
        <p:nvSpPr>
          <p:cNvPr id="5" name="Footer Placeholder 4">
            <a:extLst>
              <a:ext uri="{FF2B5EF4-FFF2-40B4-BE49-F238E27FC236}">
                <a16:creationId xmlns:a16="http://schemas.microsoft.com/office/drawing/2014/main" id="{AA8637C4-5AFF-9D59-210C-DAA8D32474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5F8C92-A183-6397-0614-BA94B0CD01D1}"/>
              </a:ext>
            </a:extLst>
          </p:cNvPr>
          <p:cNvSpPr>
            <a:spLocks noGrp="1"/>
          </p:cNvSpPr>
          <p:nvPr>
            <p:ph type="sldNum" sz="quarter" idx="12"/>
          </p:nvPr>
        </p:nvSpPr>
        <p:spPr/>
        <p:txBody>
          <a:bodyPr/>
          <a:lstStyle/>
          <a:p>
            <a:fld id="{8E4E6075-2900-A943-BAAF-853FA6EE9462}" type="slidenum">
              <a:rPr lang="en-US" smtClean="0"/>
              <a:t>‹#›</a:t>
            </a:fld>
            <a:endParaRPr lang="en-US"/>
          </a:p>
        </p:txBody>
      </p:sp>
    </p:spTree>
    <p:extLst>
      <p:ext uri="{BB962C8B-B14F-4D97-AF65-F5344CB8AC3E}">
        <p14:creationId xmlns:p14="http://schemas.microsoft.com/office/powerpoint/2010/main" val="2642149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FFA1-BB4F-AEBB-7C37-3A6EB53593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31E89C-7B9E-4391-3653-BC19F7262C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FA4075-04F7-7B98-2825-6D82AF284E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0C1409-C69E-9A12-E7F9-93E9632CFC92}"/>
              </a:ext>
            </a:extLst>
          </p:cNvPr>
          <p:cNvSpPr>
            <a:spLocks noGrp="1"/>
          </p:cNvSpPr>
          <p:nvPr>
            <p:ph type="dt" sz="half" idx="10"/>
          </p:nvPr>
        </p:nvSpPr>
        <p:spPr/>
        <p:txBody>
          <a:bodyPr/>
          <a:lstStyle/>
          <a:p>
            <a:fld id="{9F7CEB52-D0D6-0F44-B1F2-10915C4CF9E6}" type="datetimeFigureOut">
              <a:rPr lang="en-US" smtClean="0"/>
              <a:t>7/4/26</a:t>
            </a:fld>
            <a:endParaRPr lang="en-US"/>
          </a:p>
        </p:txBody>
      </p:sp>
      <p:sp>
        <p:nvSpPr>
          <p:cNvPr id="6" name="Footer Placeholder 5">
            <a:extLst>
              <a:ext uri="{FF2B5EF4-FFF2-40B4-BE49-F238E27FC236}">
                <a16:creationId xmlns:a16="http://schemas.microsoft.com/office/drawing/2014/main" id="{7BE9DF52-0658-0771-C8FB-3668F01B17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1CC51C-18F5-2122-0CF7-DB3B17199550}"/>
              </a:ext>
            </a:extLst>
          </p:cNvPr>
          <p:cNvSpPr>
            <a:spLocks noGrp="1"/>
          </p:cNvSpPr>
          <p:nvPr>
            <p:ph type="sldNum" sz="quarter" idx="12"/>
          </p:nvPr>
        </p:nvSpPr>
        <p:spPr/>
        <p:txBody>
          <a:bodyPr/>
          <a:lstStyle/>
          <a:p>
            <a:fld id="{8E4E6075-2900-A943-BAAF-853FA6EE9462}" type="slidenum">
              <a:rPr lang="en-US" smtClean="0"/>
              <a:t>‹#›</a:t>
            </a:fld>
            <a:endParaRPr lang="en-US"/>
          </a:p>
        </p:txBody>
      </p:sp>
    </p:spTree>
    <p:extLst>
      <p:ext uri="{BB962C8B-B14F-4D97-AF65-F5344CB8AC3E}">
        <p14:creationId xmlns:p14="http://schemas.microsoft.com/office/powerpoint/2010/main" val="3532985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69AF4-EA49-3FA2-2D96-633DB43F1D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9B37AD-0550-4DB5-AEDB-F2E8D9FE67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ED56C0-E34A-13C7-6D58-87CEFD9DEC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F6DA2E-480E-8452-5BF9-79004FC825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873DF3-F717-A627-6DB3-8333680D85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314F0D-A33D-7444-E1E1-03BF8FE159E5}"/>
              </a:ext>
            </a:extLst>
          </p:cNvPr>
          <p:cNvSpPr>
            <a:spLocks noGrp="1"/>
          </p:cNvSpPr>
          <p:nvPr>
            <p:ph type="dt" sz="half" idx="10"/>
          </p:nvPr>
        </p:nvSpPr>
        <p:spPr/>
        <p:txBody>
          <a:bodyPr/>
          <a:lstStyle/>
          <a:p>
            <a:fld id="{9F7CEB52-D0D6-0F44-B1F2-10915C4CF9E6}" type="datetimeFigureOut">
              <a:rPr lang="en-US" smtClean="0"/>
              <a:t>7/4/26</a:t>
            </a:fld>
            <a:endParaRPr lang="en-US"/>
          </a:p>
        </p:txBody>
      </p:sp>
      <p:sp>
        <p:nvSpPr>
          <p:cNvPr id="8" name="Footer Placeholder 7">
            <a:extLst>
              <a:ext uri="{FF2B5EF4-FFF2-40B4-BE49-F238E27FC236}">
                <a16:creationId xmlns:a16="http://schemas.microsoft.com/office/drawing/2014/main" id="{F31622E7-5AE9-187C-6841-AEF96C7255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0DD720-5899-7736-9CA5-5F3B396B8A63}"/>
              </a:ext>
            </a:extLst>
          </p:cNvPr>
          <p:cNvSpPr>
            <a:spLocks noGrp="1"/>
          </p:cNvSpPr>
          <p:nvPr>
            <p:ph type="sldNum" sz="quarter" idx="12"/>
          </p:nvPr>
        </p:nvSpPr>
        <p:spPr/>
        <p:txBody>
          <a:bodyPr/>
          <a:lstStyle/>
          <a:p>
            <a:fld id="{8E4E6075-2900-A943-BAAF-853FA6EE9462}" type="slidenum">
              <a:rPr lang="en-US" smtClean="0"/>
              <a:t>‹#›</a:t>
            </a:fld>
            <a:endParaRPr lang="en-US"/>
          </a:p>
        </p:txBody>
      </p:sp>
    </p:spTree>
    <p:extLst>
      <p:ext uri="{BB962C8B-B14F-4D97-AF65-F5344CB8AC3E}">
        <p14:creationId xmlns:p14="http://schemas.microsoft.com/office/powerpoint/2010/main" val="297707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94171-6BD0-E4A6-BF34-45484C535A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41951E-1FAD-CF45-14AF-EED8DDDDAFCA}"/>
              </a:ext>
            </a:extLst>
          </p:cNvPr>
          <p:cNvSpPr>
            <a:spLocks noGrp="1"/>
          </p:cNvSpPr>
          <p:nvPr>
            <p:ph type="dt" sz="half" idx="10"/>
          </p:nvPr>
        </p:nvSpPr>
        <p:spPr/>
        <p:txBody>
          <a:bodyPr/>
          <a:lstStyle/>
          <a:p>
            <a:fld id="{9F7CEB52-D0D6-0F44-B1F2-10915C4CF9E6}" type="datetimeFigureOut">
              <a:rPr lang="en-US" smtClean="0"/>
              <a:t>7/4/26</a:t>
            </a:fld>
            <a:endParaRPr lang="en-US"/>
          </a:p>
        </p:txBody>
      </p:sp>
      <p:sp>
        <p:nvSpPr>
          <p:cNvPr id="4" name="Footer Placeholder 3">
            <a:extLst>
              <a:ext uri="{FF2B5EF4-FFF2-40B4-BE49-F238E27FC236}">
                <a16:creationId xmlns:a16="http://schemas.microsoft.com/office/drawing/2014/main" id="{97AB1B01-CE83-5173-82E3-19932968C5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3A650A0-9A68-322F-5A5F-A0479F86852D}"/>
              </a:ext>
            </a:extLst>
          </p:cNvPr>
          <p:cNvSpPr>
            <a:spLocks noGrp="1"/>
          </p:cNvSpPr>
          <p:nvPr>
            <p:ph type="sldNum" sz="quarter" idx="12"/>
          </p:nvPr>
        </p:nvSpPr>
        <p:spPr/>
        <p:txBody>
          <a:bodyPr/>
          <a:lstStyle/>
          <a:p>
            <a:fld id="{8E4E6075-2900-A943-BAAF-853FA6EE9462}" type="slidenum">
              <a:rPr lang="en-US" smtClean="0"/>
              <a:t>‹#›</a:t>
            </a:fld>
            <a:endParaRPr lang="en-US"/>
          </a:p>
        </p:txBody>
      </p:sp>
    </p:spTree>
    <p:extLst>
      <p:ext uri="{BB962C8B-B14F-4D97-AF65-F5344CB8AC3E}">
        <p14:creationId xmlns:p14="http://schemas.microsoft.com/office/powerpoint/2010/main" val="1310947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73D14E-4302-8960-EED7-173B23593355}"/>
              </a:ext>
            </a:extLst>
          </p:cNvPr>
          <p:cNvSpPr>
            <a:spLocks noGrp="1"/>
          </p:cNvSpPr>
          <p:nvPr>
            <p:ph type="dt" sz="half" idx="10"/>
          </p:nvPr>
        </p:nvSpPr>
        <p:spPr/>
        <p:txBody>
          <a:bodyPr/>
          <a:lstStyle/>
          <a:p>
            <a:fld id="{9F7CEB52-D0D6-0F44-B1F2-10915C4CF9E6}" type="datetimeFigureOut">
              <a:rPr lang="en-US" smtClean="0"/>
              <a:t>7/4/26</a:t>
            </a:fld>
            <a:endParaRPr lang="en-US"/>
          </a:p>
        </p:txBody>
      </p:sp>
      <p:sp>
        <p:nvSpPr>
          <p:cNvPr id="3" name="Footer Placeholder 2">
            <a:extLst>
              <a:ext uri="{FF2B5EF4-FFF2-40B4-BE49-F238E27FC236}">
                <a16:creationId xmlns:a16="http://schemas.microsoft.com/office/drawing/2014/main" id="{C037A4D6-9084-5FB6-C1BA-846EF82EF9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52A858-B5C1-62D4-0395-150E2BFCEA0A}"/>
              </a:ext>
            </a:extLst>
          </p:cNvPr>
          <p:cNvSpPr>
            <a:spLocks noGrp="1"/>
          </p:cNvSpPr>
          <p:nvPr>
            <p:ph type="sldNum" sz="quarter" idx="12"/>
          </p:nvPr>
        </p:nvSpPr>
        <p:spPr/>
        <p:txBody>
          <a:bodyPr/>
          <a:lstStyle/>
          <a:p>
            <a:fld id="{8E4E6075-2900-A943-BAAF-853FA6EE9462}" type="slidenum">
              <a:rPr lang="en-US" smtClean="0"/>
              <a:t>‹#›</a:t>
            </a:fld>
            <a:endParaRPr lang="en-US"/>
          </a:p>
        </p:txBody>
      </p:sp>
    </p:spTree>
    <p:extLst>
      <p:ext uri="{BB962C8B-B14F-4D97-AF65-F5344CB8AC3E}">
        <p14:creationId xmlns:p14="http://schemas.microsoft.com/office/powerpoint/2010/main" val="4013304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961FC-D2E0-18AC-D080-8E4220762A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02D298-8500-BA3C-BDA9-3EAE644089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63F8944-DEEB-036F-E0B3-634A33080B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C1AAA8-21B5-E7FE-C62E-59ED6C2B9F33}"/>
              </a:ext>
            </a:extLst>
          </p:cNvPr>
          <p:cNvSpPr>
            <a:spLocks noGrp="1"/>
          </p:cNvSpPr>
          <p:nvPr>
            <p:ph type="dt" sz="half" idx="10"/>
          </p:nvPr>
        </p:nvSpPr>
        <p:spPr/>
        <p:txBody>
          <a:bodyPr/>
          <a:lstStyle/>
          <a:p>
            <a:fld id="{9F7CEB52-D0D6-0F44-B1F2-10915C4CF9E6}" type="datetimeFigureOut">
              <a:rPr lang="en-US" smtClean="0"/>
              <a:t>7/4/26</a:t>
            </a:fld>
            <a:endParaRPr lang="en-US"/>
          </a:p>
        </p:txBody>
      </p:sp>
      <p:sp>
        <p:nvSpPr>
          <p:cNvPr id="6" name="Footer Placeholder 5">
            <a:extLst>
              <a:ext uri="{FF2B5EF4-FFF2-40B4-BE49-F238E27FC236}">
                <a16:creationId xmlns:a16="http://schemas.microsoft.com/office/drawing/2014/main" id="{2DB60CF6-763A-C272-26F8-50400F1CD5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AF549D-4342-5C3A-E41E-8AE4E2BF90CD}"/>
              </a:ext>
            </a:extLst>
          </p:cNvPr>
          <p:cNvSpPr>
            <a:spLocks noGrp="1"/>
          </p:cNvSpPr>
          <p:nvPr>
            <p:ph type="sldNum" sz="quarter" idx="12"/>
          </p:nvPr>
        </p:nvSpPr>
        <p:spPr/>
        <p:txBody>
          <a:bodyPr/>
          <a:lstStyle/>
          <a:p>
            <a:fld id="{8E4E6075-2900-A943-BAAF-853FA6EE9462}" type="slidenum">
              <a:rPr lang="en-US" smtClean="0"/>
              <a:t>‹#›</a:t>
            </a:fld>
            <a:endParaRPr lang="en-US"/>
          </a:p>
        </p:txBody>
      </p:sp>
    </p:spTree>
    <p:extLst>
      <p:ext uri="{BB962C8B-B14F-4D97-AF65-F5344CB8AC3E}">
        <p14:creationId xmlns:p14="http://schemas.microsoft.com/office/powerpoint/2010/main" val="543223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E5A02-9916-5E90-E480-5F31E770A9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8E2226-5C37-845E-33E8-A130A08130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027CBE-8138-BB97-7ECC-9A8E7F55FC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E8F2B8-49F8-C86D-0C1D-AFCFE74F1F8D}"/>
              </a:ext>
            </a:extLst>
          </p:cNvPr>
          <p:cNvSpPr>
            <a:spLocks noGrp="1"/>
          </p:cNvSpPr>
          <p:nvPr>
            <p:ph type="dt" sz="half" idx="10"/>
          </p:nvPr>
        </p:nvSpPr>
        <p:spPr/>
        <p:txBody>
          <a:bodyPr/>
          <a:lstStyle/>
          <a:p>
            <a:fld id="{9F7CEB52-D0D6-0F44-B1F2-10915C4CF9E6}" type="datetimeFigureOut">
              <a:rPr lang="en-US" smtClean="0"/>
              <a:t>7/4/26</a:t>
            </a:fld>
            <a:endParaRPr lang="en-US"/>
          </a:p>
        </p:txBody>
      </p:sp>
      <p:sp>
        <p:nvSpPr>
          <p:cNvPr id="6" name="Footer Placeholder 5">
            <a:extLst>
              <a:ext uri="{FF2B5EF4-FFF2-40B4-BE49-F238E27FC236}">
                <a16:creationId xmlns:a16="http://schemas.microsoft.com/office/drawing/2014/main" id="{76E3EEDD-D6F6-186B-E373-C6AEE4F2A7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4D9A4D-EA14-E077-75FD-7925BB225A95}"/>
              </a:ext>
            </a:extLst>
          </p:cNvPr>
          <p:cNvSpPr>
            <a:spLocks noGrp="1"/>
          </p:cNvSpPr>
          <p:nvPr>
            <p:ph type="sldNum" sz="quarter" idx="12"/>
          </p:nvPr>
        </p:nvSpPr>
        <p:spPr/>
        <p:txBody>
          <a:bodyPr/>
          <a:lstStyle/>
          <a:p>
            <a:fld id="{8E4E6075-2900-A943-BAAF-853FA6EE9462}" type="slidenum">
              <a:rPr lang="en-US" smtClean="0"/>
              <a:t>‹#›</a:t>
            </a:fld>
            <a:endParaRPr lang="en-US"/>
          </a:p>
        </p:txBody>
      </p:sp>
    </p:spTree>
    <p:extLst>
      <p:ext uri="{BB962C8B-B14F-4D97-AF65-F5344CB8AC3E}">
        <p14:creationId xmlns:p14="http://schemas.microsoft.com/office/powerpoint/2010/main" val="3134280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983E0-85FE-3DCC-F06E-FC67243022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F17E6D-54B8-51C5-76F5-098D4495C1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EF7C40-A05C-89A5-F5BD-459D89725E67}"/>
              </a:ext>
            </a:extLst>
          </p:cNvPr>
          <p:cNvSpPr>
            <a:spLocks noGrp="1"/>
          </p:cNvSpPr>
          <p:nvPr>
            <p:ph type="dt" sz="half" idx="10"/>
          </p:nvPr>
        </p:nvSpPr>
        <p:spPr/>
        <p:txBody>
          <a:bodyPr/>
          <a:lstStyle/>
          <a:p>
            <a:fld id="{9F7CEB52-D0D6-0F44-B1F2-10915C4CF9E6}" type="datetimeFigureOut">
              <a:rPr lang="en-US" smtClean="0"/>
              <a:t>7/4/26</a:t>
            </a:fld>
            <a:endParaRPr lang="en-US"/>
          </a:p>
        </p:txBody>
      </p:sp>
      <p:sp>
        <p:nvSpPr>
          <p:cNvPr id="5" name="Footer Placeholder 4">
            <a:extLst>
              <a:ext uri="{FF2B5EF4-FFF2-40B4-BE49-F238E27FC236}">
                <a16:creationId xmlns:a16="http://schemas.microsoft.com/office/drawing/2014/main" id="{AD834900-C856-FD52-97EE-7427E0CA32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2982C0-F8DE-BE3D-283C-A2C934EF9320}"/>
              </a:ext>
            </a:extLst>
          </p:cNvPr>
          <p:cNvSpPr>
            <a:spLocks noGrp="1"/>
          </p:cNvSpPr>
          <p:nvPr>
            <p:ph type="sldNum" sz="quarter" idx="12"/>
          </p:nvPr>
        </p:nvSpPr>
        <p:spPr/>
        <p:txBody>
          <a:bodyPr/>
          <a:lstStyle/>
          <a:p>
            <a:fld id="{8E4E6075-2900-A943-BAAF-853FA6EE9462}" type="slidenum">
              <a:rPr lang="en-US" smtClean="0"/>
              <a:t>‹#›</a:t>
            </a:fld>
            <a:endParaRPr lang="en-US"/>
          </a:p>
        </p:txBody>
      </p:sp>
    </p:spTree>
    <p:extLst>
      <p:ext uri="{BB962C8B-B14F-4D97-AF65-F5344CB8AC3E}">
        <p14:creationId xmlns:p14="http://schemas.microsoft.com/office/powerpoint/2010/main" val="3038093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C63025-B2BC-5A01-1932-A95AE6926A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8AA7177-3B3C-4E0D-3EEF-C3B04F547D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5655F1-92B1-FDD0-86B0-04FB9201B233}"/>
              </a:ext>
            </a:extLst>
          </p:cNvPr>
          <p:cNvSpPr>
            <a:spLocks noGrp="1"/>
          </p:cNvSpPr>
          <p:nvPr>
            <p:ph type="dt" sz="half" idx="10"/>
          </p:nvPr>
        </p:nvSpPr>
        <p:spPr/>
        <p:txBody>
          <a:bodyPr/>
          <a:lstStyle/>
          <a:p>
            <a:fld id="{9F7CEB52-D0D6-0F44-B1F2-10915C4CF9E6}" type="datetimeFigureOut">
              <a:rPr lang="en-US" smtClean="0"/>
              <a:t>7/4/26</a:t>
            </a:fld>
            <a:endParaRPr lang="en-US"/>
          </a:p>
        </p:txBody>
      </p:sp>
      <p:sp>
        <p:nvSpPr>
          <p:cNvPr id="5" name="Footer Placeholder 4">
            <a:extLst>
              <a:ext uri="{FF2B5EF4-FFF2-40B4-BE49-F238E27FC236}">
                <a16:creationId xmlns:a16="http://schemas.microsoft.com/office/drawing/2014/main" id="{3B15884A-3915-AB54-9D18-F1AE8E19F3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F6B5E2-6B8B-D92E-5E26-A80B4BB12A70}"/>
              </a:ext>
            </a:extLst>
          </p:cNvPr>
          <p:cNvSpPr>
            <a:spLocks noGrp="1"/>
          </p:cNvSpPr>
          <p:nvPr>
            <p:ph type="sldNum" sz="quarter" idx="12"/>
          </p:nvPr>
        </p:nvSpPr>
        <p:spPr/>
        <p:txBody>
          <a:bodyPr/>
          <a:lstStyle/>
          <a:p>
            <a:fld id="{8E4E6075-2900-A943-BAAF-853FA6EE9462}" type="slidenum">
              <a:rPr lang="en-US" smtClean="0"/>
              <a:t>‹#›</a:t>
            </a:fld>
            <a:endParaRPr lang="en-US"/>
          </a:p>
        </p:txBody>
      </p:sp>
    </p:spTree>
    <p:extLst>
      <p:ext uri="{BB962C8B-B14F-4D97-AF65-F5344CB8AC3E}">
        <p14:creationId xmlns:p14="http://schemas.microsoft.com/office/powerpoint/2010/main" val="3674747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1B9621-4014-7583-DB82-111B000871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E1366D-53FF-5361-829F-2BAEE030E4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74166B-2FF3-8A6D-232E-849DCCE948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7CEB52-D0D6-0F44-B1F2-10915C4CF9E6}" type="datetimeFigureOut">
              <a:rPr lang="en-US" smtClean="0"/>
              <a:t>7/4/26</a:t>
            </a:fld>
            <a:endParaRPr lang="en-US"/>
          </a:p>
        </p:txBody>
      </p:sp>
      <p:sp>
        <p:nvSpPr>
          <p:cNvPr id="5" name="Footer Placeholder 4">
            <a:extLst>
              <a:ext uri="{FF2B5EF4-FFF2-40B4-BE49-F238E27FC236}">
                <a16:creationId xmlns:a16="http://schemas.microsoft.com/office/drawing/2014/main" id="{B43CA292-BA56-2D22-F9F5-5F91994F4D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413E3A6-940C-8E01-3FCA-45BAE04B28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4E6075-2900-A943-BAAF-853FA6EE9462}" type="slidenum">
              <a:rPr lang="en-US" smtClean="0"/>
              <a:t>‹#›</a:t>
            </a:fld>
            <a:endParaRPr lang="en-US"/>
          </a:p>
        </p:txBody>
      </p:sp>
    </p:spTree>
    <p:extLst>
      <p:ext uri="{BB962C8B-B14F-4D97-AF65-F5344CB8AC3E}">
        <p14:creationId xmlns:p14="http://schemas.microsoft.com/office/powerpoint/2010/main" val="3345981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DE72A-0761-AFC3-60F7-04DE0C35695B}"/>
              </a:ext>
            </a:extLst>
          </p:cNvPr>
          <p:cNvSpPr>
            <a:spLocks noGrp="1"/>
          </p:cNvSpPr>
          <p:nvPr>
            <p:ph type="ctrTitle"/>
          </p:nvPr>
        </p:nvSpPr>
        <p:spPr/>
        <p:txBody>
          <a:bodyPr/>
          <a:lstStyle/>
          <a:p>
            <a:r>
              <a:rPr lang="en-US" dirty="0"/>
              <a:t>Fork-join parallelism</a:t>
            </a:r>
          </a:p>
        </p:txBody>
      </p:sp>
      <p:sp>
        <p:nvSpPr>
          <p:cNvPr id="3" name="Subtitle 2">
            <a:extLst>
              <a:ext uri="{FF2B5EF4-FFF2-40B4-BE49-F238E27FC236}">
                <a16:creationId xmlns:a16="http://schemas.microsoft.com/office/drawing/2014/main" id="{30D691DA-37E6-EE66-0D27-4E676DAB857B}"/>
              </a:ext>
            </a:extLst>
          </p:cNvPr>
          <p:cNvSpPr>
            <a:spLocks noGrp="1"/>
          </p:cNvSpPr>
          <p:nvPr>
            <p:ph type="subTitle" idx="1"/>
          </p:nvPr>
        </p:nvSpPr>
        <p:spPr/>
        <p:txBody>
          <a:bodyPr>
            <a:normAutofit lnSpcReduction="10000"/>
          </a:bodyPr>
          <a:lstStyle/>
          <a:p>
            <a:r>
              <a:rPr lang="en-US" dirty="0"/>
              <a:t>??/??/??</a:t>
            </a:r>
          </a:p>
          <a:p>
            <a:endParaRPr lang="en-US" dirty="0"/>
          </a:p>
          <a:p>
            <a:endParaRPr lang="en-US" dirty="0"/>
          </a:p>
          <a:p>
            <a:r>
              <a:rPr lang="en-US" dirty="0"/>
              <a:t>(drawing on materials by Dan Grossman)</a:t>
            </a:r>
          </a:p>
        </p:txBody>
      </p:sp>
    </p:spTree>
    <p:extLst>
      <p:ext uri="{BB962C8B-B14F-4D97-AF65-F5344CB8AC3E}">
        <p14:creationId xmlns:p14="http://schemas.microsoft.com/office/powerpoint/2010/main" val="4190462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58545-935E-1857-72A2-EA91DB053360}"/>
              </a:ext>
            </a:extLst>
          </p:cNvPr>
          <p:cNvSpPr>
            <a:spLocks noGrp="1"/>
          </p:cNvSpPr>
          <p:nvPr>
            <p:ph type="title"/>
          </p:nvPr>
        </p:nvSpPr>
        <p:spPr/>
        <p:txBody>
          <a:bodyPr/>
          <a:lstStyle/>
          <a:p>
            <a:pPr algn="ctr"/>
            <a:r>
              <a:rPr lang="en-US" dirty="0"/>
              <a:t>Using multiple cores</a:t>
            </a:r>
          </a:p>
        </p:txBody>
      </p:sp>
      <p:sp>
        <p:nvSpPr>
          <p:cNvPr id="3" name="Content Placeholder 2">
            <a:extLst>
              <a:ext uri="{FF2B5EF4-FFF2-40B4-BE49-F238E27FC236}">
                <a16:creationId xmlns:a16="http://schemas.microsoft.com/office/drawing/2014/main" id="{5965C758-338A-2212-D5CE-0604CAEA8105}"/>
              </a:ext>
            </a:extLst>
          </p:cNvPr>
          <p:cNvSpPr>
            <a:spLocks noGrp="1"/>
          </p:cNvSpPr>
          <p:nvPr>
            <p:ph idx="1"/>
          </p:nvPr>
        </p:nvSpPr>
        <p:spPr/>
        <p:txBody>
          <a:bodyPr/>
          <a:lstStyle/>
          <a:p>
            <a:r>
              <a:rPr lang="en-US" dirty="0"/>
              <a:t>Essentially all computers now are multi-core (dual-core means 2 cores, quad-core means 4 cores, </a:t>
            </a:r>
            <a:r>
              <a:rPr lang="en-US" dirty="0" err="1"/>
              <a:t>etc</a:t>
            </a:r>
            <a:r>
              <a:rPr lang="en-US" dirty="0"/>
              <a:t>)</a:t>
            </a:r>
          </a:p>
          <a:p>
            <a:pPr lvl="1"/>
            <a:r>
              <a:rPr lang="en-US" dirty="0"/>
              <a:t>Each core can run all the operations needed to run a program</a:t>
            </a:r>
          </a:p>
          <a:p>
            <a:pPr lvl="1"/>
            <a:endParaRPr lang="en-US" dirty="0"/>
          </a:p>
          <a:p>
            <a:r>
              <a:rPr lang="en-US" dirty="0"/>
              <a:t>Up to this point, our programs have always done a single thing at once so one can run on each core</a:t>
            </a:r>
          </a:p>
          <a:p>
            <a:endParaRPr lang="en-US" dirty="0"/>
          </a:p>
          <a:p>
            <a:r>
              <a:rPr lang="en-US" dirty="0"/>
              <a:t>What if we wanted multiple cores to run a single program faster?</a:t>
            </a:r>
          </a:p>
          <a:p>
            <a:pPr lvl="1"/>
            <a:r>
              <a:rPr lang="en-US" dirty="0"/>
              <a:t>Need to split program into parts that can run on different cores</a:t>
            </a:r>
          </a:p>
        </p:txBody>
      </p:sp>
    </p:spTree>
    <p:extLst>
      <p:ext uri="{BB962C8B-B14F-4D97-AF65-F5344CB8AC3E}">
        <p14:creationId xmlns:p14="http://schemas.microsoft.com/office/powerpoint/2010/main" val="1955240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7BFD2-9388-5AD2-5937-590193B7B7A4}"/>
              </a:ext>
            </a:extLst>
          </p:cNvPr>
          <p:cNvSpPr>
            <a:spLocks noGrp="1"/>
          </p:cNvSpPr>
          <p:nvPr>
            <p:ph type="title"/>
          </p:nvPr>
        </p:nvSpPr>
        <p:spPr/>
        <p:txBody>
          <a:bodyPr/>
          <a:lstStyle/>
          <a:p>
            <a:pPr algn="ctr"/>
            <a:r>
              <a:rPr lang="en-US" dirty="0"/>
              <a:t>Sample problem: Summing an array</a:t>
            </a:r>
          </a:p>
        </p:txBody>
      </p:sp>
      <p:sp>
        <p:nvSpPr>
          <p:cNvPr id="3" name="Content Placeholder 2">
            <a:extLst>
              <a:ext uri="{FF2B5EF4-FFF2-40B4-BE49-F238E27FC236}">
                <a16:creationId xmlns:a16="http://schemas.microsoft.com/office/drawing/2014/main" id="{C2FC948A-2A66-37C2-83B3-3E38D4E17B85}"/>
              </a:ext>
            </a:extLst>
          </p:cNvPr>
          <p:cNvSpPr>
            <a:spLocks noGrp="1"/>
          </p:cNvSpPr>
          <p:nvPr>
            <p:ph idx="1"/>
          </p:nvPr>
        </p:nvSpPr>
        <p:spPr/>
        <p:txBody>
          <a:bodyPr/>
          <a:lstStyle/>
          <a:p>
            <a:pPr marL="0" indent="0">
              <a:buNone/>
            </a:pPr>
            <a:r>
              <a:rPr lang="en-US" dirty="0"/>
              <a:t>int </a:t>
            </a:r>
            <a:r>
              <a:rPr lang="en-US" dirty="0" err="1"/>
              <a:t>simpleSum</a:t>
            </a:r>
            <a:r>
              <a:rPr lang="en-US" dirty="0"/>
              <a:t>(int[] array, int low, int hi) {</a:t>
            </a:r>
          </a:p>
          <a:p>
            <a:pPr marL="0" indent="0">
              <a:buNone/>
            </a:pPr>
            <a:r>
              <a:rPr lang="en-US" dirty="0"/>
              <a:t>	int sum = 0;</a:t>
            </a:r>
          </a:p>
          <a:p>
            <a:pPr marL="0" indent="0">
              <a:buNone/>
            </a:pPr>
            <a:r>
              <a:rPr lang="en-US" dirty="0"/>
              <a:t>	for(int </a:t>
            </a:r>
            <a:r>
              <a:rPr lang="en-US" dirty="0" err="1"/>
              <a:t>i</a:t>
            </a:r>
            <a:r>
              <a:rPr lang="en-US" dirty="0"/>
              <a:t>=low; </a:t>
            </a:r>
            <a:r>
              <a:rPr lang="en-US" dirty="0" err="1"/>
              <a:t>i</a:t>
            </a:r>
            <a:r>
              <a:rPr lang="en-US" dirty="0"/>
              <a:t> &lt; hi; </a:t>
            </a:r>
            <a:r>
              <a:rPr lang="en-US" dirty="0" err="1"/>
              <a:t>i</a:t>
            </a:r>
            <a:r>
              <a:rPr lang="en-US" dirty="0"/>
              <a:t>++)</a:t>
            </a:r>
          </a:p>
          <a:p>
            <a:pPr marL="0" indent="0">
              <a:buNone/>
            </a:pPr>
            <a:r>
              <a:rPr lang="en-US" dirty="0"/>
              <a:t>		sum = sum + array[</a:t>
            </a:r>
            <a:r>
              <a:rPr lang="en-US" dirty="0" err="1"/>
              <a:t>i</a:t>
            </a:r>
            <a:r>
              <a:rPr lang="en-US" dirty="0"/>
              <a:t>];</a:t>
            </a:r>
          </a:p>
          <a:p>
            <a:pPr marL="0" indent="0">
              <a:buNone/>
            </a:pPr>
            <a:r>
              <a:rPr lang="en-US" dirty="0"/>
              <a:t>	return sum;</a:t>
            </a:r>
          </a:p>
          <a:p>
            <a:pPr marL="0" indent="0">
              <a:buNone/>
            </a:pPr>
            <a:r>
              <a:rPr lang="en-US" dirty="0"/>
              <a:t>}</a:t>
            </a:r>
          </a:p>
        </p:txBody>
      </p:sp>
    </p:spTree>
    <p:extLst>
      <p:ext uri="{BB962C8B-B14F-4D97-AF65-F5344CB8AC3E}">
        <p14:creationId xmlns:p14="http://schemas.microsoft.com/office/powerpoint/2010/main" val="2640833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8B04E-8EA5-677F-FDC5-F08086533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208A99-F4EC-2D63-06B6-428C97958F0D}"/>
              </a:ext>
            </a:extLst>
          </p:cNvPr>
          <p:cNvSpPr>
            <a:spLocks noGrp="1"/>
          </p:cNvSpPr>
          <p:nvPr>
            <p:ph type="title"/>
          </p:nvPr>
        </p:nvSpPr>
        <p:spPr/>
        <p:txBody>
          <a:bodyPr/>
          <a:lstStyle/>
          <a:p>
            <a:pPr algn="ctr"/>
            <a:r>
              <a:rPr lang="en-US" dirty="0"/>
              <a:t>Splitting the sum into two parts</a:t>
            </a:r>
          </a:p>
        </p:txBody>
      </p:sp>
      <p:sp>
        <p:nvSpPr>
          <p:cNvPr id="3" name="Content Placeholder 2">
            <a:extLst>
              <a:ext uri="{FF2B5EF4-FFF2-40B4-BE49-F238E27FC236}">
                <a16:creationId xmlns:a16="http://schemas.microsoft.com/office/drawing/2014/main" id="{035D70A9-6A1E-A0B7-A632-0FF474580427}"/>
              </a:ext>
            </a:extLst>
          </p:cNvPr>
          <p:cNvSpPr>
            <a:spLocks noGrp="1"/>
          </p:cNvSpPr>
          <p:nvPr>
            <p:ph idx="1"/>
          </p:nvPr>
        </p:nvSpPr>
        <p:spPr/>
        <p:txBody>
          <a:bodyPr/>
          <a:lstStyle/>
          <a:p>
            <a:pPr marL="0" indent="0">
              <a:buNone/>
            </a:pPr>
            <a:r>
              <a:rPr lang="en-US" dirty="0"/>
              <a:t>int sum(int[] array, int low, int hi) {</a:t>
            </a:r>
          </a:p>
          <a:p>
            <a:pPr marL="0" indent="0">
              <a:buNone/>
            </a:pPr>
            <a:r>
              <a:rPr lang="en-US" dirty="0"/>
              <a:t>	int left = </a:t>
            </a:r>
            <a:r>
              <a:rPr lang="en-US" dirty="0" err="1"/>
              <a:t>simpleSum</a:t>
            </a:r>
            <a:r>
              <a:rPr lang="en-US" dirty="0"/>
              <a:t>(array, low, (</a:t>
            </a:r>
            <a:r>
              <a:rPr lang="en-US" dirty="0" err="1"/>
              <a:t>hi+low</a:t>
            </a:r>
            <a:r>
              <a:rPr lang="en-US" dirty="0"/>
              <a:t>)/2);</a:t>
            </a:r>
          </a:p>
          <a:p>
            <a:pPr marL="0" indent="0">
              <a:buNone/>
            </a:pPr>
            <a:r>
              <a:rPr lang="en-US" dirty="0"/>
              <a:t>	int right = </a:t>
            </a:r>
            <a:r>
              <a:rPr lang="en-US" dirty="0" err="1"/>
              <a:t>simpleSum</a:t>
            </a:r>
            <a:r>
              <a:rPr lang="en-US" dirty="0"/>
              <a:t>(array, (</a:t>
            </a:r>
            <a:r>
              <a:rPr lang="en-US" dirty="0" err="1"/>
              <a:t>hi+low</a:t>
            </a:r>
            <a:r>
              <a:rPr lang="en-US" dirty="0"/>
              <a:t>)/2, hi);</a:t>
            </a:r>
          </a:p>
          <a:p>
            <a:pPr marL="0" indent="0">
              <a:buNone/>
            </a:pPr>
            <a:r>
              <a:rPr lang="en-US" dirty="0"/>
              <a:t>	return left + right;</a:t>
            </a:r>
          </a:p>
          <a:p>
            <a:pPr marL="0" indent="0">
              <a:buNone/>
            </a:pPr>
            <a:r>
              <a:rPr lang="en-US" dirty="0"/>
              <a:t>}</a:t>
            </a:r>
          </a:p>
        </p:txBody>
      </p:sp>
    </p:spTree>
    <p:extLst>
      <p:ext uri="{BB962C8B-B14F-4D97-AF65-F5344CB8AC3E}">
        <p14:creationId xmlns:p14="http://schemas.microsoft.com/office/powerpoint/2010/main" val="1597242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81D0D-C567-7308-ABB0-B096E739C23A}"/>
            </a:ext>
          </a:extLst>
        </p:cNvPr>
        <p:cNvGrpSpPr/>
        <p:nvPr/>
      </p:nvGrpSpPr>
      <p:grpSpPr>
        <a:xfrm>
          <a:off x="0" y="0"/>
          <a:ext cx="0" cy="0"/>
          <a:chOff x="0" y="0"/>
          <a:chExt cx="0" cy="0"/>
        </a:xfrm>
      </p:grpSpPr>
      <p:sp>
        <p:nvSpPr>
          <p:cNvPr id="7" name="Rounded Rectangular Callout 6">
            <a:extLst>
              <a:ext uri="{FF2B5EF4-FFF2-40B4-BE49-F238E27FC236}">
                <a16:creationId xmlns:a16="http://schemas.microsoft.com/office/drawing/2014/main" id="{C9779661-A3F3-0F7A-95D8-F75A85071173}"/>
              </a:ext>
            </a:extLst>
          </p:cNvPr>
          <p:cNvSpPr/>
          <p:nvPr/>
        </p:nvSpPr>
        <p:spPr>
          <a:xfrm>
            <a:off x="7083193" y="1192783"/>
            <a:ext cx="4608231" cy="1157665"/>
          </a:xfrm>
          <a:prstGeom prst="wedgeRoundRectCallout">
            <a:avLst>
              <a:gd name="adj1" fmla="val -121999"/>
              <a:gd name="adj2" fmla="val 54053"/>
              <a:gd name="adj3" fmla="val 16667"/>
            </a:avLst>
          </a:prstGeom>
          <a:solidFill>
            <a:schemeClr val="tx2">
              <a:lumMod val="50000"/>
              <a:lumOff val="50000"/>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Allows child call (rest of line) to run in parallel with its parent</a:t>
            </a:r>
          </a:p>
        </p:txBody>
      </p:sp>
      <p:sp>
        <p:nvSpPr>
          <p:cNvPr id="3" name="Content Placeholder 2">
            <a:extLst>
              <a:ext uri="{FF2B5EF4-FFF2-40B4-BE49-F238E27FC236}">
                <a16:creationId xmlns:a16="http://schemas.microsoft.com/office/drawing/2014/main" id="{4DD38E47-0C2E-74A5-AD3D-6148B18DFE15}"/>
              </a:ext>
            </a:extLst>
          </p:cNvPr>
          <p:cNvSpPr>
            <a:spLocks noGrp="1"/>
          </p:cNvSpPr>
          <p:nvPr>
            <p:ph idx="1"/>
          </p:nvPr>
        </p:nvSpPr>
        <p:spPr/>
        <p:txBody>
          <a:bodyPr/>
          <a:lstStyle/>
          <a:p>
            <a:pPr marL="0" indent="0">
              <a:buNone/>
            </a:pPr>
            <a:r>
              <a:rPr lang="en-US" dirty="0"/>
              <a:t>int sum(int[] array, int low, int hi) {</a:t>
            </a:r>
          </a:p>
          <a:p>
            <a:pPr marL="0" indent="0">
              <a:buNone/>
            </a:pPr>
            <a:r>
              <a:rPr lang="en-US" dirty="0"/>
              <a:t>	int left = </a:t>
            </a:r>
            <a:r>
              <a:rPr lang="en-US" u="sng" dirty="0">
                <a:solidFill>
                  <a:schemeClr val="accent1">
                    <a:lumMod val="60000"/>
                    <a:lumOff val="40000"/>
                  </a:schemeClr>
                </a:solidFill>
              </a:rPr>
              <a:t>fork</a:t>
            </a:r>
            <a:r>
              <a:rPr lang="en-US" dirty="0"/>
              <a:t> </a:t>
            </a:r>
            <a:r>
              <a:rPr lang="en-US" dirty="0" err="1"/>
              <a:t>simpleSum</a:t>
            </a:r>
            <a:r>
              <a:rPr lang="en-US" dirty="0"/>
              <a:t>(array, low, (</a:t>
            </a:r>
            <a:r>
              <a:rPr lang="en-US" dirty="0" err="1"/>
              <a:t>hi+low</a:t>
            </a:r>
            <a:r>
              <a:rPr lang="en-US" dirty="0"/>
              <a:t>)/2);</a:t>
            </a:r>
          </a:p>
          <a:p>
            <a:pPr marL="0" indent="0">
              <a:buNone/>
            </a:pPr>
            <a:r>
              <a:rPr lang="en-US" dirty="0"/>
              <a:t>	int right = </a:t>
            </a:r>
            <a:r>
              <a:rPr lang="en-US" dirty="0" err="1"/>
              <a:t>simpleSum</a:t>
            </a:r>
            <a:r>
              <a:rPr lang="en-US" dirty="0"/>
              <a:t>(array, (</a:t>
            </a:r>
            <a:r>
              <a:rPr lang="en-US" dirty="0" err="1"/>
              <a:t>hi+low</a:t>
            </a:r>
            <a:r>
              <a:rPr lang="en-US" dirty="0"/>
              <a:t>)/2, hi);</a:t>
            </a:r>
          </a:p>
          <a:p>
            <a:pPr marL="0" indent="0">
              <a:buNone/>
            </a:pPr>
            <a:r>
              <a:rPr lang="en-US" dirty="0"/>
              <a:t>	</a:t>
            </a:r>
            <a:r>
              <a:rPr lang="en-US" u="sng" dirty="0">
                <a:solidFill>
                  <a:schemeClr val="accent1">
                    <a:lumMod val="60000"/>
                    <a:lumOff val="40000"/>
                  </a:schemeClr>
                </a:solidFill>
              </a:rPr>
              <a:t>join</a:t>
            </a:r>
            <a:r>
              <a:rPr lang="en-US" dirty="0"/>
              <a:t>;</a:t>
            </a:r>
          </a:p>
          <a:p>
            <a:pPr marL="0" indent="0">
              <a:buNone/>
            </a:pPr>
            <a:r>
              <a:rPr lang="en-US" dirty="0"/>
              <a:t>	return left + right;</a:t>
            </a:r>
          </a:p>
          <a:p>
            <a:pPr marL="0" indent="0">
              <a:buNone/>
            </a:pPr>
            <a:r>
              <a:rPr lang="en-US" dirty="0"/>
              <a:t>}</a:t>
            </a:r>
          </a:p>
        </p:txBody>
      </p:sp>
      <p:sp>
        <p:nvSpPr>
          <p:cNvPr id="6" name="Title 1">
            <a:extLst>
              <a:ext uri="{FF2B5EF4-FFF2-40B4-BE49-F238E27FC236}">
                <a16:creationId xmlns:a16="http://schemas.microsoft.com/office/drawing/2014/main" id="{E681F1A6-8812-7134-B01A-B720539EDA9D}"/>
              </a:ext>
            </a:extLst>
          </p:cNvPr>
          <p:cNvSpPr>
            <a:spLocks noGrp="1"/>
          </p:cNvSpPr>
          <p:nvPr>
            <p:ph type="title"/>
          </p:nvPr>
        </p:nvSpPr>
        <p:spPr>
          <a:xfrm>
            <a:off x="838200" y="365125"/>
            <a:ext cx="10515600" cy="1325563"/>
          </a:xfrm>
        </p:spPr>
        <p:txBody>
          <a:bodyPr/>
          <a:lstStyle/>
          <a:p>
            <a:pPr algn="ctr"/>
            <a:r>
              <a:rPr lang="en-US" dirty="0"/>
              <a:t>New conceptual keywords</a:t>
            </a:r>
            <a:br>
              <a:rPr lang="en-US" dirty="0"/>
            </a:br>
            <a:r>
              <a:rPr lang="en-US" sz="2400" dirty="0"/>
              <a:t>(not real Java)</a:t>
            </a:r>
            <a:endParaRPr lang="en-US" dirty="0"/>
          </a:p>
        </p:txBody>
      </p:sp>
      <p:sp>
        <p:nvSpPr>
          <p:cNvPr id="8" name="Rounded Rectangular Callout 7">
            <a:extLst>
              <a:ext uri="{FF2B5EF4-FFF2-40B4-BE49-F238E27FC236}">
                <a16:creationId xmlns:a16="http://schemas.microsoft.com/office/drawing/2014/main" id="{626BCF1F-2E47-9DA9-2C92-9D8B94F477B5}"/>
              </a:ext>
            </a:extLst>
          </p:cNvPr>
          <p:cNvSpPr/>
          <p:nvPr/>
        </p:nvSpPr>
        <p:spPr>
          <a:xfrm>
            <a:off x="5797172" y="3555362"/>
            <a:ext cx="4608231" cy="447258"/>
          </a:xfrm>
          <a:prstGeom prst="wedgeRoundRectCallout">
            <a:avLst>
              <a:gd name="adj1" fmla="val -118043"/>
              <a:gd name="adj2" fmla="val -33453"/>
              <a:gd name="adj3" fmla="val 16667"/>
            </a:avLst>
          </a:prstGeom>
          <a:solidFill>
            <a:schemeClr val="tx2">
              <a:lumMod val="50000"/>
              <a:lumOff val="50000"/>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Wait for </a:t>
            </a:r>
            <a:r>
              <a:rPr lang="en-US" sz="2400" b="1" u="sng" dirty="0">
                <a:solidFill>
                  <a:schemeClr val="tx1"/>
                </a:solidFill>
              </a:rPr>
              <a:t>all</a:t>
            </a:r>
            <a:r>
              <a:rPr lang="en-US" sz="2400" dirty="0">
                <a:solidFill>
                  <a:schemeClr val="tx1"/>
                </a:solidFill>
              </a:rPr>
              <a:t> children to complete</a:t>
            </a:r>
          </a:p>
        </p:txBody>
      </p:sp>
    </p:spTree>
    <p:extLst>
      <p:ext uri="{BB962C8B-B14F-4D97-AF65-F5344CB8AC3E}">
        <p14:creationId xmlns:p14="http://schemas.microsoft.com/office/powerpoint/2010/main" val="218785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AB71B-4187-4FF6-8325-A4C075F602AE}"/>
            </a:ext>
          </a:extLst>
        </p:cNvPr>
        <p:cNvGrpSpPr/>
        <p:nvPr/>
      </p:nvGrpSpPr>
      <p:grpSpPr>
        <a:xfrm>
          <a:off x="0" y="0"/>
          <a:ext cx="0" cy="0"/>
          <a:chOff x="0" y="0"/>
          <a:chExt cx="0" cy="0"/>
        </a:xfrm>
      </p:grpSpPr>
      <p:sp>
        <p:nvSpPr>
          <p:cNvPr id="7" name="Rounded Rectangular Callout 6">
            <a:extLst>
              <a:ext uri="{FF2B5EF4-FFF2-40B4-BE49-F238E27FC236}">
                <a16:creationId xmlns:a16="http://schemas.microsoft.com/office/drawing/2014/main" id="{661EC805-1D56-9EF1-BD5E-A1242790D703}"/>
              </a:ext>
            </a:extLst>
          </p:cNvPr>
          <p:cNvSpPr/>
          <p:nvPr/>
        </p:nvSpPr>
        <p:spPr>
          <a:xfrm>
            <a:off x="7083193" y="1192785"/>
            <a:ext cx="4608231" cy="1157665"/>
          </a:xfrm>
          <a:prstGeom prst="wedgeRoundRectCallout">
            <a:avLst>
              <a:gd name="adj1" fmla="val -121999"/>
              <a:gd name="adj2" fmla="val 54053"/>
              <a:gd name="adj3" fmla="val 16667"/>
            </a:avLst>
          </a:prstGeom>
          <a:solidFill>
            <a:schemeClr val="tx2">
              <a:lumMod val="50000"/>
              <a:lumOff val="50000"/>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Allows child call (rest of line) to run in parallel with its parent</a:t>
            </a:r>
          </a:p>
        </p:txBody>
      </p:sp>
      <p:sp>
        <p:nvSpPr>
          <p:cNvPr id="3" name="Content Placeholder 2">
            <a:extLst>
              <a:ext uri="{FF2B5EF4-FFF2-40B4-BE49-F238E27FC236}">
                <a16:creationId xmlns:a16="http://schemas.microsoft.com/office/drawing/2014/main" id="{064F8BF8-A633-ED93-8F72-C94D362C4E7C}"/>
              </a:ext>
            </a:extLst>
          </p:cNvPr>
          <p:cNvSpPr>
            <a:spLocks noGrp="1"/>
          </p:cNvSpPr>
          <p:nvPr>
            <p:ph idx="1"/>
          </p:nvPr>
        </p:nvSpPr>
        <p:spPr>
          <a:xfrm>
            <a:off x="838200" y="1825625"/>
            <a:ext cx="10515600" cy="3650416"/>
          </a:xfrm>
        </p:spPr>
        <p:txBody>
          <a:bodyPr>
            <a:normAutofit/>
          </a:bodyPr>
          <a:lstStyle/>
          <a:p>
            <a:pPr marL="0" indent="0">
              <a:buNone/>
            </a:pPr>
            <a:r>
              <a:rPr lang="en-US" dirty="0"/>
              <a:t>int sum(int[] array, int low, int hi) {</a:t>
            </a:r>
          </a:p>
          <a:p>
            <a:pPr marL="0" indent="0">
              <a:buNone/>
            </a:pPr>
            <a:r>
              <a:rPr lang="en-US" dirty="0"/>
              <a:t>	int left = </a:t>
            </a:r>
            <a:r>
              <a:rPr lang="en-US" u="sng" dirty="0">
                <a:solidFill>
                  <a:schemeClr val="accent1">
                    <a:lumMod val="60000"/>
                    <a:lumOff val="40000"/>
                  </a:schemeClr>
                </a:solidFill>
              </a:rPr>
              <a:t>fork</a:t>
            </a:r>
            <a:r>
              <a:rPr lang="en-US" dirty="0"/>
              <a:t> </a:t>
            </a:r>
            <a:r>
              <a:rPr lang="en-US" dirty="0" err="1"/>
              <a:t>simpleSum</a:t>
            </a:r>
            <a:r>
              <a:rPr lang="en-US" dirty="0"/>
              <a:t>(array, low, (</a:t>
            </a:r>
            <a:r>
              <a:rPr lang="en-US" dirty="0" err="1"/>
              <a:t>hi+low</a:t>
            </a:r>
            <a:r>
              <a:rPr lang="en-US" dirty="0"/>
              <a:t>)/2);</a:t>
            </a:r>
          </a:p>
          <a:p>
            <a:pPr marL="0" indent="0">
              <a:buNone/>
            </a:pPr>
            <a:r>
              <a:rPr lang="en-US" dirty="0"/>
              <a:t>	int right = </a:t>
            </a:r>
            <a:r>
              <a:rPr lang="en-US" dirty="0" err="1"/>
              <a:t>simpleSum</a:t>
            </a:r>
            <a:r>
              <a:rPr lang="en-US" dirty="0"/>
              <a:t>(array, (</a:t>
            </a:r>
            <a:r>
              <a:rPr lang="en-US" dirty="0" err="1"/>
              <a:t>hi+low</a:t>
            </a:r>
            <a:r>
              <a:rPr lang="en-US" dirty="0"/>
              <a:t>)/2, hi);</a:t>
            </a:r>
          </a:p>
          <a:p>
            <a:pPr marL="0" indent="0">
              <a:buNone/>
            </a:pPr>
            <a:r>
              <a:rPr lang="en-US" dirty="0"/>
              <a:t>	</a:t>
            </a:r>
            <a:r>
              <a:rPr lang="en-US" u="sng" dirty="0">
                <a:solidFill>
                  <a:schemeClr val="accent1">
                    <a:lumMod val="60000"/>
                    <a:lumOff val="40000"/>
                  </a:schemeClr>
                </a:solidFill>
              </a:rPr>
              <a:t>join</a:t>
            </a:r>
            <a:r>
              <a:rPr lang="en-US" dirty="0"/>
              <a:t>;</a:t>
            </a:r>
          </a:p>
          <a:p>
            <a:pPr marL="0" indent="0">
              <a:buNone/>
            </a:pPr>
            <a:r>
              <a:rPr lang="en-US" dirty="0"/>
              <a:t>	return left + right;</a:t>
            </a:r>
          </a:p>
          <a:p>
            <a:pPr marL="0" indent="0">
              <a:buNone/>
            </a:pPr>
            <a:r>
              <a:rPr lang="en-US" dirty="0"/>
              <a:t>}</a:t>
            </a:r>
          </a:p>
          <a:p>
            <a:pPr marL="0" indent="0">
              <a:buNone/>
            </a:pPr>
            <a:endParaRPr lang="en-US" dirty="0"/>
          </a:p>
        </p:txBody>
      </p:sp>
      <p:sp>
        <p:nvSpPr>
          <p:cNvPr id="6" name="Title 1">
            <a:extLst>
              <a:ext uri="{FF2B5EF4-FFF2-40B4-BE49-F238E27FC236}">
                <a16:creationId xmlns:a16="http://schemas.microsoft.com/office/drawing/2014/main" id="{29E44FC4-D8EA-D07D-C3A9-F3A44478EF2C}"/>
              </a:ext>
            </a:extLst>
          </p:cNvPr>
          <p:cNvSpPr>
            <a:spLocks noGrp="1"/>
          </p:cNvSpPr>
          <p:nvPr>
            <p:ph type="title"/>
          </p:nvPr>
        </p:nvSpPr>
        <p:spPr>
          <a:xfrm>
            <a:off x="838200" y="365125"/>
            <a:ext cx="10515600" cy="1325563"/>
          </a:xfrm>
        </p:spPr>
        <p:txBody>
          <a:bodyPr/>
          <a:lstStyle/>
          <a:p>
            <a:pPr algn="ctr"/>
            <a:r>
              <a:rPr lang="en-US" dirty="0"/>
              <a:t>New conceptual keywords</a:t>
            </a:r>
            <a:br>
              <a:rPr lang="en-US" dirty="0"/>
            </a:br>
            <a:r>
              <a:rPr lang="en-US" sz="2400" dirty="0"/>
              <a:t>(not real Java)</a:t>
            </a:r>
            <a:endParaRPr lang="en-US" dirty="0"/>
          </a:p>
        </p:txBody>
      </p:sp>
      <p:sp>
        <p:nvSpPr>
          <p:cNvPr id="8" name="Rounded Rectangular Callout 7">
            <a:extLst>
              <a:ext uri="{FF2B5EF4-FFF2-40B4-BE49-F238E27FC236}">
                <a16:creationId xmlns:a16="http://schemas.microsoft.com/office/drawing/2014/main" id="{61EAE806-27E9-43F8-F486-DE5A59AE6018}"/>
              </a:ext>
            </a:extLst>
          </p:cNvPr>
          <p:cNvSpPr/>
          <p:nvPr/>
        </p:nvSpPr>
        <p:spPr>
          <a:xfrm>
            <a:off x="5797172" y="3555360"/>
            <a:ext cx="4608231" cy="447258"/>
          </a:xfrm>
          <a:prstGeom prst="wedgeRoundRectCallout">
            <a:avLst>
              <a:gd name="adj1" fmla="val -118043"/>
              <a:gd name="adj2" fmla="val -33453"/>
              <a:gd name="adj3" fmla="val 16667"/>
            </a:avLst>
          </a:prstGeom>
          <a:solidFill>
            <a:schemeClr val="tx2">
              <a:lumMod val="50000"/>
              <a:lumOff val="50000"/>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Wait for </a:t>
            </a:r>
            <a:r>
              <a:rPr lang="en-US" sz="2400" b="1" u="sng" dirty="0">
                <a:solidFill>
                  <a:schemeClr val="tx1"/>
                </a:solidFill>
              </a:rPr>
              <a:t>all</a:t>
            </a:r>
            <a:r>
              <a:rPr lang="en-US" sz="2400" dirty="0">
                <a:solidFill>
                  <a:schemeClr val="tx1"/>
                </a:solidFill>
              </a:rPr>
              <a:t> children to complete</a:t>
            </a:r>
          </a:p>
        </p:txBody>
      </p:sp>
      <p:sp>
        <p:nvSpPr>
          <p:cNvPr id="2" name="TextBox 1">
            <a:extLst>
              <a:ext uri="{FF2B5EF4-FFF2-40B4-BE49-F238E27FC236}">
                <a16:creationId xmlns:a16="http://schemas.microsoft.com/office/drawing/2014/main" id="{84FBDCEA-3BDF-7518-AE48-F4A2E9B504CB}"/>
              </a:ext>
            </a:extLst>
          </p:cNvPr>
          <p:cNvSpPr txBox="1"/>
          <p:nvPr/>
        </p:nvSpPr>
        <p:spPr>
          <a:xfrm>
            <a:off x="2459857" y="5023282"/>
            <a:ext cx="2292615" cy="830997"/>
          </a:xfrm>
          <a:prstGeom prst="rect">
            <a:avLst/>
          </a:prstGeom>
          <a:noFill/>
        </p:spPr>
        <p:txBody>
          <a:bodyPr wrap="none" rtlCol="0">
            <a:spAutoFit/>
          </a:bodyPr>
          <a:lstStyle/>
          <a:p>
            <a:r>
              <a:rPr lang="en-US" sz="2400" dirty="0"/>
              <a:t>Hopefully, this</a:t>
            </a:r>
          </a:p>
          <a:p>
            <a:r>
              <a:rPr lang="en-US" sz="2400" dirty="0"/>
              <a:t>becomes these</a:t>
            </a:r>
          </a:p>
        </p:txBody>
      </p:sp>
      <p:sp>
        <p:nvSpPr>
          <p:cNvPr id="4" name="Rectangle 3">
            <a:extLst>
              <a:ext uri="{FF2B5EF4-FFF2-40B4-BE49-F238E27FC236}">
                <a16:creationId xmlns:a16="http://schemas.microsoft.com/office/drawing/2014/main" id="{C70A3344-61A8-1A3D-557E-3658E2484DCF}"/>
              </a:ext>
            </a:extLst>
          </p:cNvPr>
          <p:cNvSpPr/>
          <p:nvPr/>
        </p:nvSpPr>
        <p:spPr>
          <a:xfrm>
            <a:off x="5648316" y="4785113"/>
            <a:ext cx="1815740" cy="3657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B1FB422-A5FC-B92B-9469-4F4E82519000}"/>
              </a:ext>
            </a:extLst>
          </p:cNvPr>
          <p:cNvSpPr/>
          <p:nvPr/>
        </p:nvSpPr>
        <p:spPr>
          <a:xfrm>
            <a:off x="5648316" y="5544749"/>
            <a:ext cx="926134" cy="3657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053499C-54CF-A564-445B-9CA2B545E465}"/>
              </a:ext>
            </a:extLst>
          </p:cNvPr>
          <p:cNvSpPr/>
          <p:nvPr/>
        </p:nvSpPr>
        <p:spPr>
          <a:xfrm>
            <a:off x="5648316" y="5979217"/>
            <a:ext cx="926134" cy="3657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8B588575-C203-2392-4084-6DD31FE1E28F}"/>
              </a:ext>
            </a:extLst>
          </p:cNvPr>
          <p:cNvCxnSpPr>
            <a:cxnSpLocks/>
            <a:endCxn id="4" idx="1"/>
          </p:cNvCxnSpPr>
          <p:nvPr/>
        </p:nvCxnSpPr>
        <p:spPr>
          <a:xfrm flipV="1">
            <a:off x="4489293" y="4967993"/>
            <a:ext cx="1159023" cy="281145"/>
          </a:xfrm>
          <a:prstGeom prst="straightConnector1">
            <a:avLst/>
          </a:prstGeom>
          <a:ln w="50800">
            <a:solidFill>
              <a:schemeClr val="tx1"/>
            </a:solidFill>
            <a:headEnd w="lg" len="lg"/>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6DB471CD-679C-CEF4-A2FB-ED1B296231A6}"/>
              </a:ext>
            </a:extLst>
          </p:cNvPr>
          <p:cNvCxnSpPr>
            <a:cxnSpLocks/>
          </p:cNvCxnSpPr>
          <p:nvPr/>
        </p:nvCxnSpPr>
        <p:spPr>
          <a:xfrm>
            <a:off x="4678325" y="5620949"/>
            <a:ext cx="969991" cy="233330"/>
          </a:xfrm>
          <a:prstGeom prst="straightConnector1">
            <a:avLst/>
          </a:prstGeom>
          <a:ln w="50800">
            <a:solidFill>
              <a:schemeClr val="tx1"/>
            </a:solidFill>
            <a:headEnd w="lg" len="lg"/>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82B4BF92-B551-B6EE-BF6E-58F4110A9617}"/>
              </a:ext>
            </a:extLst>
          </p:cNvPr>
          <p:cNvSpPr txBox="1"/>
          <p:nvPr/>
        </p:nvSpPr>
        <p:spPr>
          <a:xfrm>
            <a:off x="5627051" y="6349890"/>
            <a:ext cx="633507" cy="369332"/>
          </a:xfrm>
          <a:prstGeom prst="rect">
            <a:avLst/>
          </a:prstGeom>
          <a:noFill/>
        </p:spPr>
        <p:txBody>
          <a:bodyPr wrap="none" rtlCol="0">
            <a:spAutoFit/>
          </a:bodyPr>
          <a:lstStyle/>
          <a:p>
            <a:r>
              <a:rPr lang="en-US" dirty="0"/>
              <a:t>time</a:t>
            </a:r>
          </a:p>
        </p:txBody>
      </p:sp>
      <p:cxnSp>
        <p:nvCxnSpPr>
          <p:cNvPr id="27" name="Straight Arrow Connector 26">
            <a:extLst>
              <a:ext uri="{FF2B5EF4-FFF2-40B4-BE49-F238E27FC236}">
                <a16:creationId xmlns:a16="http://schemas.microsoft.com/office/drawing/2014/main" id="{2A55EFF4-3546-CF5B-61A9-23378605991E}"/>
              </a:ext>
            </a:extLst>
          </p:cNvPr>
          <p:cNvCxnSpPr>
            <a:cxnSpLocks/>
          </p:cNvCxnSpPr>
          <p:nvPr/>
        </p:nvCxnSpPr>
        <p:spPr>
          <a:xfrm>
            <a:off x="6230680" y="6535405"/>
            <a:ext cx="46783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4075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522FA-8A68-AFAA-43CE-0EB6398D717F}"/>
              </a:ext>
            </a:extLst>
          </p:cNvPr>
          <p:cNvSpPr>
            <a:spLocks noGrp="1"/>
          </p:cNvSpPr>
          <p:nvPr>
            <p:ph type="title"/>
          </p:nvPr>
        </p:nvSpPr>
        <p:spPr/>
        <p:txBody>
          <a:bodyPr/>
          <a:lstStyle/>
          <a:p>
            <a:pPr algn="ctr"/>
            <a:r>
              <a:rPr lang="en-US" dirty="0"/>
              <a:t>fork and join in pictures</a:t>
            </a:r>
          </a:p>
        </p:txBody>
      </p:sp>
      <p:sp>
        <p:nvSpPr>
          <p:cNvPr id="4" name="Content Placeholder 3">
            <a:extLst>
              <a:ext uri="{FF2B5EF4-FFF2-40B4-BE49-F238E27FC236}">
                <a16:creationId xmlns:a16="http://schemas.microsoft.com/office/drawing/2014/main" id="{E79C7104-1047-4320-919B-E9D6E8DE0498}"/>
              </a:ext>
            </a:extLst>
          </p:cNvPr>
          <p:cNvSpPr>
            <a:spLocks noGrp="1"/>
          </p:cNvSpPr>
          <p:nvPr>
            <p:ph sz="half" idx="1"/>
          </p:nvPr>
        </p:nvSpPr>
        <p:spPr/>
        <p:txBody>
          <a:bodyPr/>
          <a:lstStyle/>
          <a:p>
            <a:pPr marL="0" indent="0">
              <a:buNone/>
            </a:pPr>
            <a:r>
              <a:rPr lang="en-US" dirty="0"/>
              <a:t>A();</a:t>
            </a:r>
          </a:p>
          <a:p>
            <a:pPr marL="0" indent="0">
              <a:buNone/>
            </a:pPr>
            <a:r>
              <a:rPr lang="en-US" dirty="0"/>
              <a:t>B();</a:t>
            </a:r>
          </a:p>
          <a:p>
            <a:pPr marL="0" indent="0">
              <a:buNone/>
            </a:pPr>
            <a:r>
              <a:rPr lang="en-US" dirty="0"/>
              <a:t>C();</a:t>
            </a:r>
          </a:p>
          <a:p>
            <a:pPr marL="0" indent="0">
              <a:buNone/>
            </a:pPr>
            <a:r>
              <a:rPr lang="en-US" dirty="0"/>
              <a:t>D();</a:t>
            </a:r>
          </a:p>
        </p:txBody>
      </p:sp>
      <p:sp>
        <p:nvSpPr>
          <p:cNvPr id="35" name="Content Placeholder 34">
            <a:extLst>
              <a:ext uri="{FF2B5EF4-FFF2-40B4-BE49-F238E27FC236}">
                <a16:creationId xmlns:a16="http://schemas.microsoft.com/office/drawing/2014/main" id="{0849E4B6-7929-84FC-7410-112FD712EBEC}"/>
              </a:ext>
            </a:extLst>
          </p:cNvPr>
          <p:cNvSpPr>
            <a:spLocks noGrp="1"/>
          </p:cNvSpPr>
          <p:nvPr>
            <p:ph sz="half" idx="2"/>
          </p:nvPr>
        </p:nvSpPr>
        <p:spPr/>
        <p:txBody>
          <a:bodyPr/>
          <a:lstStyle/>
          <a:p>
            <a:pPr marL="0" indent="0">
              <a:buNone/>
            </a:pPr>
            <a:r>
              <a:rPr lang="en-US" dirty="0"/>
              <a:t>Boxes are </a:t>
            </a:r>
            <a:r>
              <a:rPr lang="en-US" i="1" dirty="0"/>
              <a:t>strands</a:t>
            </a:r>
            <a:r>
              <a:rPr lang="en-US" dirty="0"/>
              <a:t> (chunk of code we want to run without a fork or join)</a:t>
            </a:r>
          </a:p>
          <a:p>
            <a:pPr marL="0" indent="0">
              <a:buNone/>
            </a:pPr>
            <a:endParaRPr lang="en-US" dirty="0"/>
          </a:p>
          <a:p>
            <a:pPr marL="0" indent="0">
              <a:buNone/>
            </a:pPr>
            <a:r>
              <a:rPr lang="en-US" dirty="0"/>
              <a:t>Arrows show </a:t>
            </a:r>
            <a:r>
              <a:rPr lang="en-US" i="1" dirty="0"/>
              <a:t>precedence constraints</a:t>
            </a:r>
            <a:r>
              <a:rPr lang="en-US" dirty="0"/>
              <a:t>, relationship where one strand must run before another</a:t>
            </a:r>
          </a:p>
        </p:txBody>
      </p:sp>
      <p:sp>
        <p:nvSpPr>
          <p:cNvPr id="6" name="Rectangle 5">
            <a:extLst>
              <a:ext uri="{FF2B5EF4-FFF2-40B4-BE49-F238E27FC236}">
                <a16:creationId xmlns:a16="http://schemas.microsoft.com/office/drawing/2014/main" id="{49568064-879B-B775-134F-74583D230461}"/>
              </a:ext>
            </a:extLst>
          </p:cNvPr>
          <p:cNvSpPr/>
          <p:nvPr/>
        </p:nvSpPr>
        <p:spPr>
          <a:xfrm>
            <a:off x="2491235" y="1825625"/>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7" name="Rectangle 6">
            <a:extLst>
              <a:ext uri="{FF2B5EF4-FFF2-40B4-BE49-F238E27FC236}">
                <a16:creationId xmlns:a16="http://schemas.microsoft.com/office/drawing/2014/main" id="{993FF360-23A2-394D-F151-8367B2FD2512}"/>
              </a:ext>
            </a:extLst>
          </p:cNvPr>
          <p:cNvSpPr/>
          <p:nvPr/>
        </p:nvSpPr>
        <p:spPr>
          <a:xfrm>
            <a:off x="2491234" y="2652315"/>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8" name="Rectangle 7">
            <a:extLst>
              <a:ext uri="{FF2B5EF4-FFF2-40B4-BE49-F238E27FC236}">
                <a16:creationId xmlns:a16="http://schemas.microsoft.com/office/drawing/2014/main" id="{D987CA3A-D17E-852E-BCCA-742CAEB428D3}"/>
              </a:ext>
            </a:extLst>
          </p:cNvPr>
          <p:cNvSpPr/>
          <p:nvPr/>
        </p:nvSpPr>
        <p:spPr>
          <a:xfrm>
            <a:off x="2491234" y="3479005"/>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9" name="Rectangle 8">
            <a:extLst>
              <a:ext uri="{FF2B5EF4-FFF2-40B4-BE49-F238E27FC236}">
                <a16:creationId xmlns:a16="http://schemas.microsoft.com/office/drawing/2014/main" id="{92096877-B2D8-1832-0054-36E81C0A6856}"/>
              </a:ext>
            </a:extLst>
          </p:cNvPr>
          <p:cNvSpPr/>
          <p:nvPr/>
        </p:nvSpPr>
        <p:spPr>
          <a:xfrm>
            <a:off x="2491233" y="4305695"/>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3" name="Straight Arrow Connector 12">
            <a:extLst>
              <a:ext uri="{FF2B5EF4-FFF2-40B4-BE49-F238E27FC236}">
                <a16:creationId xmlns:a16="http://schemas.microsoft.com/office/drawing/2014/main" id="{FA810DFB-A3EE-D771-5D0A-FC2B7D38E7D5}"/>
              </a:ext>
            </a:extLst>
          </p:cNvPr>
          <p:cNvCxnSpPr>
            <a:cxnSpLocks/>
            <a:stCxn id="6" idx="2"/>
            <a:endCxn id="7" idx="0"/>
          </p:cNvCxnSpPr>
          <p:nvPr/>
        </p:nvCxnSpPr>
        <p:spPr>
          <a:xfrm flipH="1">
            <a:off x="2817242" y="2266950"/>
            <a:ext cx="1" cy="385365"/>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A59502E-C2C9-827F-B1D2-9CE6105FCBBB}"/>
              </a:ext>
            </a:extLst>
          </p:cNvPr>
          <p:cNvCxnSpPr>
            <a:cxnSpLocks/>
          </p:cNvCxnSpPr>
          <p:nvPr/>
        </p:nvCxnSpPr>
        <p:spPr>
          <a:xfrm flipH="1">
            <a:off x="2806634" y="3093639"/>
            <a:ext cx="1" cy="385365"/>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AB42B6F-F694-7440-9984-4A934A4A1D2A}"/>
              </a:ext>
            </a:extLst>
          </p:cNvPr>
          <p:cNvCxnSpPr>
            <a:cxnSpLocks/>
          </p:cNvCxnSpPr>
          <p:nvPr/>
        </p:nvCxnSpPr>
        <p:spPr>
          <a:xfrm flipH="1">
            <a:off x="2823523" y="3920330"/>
            <a:ext cx="1" cy="385365"/>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Content Placeholder 3">
            <a:extLst>
              <a:ext uri="{FF2B5EF4-FFF2-40B4-BE49-F238E27FC236}">
                <a16:creationId xmlns:a16="http://schemas.microsoft.com/office/drawing/2014/main" id="{691873A7-1AE3-A948-9799-DC5AC5787BEF}"/>
              </a:ext>
            </a:extLst>
          </p:cNvPr>
          <p:cNvSpPr txBox="1">
            <a:spLocks/>
          </p:cNvSpPr>
          <p:nvPr/>
        </p:nvSpPr>
        <p:spPr>
          <a:xfrm>
            <a:off x="921674" y="4998635"/>
            <a:ext cx="3791136" cy="9679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Each line must run in the given order</a:t>
            </a:r>
          </a:p>
        </p:txBody>
      </p:sp>
    </p:spTree>
    <p:extLst>
      <p:ext uri="{BB962C8B-B14F-4D97-AF65-F5344CB8AC3E}">
        <p14:creationId xmlns:p14="http://schemas.microsoft.com/office/powerpoint/2010/main" val="3241919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F6523-3DD6-FA78-2409-A2973FBC4C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88661-C506-165A-4EC9-AC0C8EE20E40}"/>
              </a:ext>
            </a:extLst>
          </p:cNvPr>
          <p:cNvSpPr>
            <a:spLocks noGrp="1"/>
          </p:cNvSpPr>
          <p:nvPr>
            <p:ph type="title"/>
          </p:nvPr>
        </p:nvSpPr>
        <p:spPr/>
        <p:txBody>
          <a:bodyPr/>
          <a:lstStyle/>
          <a:p>
            <a:pPr algn="ctr"/>
            <a:r>
              <a:rPr lang="en-US" dirty="0"/>
              <a:t>fork and join in pictures</a:t>
            </a:r>
          </a:p>
        </p:txBody>
      </p:sp>
      <p:sp>
        <p:nvSpPr>
          <p:cNvPr id="4" name="Content Placeholder 3">
            <a:extLst>
              <a:ext uri="{FF2B5EF4-FFF2-40B4-BE49-F238E27FC236}">
                <a16:creationId xmlns:a16="http://schemas.microsoft.com/office/drawing/2014/main" id="{5B5D81A9-EE6F-8543-2FE3-735B2D5781E6}"/>
              </a:ext>
            </a:extLst>
          </p:cNvPr>
          <p:cNvSpPr>
            <a:spLocks noGrp="1"/>
          </p:cNvSpPr>
          <p:nvPr>
            <p:ph sz="half" idx="1"/>
          </p:nvPr>
        </p:nvSpPr>
        <p:spPr/>
        <p:txBody>
          <a:bodyPr/>
          <a:lstStyle/>
          <a:p>
            <a:pPr marL="0" indent="0">
              <a:buNone/>
            </a:pPr>
            <a:r>
              <a:rPr lang="en-US" dirty="0"/>
              <a:t>A();</a:t>
            </a:r>
          </a:p>
          <a:p>
            <a:pPr marL="0" indent="0">
              <a:buNone/>
            </a:pPr>
            <a:r>
              <a:rPr lang="en-US" dirty="0"/>
              <a:t>B();</a:t>
            </a:r>
          </a:p>
          <a:p>
            <a:pPr marL="0" indent="0">
              <a:buNone/>
            </a:pPr>
            <a:r>
              <a:rPr lang="en-US" dirty="0"/>
              <a:t>C();</a:t>
            </a:r>
          </a:p>
          <a:p>
            <a:pPr marL="0" indent="0">
              <a:buNone/>
            </a:pPr>
            <a:r>
              <a:rPr lang="en-US" dirty="0"/>
              <a:t>D();</a:t>
            </a:r>
          </a:p>
        </p:txBody>
      </p:sp>
      <p:sp>
        <p:nvSpPr>
          <p:cNvPr id="5" name="Content Placeholder 4">
            <a:extLst>
              <a:ext uri="{FF2B5EF4-FFF2-40B4-BE49-F238E27FC236}">
                <a16:creationId xmlns:a16="http://schemas.microsoft.com/office/drawing/2014/main" id="{680F2544-F3F1-C67A-178F-CB3F095A4877}"/>
              </a:ext>
            </a:extLst>
          </p:cNvPr>
          <p:cNvSpPr>
            <a:spLocks noGrp="1"/>
          </p:cNvSpPr>
          <p:nvPr>
            <p:ph sz="half" idx="2"/>
          </p:nvPr>
        </p:nvSpPr>
        <p:spPr/>
        <p:txBody>
          <a:bodyPr/>
          <a:lstStyle/>
          <a:p>
            <a:pPr marL="0" indent="0">
              <a:buNone/>
            </a:pPr>
            <a:r>
              <a:rPr lang="en-US" dirty="0"/>
              <a:t>A();</a:t>
            </a:r>
          </a:p>
          <a:p>
            <a:pPr marL="0" indent="0">
              <a:buNone/>
            </a:pPr>
            <a:r>
              <a:rPr lang="en-US" dirty="0"/>
              <a:t>fork B();</a:t>
            </a:r>
          </a:p>
          <a:p>
            <a:pPr marL="0" indent="0">
              <a:buNone/>
            </a:pPr>
            <a:r>
              <a:rPr lang="en-US" dirty="0"/>
              <a:t>C();</a:t>
            </a:r>
          </a:p>
          <a:p>
            <a:pPr marL="0" indent="0">
              <a:buNone/>
            </a:pPr>
            <a:r>
              <a:rPr lang="en-US" dirty="0"/>
              <a:t>join;</a:t>
            </a:r>
          </a:p>
          <a:p>
            <a:pPr marL="0" indent="0">
              <a:buNone/>
            </a:pPr>
            <a:r>
              <a:rPr lang="en-US" dirty="0"/>
              <a:t>D();</a:t>
            </a:r>
          </a:p>
        </p:txBody>
      </p:sp>
      <p:sp>
        <p:nvSpPr>
          <p:cNvPr id="6" name="Rectangle 5">
            <a:extLst>
              <a:ext uri="{FF2B5EF4-FFF2-40B4-BE49-F238E27FC236}">
                <a16:creationId xmlns:a16="http://schemas.microsoft.com/office/drawing/2014/main" id="{23EB3733-0208-1CCD-BFA7-95243830F57B}"/>
              </a:ext>
            </a:extLst>
          </p:cNvPr>
          <p:cNvSpPr/>
          <p:nvPr/>
        </p:nvSpPr>
        <p:spPr>
          <a:xfrm>
            <a:off x="2491235" y="1825625"/>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7" name="Rectangle 6">
            <a:extLst>
              <a:ext uri="{FF2B5EF4-FFF2-40B4-BE49-F238E27FC236}">
                <a16:creationId xmlns:a16="http://schemas.microsoft.com/office/drawing/2014/main" id="{27C3015F-8B8D-FF75-7ECA-8A5C4743D2DF}"/>
              </a:ext>
            </a:extLst>
          </p:cNvPr>
          <p:cNvSpPr/>
          <p:nvPr/>
        </p:nvSpPr>
        <p:spPr>
          <a:xfrm>
            <a:off x="2491234" y="2652315"/>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8" name="Rectangle 7">
            <a:extLst>
              <a:ext uri="{FF2B5EF4-FFF2-40B4-BE49-F238E27FC236}">
                <a16:creationId xmlns:a16="http://schemas.microsoft.com/office/drawing/2014/main" id="{9D3707CB-52C2-16F0-7732-0D72561BB198}"/>
              </a:ext>
            </a:extLst>
          </p:cNvPr>
          <p:cNvSpPr/>
          <p:nvPr/>
        </p:nvSpPr>
        <p:spPr>
          <a:xfrm>
            <a:off x="2491234" y="3479005"/>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9" name="Rectangle 8">
            <a:extLst>
              <a:ext uri="{FF2B5EF4-FFF2-40B4-BE49-F238E27FC236}">
                <a16:creationId xmlns:a16="http://schemas.microsoft.com/office/drawing/2014/main" id="{2C3F7E07-5920-790C-FFAD-C3CDF968A8C7}"/>
              </a:ext>
            </a:extLst>
          </p:cNvPr>
          <p:cNvSpPr/>
          <p:nvPr/>
        </p:nvSpPr>
        <p:spPr>
          <a:xfrm>
            <a:off x="2491233" y="4305695"/>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3" name="Straight Arrow Connector 12">
            <a:extLst>
              <a:ext uri="{FF2B5EF4-FFF2-40B4-BE49-F238E27FC236}">
                <a16:creationId xmlns:a16="http://schemas.microsoft.com/office/drawing/2014/main" id="{30127980-2FF6-8810-A11D-1A7503C3FA07}"/>
              </a:ext>
            </a:extLst>
          </p:cNvPr>
          <p:cNvCxnSpPr>
            <a:cxnSpLocks/>
            <a:stCxn id="6" idx="2"/>
            <a:endCxn id="7" idx="0"/>
          </p:cNvCxnSpPr>
          <p:nvPr/>
        </p:nvCxnSpPr>
        <p:spPr>
          <a:xfrm flipH="1">
            <a:off x="2817242" y="2266950"/>
            <a:ext cx="1" cy="385365"/>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629BE44-0434-DBFB-CC83-C569A54D9A56}"/>
              </a:ext>
            </a:extLst>
          </p:cNvPr>
          <p:cNvCxnSpPr>
            <a:cxnSpLocks/>
          </p:cNvCxnSpPr>
          <p:nvPr/>
        </p:nvCxnSpPr>
        <p:spPr>
          <a:xfrm flipH="1">
            <a:off x="2806634" y="3093639"/>
            <a:ext cx="1" cy="385365"/>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16E94B6-3C62-1498-3442-72B0823AD1EB}"/>
              </a:ext>
            </a:extLst>
          </p:cNvPr>
          <p:cNvCxnSpPr>
            <a:cxnSpLocks/>
          </p:cNvCxnSpPr>
          <p:nvPr/>
        </p:nvCxnSpPr>
        <p:spPr>
          <a:xfrm flipH="1">
            <a:off x="2823523" y="3920330"/>
            <a:ext cx="1" cy="385365"/>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ACF3DE62-BAD3-4581-AE61-EFD92AA5643B}"/>
              </a:ext>
            </a:extLst>
          </p:cNvPr>
          <p:cNvGrpSpPr/>
          <p:nvPr/>
        </p:nvGrpSpPr>
        <p:grpSpPr>
          <a:xfrm>
            <a:off x="7920484" y="1825624"/>
            <a:ext cx="1735706" cy="2094705"/>
            <a:chOff x="7920484" y="1825624"/>
            <a:chExt cx="1735706" cy="2094705"/>
          </a:xfrm>
        </p:grpSpPr>
        <p:sp>
          <p:nvSpPr>
            <p:cNvPr id="10" name="Rectangle 9">
              <a:extLst>
                <a:ext uri="{FF2B5EF4-FFF2-40B4-BE49-F238E27FC236}">
                  <a16:creationId xmlns:a16="http://schemas.microsoft.com/office/drawing/2014/main" id="{4ABF41BF-E79D-EB66-EAF1-651D60750864}"/>
                </a:ext>
              </a:extLst>
            </p:cNvPr>
            <p:cNvSpPr/>
            <p:nvPr/>
          </p:nvSpPr>
          <p:spPr>
            <a:xfrm>
              <a:off x="8436992" y="1825624"/>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11" name="Rectangle 10">
              <a:extLst>
                <a:ext uri="{FF2B5EF4-FFF2-40B4-BE49-F238E27FC236}">
                  <a16:creationId xmlns:a16="http://schemas.microsoft.com/office/drawing/2014/main" id="{58B9BA3C-1B0E-F7EB-934D-3CAD9A7243E3}"/>
                </a:ext>
              </a:extLst>
            </p:cNvPr>
            <p:cNvSpPr/>
            <p:nvPr/>
          </p:nvSpPr>
          <p:spPr>
            <a:xfrm>
              <a:off x="7920484" y="2652315"/>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2" name="Rectangle 11">
              <a:extLst>
                <a:ext uri="{FF2B5EF4-FFF2-40B4-BE49-F238E27FC236}">
                  <a16:creationId xmlns:a16="http://schemas.microsoft.com/office/drawing/2014/main" id="{9AF56944-B98D-4027-36CA-EC93E06AF45A}"/>
                </a:ext>
              </a:extLst>
            </p:cNvPr>
            <p:cNvSpPr/>
            <p:nvPr/>
          </p:nvSpPr>
          <p:spPr>
            <a:xfrm>
              <a:off x="9004175" y="2652314"/>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cxnSp>
          <p:nvCxnSpPr>
            <p:cNvPr id="19" name="Straight Arrow Connector 18">
              <a:extLst>
                <a:ext uri="{FF2B5EF4-FFF2-40B4-BE49-F238E27FC236}">
                  <a16:creationId xmlns:a16="http://schemas.microsoft.com/office/drawing/2014/main" id="{352E7109-B9C7-8382-16F3-563E12CF773A}"/>
                </a:ext>
              </a:extLst>
            </p:cNvPr>
            <p:cNvCxnSpPr>
              <a:cxnSpLocks/>
            </p:cNvCxnSpPr>
            <p:nvPr/>
          </p:nvCxnSpPr>
          <p:spPr>
            <a:xfrm flipH="1">
              <a:off x="8271830" y="2266949"/>
              <a:ext cx="516507" cy="385366"/>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8AF669E-291E-AD35-CDC4-C8708EF07AA1}"/>
                </a:ext>
              </a:extLst>
            </p:cNvPr>
            <p:cNvCxnSpPr>
              <a:cxnSpLocks/>
            </p:cNvCxnSpPr>
            <p:nvPr/>
          </p:nvCxnSpPr>
          <p:spPr>
            <a:xfrm>
              <a:off x="8286562" y="3098002"/>
              <a:ext cx="567184" cy="385365"/>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49D8A134-C68C-29D6-88F4-700C24AA0231}"/>
                </a:ext>
              </a:extLst>
            </p:cNvPr>
            <p:cNvSpPr/>
            <p:nvPr/>
          </p:nvSpPr>
          <p:spPr>
            <a:xfrm>
              <a:off x="8462329" y="3479004"/>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28" name="Straight Arrow Connector 27">
              <a:extLst>
                <a:ext uri="{FF2B5EF4-FFF2-40B4-BE49-F238E27FC236}">
                  <a16:creationId xmlns:a16="http://schemas.microsoft.com/office/drawing/2014/main" id="{AEFE53F9-B37E-9078-25B5-FA0D79537793}"/>
                </a:ext>
              </a:extLst>
            </p:cNvPr>
            <p:cNvCxnSpPr>
              <a:cxnSpLocks/>
            </p:cNvCxnSpPr>
            <p:nvPr/>
          </p:nvCxnSpPr>
          <p:spPr>
            <a:xfrm>
              <a:off x="8805415" y="2281828"/>
              <a:ext cx="567184" cy="385365"/>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E3DBC07-CDD0-9877-8038-51BCFA28A4E7}"/>
                </a:ext>
              </a:extLst>
            </p:cNvPr>
            <p:cNvCxnSpPr>
              <a:cxnSpLocks/>
            </p:cNvCxnSpPr>
            <p:nvPr/>
          </p:nvCxnSpPr>
          <p:spPr>
            <a:xfrm flipH="1">
              <a:off x="8805415" y="3083717"/>
              <a:ext cx="516507" cy="385366"/>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31" name="Content Placeholder 3">
            <a:extLst>
              <a:ext uri="{FF2B5EF4-FFF2-40B4-BE49-F238E27FC236}">
                <a16:creationId xmlns:a16="http://schemas.microsoft.com/office/drawing/2014/main" id="{4B074A32-CC8B-4FAD-8BD7-52DB7DA5ACAC}"/>
              </a:ext>
            </a:extLst>
          </p:cNvPr>
          <p:cNvSpPr txBox="1">
            <a:spLocks/>
          </p:cNvSpPr>
          <p:nvPr/>
        </p:nvSpPr>
        <p:spPr>
          <a:xfrm>
            <a:off x="921674" y="4998635"/>
            <a:ext cx="3791136" cy="9679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Each line must run in the given order</a:t>
            </a:r>
          </a:p>
        </p:txBody>
      </p:sp>
      <p:sp>
        <p:nvSpPr>
          <p:cNvPr id="32" name="Content Placeholder 3">
            <a:extLst>
              <a:ext uri="{FF2B5EF4-FFF2-40B4-BE49-F238E27FC236}">
                <a16:creationId xmlns:a16="http://schemas.microsoft.com/office/drawing/2014/main" id="{80B9CB38-DE00-23EA-604E-8A9692D1B2C2}"/>
              </a:ext>
            </a:extLst>
          </p:cNvPr>
          <p:cNvSpPr txBox="1">
            <a:spLocks/>
          </p:cNvSpPr>
          <p:nvPr/>
        </p:nvSpPr>
        <p:spPr>
          <a:xfrm>
            <a:off x="6541424" y="4998634"/>
            <a:ext cx="4728902"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Both B and C must run after A and before D, but their relationship is undefined</a:t>
            </a:r>
          </a:p>
        </p:txBody>
      </p:sp>
    </p:spTree>
    <p:extLst>
      <p:ext uri="{BB962C8B-B14F-4D97-AF65-F5344CB8AC3E}">
        <p14:creationId xmlns:p14="http://schemas.microsoft.com/office/powerpoint/2010/main" val="1106114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2AC0C-7C4E-AB1D-5DA9-51CA5CFB626F}"/>
              </a:ext>
            </a:extLst>
          </p:cNvPr>
          <p:cNvSpPr>
            <a:spLocks noGrp="1"/>
          </p:cNvSpPr>
          <p:nvPr>
            <p:ph type="title"/>
          </p:nvPr>
        </p:nvSpPr>
        <p:spPr/>
        <p:txBody>
          <a:bodyPr/>
          <a:lstStyle/>
          <a:p>
            <a:r>
              <a:rPr lang="en-US" dirty="0"/>
              <a:t>Which of the following could be printed by the code below?</a:t>
            </a:r>
          </a:p>
        </p:txBody>
      </p:sp>
      <p:sp>
        <p:nvSpPr>
          <p:cNvPr id="3" name="Content Placeholder 2">
            <a:extLst>
              <a:ext uri="{FF2B5EF4-FFF2-40B4-BE49-F238E27FC236}">
                <a16:creationId xmlns:a16="http://schemas.microsoft.com/office/drawing/2014/main" id="{0918DA4B-2D64-B6B3-09AF-D3BF96E62E8A}"/>
              </a:ext>
            </a:extLst>
          </p:cNvPr>
          <p:cNvSpPr>
            <a:spLocks noGrp="1"/>
          </p:cNvSpPr>
          <p:nvPr>
            <p:ph sz="half" idx="1"/>
          </p:nvPr>
        </p:nvSpPr>
        <p:spPr/>
        <p:txBody>
          <a:bodyPr>
            <a:normAutofit lnSpcReduction="10000"/>
          </a:bodyPr>
          <a:lstStyle/>
          <a:p>
            <a:pPr marL="0" indent="0">
              <a:buNone/>
            </a:pPr>
            <a:r>
              <a:rPr lang="en-US" dirty="0"/>
              <a:t>fork </a:t>
            </a:r>
            <a:r>
              <a:rPr lang="en-US" dirty="0" err="1"/>
              <a:t>System.out.print</a:t>
            </a:r>
            <a:r>
              <a:rPr lang="en-US" dirty="0"/>
              <a:t>(1);</a:t>
            </a:r>
          </a:p>
          <a:p>
            <a:pPr marL="0" indent="0">
              <a:buNone/>
            </a:pPr>
            <a:r>
              <a:rPr lang="en-US" dirty="0" err="1"/>
              <a:t>System.out.print</a:t>
            </a:r>
            <a:r>
              <a:rPr lang="en-US" dirty="0"/>
              <a:t>(2);</a:t>
            </a:r>
          </a:p>
          <a:p>
            <a:pPr marL="0" indent="0">
              <a:buNone/>
            </a:pPr>
            <a:r>
              <a:rPr lang="en-US" dirty="0"/>
              <a:t>fork </a:t>
            </a:r>
            <a:r>
              <a:rPr lang="en-US" dirty="0" err="1"/>
              <a:t>System.out.print</a:t>
            </a:r>
            <a:r>
              <a:rPr lang="en-US" dirty="0"/>
              <a:t>(3);</a:t>
            </a:r>
          </a:p>
          <a:p>
            <a:pPr marL="0" indent="0">
              <a:buNone/>
            </a:pPr>
            <a:r>
              <a:rPr lang="en-US" dirty="0"/>
              <a:t>join;</a:t>
            </a:r>
          </a:p>
          <a:p>
            <a:pPr marL="0" indent="0">
              <a:buNone/>
            </a:pPr>
            <a:r>
              <a:rPr lang="en-US" dirty="0" err="1"/>
              <a:t>System.out.print</a:t>
            </a:r>
            <a:r>
              <a:rPr lang="en-US" dirty="0"/>
              <a:t>(4);</a:t>
            </a:r>
          </a:p>
        </p:txBody>
      </p:sp>
      <p:sp>
        <p:nvSpPr>
          <p:cNvPr id="4" name="Content Placeholder 3">
            <a:extLst>
              <a:ext uri="{FF2B5EF4-FFF2-40B4-BE49-F238E27FC236}">
                <a16:creationId xmlns:a16="http://schemas.microsoft.com/office/drawing/2014/main" id="{C7ACD0B8-E3A6-240E-A382-802A65A539AA}"/>
              </a:ext>
            </a:extLst>
          </p:cNvPr>
          <p:cNvSpPr>
            <a:spLocks noGrp="1"/>
          </p:cNvSpPr>
          <p:nvPr>
            <p:ph sz="half" idx="2"/>
          </p:nvPr>
        </p:nvSpPr>
        <p:spPr/>
        <p:txBody>
          <a:bodyPr>
            <a:normAutofit lnSpcReduction="10000"/>
          </a:bodyPr>
          <a:lstStyle/>
          <a:p>
            <a:pPr marL="571500" indent="-571500">
              <a:buFont typeface="+mj-lt"/>
              <a:buAutoNum type="romanUcPeriod"/>
            </a:pPr>
            <a:r>
              <a:rPr lang="en-US" dirty="0"/>
              <a:t>3124</a:t>
            </a:r>
          </a:p>
          <a:p>
            <a:pPr marL="571500" indent="-571500">
              <a:buFont typeface="+mj-lt"/>
              <a:buAutoNum type="romanUcPeriod"/>
            </a:pPr>
            <a:r>
              <a:rPr lang="en-US" dirty="0"/>
              <a:t>2134</a:t>
            </a:r>
          </a:p>
          <a:p>
            <a:pPr marL="571500" indent="-571500">
              <a:buFont typeface="+mj-lt"/>
              <a:buAutoNum type="romanUcPeriod"/>
            </a:pPr>
            <a:r>
              <a:rPr lang="en-US" dirty="0"/>
              <a:t>1243</a:t>
            </a:r>
          </a:p>
          <a:p>
            <a:pPr marL="514350" indent="-514350">
              <a:buFont typeface="+mj-lt"/>
              <a:buAutoNum type="alphaUcPeriod"/>
            </a:pPr>
            <a:endParaRPr lang="en-US" dirty="0"/>
          </a:p>
          <a:p>
            <a:pPr marL="514350" indent="-514350">
              <a:buFont typeface="+mj-lt"/>
              <a:buAutoNum type="alphaUcPeriod"/>
            </a:pPr>
            <a:r>
              <a:rPr lang="en-US" dirty="0"/>
              <a:t>Only I.</a:t>
            </a:r>
          </a:p>
          <a:p>
            <a:pPr marL="514350" indent="-514350">
              <a:buFont typeface="+mj-lt"/>
              <a:buAutoNum type="alphaUcPeriod"/>
            </a:pPr>
            <a:r>
              <a:rPr lang="en-US" dirty="0"/>
              <a:t>Only II.</a:t>
            </a:r>
          </a:p>
          <a:p>
            <a:pPr marL="514350" indent="-514350">
              <a:buFont typeface="+mj-lt"/>
              <a:buAutoNum type="alphaUcPeriod"/>
            </a:pPr>
            <a:r>
              <a:rPr lang="en-US" dirty="0"/>
              <a:t>Only I. and II.</a:t>
            </a:r>
          </a:p>
          <a:p>
            <a:pPr marL="514350" indent="-514350">
              <a:buFont typeface="+mj-lt"/>
              <a:buAutoNum type="alphaUcPeriod"/>
            </a:pPr>
            <a:r>
              <a:rPr lang="en-US" dirty="0"/>
              <a:t>Only II. and III.</a:t>
            </a:r>
          </a:p>
          <a:p>
            <a:pPr marL="514350" indent="-514350">
              <a:buFont typeface="+mj-lt"/>
              <a:buAutoNum type="alphaUcPeriod"/>
            </a:pPr>
            <a:r>
              <a:rPr lang="en-US" dirty="0"/>
              <a:t>None of the above</a:t>
            </a:r>
          </a:p>
        </p:txBody>
      </p:sp>
    </p:spTree>
    <p:extLst>
      <p:ext uri="{BB962C8B-B14F-4D97-AF65-F5344CB8AC3E}">
        <p14:creationId xmlns:p14="http://schemas.microsoft.com/office/powerpoint/2010/main" val="3958618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BC9F2-AAF6-9E80-7C93-5EEB2F447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C034F1-40F5-500A-A2BC-4D6D54ABC44A}"/>
              </a:ext>
            </a:extLst>
          </p:cNvPr>
          <p:cNvSpPr>
            <a:spLocks noGrp="1"/>
          </p:cNvSpPr>
          <p:nvPr>
            <p:ph type="title"/>
          </p:nvPr>
        </p:nvSpPr>
        <p:spPr/>
        <p:txBody>
          <a:bodyPr/>
          <a:lstStyle/>
          <a:p>
            <a:r>
              <a:rPr lang="en-US" dirty="0"/>
              <a:t>Which of the following could be printed by the code below?</a:t>
            </a:r>
          </a:p>
        </p:txBody>
      </p:sp>
      <p:sp>
        <p:nvSpPr>
          <p:cNvPr id="3" name="Content Placeholder 2">
            <a:extLst>
              <a:ext uri="{FF2B5EF4-FFF2-40B4-BE49-F238E27FC236}">
                <a16:creationId xmlns:a16="http://schemas.microsoft.com/office/drawing/2014/main" id="{BB1DA88B-69E6-FC68-6A64-A79296F39795}"/>
              </a:ext>
            </a:extLst>
          </p:cNvPr>
          <p:cNvSpPr>
            <a:spLocks noGrp="1"/>
          </p:cNvSpPr>
          <p:nvPr>
            <p:ph sz="half" idx="1"/>
          </p:nvPr>
        </p:nvSpPr>
        <p:spPr/>
        <p:txBody>
          <a:bodyPr>
            <a:normAutofit lnSpcReduction="10000"/>
          </a:bodyPr>
          <a:lstStyle/>
          <a:p>
            <a:pPr marL="0" indent="0">
              <a:buNone/>
            </a:pPr>
            <a:r>
              <a:rPr lang="en-US" dirty="0"/>
              <a:t>fork </a:t>
            </a:r>
            <a:r>
              <a:rPr lang="en-US" dirty="0" err="1"/>
              <a:t>System.out.print</a:t>
            </a:r>
            <a:r>
              <a:rPr lang="en-US" dirty="0"/>
              <a:t>(1);</a:t>
            </a:r>
          </a:p>
          <a:p>
            <a:pPr marL="0" indent="0">
              <a:buNone/>
            </a:pPr>
            <a:r>
              <a:rPr lang="en-US" dirty="0" err="1"/>
              <a:t>System.out.print</a:t>
            </a:r>
            <a:r>
              <a:rPr lang="en-US" dirty="0"/>
              <a:t>(2);</a:t>
            </a:r>
          </a:p>
          <a:p>
            <a:pPr marL="0" indent="0">
              <a:buNone/>
            </a:pPr>
            <a:r>
              <a:rPr lang="en-US" dirty="0"/>
              <a:t>fork </a:t>
            </a:r>
            <a:r>
              <a:rPr lang="en-US" dirty="0" err="1"/>
              <a:t>System.out.print</a:t>
            </a:r>
            <a:r>
              <a:rPr lang="en-US" dirty="0"/>
              <a:t>(3);</a:t>
            </a:r>
          </a:p>
          <a:p>
            <a:pPr marL="0" indent="0">
              <a:buNone/>
            </a:pPr>
            <a:r>
              <a:rPr lang="en-US" dirty="0"/>
              <a:t>join;</a:t>
            </a:r>
          </a:p>
          <a:p>
            <a:pPr marL="0" indent="0">
              <a:buNone/>
            </a:pPr>
            <a:r>
              <a:rPr lang="en-US" dirty="0" err="1"/>
              <a:t>System.out.print</a:t>
            </a:r>
            <a:r>
              <a:rPr lang="en-US" dirty="0"/>
              <a:t>(4);</a:t>
            </a:r>
          </a:p>
        </p:txBody>
      </p:sp>
      <p:sp>
        <p:nvSpPr>
          <p:cNvPr id="4" name="Content Placeholder 3">
            <a:extLst>
              <a:ext uri="{FF2B5EF4-FFF2-40B4-BE49-F238E27FC236}">
                <a16:creationId xmlns:a16="http://schemas.microsoft.com/office/drawing/2014/main" id="{3E204B3B-4967-8966-B305-5778F3E0B877}"/>
              </a:ext>
            </a:extLst>
          </p:cNvPr>
          <p:cNvSpPr>
            <a:spLocks noGrp="1"/>
          </p:cNvSpPr>
          <p:nvPr>
            <p:ph sz="half" idx="2"/>
          </p:nvPr>
        </p:nvSpPr>
        <p:spPr/>
        <p:txBody>
          <a:bodyPr>
            <a:normAutofit lnSpcReduction="10000"/>
          </a:bodyPr>
          <a:lstStyle/>
          <a:p>
            <a:pPr marL="571500" indent="-571500">
              <a:buFont typeface="+mj-lt"/>
              <a:buAutoNum type="romanUcPeriod"/>
            </a:pPr>
            <a:r>
              <a:rPr lang="en-US" dirty="0"/>
              <a:t>3124</a:t>
            </a:r>
          </a:p>
          <a:p>
            <a:pPr marL="571500" indent="-571500">
              <a:buFont typeface="+mj-lt"/>
              <a:buAutoNum type="romanUcPeriod"/>
            </a:pPr>
            <a:r>
              <a:rPr lang="en-US" dirty="0"/>
              <a:t>2134</a:t>
            </a:r>
          </a:p>
          <a:p>
            <a:pPr marL="571500" indent="-571500">
              <a:buFont typeface="+mj-lt"/>
              <a:buAutoNum type="romanUcPeriod"/>
            </a:pPr>
            <a:r>
              <a:rPr lang="en-US" dirty="0"/>
              <a:t>1243</a:t>
            </a:r>
          </a:p>
          <a:p>
            <a:pPr marL="514350" indent="-514350">
              <a:buFont typeface="+mj-lt"/>
              <a:buAutoNum type="alphaUcPeriod"/>
            </a:pPr>
            <a:endParaRPr lang="en-US" dirty="0"/>
          </a:p>
          <a:p>
            <a:pPr marL="514350" indent="-514350">
              <a:buFont typeface="+mj-lt"/>
              <a:buAutoNum type="alphaUcPeriod"/>
            </a:pPr>
            <a:r>
              <a:rPr lang="en-US" dirty="0"/>
              <a:t>Only I.</a:t>
            </a:r>
          </a:p>
          <a:p>
            <a:pPr marL="514350" indent="-514350">
              <a:buFont typeface="+mj-lt"/>
              <a:buAutoNum type="alphaUcPeriod"/>
            </a:pPr>
            <a:r>
              <a:rPr lang="en-US" u="sng" dirty="0">
                <a:solidFill>
                  <a:schemeClr val="accent4"/>
                </a:solidFill>
              </a:rPr>
              <a:t>Only II.</a:t>
            </a:r>
          </a:p>
          <a:p>
            <a:pPr marL="514350" indent="-514350">
              <a:buFont typeface="+mj-lt"/>
              <a:buAutoNum type="alphaUcPeriod"/>
            </a:pPr>
            <a:r>
              <a:rPr lang="en-US" dirty="0"/>
              <a:t>Only I. and II.</a:t>
            </a:r>
          </a:p>
          <a:p>
            <a:pPr marL="514350" indent="-514350">
              <a:buFont typeface="+mj-lt"/>
              <a:buAutoNum type="alphaUcPeriod"/>
            </a:pPr>
            <a:r>
              <a:rPr lang="en-US" dirty="0"/>
              <a:t>Only II. and III.</a:t>
            </a:r>
          </a:p>
          <a:p>
            <a:pPr marL="514350" indent="-514350">
              <a:buFont typeface="+mj-lt"/>
              <a:buAutoNum type="alphaUcPeriod"/>
            </a:pPr>
            <a:r>
              <a:rPr lang="en-US" dirty="0"/>
              <a:t>None of the above</a:t>
            </a:r>
          </a:p>
        </p:txBody>
      </p:sp>
    </p:spTree>
    <p:extLst>
      <p:ext uri="{BB962C8B-B14F-4D97-AF65-F5344CB8AC3E}">
        <p14:creationId xmlns:p14="http://schemas.microsoft.com/office/powerpoint/2010/main" val="2759349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FC72E-4C71-8FE4-E1CC-5F5C0669B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EF437-FBB0-A33D-560D-AAD4B80D563C}"/>
              </a:ext>
            </a:extLst>
          </p:cNvPr>
          <p:cNvSpPr>
            <a:spLocks noGrp="1"/>
          </p:cNvSpPr>
          <p:nvPr>
            <p:ph type="title"/>
          </p:nvPr>
        </p:nvSpPr>
        <p:spPr/>
        <p:txBody>
          <a:bodyPr/>
          <a:lstStyle/>
          <a:p>
            <a:r>
              <a:rPr lang="en-US" dirty="0"/>
              <a:t>Which of the following could be printed by the code below?</a:t>
            </a:r>
          </a:p>
        </p:txBody>
      </p:sp>
      <p:sp>
        <p:nvSpPr>
          <p:cNvPr id="3" name="Content Placeholder 2">
            <a:extLst>
              <a:ext uri="{FF2B5EF4-FFF2-40B4-BE49-F238E27FC236}">
                <a16:creationId xmlns:a16="http://schemas.microsoft.com/office/drawing/2014/main" id="{AECFC1E4-A43F-0035-3F4B-569C0D3A363E}"/>
              </a:ext>
            </a:extLst>
          </p:cNvPr>
          <p:cNvSpPr>
            <a:spLocks noGrp="1"/>
          </p:cNvSpPr>
          <p:nvPr>
            <p:ph sz="half" idx="1"/>
          </p:nvPr>
        </p:nvSpPr>
        <p:spPr/>
        <p:txBody>
          <a:bodyPr>
            <a:normAutofit lnSpcReduction="10000"/>
          </a:bodyPr>
          <a:lstStyle/>
          <a:p>
            <a:pPr marL="0" indent="0">
              <a:buNone/>
            </a:pPr>
            <a:r>
              <a:rPr lang="en-US" dirty="0" err="1"/>
              <a:t>System.out.print</a:t>
            </a:r>
            <a:r>
              <a:rPr lang="en-US" dirty="0"/>
              <a:t>(1);</a:t>
            </a:r>
          </a:p>
          <a:p>
            <a:pPr marL="0" indent="0">
              <a:buNone/>
            </a:pPr>
            <a:r>
              <a:rPr lang="en-US" dirty="0"/>
              <a:t>fork </a:t>
            </a:r>
            <a:r>
              <a:rPr lang="en-US" dirty="0" err="1"/>
              <a:t>System.out.print</a:t>
            </a:r>
            <a:r>
              <a:rPr lang="en-US" dirty="0"/>
              <a:t>(2);</a:t>
            </a:r>
          </a:p>
          <a:p>
            <a:pPr marL="0" indent="0">
              <a:buNone/>
            </a:pPr>
            <a:r>
              <a:rPr lang="en-US" dirty="0" err="1"/>
              <a:t>System.out.print</a:t>
            </a:r>
            <a:r>
              <a:rPr lang="en-US" dirty="0"/>
              <a:t>(3);</a:t>
            </a:r>
          </a:p>
          <a:p>
            <a:pPr marL="0" indent="0">
              <a:buNone/>
            </a:pPr>
            <a:r>
              <a:rPr lang="en-US" dirty="0" err="1"/>
              <a:t>System.out.print</a:t>
            </a:r>
            <a:r>
              <a:rPr lang="en-US" dirty="0"/>
              <a:t>(4);</a:t>
            </a:r>
          </a:p>
          <a:p>
            <a:pPr marL="0" indent="0">
              <a:buNone/>
            </a:pPr>
            <a:r>
              <a:rPr lang="en-US" dirty="0"/>
              <a:t>join;</a:t>
            </a:r>
          </a:p>
          <a:p>
            <a:pPr marL="0" indent="0">
              <a:buNone/>
            </a:pPr>
            <a:endParaRPr lang="en-US" dirty="0"/>
          </a:p>
        </p:txBody>
      </p:sp>
      <p:sp>
        <p:nvSpPr>
          <p:cNvPr id="4" name="Content Placeholder 3">
            <a:extLst>
              <a:ext uri="{FF2B5EF4-FFF2-40B4-BE49-F238E27FC236}">
                <a16:creationId xmlns:a16="http://schemas.microsoft.com/office/drawing/2014/main" id="{FB9B8D96-B2D1-5C21-30D6-920A24BCEB4A}"/>
              </a:ext>
            </a:extLst>
          </p:cNvPr>
          <p:cNvSpPr>
            <a:spLocks noGrp="1"/>
          </p:cNvSpPr>
          <p:nvPr>
            <p:ph sz="half" idx="2"/>
          </p:nvPr>
        </p:nvSpPr>
        <p:spPr/>
        <p:txBody>
          <a:bodyPr>
            <a:normAutofit lnSpcReduction="10000"/>
          </a:bodyPr>
          <a:lstStyle/>
          <a:p>
            <a:pPr marL="571500" indent="-571500">
              <a:buFont typeface="+mj-lt"/>
              <a:buAutoNum type="romanUcPeriod"/>
            </a:pPr>
            <a:r>
              <a:rPr lang="en-US" dirty="0"/>
              <a:t>1234</a:t>
            </a:r>
          </a:p>
          <a:p>
            <a:pPr marL="571500" indent="-571500">
              <a:buFont typeface="+mj-lt"/>
              <a:buAutoNum type="romanUcPeriod"/>
            </a:pPr>
            <a:r>
              <a:rPr lang="en-US" dirty="0"/>
              <a:t>2134</a:t>
            </a:r>
          </a:p>
          <a:p>
            <a:pPr marL="571500" indent="-571500">
              <a:buFont typeface="+mj-lt"/>
              <a:buAutoNum type="romanUcPeriod"/>
            </a:pPr>
            <a:r>
              <a:rPr lang="en-US" dirty="0"/>
              <a:t>1324</a:t>
            </a:r>
          </a:p>
          <a:p>
            <a:pPr marL="514350" indent="-514350">
              <a:buFont typeface="+mj-lt"/>
              <a:buAutoNum type="alphaUcPeriod"/>
            </a:pPr>
            <a:endParaRPr lang="en-US" dirty="0"/>
          </a:p>
          <a:p>
            <a:pPr marL="514350" indent="-514350">
              <a:buFont typeface="+mj-lt"/>
              <a:buAutoNum type="alphaUcPeriod"/>
            </a:pPr>
            <a:r>
              <a:rPr lang="en-US" dirty="0"/>
              <a:t>Only I.</a:t>
            </a:r>
          </a:p>
          <a:p>
            <a:pPr marL="514350" indent="-514350">
              <a:buFont typeface="+mj-lt"/>
              <a:buAutoNum type="alphaUcPeriod"/>
            </a:pPr>
            <a:r>
              <a:rPr lang="en-US" dirty="0"/>
              <a:t>Only II.</a:t>
            </a:r>
          </a:p>
          <a:p>
            <a:pPr marL="514350" indent="-514350">
              <a:buFont typeface="+mj-lt"/>
              <a:buAutoNum type="alphaUcPeriod"/>
            </a:pPr>
            <a:r>
              <a:rPr lang="en-US" dirty="0"/>
              <a:t>Only I. and II.</a:t>
            </a:r>
          </a:p>
          <a:p>
            <a:pPr marL="514350" indent="-514350">
              <a:buFont typeface="+mj-lt"/>
              <a:buAutoNum type="alphaUcPeriod"/>
            </a:pPr>
            <a:r>
              <a:rPr lang="en-US" dirty="0"/>
              <a:t>Only II. and III.</a:t>
            </a:r>
          </a:p>
          <a:p>
            <a:pPr marL="514350" indent="-514350">
              <a:buFont typeface="+mj-lt"/>
              <a:buAutoNum type="alphaUcPeriod"/>
            </a:pPr>
            <a:r>
              <a:rPr lang="en-US" dirty="0"/>
              <a:t>None of the above</a:t>
            </a:r>
          </a:p>
        </p:txBody>
      </p:sp>
    </p:spTree>
    <p:extLst>
      <p:ext uri="{BB962C8B-B14F-4D97-AF65-F5344CB8AC3E}">
        <p14:creationId xmlns:p14="http://schemas.microsoft.com/office/powerpoint/2010/main" val="287197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26968-681F-FC40-ECD9-55515E40BC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7F6249-54A5-1D79-F37F-BEB75694AA15}"/>
              </a:ext>
            </a:extLst>
          </p:cNvPr>
          <p:cNvSpPr>
            <a:spLocks noGrp="1"/>
          </p:cNvSpPr>
          <p:nvPr>
            <p:ph type="title"/>
          </p:nvPr>
        </p:nvSpPr>
        <p:spPr/>
        <p:txBody>
          <a:bodyPr/>
          <a:lstStyle/>
          <a:p>
            <a:r>
              <a:rPr lang="en-US" dirty="0"/>
              <a:t>Which of the following could be printed by the code below?</a:t>
            </a:r>
          </a:p>
        </p:txBody>
      </p:sp>
      <p:sp>
        <p:nvSpPr>
          <p:cNvPr id="3" name="Content Placeholder 2">
            <a:extLst>
              <a:ext uri="{FF2B5EF4-FFF2-40B4-BE49-F238E27FC236}">
                <a16:creationId xmlns:a16="http://schemas.microsoft.com/office/drawing/2014/main" id="{E79019C1-E3D2-7A2F-0D4F-B4090394A366}"/>
              </a:ext>
            </a:extLst>
          </p:cNvPr>
          <p:cNvSpPr>
            <a:spLocks noGrp="1"/>
          </p:cNvSpPr>
          <p:nvPr>
            <p:ph sz="half" idx="1"/>
          </p:nvPr>
        </p:nvSpPr>
        <p:spPr/>
        <p:txBody>
          <a:bodyPr>
            <a:normAutofit lnSpcReduction="10000"/>
          </a:bodyPr>
          <a:lstStyle/>
          <a:p>
            <a:pPr marL="0" indent="0">
              <a:buNone/>
            </a:pPr>
            <a:r>
              <a:rPr lang="en-US" dirty="0" err="1"/>
              <a:t>System.out.print</a:t>
            </a:r>
            <a:r>
              <a:rPr lang="en-US" dirty="0"/>
              <a:t>(1);</a:t>
            </a:r>
          </a:p>
          <a:p>
            <a:pPr marL="0" indent="0">
              <a:buNone/>
            </a:pPr>
            <a:r>
              <a:rPr lang="en-US" dirty="0"/>
              <a:t>fork </a:t>
            </a:r>
            <a:r>
              <a:rPr lang="en-US" dirty="0" err="1"/>
              <a:t>System.out.print</a:t>
            </a:r>
            <a:r>
              <a:rPr lang="en-US" dirty="0"/>
              <a:t>(2);</a:t>
            </a:r>
          </a:p>
          <a:p>
            <a:pPr marL="0" indent="0">
              <a:buNone/>
            </a:pPr>
            <a:r>
              <a:rPr lang="en-US" dirty="0" err="1"/>
              <a:t>System.out.print</a:t>
            </a:r>
            <a:r>
              <a:rPr lang="en-US" dirty="0"/>
              <a:t>(3);</a:t>
            </a:r>
          </a:p>
          <a:p>
            <a:pPr marL="0" indent="0">
              <a:buNone/>
            </a:pPr>
            <a:r>
              <a:rPr lang="en-US" dirty="0" err="1"/>
              <a:t>System.out.print</a:t>
            </a:r>
            <a:r>
              <a:rPr lang="en-US" dirty="0"/>
              <a:t>(4);</a:t>
            </a:r>
          </a:p>
          <a:p>
            <a:pPr marL="0" indent="0">
              <a:buNone/>
            </a:pPr>
            <a:r>
              <a:rPr lang="en-US" dirty="0"/>
              <a:t>join;</a:t>
            </a:r>
          </a:p>
          <a:p>
            <a:pPr marL="0" indent="0">
              <a:buNone/>
            </a:pPr>
            <a:endParaRPr lang="en-US" dirty="0"/>
          </a:p>
        </p:txBody>
      </p:sp>
      <p:sp>
        <p:nvSpPr>
          <p:cNvPr id="4" name="Content Placeholder 3">
            <a:extLst>
              <a:ext uri="{FF2B5EF4-FFF2-40B4-BE49-F238E27FC236}">
                <a16:creationId xmlns:a16="http://schemas.microsoft.com/office/drawing/2014/main" id="{275169D6-C1F2-F81E-CEB2-5D2C0124016E}"/>
              </a:ext>
            </a:extLst>
          </p:cNvPr>
          <p:cNvSpPr>
            <a:spLocks noGrp="1"/>
          </p:cNvSpPr>
          <p:nvPr>
            <p:ph sz="half" idx="2"/>
          </p:nvPr>
        </p:nvSpPr>
        <p:spPr/>
        <p:txBody>
          <a:bodyPr>
            <a:normAutofit lnSpcReduction="10000"/>
          </a:bodyPr>
          <a:lstStyle/>
          <a:p>
            <a:pPr marL="571500" indent="-571500">
              <a:buFont typeface="+mj-lt"/>
              <a:buAutoNum type="romanUcPeriod"/>
            </a:pPr>
            <a:r>
              <a:rPr lang="en-US" dirty="0"/>
              <a:t>1234</a:t>
            </a:r>
          </a:p>
          <a:p>
            <a:pPr marL="571500" indent="-571500">
              <a:buFont typeface="+mj-lt"/>
              <a:buAutoNum type="romanUcPeriod"/>
            </a:pPr>
            <a:r>
              <a:rPr lang="en-US" dirty="0"/>
              <a:t>2134</a:t>
            </a:r>
          </a:p>
          <a:p>
            <a:pPr marL="571500" indent="-571500">
              <a:buFont typeface="+mj-lt"/>
              <a:buAutoNum type="romanUcPeriod"/>
            </a:pPr>
            <a:r>
              <a:rPr lang="en-US" dirty="0"/>
              <a:t>1324</a:t>
            </a:r>
          </a:p>
          <a:p>
            <a:pPr marL="514350" indent="-514350">
              <a:buFont typeface="+mj-lt"/>
              <a:buAutoNum type="alphaUcPeriod"/>
            </a:pPr>
            <a:endParaRPr lang="en-US" dirty="0"/>
          </a:p>
          <a:p>
            <a:pPr marL="514350" indent="-514350">
              <a:buFont typeface="+mj-lt"/>
              <a:buAutoNum type="alphaUcPeriod"/>
            </a:pPr>
            <a:r>
              <a:rPr lang="en-US" dirty="0"/>
              <a:t>Only I.</a:t>
            </a:r>
          </a:p>
          <a:p>
            <a:pPr marL="514350" indent="-514350">
              <a:buFont typeface="+mj-lt"/>
              <a:buAutoNum type="alphaUcPeriod"/>
            </a:pPr>
            <a:r>
              <a:rPr lang="en-US" dirty="0"/>
              <a:t>Only II.</a:t>
            </a:r>
          </a:p>
          <a:p>
            <a:pPr marL="514350" indent="-514350">
              <a:buFont typeface="+mj-lt"/>
              <a:buAutoNum type="alphaUcPeriod"/>
            </a:pPr>
            <a:r>
              <a:rPr lang="en-US" dirty="0"/>
              <a:t>Only I. and II.</a:t>
            </a:r>
          </a:p>
          <a:p>
            <a:pPr marL="514350" indent="-514350">
              <a:buFont typeface="+mj-lt"/>
              <a:buAutoNum type="alphaUcPeriod"/>
            </a:pPr>
            <a:r>
              <a:rPr lang="en-US" dirty="0"/>
              <a:t>Only II. and III.</a:t>
            </a:r>
          </a:p>
          <a:p>
            <a:pPr marL="514350" indent="-514350">
              <a:buFont typeface="+mj-lt"/>
              <a:buAutoNum type="alphaUcPeriod"/>
            </a:pPr>
            <a:r>
              <a:rPr lang="en-US" u="sng" dirty="0">
                <a:solidFill>
                  <a:schemeClr val="tx2">
                    <a:lumMod val="50000"/>
                    <a:lumOff val="50000"/>
                  </a:schemeClr>
                </a:solidFill>
              </a:rPr>
              <a:t>None of the above</a:t>
            </a:r>
            <a:r>
              <a:rPr lang="en-US" dirty="0">
                <a:solidFill>
                  <a:schemeClr val="tx2">
                    <a:lumMod val="50000"/>
                    <a:lumOff val="50000"/>
                  </a:schemeClr>
                </a:solidFill>
              </a:rPr>
              <a:t> (I. and III.)</a:t>
            </a:r>
            <a:endParaRPr lang="en-US" u="sng" dirty="0">
              <a:solidFill>
                <a:schemeClr val="tx2">
                  <a:lumMod val="50000"/>
                  <a:lumOff val="50000"/>
                </a:schemeClr>
              </a:solidFill>
            </a:endParaRPr>
          </a:p>
        </p:txBody>
      </p:sp>
    </p:spTree>
    <p:extLst>
      <p:ext uri="{BB962C8B-B14F-4D97-AF65-F5344CB8AC3E}">
        <p14:creationId xmlns:p14="http://schemas.microsoft.com/office/powerpoint/2010/main" val="2286971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CBFBB3-EB58-6FCE-0916-77449DFC8637}"/>
              </a:ext>
            </a:extLst>
          </p:cNvPr>
          <p:cNvSpPr>
            <a:spLocks noGrp="1"/>
          </p:cNvSpPr>
          <p:nvPr>
            <p:ph type="title"/>
          </p:nvPr>
        </p:nvSpPr>
        <p:spPr/>
        <p:txBody>
          <a:bodyPr/>
          <a:lstStyle/>
          <a:p>
            <a:pPr algn="ctr"/>
            <a:r>
              <a:rPr lang="en-US" dirty="0"/>
              <a:t>Running a precedence graph</a:t>
            </a:r>
          </a:p>
        </p:txBody>
      </p:sp>
      <p:sp>
        <p:nvSpPr>
          <p:cNvPr id="8" name="Content Placeholder 7">
            <a:extLst>
              <a:ext uri="{FF2B5EF4-FFF2-40B4-BE49-F238E27FC236}">
                <a16:creationId xmlns:a16="http://schemas.microsoft.com/office/drawing/2014/main" id="{BDED3F71-3A78-548E-EEC2-E1EE4E15EE00}"/>
              </a:ext>
            </a:extLst>
          </p:cNvPr>
          <p:cNvSpPr>
            <a:spLocks noGrp="1"/>
          </p:cNvSpPr>
          <p:nvPr>
            <p:ph idx="1"/>
          </p:nvPr>
        </p:nvSpPr>
        <p:spPr/>
        <p:txBody>
          <a:bodyPr/>
          <a:lstStyle/>
          <a:p>
            <a:r>
              <a:rPr lang="en-US" sz="2400" dirty="0"/>
              <a:t>Have a pool of cores/processors/threads (“processors”) that are available to run strands</a:t>
            </a:r>
          </a:p>
          <a:p>
            <a:r>
              <a:rPr lang="en-US" sz="2400" dirty="0"/>
              <a:t>Each time unit, strands w/o unfinished predecessors are assigned to available processors and completed</a:t>
            </a:r>
          </a:p>
          <a:p>
            <a:r>
              <a:rPr lang="en-US" sz="2400" dirty="0"/>
              <a:t>Typically assume strands represent equal amounts of work</a:t>
            </a:r>
          </a:p>
          <a:p>
            <a:r>
              <a:rPr lang="en-US" sz="2400" dirty="0"/>
              <a:t>Processors are never voluntarily idle</a:t>
            </a:r>
          </a:p>
          <a:p>
            <a:endParaRPr lang="en-US" dirty="0"/>
          </a:p>
        </p:txBody>
      </p:sp>
    </p:spTree>
    <p:extLst>
      <p:ext uri="{BB962C8B-B14F-4D97-AF65-F5344CB8AC3E}">
        <p14:creationId xmlns:p14="http://schemas.microsoft.com/office/powerpoint/2010/main" val="3531875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C1AF9-DCF1-366A-2AE5-B24158D3BFA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7D173CC-B76F-8B11-8AF1-869D1E8BB84B}"/>
              </a:ext>
            </a:extLst>
          </p:cNvPr>
          <p:cNvSpPr>
            <a:spLocks noGrp="1"/>
          </p:cNvSpPr>
          <p:nvPr>
            <p:ph type="title"/>
          </p:nvPr>
        </p:nvSpPr>
        <p:spPr/>
        <p:txBody>
          <a:bodyPr/>
          <a:lstStyle/>
          <a:p>
            <a:pPr algn="ctr"/>
            <a:r>
              <a:rPr lang="en-US" dirty="0"/>
              <a:t>Running a precedence graph</a:t>
            </a:r>
          </a:p>
        </p:txBody>
      </p:sp>
      <p:sp>
        <p:nvSpPr>
          <p:cNvPr id="8" name="Content Placeholder 7">
            <a:extLst>
              <a:ext uri="{FF2B5EF4-FFF2-40B4-BE49-F238E27FC236}">
                <a16:creationId xmlns:a16="http://schemas.microsoft.com/office/drawing/2014/main" id="{D58B4EA3-719A-B3AC-A1BA-28A5494C8B0B}"/>
              </a:ext>
            </a:extLst>
          </p:cNvPr>
          <p:cNvSpPr>
            <a:spLocks noGrp="1"/>
          </p:cNvSpPr>
          <p:nvPr>
            <p:ph idx="1"/>
          </p:nvPr>
        </p:nvSpPr>
        <p:spPr>
          <a:xfrm>
            <a:off x="838200" y="1825625"/>
            <a:ext cx="10515600" cy="2562696"/>
          </a:xfrm>
        </p:spPr>
        <p:txBody>
          <a:bodyPr/>
          <a:lstStyle/>
          <a:p>
            <a:r>
              <a:rPr lang="en-US" sz="2400" dirty="0"/>
              <a:t>Have a pool of cores/processors/threads (“processors”) that are available to run strands</a:t>
            </a:r>
          </a:p>
          <a:p>
            <a:r>
              <a:rPr lang="en-US" sz="2400" dirty="0"/>
              <a:t>Each time unit, strands w/o unfinished predecessors are assigned to available processors and completed</a:t>
            </a:r>
          </a:p>
          <a:p>
            <a:r>
              <a:rPr lang="en-US" sz="2400" dirty="0"/>
              <a:t>Typically assume strands represent equal amounts of work</a:t>
            </a:r>
          </a:p>
          <a:p>
            <a:r>
              <a:rPr lang="en-US" sz="2400" dirty="0"/>
              <a:t>Processors are never voluntarily idle</a:t>
            </a:r>
          </a:p>
          <a:p>
            <a:endParaRPr lang="en-US" dirty="0"/>
          </a:p>
        </p:txBody>
      </p:sp>
      <p:sp>
        <p:nvSpPr>
          <p:cNvPr id="3" name="Rectangle 2">
            <a:extLst>
              <a:ext uri="{FF2B5EF4-FFF2-40B4-BE49-F238E27FC236}">
                <a16:creationId xmlns:a16="http://schemas.microsoft.com/office/drawing/2014/main" id="{D41B4AB6-6A26-513D-4F7C-C56A1A545435}"/>
              </a:ext>
            </a:extLst>
          </p:cNvPr>
          <p:cNvSpPr/>
          <p:nvPr/>
        </p:nvSpPr>
        <p:spPr>
          <a:xfrm>
            <a:off x="2036193" y="4403200"/>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4" name="Rectangle 3">
            <a:extLst>
              <a:ext uri="{FF2B5EF4-FFF2-40B4-BE49-F238E27FC236}">
                <a16:creationId xmlns:a16="http://schemas.microsoft.com/office/drawing/2014/main" id="{1685F1E4-9A77-795C-8C59-0C57C327845A}"/>
              </a:ext>
            </a:extLst>
          </p:cNvPr>
          <p:cNvSpPr/>
          <p:nvPr/>
        </p:nvSpPr>
        <p:spPr>
          <a:xfrm>
            <a:off x="1519685" y="5229891"/>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5" name="Rectangle 4">
            <a:extLst>
              <a:ext uri="{FF2B5EF4-FFF2-40B4-BE49-F238E27FC236}">
                <a16:creationId xmlns:a16="http://schemas.microsoft.com/office/drawing/2014/main" id="{F9427AAB-BC5E-8E05-8CFF-E52468C5B917}"/>
              </a:ext>
            </a:extLst>
          </p:cNvPr>
          <p:cNvSpPr/>
          <p:nvPr/>
        </p:nvSpPr>
        <p:spPr>
          <a:xfrm>
            <a:off x="2603376" y="5229890"/>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cxnSp>
        <p:nvCxnSpPr>
          <p:cNvPr id="6" name="Straight Arrow Connector 5">
            <a:extLst>
              <a:ext uri="{FF2B5EF4-FFF2-40B4-BE49-F238E27FC236}">
                <a16:creationId xmlns:a16="http://schemas.microsoft.com/office/drawing/2014/main" id="{B58DAE5A-8C68-4FD4-AD6F-1BF3FEE4A718}"/>
              </a:ext>
            </a:extLst>
          </p:cNvPr>
          <p:cNvCxnSpPr>
            <a:cxnSpLocks/>
          </p:cNvCxnSpPr>
          <p:nvPr/>
        </p:nvCxnSpPr>
        <p:spPr>
          <a:xfrm flipH="1">
            <a:off x="1871031" y="4844525"/>
            <a:ext cx="516507" cy="385366"/>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F847984-F4AB-FBBB-168A-5720E9BE34D9}"/>
              </a:ext>
            </a:extLst>
          </p:cNvPr>
          <p:cNvCxnSpPr>
            <a:cxnSpLocks/>
          </p:cNvCxnSpPr>
          <p:nvPr/>
        </p:nvCxnSpPr>
        <p:spPr>
          <a:xfrm>
            <a:off x="1885763" y="5675578"/>
            <a:ext cx="567184" cy="385365"/>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44C7E32-32E0-B02F-BA6C-2AD53FD39230}"/>
              </a:ext>
            </a:extLst>
          </p:cNvPr>
          <p:cNvSpPr/>
          <p:nvPr/>
        </p:nvSpPr>
        <p:spPr>
          <a:xfrm>
            <a:off x="2061530" y="6056580"/>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1" name="Straight Arrow Connector 10">
            <a:extLst>
              <a:ext uri="{FF2B5EF4-FFF2-40B4-BE49-F238E27FC236}">
                <a16:creationId xmlns:a16="http://schemas.microsoft.com/office/drawing/2014/main" id="{25941D94-EB1E-17C7-BEB2-DCBE61B7CFD3}"/>
              </a:ext>
            </a:extLst>
          </p:cNvPr>
          <p:cNvCxnSpPr>
            <a:cxnSpLocks/>
          </p:cNvCxnSpPr>
          <p:nvPr/>
        </p:nvCxnSpPr>
        <p:spPr>
          <a:xfrm>
            <a:off x="2404616" y="4859404"/>
            <a:ext cx="567184" cy="385365"/>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681AF28-D070-46DC-0143-4C7F8D6EAEBD}"/>
              </a:ext>
            </a:extLst>
          </p:cNvPr>
          <p:cNvCxnSpPr>
            <a:cxnSpLocks/>
          </p:cNvCxnSpPr>
          <p:nvPr/>
        </p:nvCxnSpPr>
        <p:spPr>
          <a:xfrm flipH="1">
            <a:off x="2404616" y="5661293"/>
            <a:ext cx="516507" cy="385366"/>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0A6D05E-E06C-16EF-43AF-0C85BEC88C4A}"/>
              </a:ext>
            </a:extLst>
          </p:cNvPr>
          <p:cNvSpPr txBox="1"/>
          <p:nvPr/>
        </p:nvSpPr>
        <p:spPr>
          <a:xfrm>
            <a:off x="3864928" y="4844525"/>
            <a:ext cx="1838132" cy="1200329"/>
          </a:xfrm>
          <a:prstGeom prst="rect">
            <a:avLst/>
          </a:prstGeom>
          <a:noFill/>
        </p:spPr>
        <p:txBody>
          <a:bodyPr wrap="none" rtlCol="0">
            <a:spAutoFit/>
          </a:bodyPr>
          <a:lstStyle/>
          <a:p>
            <a:r>
              <a:rPr lang="en-US" sz="2400" dirty="0"/>
              <a:t>Processor 1:</a:t>
            </a:r>
          </a:p>
          <a:p>
            <a:endParaRPr lang="en-US" sz="2400" dirty="0"/>
          </a:p>
          <a:p>
            <a:r>
              <a:rPr lang="en-US" sz="2400" dirty="0"/>
              <a:t>Processor 2:</a:t>
            </a:r>
          </a:p>
        </p:txBody>
      </p:sp>
      <p:sp>
        <p:nvSpPr>
          <p:cNvPr id="14" name="TextBox 13">
            <a:extLst>
              <a:ext uri="{FF2B5EF4-FFF2-40B4-BE49-F238E27FC236}">
                <a16:creationId xmlns:a16="http://schemas.microsoft.com/office/drawing/2014/main" id="{68C941DC-534A-1D35-77DE-C4CE3A5B3F7C}"/>
              </a:ext>
            </a:extLst>
          </p:cNvPr>
          <p:cNvSpPr txBox="1"/>
          <p:nvPr/>
        </p:nvSpPr>
        <p:spPr>
          <a:xfrm>
            <a:off x="5593288" y="6019356"/>
            <a:ext cx="1029449" cy="461665"/>
          </a:xfrm>
          <a:prstGeom prst="rect">
            <a:avLst/>
          </a:prstGeom>
          <a:noFill/>
        </p:spPr>
        <p:txBody>
          <a:bodyPr wrap="none" rtlCol="0">
            <a:spAutoFit/>
          </a:bodyPr>
          <a:lstStyle/>
          <a:p>
            <a:r>
              <a:rPr lang="en-US" sz="2400" dirty="0"/>
              <a:t>time →</a:t>
            </a:r>
          </a:p>
        </p:txBody>
      </p:sp>
      <p:sp>
        <p:nvSpPr>
          <p:cNvPr id="16" name="Rectangle 15">
            <a:extLst>
              <a:ext uri="{FF2B5EF4-FFF2-40B4-BE49-F238E27FC236}">
                <a16:creationId xmlns:a16="http://schemas.microsoft.com/office/drawing/2014/main" id="{5FA4ECD6-03A8-9CC4-28E0-1F6B451AD68B}"/>
              </a:ext>
            </a:extLst>
          </p:cNvPr>
          <p:cNvSpPr/>
          <p:nvPr/>
        </p:nvSpPr>
        <p:spPr>
          <a:xfrm>
            <a:off x="5840523" y="4859404"/>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17" name="Rectangle 16">
            <a:extLst>
              <a:ext uri="{FF2B5EF4-FFF2-40B4-BE49-F238E27FC236}">
                <a16:creationId xmlns:a16="http://schemas.microsoft.com/office/drawing/2014/main" id="{2956E25D-8D81-7FD2-D7CB-35D939041E04}"/>
              </a:ext>
            </a:extLst>
          </p:cNvPr>
          <p:cNvSpPr/>
          <p:nvPr/>
        </p:nvSpPr>
        <p:spPr>
          <a:xfrm>
            <a:off x="6488276" y="4859404"/>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8" name="Rectangle 17">
            <a:extLst>
              <a:ext uri="{FF2B5EF4-FFF2-40B4-BE49-F238E27FC236}">
                <a16:creationId xmlns:a16="http://schemas.microsoft.com/office/drawing/2014/main" id="{4D43941E-4C81-F65B-70B7-8155399C16B8}"/>
              </a:ext>
            </a:extLst>
          </p:cNvPr>
          <p:cNvSpPr/>
          <p:nvPr/>
        </p:nvSpPr>
        <p:spPr>
          <a:xfrm>
            <a:off x="6497090" y="5551149"/>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9" name="Rectangle 18">
            <a:extLst>
              <a:ext uri="{FF2B5EF4-FFF2-40B4-BE49-F238E27FC236}">
                <a16:creationId xmlns:a16="http://schemas.microsoft.com/office/drawing/2014/main" id="{90E2007D-62E3-BFBF-FEA8-86D6A64BF168}"/>
              </a:ext>
            </a:extLst>
          </p:cNvPr>
          <p:cNvSpPr/>
          <p:nvPr/>
        </p:nvSpPr>
        <p:spPr>
          <a:xfrm>
            <a:off x="7149105" y="4859404"/>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spTree>
    <p:extLst>
      <p:ext uri="{BB962C8B-B14F-4D97-AF65-F5344CB8AC3E}">
        <p14:creationId xmlns:p14="http://schemas.microsoft.com/office/powerpoint/2010/main" val="495451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51B50-5639-D00E-46B1-543F34313E57}"/>
              </a:ext>
            </a:extLst>
          </p:cNvPr>
          <p:cNvSpPr>
            <a:spLocks noGrp="1"/>
          </p:cNvSpPr>
          <p:nvPr>
            <p:ph type="title"/>
          </p:nvPr>
        </p:nvSpPr>
        <p:spPr/>
        <p:txBody>
          <a:bodyPr/>
          <a:lstStyle/>
          <a:p>
            <a:pPr algn="ctr"/>
            <a:r>
              <a:rPr lang="en-US" dirty="0"/>
              <a:t>How long will this graph run on 2 processors?</a:t>
            </a:r>
          </a:p>
        </p:txBody>
      </p:sp>
      <p:sp>
        <p:nvSpPr>
          <p:cNvPr id="5" name="Content Placeholder 4">
            <a:extLst>
              <a:ext uri="{FF2B5EF4-FFF2-40B4-BE49-F238E27FC236}">
                <a16:creationId xmlns:a16="http://schemas.microsoft.com/office/drawing/2014/main" id="{876ADA64-8401-EC88-E666-26AA403E302B}"/>
              </a:ext>
            </a:extLst>
          </p:cNvPr>
          <p:cNvSpPr>
            <a:spLocks noGrp="1"/>
          </p:cNvSpPr>
          <p:nvPr>
            <p:ph sz="half" idx="2"/>
          </p:nvPr>
        </p:nvSpPr>
        <p:spPr/>
        <p:txBody>
          <a:bodyPr/>
          <a:lstStyle/>
          <a:p>
            <a:pPr marL="514350" indent="-514350">
              <a:buFont typeface="+mj-lt"/>
              <a:buAutoNum type="alphaUcPeriod"/>
            </a:pPr>
            <a:r>
              <a:rPr lang="en-US" dirty="0"/>
              <a:t>Exactly 3 time units</a:t>
            </a:r>
          </a:p>
          <a:p>
            <a:pPr marL="514350" indent="-514350">
              <a:buFont typeface="+mj-lt"/>
              <a:buAutoNum type="alphaUcPeriod"/>
            </a:pPr>
            <a:r>
              <a:rPr lang="en-US" dirty="0"/>
              <a:t>Exactly 4 time units</a:t>
            </a:r>
          </a:p>
          <a:p>
            <a:pPr marL="514350" indent="-514350">
              <a:buFont typeface="+mj-lt"/>
              <a:buAutoNum type="alphaUcPeriod"/>
            </a:pPr>
            <a:r>
              <a:rPr lang="en-US" dirty="0"/>
              <a:t>Either 3 or 4 time units</a:t>
            </a:r>
          </a:p>
          <a:p>
            <a:pPr marL="514350" indent="-514350">
              <a:buFont typeface="+mj-lt"/>
              <a:buAutoNum type="alphaUcPeriod"/>
            </a:pPr>
            <a:r>
              <a:rPr lang="en-US" dirty="0"/>
              <a:t>Either 4 or 5 time units</a:t>
            </a:r>
          </a:p>
          <a:p>
            <a:pPr marL="514350" indent="-514350">
              <a:buFont typeface="+mj-lt"/>
              <a:buAutoNum type="alphaUcPeriod"/>
            </a:pPr>
            <a:r>
              <a:rPr lang="en-US" dirty="0"/>
              <a:t>None of the above</a:t>
            </a:r>
          </a:p>
          <a:p>
            <a:pPr marL="514350" indent="-514350">
              <a:buFont typeface="+mj-lt"/>
              <a:buAutoNum type="alphaUcPeriod"/>
            </a:pPr>
            <a:endParaRPr lang="en-US" dirty="0"/>
          </a:p>
        </p:txBody>
      </p:sp>
      <p:sp>
        <p:nvSpPr>
          <p:cNvPr id="7" name="Rectangle 6">
            <a:extLst>
              <a:ext uri="{FF2B5EF4-FFF2-40B4-BE49-F238E27FC236}">
                <a16:creationId xmlns:a16="http://schemas.microsoft.com/office/drawing/2014/main" id="{BA8A4A0D-C716-3F4E-1158-05BFE1F6967E}"/>
              </a:ext>
            </a:extLst>
          </p:cNvPr>
          <p:cNvSpPr/>
          <p:nvPr/>
        </p:nvSpPr>
        <p:spPr>
          <a:xfrm>
            <a:off x="2643634" y="1972471"/>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8" name="Rectangle 7">
            <a:extLst>
              <a:ext uri="{FF2B5EF4-FFF2-40B4-BE49-F238E27FC236}">
                <a16:creationId xmlns:a16="http://schemas.microsoft.com/office/drawing/2014/main" id="{DF3D6A4C-2433-8720-7332-282525D6EDED}"/>
              </a:ext>
            </a:extLst>
          </p:cNvPr>
          <p:cNvSpPr/>
          <p:nvPr/>
        </p:nvSpPr>
        <p:spPr>
          <a:xfrm>
            <a:off x="2669156" y="2720183"/>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9" name="Rectangle 8">
            <a:extLst>
              <a:ext uri="{FF2B5EF4-FFF2-40B4-BE49-F238E27FC236}">
                <a16:creationId xmlns:a16="http://schemas.microsoft.com/office/drawing/2014/main" id="{C46FA48D-C664-7E5D-F9B6-D1EB34E020F8}"/>
              </a:ext>
            </a:extLst>
          </p:cNvPr>
          <p:cNvSpPr/>
          <p:nvPr/>
        </p:nvSpPr>
        <p:spPr>
          <a:xfrm>
            <a:off x="1672085" y="4219576"/>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a:t>
            </a:r>
          </a:p>
        </p:txBody>
      </p:sp>
      <p:sp>
        <p:nvSpPr>
          <p:cNvPr id="10" name="Rectangle 9">
            <a:extLst>
              <a:ext uri="{FF2B5EF4-FFF2-40B4-BE49-F238E27FC236}">
                <a16:creationId xmlns:a16="http://schemas.microsoft.com/office/drawing/2014/main" id="{E8537E0A-AF39-AB4D-9BDE-9A5832B17F8A}"/>
              </a:ext>
            </a:extLst>
          </p:cNvPr>
          <p:cNvSpPr/>
          <p:nvPr/>
        </p:nvSpPr>
        <p:spPr>
          <a:xfrm>
            <a:off x="1672085" y="3471863"/>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11" name="Rectangle 10">
            <a:extLst>
              <a:ext uri="{FF2B5EF4-FFF2-40B4-BE49-F238E27FC236}">
                <a16:creationId xmlns:a16="http://schemas.microsoft.com/office/drawing/2014/main" id="{286E88FD-8984-DDF3-581C-A3C2DB303C95}"/>
              </a:ext>
            </a:extLst>
          </p:cNvPr>
          <p:cNvSpPr/>
          <p:nvPr/>
        </p:nvSpPr>
        <p:spPr>
          <a:xfrm>
            <a:off x="1672085" y="2724150"/>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2" name="Rectangle 11">
            <a:extLst>
              <a:ext uri="{FF2B5EF4-FFF2-40B4-BE49-F238E27FC236}">
                <a16:creationId xmlns:a16="http://schemas.microsoft.com/office/drawing/2014/main" id="{9F6AC899-9DAD-EFC0-144B-67ED20FA8317}"/>
              </a:ext>
            </a:extLst>
          </p:cNvPr>
          <p:cNvSpPr/>
          <p:nvPr/>
        </p:nvSpPr>
        <p:spPr>
          <a:xfrm>
            <a:off x="3640706" y="2724149"/>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3" name="Straight Arrow Connector 12">
            <a:extLst>
              <a:ext uri="{FF2B5EF4-FFF2-40B4-BE49-F238E27FC236}">
                <a16:creationId xmlns:a16="http://schemas.microsoft.com/office/drawing/2014/main" id="{13EB85AC-AC60-7763-CA5C-055FD9330F74}"/>
              </a:ext>
            </a:extLst>
          </p:cNvPr>
          <p:cNvCxnSpPr>
            <a:cxnSpLocks/>
            <a:stCxn id="7" idx="2"/>
            <a:endCxn id="8" idx="0"/>
          </p:cNvCxnSpPr>
          <p:nvPr/>
        </p:nvCxnSpPr>
        <p:spPr>
          <a:xfrm>
            <a:off x="2969642" y="2413796"/>
            <a:ext cx="25522" cy="306387"/>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301EB7B-3D6D-E5E3-4AE1-BDA4AC337EA4}"/>
              </a:ext>
            </a:extLst>
          </p:cNvPr>
          <p:cNvCxnSpPr>
            <a:cxnSpLocks/>
            <a:stCxn id="7" idx="2"/>
            <a:endCxn id="12" idx="0"/>
          </p:cNvCxnSpPr>
          <p:nvPr/>
        </p:nvCxnSpPr>
        <p:spPr>
          <a:xfrm>
            <a:off x="2969642" y="2413796"/>
            <a:ext cx="997072" cy="310353"/>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253C31F-5730-ECD7-3757-EFE6F713C48D}"/>
              </a:ext>
            </a:extLst>
          </p:cNvPr>
          <p:cNvCxnSpPr>
            <a:cxnSpLocks/>
            <a:stCxn id="7" idx="2"/>
            <a:endCxn id="11" idx="0"/>
          </p:cNvCxnSpPr>
          <p:nvPr/>
        </p:nvCxnSpPr>
        <p:spPr>
          <a:xfrm flipH="1">
            <a:off x="1998093" y="2413796"/>
            <a:ext cx="971549"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E9B9877-A651-55E7-AE49-B4887F10D488}"/>
              </a:ext>
            </a:extLst>
          </p:cNvPr>
          <p:cNvCxnSpPr>
            <a:cxnSpLocks/>
          </p:cNvCxnSpPr>
          <p:nvPr/>
        </p:nvCxnSpPr>
        <p:spPr>
          <a:xfrm>
            <a:off x="2002405" y="3161508"/>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6ABE0A3-F001-5C60-DB27-449D91D2DCA3}"/>
              </a:ext>
            </a:extLst>
          </p:cNvPr>
          <p:cNvCxnSpPr>
            <a:cxnSpLocks/>
          </p:cNvCxnSpPr>
          <p:nvPr/>
        </p:nvCxnSpPr>
        <p:spPr>
          <a:xfrm>
            <a:off x="2021455" y="3919142"/>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2467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5B086-B6D3-A420-07FF-1C86249AF4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F4E2DB-2C22-ABD4-D4FD-C80C08FA8515}"/>
              </a:ext>
            </a:extLst>
          </p:cNvPr>
          <p:cNvSpPr>
            <a:spLocks noGrp="1"/>
          </p:cNvSpPr>
          <p:nvPr>
            <p:ph type="title"/>
          </p:nvPr>
        </p:nvSpPr>
        <p:spPr/>
        <p:txBody>
          <a:bodyPr/>
          <a:lstStyle/>
          <a:p>
            <a:pPr algn="ctr"/>
            <a:r>
              <a:rPr lang="en-US" dirty="0"/>
              <a:t>How long will this graph run on 2 processors?</a:t>
            </a:r>
          </a:p>
        </p:txBody>
      </p:sp>
      <p:sp>
        <p:nvSpPr>
          <p:cNvPr id="5" name="Content Placeholder 4">
            <a:extLst>
              <a:ext uri="{FF2B5EF4-FFF2-40B4-BE49-F238E27FC236}">
                <a16:creationId xmlns:a16="http://schemas.microsoft.com/office/drawing/2014/main" id="{9DA23AF1-CBD8-689D-9EBF-EF5C644DF277}"/>
              </a:ext>
            </a:extLst>
          </p:cNvPr>
          <p:cNvSpPr>
            <a:spLocks noGrp="1"/>
          </p:cNvSpPr>
          <p:nvPr>
            <p:ph sz="half" idx="2"/>
          </p:nvPr>
        </p:nvSpPr>
        <p:spPr/>
        <p:txBody>
          <a:bodyPr/>
          <a:lstStyle/>
          <a:p>
            <a:pPr marL="514350" indent="-514350">
              <a:buFont typeface="+mj-lt"/>
              <a:buAutoNum type="alphaUcPeriod"/>
            </a:pPr>
            <a:r>
              <a:rPr lang="en-US" dirty="0"/>
              <a:t>Exactly 3 time units</a:t>
            </a:r>
          </a:p>
          <a:p>
            <a:pPr marL="514350" indent="-514350">
              <a:buFont typeface="+mj-lt"/>
              <a:buAutoNum type="alphaUcPeriod"/>
            </a:pPr>
            <a:r>
              <a:rPr lang="en-US" dirty="0"/>
              <a:t>Exactly 4 time units</a:t>
            </a:r>
          </a:p>
          <a:p>
            <a:pPr marL="514350" indent="-514350">
              <a:buFont typeface="+mj-lt"/>
              <a:buAutoNum type="alphaUcPeriod"/>
            </a:pPr>
            <a:r>
              <a:rPr lang="en-US" dirty="0"/>
              <a:t>Either 3 or 4 time units</a:t>
            </a:r>
          </a:p>
          <a:p>
            <a:pPr marL="514350" indent="-514350">
              <a:buFont typeface="+mj-lt"/>
              <a:buAutoNum type="alphaUcPeriod"/>
            </a:pPr>
            <a:r>
              <a:rPr lang="en-US" u="sng" dirty="0">
                <a:solidFill>
                  <a:schemeClr val="tx2">
                    <a:lumMod val="50000"/>
                    <a:lumOff val="50000"/>
                  </a:schemeClr>
                </a:solidFill>
              </a:rPr>
              <a:t>Either 4 or 5 time units</a:t>
            </a:r>
          </a:p>
          <a:p>
            <a:pPr marL="514350" indent="-514350">
              <a:buFont typeface="+mj-lt"/>
              <a:buAutoNum type="alphaUcPeriod"/>
            </a:pPr>
            <a:r>
              <a:rPr lang="en-US" dirty="0"/>
              <a:t>None of the above</a:t>
            </a:r>
          </a:p>
          <a:p>
            <a:pPr marL="514350" indent="-514350">
              <a:buFont typeface="+mj-lt"/>
              <a:buAutoNum type="alphaUcPeriod"/>
            </a:pPr>
            <a:endParaRPr lang="en-US" dirty="0"/>
          </a:p>
        </p:txBody>
      </p:sp>
      <p:sp>
        <p:nvSpPr>
          <p:cNvPr id="7" name="Rectangle 6">
            <a:extLst>
              <a:ext uri="{FF2B5EF4-FFF2-40B4-BE49-F238E27FC236}">
                <a16:creationId xmlns:a16="http://schemas.microsoft.com/office/drawing/2014/main" id="{BA099C4F-8312-354D-70F2-B30DDC12E2B0}"/>
              </a:ext>
            </a:extLst>
          </p:cNvPr>
          <p:cNvSpPr/>
          <p:nvPr/>
        </p:nvSpPr>
        <p:spPr>
          <a:xfrm>
            <a:off x="2643634" y="1972471"/>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8" name="Rectangle 7">
            <a:extLst>
              <a:ext uri="{FF2B5EF4-FFF2-40B4-BE49-F238E27FC236}">
                <a16:creationId xmlns:a16="http://schemas.microsoft.com/office/drawing/2014/main" id="{373C391D-FB89-2D65-3BA2-8A9C0F9811A1}"/>
              </a:ext>
            </a:extLst>
          </p:cNvPr>
          <p:cNvSpPr/>
          <p:nvPr/>
        </p:nvSpPr>
        <p:spPr>
          <a:xfrm>
            <a:off x="2669156" y="2720183"/>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9" name="Rectangle 8">
            <a:extLst>
              <a:ext uri="{FF2B5EF4-FFF2-40B4-BE49-F238E27FC236}">
                <a16:creationId xmlns:a16="http://schemas.microsoft.com/office/drawing/2014/main" id="{CB305A9D-CD6F-6589-8C76-668D0BB1F8BA}"/>
              </a:ext>
            </a:extLst>
          </p:cNvPr>
          <p:cNvSpPr/>
          <p:nvPr/>
        </p:nvSpPr>
        <p:spPr>
          <a:xfrm>
            <a:off x="1672085" y="4219576"/>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a:t>
            </a:r>
          </a:p>
        </p:txBody>
      </p:sp>
      <p:sp>
        <p:nvSpPr>
          <p:cNvPr id="10" name="Rectangle 9">
            <a:extLst>
              <a:ext uri="{FF2B5EF4-FFF2-40B4-BE49-F238E27FC236}">
                <a16:creationId xmlns:a16="http://schemas.microsoft.com/office/drawing/2014/main" id="{FF70C14E-0B5B-C50E-D729-531DF2886C64}"/>
              </a:ext>
            </a:extLst>
          </p:cNvPr>
          <p:cNvSpPr/>
          <p:nvPr/>
        </p:nvSpPr>
        <p:spPr>
          <a:xfrm>
            <a:off x="1672085" y="3471863"/>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11" name="Rectangle 10">
            <a:extLst>
              <a:ext uri="{FF2B5EF4-FFF2-40B4-BE49-F238E27FC236}">
                <a16:creationId xmlns:a16="http://schemas.microsoft.com/office/drawing/2014/main" id="{93A9B507-036D-2B71-6980-F26F9A87BCC4}"/>
              </a:ext>
            </a:extLst>
          </p:cNvPr>
          <p:cNvSpPr/>
          <p:nvPr/>
        </p:nvSpPr>
        <p:spPr>
          <a:xfrm>
            <a:off x="1672085" y="2724150"/>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2" name="Rectangle 11">
            <a:extLst>
              <a:ext uri="{FF2B5EF4-FFF2-40B4-BE49-F238E27FC236}">
                <a16:creationId xmlns:a16="http://schemas.microsoft.com/office/drawing/2014/main" id="{072451A2-F07F-C655-E7CD-BFC94AFA8D94}"/>
              </a:ext>
            </a:extLst>
          </p:cNvPr>
          <p:cNvSpPr/>
          <p:nvPr/>
        </p:nvSpPr>
        <p:spPr>
          <a:xfrm>
            <a:off x="3640706" y="2724149"/>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3" name="Straight Arrow Connector 12">
            <a:extLst>
              <a:ext uri="{FF2B5EF4-FFF2-40B4-BE49-F238E27FC236}">
                <a16:creationId xmlns:a16="http://schemas.microsoft.com/office/drawing/2014/main" id="{548293D0-0E9E-3373-AC8F-99A98BBE9397}"/>
              </a:ext>
            </a:extLst>
          </p:cNvPr>
          <p:cNvCxnSpPr>
            <a:cxnSpLocks/>
            <a:stCxn id="7" idx="2"/>
            <a:endCxn id="8" idx="0"/>
          </p:cNvCxnSpPr>
          <p:nvPr/>
        </p:nvCxnSpPr>
        <p:spPr>
          <a:xfrm>
            <a:off x="2969642" y="2413796"/>
            <a:ext cx="25522" cy="306387"/>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4A5B53F-D7B8-B87A-2E16-72F918FC59D2}"/>
              </a:ext>
            </a:extLst>
          </p:cNvPr>
          <p:cNvCxnSpPr>
            <a:cxnSpLocks/>
            <a:stCxn id="7" idx="2"/>
            <a:endCxn id="12" idx="0"/>
          </p:cNvCxnSpPr>
          <p:nvPr/>
        </p:nvCxnSpPr>
        <p:spPr>
          <a:xfrm>
            <a:off x="2969642" y="2413796"/>
            <a:ext cx="997072" cy="310353"/>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A2A64D1-B40E-FAFB-F22F-84F47D1D8197}"/>
              </a:ext>
            </a:extLst>
          </p:cNvPr>
          <p:cNvCxnSpPr>
            <a:cxnSpLocks/>
            <a:stCxn id="7" idx="2"/>
            <a:endCxn id="11" idx="0"/>
          </p:cNvCxnSpPr>
          <p:nvPr/>
        </p:nvCxnSpPr>
        <p:spPr>
          <a:xfrm flipH="1">
            <a:off x="1998093" y="2413796"/>
            <a:ext cx="971549"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1181B47-78D9-A344-36FF-758F902D48AF}"/>
              </a:ext>
            </a:extLst>
          </p:cNvPr>
          <p:cNvCxnSpPr>
            <a:cxnSpLocks/>
          </p:cNvCxnSpPr>
          <p:nvPr/>
        </p:nvCxnSpPr>
        <p:spPr>
          <a:xfrm>
            <a:off x="2002405" y="3161508"/>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64C1B41-A5B5-E082-B71E-620F8E9BE6B1}"/>
              </a:ext>
            </a:extLst>
          </p:cNvPr>
          <p:cNvCxnSpPr>
            <a:cxnSpLocks/>
          </p:cNvCxnSpPr>
          <p:nvPr/>
        </p:nvCxnSpPr>
        <p:spPr>
          <a:xfrm>
            <a:off x="2021455" y="3919142"/>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9685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A093A-A50C-6F94-5752-CB037D7DA6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BCF258-DEAF-D6F6-C102-9169203E63CF}"/>
              </a:ext>
            </a:extLst>
          </p:cNvPr>
          <p:cNvSpPr>
            <a:spLocks noGrp="1"/>
          </p:cNvSpPr>
          <p:nvPr>
            <p:ph type="title"/>
          </p:nvPr>
        </p:nvSpPr>
        <p:spPr/>
        <p:txBody>
          <a:bodyPr/>
          <a:lstStyle/>
          <a:p>
            <a:pPr algn="ctr"/>
            <a:r>
              <a:rPr lang="en-US" dirty="0"/>
              <a:t>How long will this graph run on 2 processors?</a:t>
            </a:r>
          </a:p>
        </p:txBody>
      </p:sp>
      <p:sp>
        <p:nvSpPr>
          <p:cNvPr id="5" name="Content Placeholder 4">
            <a:extLst>
              <a:ext uri="{FF2B5EF4-FFF2-40B4-BE49-F238E27FC236}">
                <a16:creationId xmlns:a16="http://schemas.microsoft.com/office/drawing/2014/main" id="{E9CDCA79-728D-16D7-25CC-CD15844CDEDF}"/>
              </a:ext>
            </a:extLst>
          </p:cNvPr>
          <p:cNvSpPr>
            <a:spLocks noGrp="1"/>
          </p:cNvSpPr>
          <p:nvPr>
            <p:ph sz="half" idx="2"/>
          </p:nvPr>
        </p:nvSpPr>
        <p:spPr/>
        <p:txBody>
          <a:bodyPr/>
          <a:lstStyle/>
          <a:p>
            <a:pPr marL="514350" indent="-514350">
              <a:buFont typeface="+mj-lt"/>
              <a:buAutoNum type="alphaUcPeriod"/>
            </a:pPr>
            <a:r>
              <a:rPr lang="en-US" dirty="0"/>
              <a:t>Exactly 4 time units</a:t>
            </a:r>
          </a:p>
          <a:p>
            <a:pPr marL="514350" indent="-514350">
              <a:buFont typeface="+mj-lt"/>
              <a:buAutoNum type="alphaUcPeriod"/>
            </a:pPr>
            <a:r>
              <a:rPr lang="en-US" dirty="0"/>
              <a:t>Exactly 5 time units</a:t>
            </a:r>
          </a:p>
          <a:p>
            <a:pPr marL="514350" indent="-514350">
              <a:buFont typeface="+mj-lt"/>
              <a:buAutoNum type="alphaUcPeriod"/>
            </a:pPr>
            <a:r>
              <a:rPr lang="en-US" dirty="0"/>
              <a:t>Either 4 or 5 time units</a:t>
            </a:r>
          </a:p>
          <a:p>
            <a:pPr marL="514350" indent="-514350">
              <a:buFont typeface="+mj-lt"/>
              <a:buAutoNum type="alphaUcPeriod"/>
            </a:pPr>
            <a:r>
              <a:rPr lang="en-US" dirty="0"/>
              <a:t>Either 5 or 6 time units</a:t>
            </a:r>
          </a:p>
          <a:p>
            <a:pPr marL="514350" indent="-514350">
              <a:buFont typeface="+mj-lt"/>
              <a:buAutoNum type="alphaUcPeriod"/>
            </a:pPr>
            <a:r>
              <a:rPr lang="en-US" dirty="0"/>
              <a:t>None of the above</a:t>
            </a:r>
          </a:p>
          <a:p>
            <a:pPr marL="514350" indent="-514350">
              <a:buFont typeface="+mj-lt"/>
              <a:buAutoNum type="alphaUcPeriod"/>
            </a:pPr>
            <a:endParaRPr lang="en-US" dirty="0"/>
          </a:p>
        </p:txBody>
      </p:sp>
      <p:sp>
        <p:nvSpPr>
          <p:cNvPr id="7" name="Rectangle 6">
            <a:extLst>
              <a:ext uri="{FF2B5EF4-FFF2-40B4-BE49-F238E27FC236}">
                <a16:creationId xmlns:a16="http://schemas.microsoft.com/office/drawing/2014/main" id="{625FDFC9-6324-3A56-B4AB-FA0FC98EF540}"/>
              </a:ext>
            </a:extLst>
          </p:cNvPr>
          <p:cNvSpPr/>
          <p:nvPr/>
        </p:nvSpPr>
        <p:spPr>
          <a:xfrm>
            <a:off x="2643634" y="1972471"/>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8" name="Rectangle 7">
            <a:extLst>
              <a:ext uri="{FF2B5EF4-FFF2-40B4-BE49-F238E27FC236}">
                <a16:creationId xmlns:a16="http://schemas.microsoft.com/office/drawing/2014/main" id="{DBA9CAF4-6225-164A-BA64-38424CE6BDEC}"/>
              </a:ext>
            </a:extLst>
          </p:cNvPr>
          <p:cNvSpPr/>
          <p:nvPr/>
        </p:nvSpPr>
        <p:spPr>
          <a:xfrm>
            <a:off x="2669156" y="2720183"/>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9" name="Rectangle 8">
            <a:extLst>
              <a:ext uri="{FF2B5EF4-FFF2-40B4-BE49-F238E27FC236}">
                <a16:creationId xmlns:a16="http://schemas.microsoft.com/office/drawing/2014/main" id="{5284A38C-F12B-7A4D-0547-D96D3C0B97C9}"/>
              </a:ext>
            </a:extLst>
          </p:cNvPr>
          <p:cNvSpPr/>
          <p:nvPr/>
        </p:nvSpPr>
        <p:spPr>
          <a:xfrm>
            <a:off x="1672085" y="4252689"/>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h</a:t>
            </a:r>
          </a:p>
        </p:txBody>
      </p:sp>
      <p:sp>
        <p:nvSpPr>
          <p:cNvPr id="10" name="Rectangle 9">
            <a:extLst>
              <a:ext uri="{FF2B5EF4-FFF2-40B4-BE49-F238E27FC236}">
                <a16:creationId xmlns:a16="http://schemas.microsoft.com/office/drawing/2014/main" id="{324A841F-4F01-BBD9-0EFE-18569E4CEDD7}"/>
              </a:ext>
            </a:extLst>
          </p:cNvPr>
          <p:cNvSpPr/>
          <p:nvPr/>
        </p:nvSpPr>
        <p:spPr>
          <a:xfrm>
            <a:off x="1672085" y="3471863"/>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11" name="Rectangle 10">
            <a:extLst>
              <a:ext uri="{FF2B5EF4-FFF2-40B4-BE49-F238E27FC236}">
                <a16:creationId xmlns:a16="http://schemas.microsoft.com/office/drawing/2014/main" id="{6929AF2F-2BCD-D7B0-0739-32F86C18C8E6}"/>
              </a:ext>
            </a:extLst>
          </p:cNvPr>
          <p:cNvSpPr/>
          <p:nvPr/>
        </p:nvSpPr>
        <p:spPr>
          <a:xfrm>
            <a:off x="1672085" y="2724150"/>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2" name="Rectangle 11">
            <a:extLst>
              <a:ext uri="{FF2B5EF4-FFF2-40B4-BE49-F238E27FC236}">
                <a16:creationId xmlns:a16="http://schemas.microsoft.com/office/drawing/2014/main" id="{5C53C422-299D-9000-E319-FADB7712EF47}"/>
              </a:ext>
            </a:extLst>
          </p:cNvPr>
          <p:cNvSpPr/>
          <p:nvPr/>
        </p:nvSpPr>
        <p:spPr>
          <a:xfrm>
            <a:off x="3640706" y="2724149"/>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3" name="Straight Arrow Connector 12">
            <a:extLst>
              <a:ext uri="{FF2B5EF4-FFF2-40B4-BE49-F238E27FC236}">
                <a16:creationId xmlns:a16="http://schemas.microsoft.com/office/drawing/2014/main" id="{C82266B7-A268-886B-55B2-5F2ED1E310F2}"/>
              </a:ext>
            </a:extLst>
          </p:cNvPr>
          <p:cNvCxnSpPr>
            <a:cxnSpLocks/>
            <a:stCxn id="7" idx="2"/>
            <a:endCxn id="8" idx="0"/>
          </p:cNvCxnSpPr>
          <p:nvPr/>
        </p:nvCxnSpPr>
        <p:spPr>
          <a:xfrm>
            <a:off x="2969642" y="2413796"/>
            <a:ext cx="25522" cy="306387"/>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0899887-36C9-3CC6-E196-D323A464C3D2}"/>
              </a:ext>
            </a:extLst>
          </p:cNvPr>
          <p:cNvCxnSpPr>
            <a:cxnSpLocks/>
            <a:stCxn id="7" idx="2"/>
            <a:endCxn id="12" idx="0"/>
          </p:cNvCxnSpPr>
          <p:nvPr/>
        </p:nvCxnSpPr>
        <p:spPr>
          <a:xfrm>
            <a:off x="2969642" y="2413796"/>
            <a:ext cx="997072" cy="310353"/>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351A00A-691C-CB17-806C-077D45F969CE}"/>
              </a:ext>
            </a:extLst>
          </p:cNvPr>
          <p:cNvCxnSpPr>
            <a:cxnSpLocks/>
            <a:stCxn id="7" idx="2"/>
            <a:endCxn id="11" idx="0"/>
          </p:cNvCxnSpPr>
          <p:nvPr/>
        </p:nvCxnSpPr>
        <p:spPr>
          <a:xfrm flipH="1">
            <a:off x="1998093" y="2413796"/>
            <a:ext cx="971549"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A5A4F6C-564C-66E2-9676-52676C878D27}"/>
              </a:ext>
            </a:extLst>
          </p:cNvPr>
          <p:cNvCxnSpPr>
            <a:cxnSpLocks/>
          </p:cNvCxnSpPr>
          <p:nvPr/>
        </p:nvCxnSpPr>
        <p:spPr>
          <a:xfrm>
            <a:off x="2002405" y="3161508"/>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84EBB1B-677E-F83E-C084-173E22879928}"/>
              </a:ext>
            </a:extLst>
          </p:cNvPr>
          <p:cNvCxnSpPr>
            <a:cxnSpLocks/>
          </p:cNvCxnSpPr>
          <p:nvPr/>
        </p:nvCxnSpPr>
        <p:spPr>
          <a:xfrm>
            <a:off x="2021455" y="3919142"/>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EE26D436-E59B-9A7F-0FAF-D0D01225B393}"/>
              </a:ext>
            </a:extLst>
          </p:cNvPr>
          <p:cNvSpPr/>
          <p:nvPr/>
        </p:nvSpPr>
        <p:spPr>
          <a:xfrm>
            <a:off x="3640705" y="3473728"/>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a:t>
            </a:r>
          </a:p>
        </p:txBody>
      </p:sp>
      <p:cxnSp>
        <p:nvCxnSpPr>
          <p:cNvPr id="15" name="Straight Arrow Connector 14">
            <a:extLst>
              <a:ext uri="{FF2B5EF4-FFF2-40B4-BE49-F238E27FC236}">
                <a16:creationId xmlns:a16="http://schemas.microsoft.com/office/drawing/2014/main" id="{00140053-EA9F-8BEB-A097-440F856B2D4A}"/>
              </a:ext>
            </a:extLst>
          </p:cNvPr>
          <p:cNvCxnSpPr>
            <a:cxnSpLocks/>
            <a:endCxn id="4" idx="0"/>
          </p:cNvCxnSpPr>
          <p:nvPr/>
        </p:nvCxnSpPr>
        <p:spPr>
          <a:xfrm>
            <a:off x="3960679" y="3140870"/>
            <a:ext cx="6034" cy="332858"/>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0C408DA-AA61-EE97-A3A9-E3B6C3B3BBD0}"/>
              </a:ext>
            </a:extLst>
          </p:cNvPr>
          <p:cNvSpPr/>
          <p:nvPr/>
        </p:nvSpPr>
        <p:spPr>
          <a:xfrm>
            <a:off x="1695447" y="5033515"/>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a:solidFill>
                  <a:schemeClr val="tx1"/>
                </a:solidFill>
              </a:rPr>
              <a:t>i</a:t>
            </a:r>
            <a:endParaRPr lang="en-US" sz="2800" dirty="0">
              <a:solidFill>
                <a:schemeClr val="tx1"/>
              </a:solidFill>
            </a:endParaRPr>
          </a:p>
        </p:txBody>
      </p:sp>
      <p:cxnSp>
        <p:nvCxnSpPr>
          <p:cNvPr id="20" name="Straight Arrow Connector 19">
            <a:extLst>
              <a:ext uri="{FF2B5EF4-FFF2-40B4-BE49-F238E27FC236}">
                <a16:creationId xmlns:a16="http://schemas.microsoft.com/office/drawing/2014/main" id="{20759B15-7161-13E2-1689-27BBA4809478}"/>
              </a:ext>
            </a:extLst>
          </p:cNvPr>
          <p:cNvCxnSpPr>
            <a:cxnSpLocks/>
          </p:cNvCxnSpPr>
          <p:nvPr/>
        </p:nvCxnSpPr>
        <p:spPr>
          <a:xfrm>
            <a:off x="2018875" y="4706971"/>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0C7EA289-7919-8B5B-F1C4-F66CEB6DC807}"/>
              </a:ext>
            </a:extLst>
          </p:cNvPr>
          <p:cNvSpPr/>
          <p:nvPr/>
        </p:nvSpPr>
        <p:spPr>
          <a:xfrm>
            <a:off x="4580444" y="3471862"/>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g</a:t>
            </a:r>
          </a:p>
        </p:txBody>
      </p:sp>
      <p:cxnSp>
        <p:nvCxnSpPr>
          <p:cNvPr id="23" name="Straight Arrow Connector 22">
            <a:extLst>
              <a:ext uri="{FF2B5EF4-FFF2-40B4-BE49-F238E27FC236}">
                <a16:creationId xmlns:a16="http://schemas.microsoft.com/office/drawing/2014/main" id="{8F5829DD-F8CB-9758-3EDF-4C353F4E161F}"/>
              </a:ext>
            </a:extLst>
          </p:cNvPr>
          <p:cNvCxnSpPr>
            <a:cxnSpLocks/>
            <a:endCxn id="21" idx="0"/>
          </p:cNvCxnSpPr>
          <p:nvPr/>
        </p:nvCxnSpPr>
        <p:spPr>
          <a:xfrm>
            <a:off x="3943451" y="3155133"/>
            <a:ext cx="963001" cy="316729"/>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6519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6F5C4-A045-AC30-A4A4-EA663B87C6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D03A38-ADBC-EE95-27FE-923C69712EC4}"/>
              </a:ext>
            </a:extLst>
          </p:cNvPr>
          <p:cNvSpPr>
            <a:spLocks noGrp="1"/>
          </p:cNvSpPr>
          <p:nvPr>
            <p:ph type="title"/>
          </p:nvPr>
        </p:nvSpPr>
        <p:spPr/>
        <p:txBody>
          <a:bodyPr/>
          <a:lstStyle/>
          <a:p>
            <a:pPr algn="ctr"/>
            <a:r>
              <a:rPr lang="en-US" dirty="0"/>
              <a:t>How long will this graph run on 2 processors?</a:t>
            </a:r>
          </a:p>
        </p:txBody>
      </p:sp>
      <p:sp>
        <p:nvSpPr>
          <p:cNvPr id="5" name="Content Placeholder 4">
            <a:extLst>
              <a:ext uri="{FF2B5EF4-FFF2-40B4-BE49-F238E27FC236}">
                <a16:creationId xmlns:a16="http://schemas.microsoft.com/office/drawing/2014/main" id="{D967A652-77D7-7BC5-CA80-96F224F1FE8B}"/>
              </a:ext>
            </a:extLst>
          </p:cNvPr>
          <p:cNvSpPr>
            <a:spLocks noGrp="1"/>
          </p:cNvSpPr>
          <p:nvPr>
            <p:ph sz="half" idx="2"/>
          </p:nvPr>
        </p:nvSpPr>
        <p:spPr/>
        <p:txBody>
          <a:bodyPr/>
          <a:lstStyle/>
          <a:p>
            <a:pPr marL="514350" indent="-514350">
              <a:buFont typeface="+mj-lt"/>
              <a:buAutoNum type="alphaUcPeriod"/>
            </a:pPr>
            <a:r>
              <a:rPr lang="en-US" dirty="0"/>
              <a:t>Exactly 4 time units</a:t>
            </a:r>
          </a:p>
          <a:p>
            <a:pPr marL="514350" indent="-514350">
              <a:buFont typeface="+mj-lt"/>
              <a:buAutoNum type="alphaUcPeriod"/>
            </a:pPr>
            <a:r>
              <a:rPr lang="en-US" dirty="0"/>
              <a:t>Exactly 5 time units</a:t>
            </a:r>
          </a:p>
          <a:p>
            <a:pPr marL="514350" indent="-514350">
              <a:buFont typeface="+mj-lt"/>
              <a:buAutoNum type="alphaUcPeriod"/>
            </a:pPr>
            <a:r>
              <a:rPr lang="en-US" dirty="0"/>
              <a:t>Either 4 or 5 time units</a:t>
            </a:r>
          </a:p>
          <a:p>
            <a:pPr marL="514350" indent="-514350">
              <a:buFont typeface="+mj-lt"/>
              <a:buAutoNum type="alphaUcPeriod"/>
            </a:pPr>
            <a:r>
              <a:rPr lang="en-US" dirty="0"/>
              <a:t>Either 5 or 6 time units</a:t>
            </a:r>
          </a:p>
          <a:p>
            <a:pPr marL="514350" indent="-514350">
              <a:buFont typeface="+mj-lt"/>
              <a:buAutoNum type="alphaUcPeriod"/>
            </a:pPr>
            <a:r>
              <a:rPr lang="en-US" u="sng" dirty="0">
                <a:solidFill>
                  <a:schemeClr val="tx2">
                    <a:lumMod val="50000"/>
                    <a:lumOff val="50000"/>
                  </a:schemeClr>
                </a:solidFill>
              </a:rPr>
              <a:t>None of the above</a:t>
            </a:r>
            <a:r>
              <a:rPr lang="en-US" dirty="0">
                <a:solidFill>
                  <a:schemeClr val="tx2">
                    <a:lumMod val="50000"/>
                    <a:lumOff val="50000"/>
                  </a:schemeClr>
                </a:solidFill>
              </a:rPr>
              <a:t> </a:t>
            </a:r>
          </a:p>
          <a:p>
            <a:pPr marL="0" indent="0">
              <a:buNone/>
            </a:pPr>
            <a:r>
              <a:rPr lang="en-US" dirty="0">
                <a:solidFill>
                  <a:schemeClr val="tx2">
                    <a:lumMod val="50000"/>
                    <a:lumOff val="50000"/>
                  </a:schemeClr>
                </a:solidFill>
              </a:rPr>
              <a:t>	(between 5 and 7)</a:t>
            </a:r>
            <a:endParaRPr lang="en-US" u="sng" dirty="0">
              <a:solidFill>
                <a:schemeClr val="tx2">
                  <a:lumMod val="50000"/>
                  <a:lumOff val="50000"/>
                </a:schemeClr>
              </a:solidFill>
            </a:endParaRPr>
          </a:p>
          <a:p>
            <a:pPr marL="514350" indent="-514350">
              <a:buFont typeface="+mj-lt"/>
              <a:buAutoNum type="alphaUcPeriod"/>
            </a:pPr>
            <a:endParaRPr lang="en-US" dirty="0"/>
          </a:p>
        </p:txBody>
      </p:sp>
      <p:sp>
        <p:nvSpPr>
          <p:cNvPr id="7" name="Rectangle 6">
            <a:extLst>
              <a:ext uri="{FF2B5EF4-FFF2-40B4-BE49-F238E27FC236}">
                <a16:creationId xmlns:a16="http://schemas.microsoft.com/office/drawing/2014/main" id="{6811D2D9-2037-AA2E-E456-33CE716ABDDD}"/>
              </a:ext>
            </a:extLst>
          </p:cNvPr>
          <p:cNvSpPr/>
          <p:nvPr/>
        </p:nvSpPr>
        <p:spPr>
          <a:xfrm>
            <a:off x="2643634" y="1972471"/>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8" name="Rectangle 7">
            <a:extLst>
              <a:ext uri="{FF2B5EF4-FFF2-40B4-BE49-F238E27FC236}">
                <a16:creationId xmlns:a16="http://schemas.microsoft.com/office/drawing/2014/main" id="{8294AF31-2BAD-8613-E8A4-99FF17DE81F9}"/>
              </a:ext>
            </a:extLst>
          </p:cNvPr>
          <p:cNvSpPr/>
          <p:nvPr/>
        </p:nvSpPr>
        <p:spPr>
          <a:xfrm>
            <a:off x="2669156" y="2720183"/>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9" name="Rectangle 8">
            <a:extLst>
              <a:ext uri="{FF2B5EF4-FFF2-40B4-BE49-F238E27FC236}">
                <a16:creationId xmlns:a16="http://schemas.microsoft.com/office/drawing/2014/main" id="{0188E738-34D4-1C13-25B3-5271E1B6B67A}"/>
              </a:ext>
            </a:extLst>
          </p:cNvPr>
          <p:cNvSpPr/>
          <p:nvPr/>
        </p:nvSpPr>
        <p:spPr>
          <a:xfrm>
            <a:off x="1672085" y="4252689"/>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h</a:t>
            </a:r>
          </a:p>
        </p:txBody>
      </p:sp>
      <p:sp>
        <p:nvSpPr>
          <p:cNvPr id="10" name="Rectangle 9">
            <a:extLst>
              <a:ext uri="{FF2B5EF4-FFF2-40B4-BE49-F238E27FC236}">
                <a16:creationId xmlns:a16="http://schemas.microsoft.com/office/drawing/2014/main" id="{B664A004-9EE5-F336-89A4-DF551A841B2B}"/>
              </a:ext>
            </a:extLst>
          </p:cNvPr>
          <p:cNvSpPr/>
          <p:nvPr/>
        </p:nvSpPr>
        <p:spPr>
          <a:xfrm>
            <a:off x="1672085" y="3471863"/>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11" name="Rectangle 10">
            <a:extLst>
              <a:ext uri="{FF2B5EF4-FFF2-40B4-BE49-F238E27FC236}">
                <a16:creationId xmlns:a16="http://schemas.microsoft.com/office/drawing/2014/main" id="{15443116-E2F9-42AA-3FD4-A11A2B9E5068}"/>
              </a:ext>
            </a:extLst>
          </p:cNvPr>
          <p:cNvSpPr/>
          <p:nvPr/>
        </p:nvSpPr>
        <p:spPr>
          <a:xfrm>
            <a:off x="1672085" y="2724150"/>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2" name="Rectangle 11">
            <a:extLst>
              <a:ext uri="{FF2B5EF4-FFF2-40B4-BE49-F238E27FC236}">
                <a16:creationId xmlns:a16="http://schemas.microsoft.com/office/drawing/2014/main" id="{4588EBA3-7CD3-F9A0-2FB0-5D015B424D0D}"/>
              </a:ext>
            </a:extLst>
          </p:cNvPr>
          <p:cNvSpPr/>
          <p:nvPr/>
        </p:nvSpPr>
        <p:spPr>
          <a:xfrm>
            <a:off x="3640706" y="2724149"/>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3" name="Straight Arrow Connector 12">
            <a:extLst>
              <a:ext uri="{FF2B5EF4-FFF2-40B4-BE49-F238E27FC236}">
                <a16:creationId xmlns:a16="http://schemas.microsoft.com/office/drawing/2014/main" id="{21625ECF-CCFE-2C8D-5302-B76BC157F82C}"/>
              </a:ext>
            </a:extLst>
          </p:cNvPr>
          <p:cNvCxnSpPr>
            <a:cxnSpLocks/>
            <a:stCxn id="7" idx="2"/>
            <a:endCxn id="8" idx="0"/>
          </p:cNvCxnSpPr>
          <p:nvPr/>
        </p:nvCxnSpPr>
        <p:spPr>
          <a:xfrm>
            <a:off x="2969642" y="2413796"/>
            <a:ext cx="25522" cy="306387"/>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A8C11D1-EC4D-2D50-2063-1725D6B82596}"/>
              </a:ext>
            </a:extLst>
          </p:cNvPr>
          <p:cNvCxnSpPr>
            <a:cxnSpLocks/>
            <a:stCxn id="7" idx="2"/>
            <a:endCxn id="12" idx="0"/>
          </p:cNvCxnSpPr>
          <p:nvPr/>
        </p:nvCxnSpPr>
        <p:spPr>
          <a:xfrm>
            <a:off x="2969642" y="2413796"/>
            <a:ext cx="997072" cy="310353"/>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1258CEC-8A35-9E88-3D74-822142034BCC}"/>
              </a:ext>
            </a:extLst>
          </p:cNvPr>
          <p:cNvCxnSpPr>
            <a:cxnSpLocks/>
            <a:stCxn id="7" idx="2"/>
            <a:endCxn id="11" idx="0"/>
          </p:cNvCxnSpPr>
          <p:nvPr/>
        </p:nvCxnSpPr>
        <p:spPr>
          <a:xfrm flipH="1">
            <a:off x="1998093" y="2413796"/>
            <a:ext cx="971549"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C519054-F5A1-BFB7-375F-90CFCF256F3C}"/>
              </a:ext>
            </a:extLst>
          </p:cNvPr>
          <p:cNvCxnSpPr>
            <a:cxnSpLocks/>
          </p:cNvCxnSpPr>
          <p:nvPr/>
        </p:nvCxnSpPr>
        <p:spPr>
          <a:xfrm>
            <a:off x="2002405" y="3161508"/>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712986B-CD3E-73BD-C83E-F93013691003}"/>
              </a:ext>
            </a:extLst>
          </p:cNvPr>
          <p:cNvCxnSpPr>
            <a:cxnSpLocks/>
          </p:cNvCxnSpPr>
          <p:nvPr/>
        </p:nvCxnSpPr>
        <p:spPr>
          <a:xfrm>
            <a:off x="2021455" y="3919142"/>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904C2693-61E3-0FC7-B3D4-D40B75BBB4DA}"/>
              </a:ext>
            </a:extLst>
          </p:cNvPr>
          <p:cNvSpPr/>
          <p:nvPr/>
        </p:nvSpPr>
        <p:spPr>
          <a:xfrm>
            <a:off x="3640705" y="3473728"/>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a:t>
            </a:r>
          </a:p>
        </p:txBody>
      </p:sp>
      <p:cxnSp>
        <p:nvCxnSpPr>
          <p:cNvPr id="15" name="Straight Arrow Connector 14">
            <a:extLst>
              <a:ext uri="{FF2B5EF4-FFF2-40B4-BE49-F238E27FC236}">
                <a16:creationId xmlns:a16="http://schemas.microsoft.com/office/drawing/2014/main" id="{DBF85F58-44CB-CA9B-6F72-C145A5234485}"/>
              </a:ext>
            </a:extLst>
          </p:cNvPr>
          <p:cNvCxnSpPr>
            <a:cxnSpLocks/>
            <a:endCxn id="4" idx="0"/>
          </p:cNvCxnSpPr>
          <p:nvPr/>
        </p:nvCxnSpPr>
        <p:spPr>
          <a:xfrm>
            <a:off x="3960679" y="3140870"/>
            <a:ext cx="6034" cy="332858"/>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55508F1A-A2BF-299A-3B07-FC5EE60DEBE6}"/>
              </a:ext>
            </a:extLst>
          </p:cNvPr>
          <p:cNvSpPr/>
          <p:nvPr/>
        </p:nvSpPr>
        <p:spPr>
          <a:xfrm>
            <a:off x="1695447" y="5033515"/>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a:solidFill>
                  <a:schemeClr val="tx1"/>
                </a:solidFill>
              </a:rPr>
              <a:t>i</a:t>
            </a:r>
            <a:endParaRPr lang="en-US" sz="2800" dirty="0">
              <a:solidFill>
                <a:schemeClr val="tx1"/>
              </a:solidFill>
            </a:endParaRPr>
          </a:p>
        </p:txBody>
      </p:sp>
      <p:cxnSp>
        <p:nvCxnSpPr>
          <p:cNvPr id="20" name="Straight Arrow Connector 19">
            <a:extLst>
              <a:ext uri="{FF2B5EF4-FFF2-40B4-BE49-F238E27FC236}">
                <a16:creationId xmlns:a16="http://schemas.microsoft.com/office/drawing/2014/main" id="{28BC27CA-4E82-14A3-924E-F493A97C9EAB}"/>
              </a:ext>
            </a:extLst>
          </p:cNvPr>
          <p:cNvCxnSpPr>
            <a:cxnSpLocks/>
          </p:cNvCxnSpPr>
          <p:nvPr/>
        </p:nvCxnSpPr>
        <p:spPr>
          <a:xfrm>
            <a:off x="2018875" y="4706971"/>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0F943EC5-6FE5-560B-4294-0B93E43CE971}"/>
              </a:ext>
            </a:extLst>
          </p:cNvPr>
          <p:cNvSpPr/>
          <p:nvPr/>
        </p:nvSpPr>
        <p:spPr>
          <a:xfrm>
            <a:off x="4580444" y="3471862"/>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g</a:t>
            </a:r>
          </a:p>
        </p:txBody>
      </p:sp>
      <p:cxnSp>
        <p:nvCxnSpPr>
          <p:cNvPr id="23" name="Straight Arrow Connector 22">
            <a:extLst>
              <a:ext uri="{FF2B5EF4-FFF2-40B4-BE49-F238E27FC236}">
                <a16:creationId xmlns:a16="http://schemas.microsoft.com/office/drawing/2014/main" id="{334D5F26-D781-380D-EDA1-C9C01FB33E59}"/>
              </a:ext>
            </a:extLst>
          </p:cNvPr>
          <p:cNvCxnSpPr>
            <a:cxnSpLocks/>
            <a:endCxn id="21" idx="0"/>
          </p:cNvCxnSpPr>
          <p:nvPr/>
        </p:nvCxnSpPr>
        <p:spPr>
          <a:xfrm>
            <a:off x="3943451" y="3155133"/>
            <a:ext cx="963001" cy="316729"/>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470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D3A5D-D143-A9C8-450F-97D91DB38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D7782F-3360-3F9E-02E4-491DF73FF746}"/>
              </a:ext>
            </a:extLst>
          </p:cNvPr>
          <p:cNvSpPr>
            <a:spLocks noGrp="1"/>
          </p:cNvSpPr>
          <p:nvPr>
            <p:ph type="title"/>
          </p:nvPr>
        </p:nvSpPr>
        <p:spPr/>
        <p:txBody>
          <a:bodyPr/>
          <a:lstStyle/>
          <a:p>
            <a:pPr algn="ctr"/>
            <a:r>
              <a:rPr lang="en-US" dirty="0"/>
              <a:t>How long will this graph run on 2 processors?</a:t>
            </a:r>
          </a:p>
        </p:txBody>
      </p:sp>
      <p:sp>
        <p:nvSpPr>
          <p:cNvPr id="5" name="Content Placeholder 4">
            <a:extLst>
              <a:ext uri="{FF2B5EF4-FFF2-40B4-BE49-F238E27FC236}">
                <a16:creationId xmlns:a16="http://schemas.microsoft.com/office/drawing/2014/main" id="{13364377-0EC6-D95A-9546-D2E86294EA79}"/>
              </a:ext>
            </a:extLst>
          </p:cNvPr>
          <p:cNvSpPr>
            <a:spLocks noGrp="1"/>
          </p:cNvSpPr>
          <p:nvPr>
            <p:ph sz="half" idx="2"/>
          </p:nvPr>
        </p:nvSpPr>
        <p:spPr/>
        <p:txBody>
          <a:bodyPr/>
          <a:lstStyle/>
          <a:p>
            <a:pPr marL="514350" indent="-514350">
              <a:buFont typeface="+mj-lt"/>
              <a:buAutoNum type="alphaUcPeriod"/>
            </a:pPr>
            <a:r>
              <a:rPr lang="en-US" dirty="0"/>
              <a:t>Exactly 4 time units</a:t>
            </a:r>
          </a:p>
          <a:p>
            <a:pPr marL="514350" indent="-514350">
              <a:buFont typeface="+mj-lt"/>
              <a:buAutoNum type="alphaUcPeriod"/>
            </a:pPr>
            <a:r>
              <a:rPr lang="en-US" dirty="0"/>
              <a:t>Exactly 5 time units</a:t>
            </a:r>
          </a:p>
          <a:p>
            <a:pPr marL="514350" indent="-514350">
              <a:buFont typeface="+mj-lt"/>
              <a:buAutoNum type="alphaUcPeriod"/>
            </a:pPr>
            <a:r>
              <a:rPr lang="en-US" dirty="0"/>
              <a:t>Either 4 or 5 time units</a:t>
            </a:r>
          </a:p>
          <a:p>
            <a:pPr marL="514350" indent="-514350">
              <a:buFont typeface="+mj-lt"/>
              <a:buAutoNum type="alphaUcPeriod"/>
            </a:pPr>
            <a:r>
              <a:rPr lang="en-US" dirty="0"/>
              <a:t>Either 5 or 6 time units</a:t>
            </a:r>
          </a:p>
          <a:p>
            <a:pPr marL="514350" indent="-514350">
              <a:buFont typeface="+mj-lt"/>
              <a:buAutoNum type="alphaUcPeriod"/>
            </a:pPr>
            <a:r>
              <a:rPr lang="en-US" dirty="0"/>
              <a:t>None of the above</a:t>
            </a:r>
          </a:p>
          <a:p>
            <a:pPr marL="514350" indent="-514350">
              <a:buFont typeface="+mj-lt"/>
              <a:buAutoNum type="alphaUcPeriod"/>
            </a:pPr>
            <a:endParaRPr lang="en-US" dirty="0"/>
          </a:p>
        </p:txBody>
      </p:sp>
      <p:sp>
        <p:nvSpPr>
          <p:cNvPr id="7" name="Rectangle 6">
            <a:extLst>
              <a:ext uri="{FF2B5EF4-FFF2-40B4-BE49-F238E27FC236}">
                <a16:creationId xmlns:a16="http://schemas.microsoft.com/office/drawing/2014/main" id="{6318F1B3-5C49-ABC7-BC9A-3116AF0546EF}"/>
              </a:ext>
            </a:extLst>
          </p:cNvPr>
          <p:cNvSpPr/>
          <p:nvPr/>
        </p:nvSpPr>
        <p:spPr>
          <a:xfrm>
            <a:off x="2147688" y="1986976"/>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8" name="Rectangle 7">
            <a:extLst>
              <a:ext uri="{FF2B5EF4-FFF2-40B4-BE49-F238E27FC236}">
                <a16:creationId xmlns:a16="http://schemas.microsoft.com/office/drawing/2014/main" id="{57768A0D-659E-DF80-9B53-6569BE1DDEA6}"/>
              </a:ext>
            </a:extLst>
          </p:cNvPr>
          <p:cNvSpPr/>
          <p:nvPr/>
        </p:nvSpPr>
        <p:spPr>
          <a:xfrm>
            <a:off x="2669156" y="2720183"/>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sp>
        <p:nvSpPr>
          <p:cNvPr id="9" name="Rectangle 8">
            <a:extLst>
              <a:ext uri="{FF2B5EF4-FFF2-40B4-BE49-F238E27FC236}">
                <a16:creationId xmlns:a16="http://schemas.microsoft.com/office/drawing/2014/main" id="{553892C7-10BA-C27D-F2E2-7560207D3FD0}"/>
              </a:ext>
            </a:extLst>
          </p:cNvPr>
          <p:cNvSpPr/>
          <p:nvPr/>
        </p:nvSpPr>
        <p:spPr>
          <a:xfrm>
            <a:off x="664738" y="2720182"/>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0" name="Rectangle 9">
            <a:extLst>
              <a:ext uri="{FF2B5EF4-FFF2-40B4-BE49-F238E27FC236}">
                <a16:creationId xmlns:a16="http://schemas.microsoft.com/office/drawing/2014/main" id="{23E85FA1-E6F6-A147-27D9-E5161E8C8FA4}"/>
              </a:ext>
            </a:extLst>
          </p:cNvPr>
          <p:cNvSpPr/>
          <p:nvPr/>
        </p:nvSpPr>
        <p:spPr>
          <a:xfrm>
            <a:off x="1672085" y="3471863"/>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a:t>
            </a:r>
          </a:p>
        </p:txBody>
      </p:sp>
      <p:sp>
        <p:nvSpPr>
          <p:cNvPr id="11" name="Rectangle 10">
            <a:extLst>
              <a:ext uri="{FF2B5EF4-FFF2-40B4-BE49-F238E27FC236}">
                <a16:creationId xmlns:a16="http://schemas.microsoft.com/office/drawing/2014/main" id="{9633397E-B3A3-886F-6C0C-55403D12C144}"/>
              </a:ext>
            </a:extLst>
          </p:cNvPr>
          <p:cNvSpPr/>
          <p:nvPr/>
        </p:nvSpPr>
        <p:spPr>
          <a:xfrm>
            <a:off x="1672085" y="2724150"/>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2" name="Rectangle 11">
            <a:extLst>
              <a:ext uri="{FF2B5EF4-FFF2-40B4-BE49-F238E27FC236}">
                <a16:creationId xmlns:a16="http://schemas.microsoft.com/office/drawing/2014/main" id="{89339483-018C-77A9-ED92-A1AC1CED7DA6}"/>
              </a:ext>
            </a:extLst>
          </p:cNvPr>
          <p:cNvSpPr/>
          <p:nvPr/>
        </p:nvSpPr>
        <p:spPr>
          <a:xfrm>
            <a:off x="3640706" y="2724149"/>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cxnSp>
        <p:nvCxnSpPr>
          <p:cNvPr id="13" name="Straight Arrow Connector 12">
            <a:extLst>
              <a:ext uri="{FF2B5EF4-FFF2-40B4-BE49-F238E27FC236}">
                <a16:creationId xmlns:a16="http://schemas.microsoft.com/office/drawing/2014/main" id="{A673710D-4E2E-6D44-1910-A590760A375C}"/>
              </a:ext>
            </a:extLst>
          </p:cNvPr>
          <p:cNvCxnSpPr>
            <a:cxnSpLocks/>
            <a:stCxn id="7" idx="2"/>
            <a:endCxn id="8" idx="0"/>
          </p:cNvCxnSpPr>
          <p:nvPr/>
        </p:nvCxnSpPr>
        <p:spPr>
          <a:xfrm>
            <a:off x="2473696" y="2428301"/>
            <a:ext cx="521468" cy="2918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B74BBA7-429E-142D-7460-D27056ABC526}"/>
              </a:ext>
            </a:extLst>
          </p:cNvPr>
          <p:cNvCxnSpPr>
            <a:cxnSpLocks/>
            <a:stCxn id="7" idx="2"/>
            <a:endCxn id="12" idx="0"/>
          </p:cNvCxnSpPr>
          <p:nvPr/>
        </p:nvCxnSpPr>
        <p:spPr>
          <a:xfrm>
            <a:off x="2473696" y="2428301"/>
            <a:ext cx="1493018" cy="295848"/>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64CFF9D-2526-E81B-A1C6-3BD7797235D8}"/>
              </a:ext>
            </a:extLst>
          </p:cNvPr>
          <p:cNvCxnSpPr>
            <a:cxnSpLocks/>
            <a:stCxn id="7" idx="2"/>
            <a:endCxn id="11" idx="0"/>
          </p:cNvCxnSpPr>
          <p:nvPr/>
        </p:nvCxnSpPr>
        <p:spPr>
          <a:xfrm flipH="1">
            <a:off x="1998093" y="2428301"/>
            <a:ext cx="475603" cy="295849"/>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AA5093B-DA28-55F9-0B36-B9CB6393961C}"/>
              </a:ext>
            </a:extLst>
          </p:cNvPr>
          <p:cNvCxnSpPr>
            <a:cxnSpLocks/>
          </p:cNvCxnSpPr>
          <p:nvPr/>
        </p:nvCxnSpPr>
        <p:spPr>
          <a:xfrm>
            <a:off x="2002405" y="3161508"/>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1C363F2-B35F-1F78-96C6-93A8AF659426}"/>
              </a:ext>
            </a:extLst>
          </p:cNvPr>
          <p:cNvCxnSpPr>
            <a:cxnSpLocks/>
            <a:stCxn id="7" idx="2"/>
            <a:endCxn id="9" idx="0"/>
          </p:cNvCxnSpPr>
          <p:nvPr/>
        </p:nvCxnSpPr>
        <p:spPr>
          <a:xfrm flipH="1">
            <a:off x="990746" y="2428301"/>
            <a:ext cx="1482950" cy="291881"/>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2F8CAC30-8D54-5462-5126-6DEDD771988B}"/>
              </a:ext>
            </a:extLst>
          </p:cNvPr>
          <p:cNvSpPr/>
          <p:nvPr/>
        </p:nvSpPr>
        <p:spPr>
          <a:xfrm>
            <a:off x="3640705" y="3473728"/>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h</a:t>
            </a:r>
          </a:p>
        </p:txBody>
      </p:sp>
      <p:cxnSp>
        <p:nvCxnSpPr>
          <p:cNvPr id="15" name="Straight Arrow Connector 14">
            <a:extLst>
              <a:ext uri="{FF2B5EF4-FFF2-40B4-BE49-F238E27FC236}">
                <a16:creationId xmlns:a16="http://schemas.microsoft.com/office/drawing/2014/main" id="{E9A492C6-B59C-162A-0DA8-BDF909122AB4}"/>
              </a:ext>
            </a:extLst>
          </p:cNvPr>
          <p:cNvCxnSpPr>
            <a:cxnSpLocks/>
            <a:endCxn id="4" idx="0"/>
          </p:cNvCxnSpPr>
          <p:nvPr/>
        </p:nvCxnSpPr>
        <p:spPr>
          <a:xfrm>
            <a:off x="3960679" y="3140870"/>
            <a:ext cx="6034" cy="332858"/>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4342CD26-3803-C008-8386-558F124C7462}"/>
              </a:ext>
            </a:extLst>
          </p:cNvPr>
          <p:cNvSpPr/>
          <p:nvPr/>
        </p:nvSpPr>
        <p:spPr>
          <a:xfrm>
            <a:off x="2686046" y="3471862"/>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g</a:t>
            </a:r>
          </a:p>
        </p:txBody>
      </p:sp>
      <p:cxnSp>
        <p:nvCxnSpPr>
          <p:cNvPr id="20" name="Straight Arrow Connector 19">
            <a:extLst>
              <a:ext uri="{FF2B5EF4-FFF2-40B4-BE49-F238E27FC236}">
                <a16:creationId xmlns:a16="http://schemas.microsoft.com/office/drawing/2014/main" id="{0385A8FC-AF2F-DAEB-2BD6-92CB3CA2D0F3}"/>
              </a:ext>
            </a:extLst>
          </p:cNvPr>
          <p:cNvCxnSpPr>
            <a:cxnSpLocks/>
          </p:cNvCxnSpPr>
          <p:nvPr/>
        </p:nvCxnSpPr>
        <p:spPr>
          <a:xfrm>
            <a:off x="2995163" y="3161508"/>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77DEC809-C5EF-D457-51BC-46B162D6E549}"/>
              </a:ext>
            </a:extLst>
          </p:cNvPr>
          <p:cNvSpPr/>
          <p:nvPr/>
        </p:nvSpPr>
        <p:spPr>
          <a:xfrm>
            <a:off x="4580444" y="3471862"/>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a:solidFill>
                  <a:schemeClr val="tx1"/>
                </a:solidFill>
              </a:rPr>
              <a:t>i</a:t>
            </a:r>
            <a:endParaRPr lang="en-US" sz="2800" dirty="0">
              <a:solidFill>
                <a:schemeClr val="tx1"/>
              </a:solidFill>
            </a:endParaRPr>
          </a:p>
        </p:txBody>
      </p:sp>
      <p:cxnSp>
        <p:nvCxnSpPr>
          <p:cNvPr id="23" name="Straight Arrow Connector 22">
            <a:extLst>
              <a:ext uri="{FF2B5EF4-FFF2-40B4-BE49-F238E27FC236}">
                <a16:creationId xmlns:a16="http://schemas.microsoft.com/office/drawing/2014/main" id="{2E828CD9-B853-B1A2-A9BF-8F68ED5AB991}"/>
              </a:ext>
            </a:extLst>
          </p:cNvPr>
          <p:cNvCxnSpPr>
            <a:cxnSpLocks/>
            <a:endCxn id="21" idx="0"/>
          </p:cNvCxnSpPr>
          <p:nvPr/>
        </p:nvCxnSpPr>
        <p:spPr>
          <a:xfrm>
            <a:off x="3943451" y="3155133"/>
            <a:ext cx="963001" cy="316729"/>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6499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75F3C-1A43-0D09-24E0-58FA89C78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CE215-B86E-C991-8630-4FCF3BAD2622}"/>
              </a:ext>
            </a:extLst>
          </p:cNvPr>
          <p:cNvSpPr>
            <a:spLocks noGrp="1"/>
          </p:cNvSpPr>
          <p:nvPr>
            <p:ph type="title"/>
          </p:nvPr>
        </p:nvSpPr>
        <p:spPr/>
        <p:txBody>
          <a:bodyPr/>
          <a:lstStyle/>
          <a:p>
            <a:pPr algn="ctr"/>
            <a:r>
              <a:rPr lang="en-US" dirty="0"/>
              <a:t>How long will this graph run on 2 processors?</a:t>
            </a:r>
          </a:p>
        </p:txBody>
      </p:sp>
      <p:sp>
        <p:nvSpPr>
          <p:cNvPr id="5" name="Content Placeholder 4">
            <a:extLst>
              <a:ext uri="{FF2B5EF4-FFF2-40B4-BE49-F238E27FC236}">
                <a16:creationId xmlns:a16="http://schemas.microsoft.com/office/drawing/2014/main" id="{98A22E80-B00C-4750-AD0F-0E305F73227C}"/>
              </a:ext>
            </a:extLst>
          </p:cNvPr>
          <p:cNvSpPr>
            <a:spLocks noGrp="1"/>
          </p:cNvSpPr>
          <p:nvPr>
            <p:ph sz="half" idx="2"/>
          </p:nvPr>
        </p:nvSpPr>
        <p:spPr/>
        <p:txBody>
          <a:bodyPr/>
          <a:lstStyle/>
          <a:p>
            <a:pPr marL="514350" indent="-514350">
              <a:buFont typeface="+mj-lt"/>
              <a:buAutoNum type="alphaUcPeriod"/>
            </a:pPr>
            <a:r>
              <a:rPr lang="en-US" dirty="0"/>
              <a:t>Exactly 4 time units</a:t>
            </a:r>
          </a:p>
          <a:p>
            <a:pPr marL="514350" indent="-514350">
              <a:buFont typeface="+mj-lt"/>
              <a:buAutoNum type="alphaUcPeriod"/>
            </a:pPr>
            <a:r>
              <a:rPr lang="en-US" dirty="0"/>
              <a:t>Exactly 5 time units</a:t>
            </a:r>
          </a:p>
          <a:p>
            <a:pPr marL="514350" indent="-514350">
              <a:buFont typeface="+mj-lt"/>
              <a:buAutoNum type="alphaUcPeriod"/>
            </a:pPr>
            <a:r>
              <a:rPr lang="en-US" dirty="0"/>
              <a:t>Either 4 or 5 time units</a:t>
            </a:r>
          </a:p>
          <a:p>
            <a:pPr marL="514350" indent="-514350">
              <a:buFont typeface="+mj-lt"/>
              <a:buAutoNum type="alphaUcPeriod"/>
            </a:pPr>
            <a:r>
              <a:rPr lang="en-US" u="sng" dirty="0">
                <a:solidFill>
                  <a:schemeClr val="tx2">
                    <a:lumMod val="50000"/>
                    <a:lumOff val="50000"/>
                  </a:schemeClr>
                </a:solidFill>
              </a:rPr>
              <a:t>Either 5 or 6 time units</a:t>
            </a:r>
          </a:p>
          <a:p>
            <a:pPr marL="514350" indent="-514350">
              <a:buFont typeface="+mj-lt"/>
              <a:buAutoNum type="alphaUcPeriod"/>
            </a:pPr>
            <a:r>
              <a:rPr lang="en-US" dirty="0"/>
              <a:t>None of the above</a:t>
            </a:r>
          </a:p>
          <a:p>
            <a:pPr marL="514350" indent="-514350">
              <a:buFont typeface="+mj-lt"/>
              <a:buAutoNum type="alphaUcPeriod"/>
            </a:pPr>
            <a:endParaRPr lang="en-US" dirty="0"/>
          </a:p>
        </p:txBody>
      </p:sp>
      <p:sp>
        <p:nvSpPr>
          <p:cNvPr id="7" name="Rectangle 6">
            <a:extLst>
              <a:ext uri="{FF2B5EF4-FFF2-40B4-BE49-F238E27FC236}">
                <a16:creationId xmlns:a16="http://schemas.microsoft.com/office/drawing/2014/main" id="{D96D15B5-0D91-0DEB-1241-FDFB1429963D}"/>
              </a:ext>
            </a:extLst>
          </p:cNvPr>
          <p:cNvSpPr/>
          <p:nvPr/>
        </p:nvSpPr>
        <p:spPr>
          <a:xfrm>
            <a:off x="2147688" y="1986976"/>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8" name="Rectangle 7">
            <a:extLst>
              <a:ext uri="{FF2B5EF4-FFF2-40B4-BE49-F238E27FC236}">
                <a16:creationId xmlns:a16="http://schemas.microsoft.com/office/drawing/2014/main" id="{06FED693-DD06-60A0-134D-1C8040A2EAAE}"/>
              </a:ext>
            </a:extLst>
          </p:cNvPr>
          <p:cNvSpPr/>
          <p:nvPr/>
        </p:nvSpPr>
        <p:spPr>
          <a:xfrm>
            <a:off x="2669156" y="2720183"/>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sp>
        <p:nvSpPr>
          <p:cNvPr id="9" name="Rectangle 8">
            <a:extLst>
              <a:ext uri="{FF2B5EF4-FFF2-40B4-BE49-F238E27FC236}">
                <a16:creationId xmlns:a16="http://schemas.microsoft.com/office/drawing/2014/main" id="{4F6751BD-DB4E-A39D-84C3-7E582248BC06}"/>
              </a:ext>
            </a:extLst>
          </p:cNvPr>
          <p:cNvSpPr/>
          <p:nvPr/>
        </p:nvSpPr>
        <p:spPr>
          <a:xfrm>
            <a:off x="664738" y="2720182"/>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0" name="Rectangle 9">
            <a:extLst>
              <a:ext uri="{FF2B5EF4-FFF2-40B4-BE49-F238E27FC236}">
                <a16:creationId xmlns:a16="http://schemas.microsoft.com/office/drawing/2014/main" id="{AF7B669F-7C6F-6F86-CF4A-5D61480BAB42}"/>
              </a:ext>
            </a:extLst>
          </p:cNvPr>
          <p:cNvSpPr/>
          <p:nvPr/>
        </p:nvSpPr>
        <p:spPr>
          <a:xfrm>
            <a:off x="1672085" y="3471863"/>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a:t>
            </a:r>
          </a:p>
        </p:txBody>
      </p:sp>
      <p:sp>
        <p:nvSpPr>
          <p:cNvPr id="11" name="Rectangle 10">
            <a:extLst>
              <a:ext uri="{FF2B5EF4-FFF2-40B4-BE49-F238E27FC236}">
                <a16:creationId xmlns:a16="http://schemas.microsoft.com/office/drawing/2014/main" id="{BE9E6C70-F25A-23E1-80DB-D008A161332B}"/>
              </a:ext>
            </a:extLst>
          </p:cNvPr>
          <p:cNvSpPr/>
          <p:nvPr/>
        </p:nvSpPr>
        <p:spPr>
          <a:xfrm>
            <a:off x="1672085" y="2724150"/>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2" name="Rectangle 11">
            <a:extLst>
              <a:ext uri="{FF2B5EF4-FFF2-40B4-BE49-F238E27FC236}">
                <a16:creationId xmlns:a16="http://schemas.microsoft.com/office/drawing/2014/main" id="{E1213D45-A21A-073E-4598-B70C90832A81}"/>
              </a:ext>
            </a:extLst>
          </p:cNvPr>
          <p:cNvSpPr/>
          <p:nvPr/>
        </p:nvSpPr>
        <p:spPr>
          <a:xfrm>
            <a:off x="3640706" y="2724149"/>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cxnSp>
        <p:nvCxnSpPr>
          <p:cNvPr id="13" name="Straight Arrow Connector 12">
            <a:extLst>
              <a:ext uri="{FF2B5EF4-FFF2-40B4-BE49-F238E27FC236}">
                <a16:creationId xmlns:a16="http://schemas.microsoft.com/office/drawing/2014/main" id="{65FE1660-53BB-13DF-2D82-EA1095B3BE30}"/>
              </a:ext>
            </a:extLst>
          </p:cNvPr>
          <p:cNvCxnSpPr>
            <a:cxnSpLocks/>
            <a:stCxn id="7" idx="2"/>
            <a:endCxn id="8" idx="0"/>
          </p:cNvCxnSpPr>
          <p:nvPr/>
        </p:nvCxnSpPr>
        <p:spPr>
          <a:xfrm>
            <a:off x="2473696" y="2428301"/>
            <a:ext cx="521468" cy="2918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151A58F-BEAC-1C87-AF0E-82692779DF68}"/>
              </a:ext>
            </a:extLst>
          </p:cNvPr>
          <p:cNvCxnSpPr>
            <a:cxnSpLocks/>
            <a:stCxn id="7" idx="2"/>
            <a:endCxn id="12" idx="0"/>
          </p:cNvCxnSpPr>
          <p:nvPr/>
        </p:nvCxnSpPr>
        <p:spPr>
          <a:xfrm>
            <a:off x="2473696" y="2428301"/>
            <a:ext cx="1493018" cy="295848"/>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E0CBC51-BEFA-40D3-0173-14794CC7A647}"/>
              </a:ext>
            </a:extLst>
          </p:cNvPr>
          <p:cNvCxnSpPr>
            <a:cxnSpLocks/>
            <a:stCxn id="7" idx="2"/>
            <a:endCxn id="11" idx="0"/>
          </p:cNvCxnSpPr>
          <p:nvPr/>
        </p:nvCxnSpPr>
        <p:spPr>
          <a:xfrm flipH="1">
            <a:off x="1998093" y="2428301"/>
            <a:ext cx="475603" cy="295849"/>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13D7968-4C5A-E002-7EF2-DEB85E101A6A}"/>
              </a:ext>
            </a:extLst>
          </p:cNvPr>
          <p:cNvCxnSpPr>
            <a:cxnSpLocks/>
          </p:cNvCxnSpPr>
          <p:nvPr/>
        </p:nvCxnSpPr>
        <p:spPr>
          <a:xfrm>
            <a:off x="2002405" y="3161508"/>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F42418A-0C24-DF8C-03D0-205D726048EB}"/>
              </a:ext>
            </a:extLst>
          </p:cNvPr>
          <p:cNvCxnSpPr>
            <a:cxnSpLocks/>
            <a:stCxn id="7" idx="2"/>
            <a:endCxn id="9" idx="0"/>
          </p:cNvCxnSpPr>
          <p:nvPr/>
        </p:nvCxnSpPr>
        <p:spPr>
          <a:xfrm flipH="1">
            <a:off x="990746" y="2428301"/>
            <a:ext cx="1482950" cy="291881"/>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7B103417-B027-B142-BADA-1445EA4CDDF7}"/>
              </a:ext>
            </a:extLst>
          </p:cNvPr>
          <p:cNvSpPr/>
          <p:nvPr/>
        </p:nvSpPr>
        <p:spPr>
          <a:xfrm>
            <a:off x="3640705" y="3473728"/>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h</a:t>
            </a:r>
          </a:p>
        </p:txBody>
      </p:sp>
      <p:cxnSp>
        <p:nvCxnSpPr>
          <p:cNvPr id="15" name="Straight Arrow Connector 14">
            <a:extLst>
              <a:ext uri="{FF2B5EF4-FFF2-40B4-BE49-F238E27FC236}">
                <a16:creationId xmlns:a16="http://schemas.microsoft.com/office/drawing/2014/main" id="{03AD31C2-DEB0-C363-75EE-A94B0E7189D0}"/>
              </a:ext>
            </a:extLst>
          </p:cNvPr>
          <p:cNvCxnSpPr>
            <a:cxnSpLocks/>
            <a:endCxn id="4" idx="0"/>
          </p:cNvCxnSpPr>
          <p:nvPr/>
        </p:nvCxnSpPr>
        <p:spPr>
          <a:xfrm>
            <a:off x="3960679" y="3140870"/>
            <a:ext cx="6034" cy="332858"/>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80217302-EECC-7119-CEC7-41660F398742}"/>
              </a:ext>
            </a:extLst>
          </p:cNvPr>
          <p:cNvSpPr/>
          <p:nvPr/>
        </p:nvSpPr>
        <p:spPr>
          <a:xfrm>
            <a:off x="2686046" y="3471862"/>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g</a:t>
            </a:r>
          </a:p>
        </p:txBody>
      </p:sp>
      <p:cxnSp>
        <p:nvCxnSpPr>
          <p:cNvPr id="20" name="Straight Arrow Connector 19">
            <a:extLst>
              <a:ext uri="{FF2B5EF4-FFF2-40B4-BE49-F238E27FC236}">
                <a16:creationId xmlns:a16="http://schemas.microsoft.com/office/drawing/2014/main" id="{34A7F1A5-7AC4-4032-D675-973DDE19E305}"/>
              </a:ext>
            </a:extLst>
          </p:cNvPr>
          <p:cNvCxnSpPr>
            <a:cxnSpLocks/>
          </p:cNvCxnSpPr>
          <p:nvPr/>
        </p:nvCxnSpPr>
        <p:spPr>
          <a:xfrm>
            <a:off x="2995163" y="3161508"/>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E5C84B6B-A79C-677A-1E6F-640728742166}"/>
              </a:ext>
            </a:extLst>
          </p:cNvPr>
          <p:cNvSpPr/>
          <p:nvPr/>
        </p:nvSpPr>
        <p:spPr>
          <a:xfrm>
            <a:off x="4580444" y="3471862"/>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a:solidFill>
                  <a:schemeClr val="tx1"/>
                </a:solidFill>
              </a:rPr>
              <a:t>i</a:t>
            </a:r>
            <a:endParaRPr lang="en-US" sz="2800" dirty="0">
              <a:solidFill>
                <a:schemeClr val="tx1"/>
              </a:solidFill>
            </a:endParaRPr>
          </a:p>
        </p:txBody>
      </p:sp>
      <p:cxnSp>
        <p:nvCxnSpPr>
          <p:cNvPr id="23" name="Straight Arrow Connector 22">
            <a:extLst>
              <a:ext uri="{FF2B5EF4-FFF2-40B4-BE49-F238E27FC236}">
                <a16:creationId xmlns:a16="http://schemas.microsoft.com/office/drawing/2014/main" id="{9ED4CF78-7EE5-A389-65FB-9272B6890445}"/>
              </a:ext>
            </a:extLst>
          </p:cNvPr>
          <p:cNvCxnSpPr>
            <a:cxnSpLocks/>
            <a:endCxn id="21" idx="0"/>
          </p:cNvCxnSpPr>
          <p:nvPr/>
        </p:nvCxnSpPr>
        <p:spPr>
          <a:xfrm>
            <a:off x="3943451" y="3155133"/>
            <a:ext cx="963001" cy="316729"/>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96562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4071E42-796D-7891-529F-B763B09122FE}"/>
              </a:ext>
            </a:extLst>
          </p:cNvPr>
          <p:cNvSpPr>
            <a:spLocks noGrp="1"/>
          </p:cNvSpPr>
          <p:nvPr>
            <p:ph type="title"/>
          </p:nvPr>
        </p:nvSpPr>
        <p:spPr/>
        <p:txBody>
          <a:bodyPr/>
          <a:lstStyle/>
          <a:p>
            <a:pPr algn="ctr"/>
            <a:r>
              <a:rPr lang="en-US" dirty="0"/>
              <a:t>Now we’re trying to optimize 2 things</a:t>
            </a:r>
          </a:p>
        </p:txBody>
      </p:sp>
      <p:sp>
        <p:nvSpPr>
          <p:cNvPr id="6" name="Content Placeholder 5">
            <a:extLst>
              <a:ext uri="{FF2B5EF4-FFF2-40B4-BE49-F238E27FC236}">
                <a16:creationId xmlns:a16="http://schemas.microsoft.com/office/drawing/2014/main" id="{D583252B-5E97-46C2-F75E-5E802A57D037}"/>
              </a:ext>
            </a:extLst>
          </p:cNvPr>
          <p:cNvSpPr>
            <a:spLocks noGrp="1"/>
          </p:cNvSpPr>
          <p:nvPr>
            <p:ph idx="1"/>
          </p:nvPr>
        </p:nvSpPr>
        <p:spPr/>
        <p:txBody>
          <a:bodyPr/>
          <a:lstStyle/>
          <a:p>
            <a:r>
              <a:rPr lang="en-US" sz="3200" dirty="0"/>
              <a:t>Work = number of strands (denoted T</a:t>
            </a:r>
            <a:r>
              <a:rPr lang="en-US" sz="3200" baseline="-25000" dirty="0"/>
              <a:t>1</a:t>
            </a:r>
            <a:r>
              <a:rPr lang="en-US" sz="3200" dirty="0"/>
              <a:t>)</a:t>
            </a:r>
          </a:p>
          <a:p>
            <a:endParaRPr lang="en-US" sz="3200" dirty="0"/>
          </a:p>
          <a:p>
            <a:r>
              <a:rPr lang="en-US" sz="3200" dirty="0"/>
              <a:t>Span = length of longest path (denoted T</a:t>
            </a:r>
            <a:r>
              <a:rPr lang="en-US" sz="3200" baseline="-25000" dirty="0"/>
              <a:t>∞</a:t>
            </a:r>
            <a:r>
              <a:rPr lang="en-US" sz="3200" dirty="0"/>
              <a:t>)</a:t>
            </a:r>
          </a:p>
        </p:txBody>
      </p:sp>
    </p:spTree>
    <p:extLst>
      <p:ext uri="{BB962C8B-B14F-4D97-AF65-F5344CB8AC3E}">
        <p14:creationId xmlns:p14="http://schemas.microsoft.com/office/powerpoint/2010/main" val="2332147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4789B-31C2-B9D0-782D-C00C9687F0C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EC3AB66-A6BA-5460-F54F-C281049D438B}"/>
              </a:ext>
            </a:extLst>
          </p:cNvPr>
          <p:cNvSpPr>
            <a:spLocks noGrp="1"/>
          </p:cNvSpPr>
          <p:nvPr>
            <p:ph type="title"/>
          </p:nvPr>
        </p:nvSpPr>
        <p:spPr/>
        <p:txBody>
          <a:bodyPr/>
          <a:lstStyle/>
          <a:p>
            <a:pPr algn="ctr"/>
            <a:r>
              <a:rPr lang="en-US" dirty="0"/>
              <a:t>Now we’re trying to optimize 2 things</a:t>
            </a:r>
          </a:p>
        </p:txBody>
      </p:sp>
      <p:sp>
        <p:nvSpPr>
          <p:cNvPr id="6" name="Content Placeholder 5">
            <a:extLst>
              <a:ext uri="{FF2B5EF4-FFF2-40B4-BE49-F238E27FC236}">
                <a16:creationId xmlns:a16="http://schemas.microsoft.com/office/drawing/2014/main" id="{F805E96F-2FF5-951F-1B23-DD65EF2DEF7D}"/>
              </a:ext>
            </a:extLst>
          </p:cNvPr>
          <p:cNvSpPr>
            <a:spLocks noGrp="1"/>
          </p:cNvSpPr>
          <p:nvPr>
            <p:ph idx="1"/>
          </p:nvPr>
        </p:nvSpPr>
        <p:spPr>
          <a:xfrm>
            <a:off x="838200" y="1825625"/>
            <a:ext cx="10515600" cy="1682353"/>
          </a:xfrm>
        </p:spPr>
        <p:txBody>
          <a:bodyPr>
            <a:normAutofit/>
          </a:bodyPr>
          <a:lstStyle/>
          <a:p>
            <a:r>
              <a:rPr lang="en-US" sz="3200" dirty="0"/>
              <a:t>Work = number of strands (denoted T</a:t>
            </a:r>
            <a:r>
              <a:rPr lang="en-US" sz="3200" baseline="-25000" dirty="0"/>
              <a:t>1</a:t>
            </a:r>
            <a:r>
              <a:rPr lang="en-US" sz="3200" dirty="0"/>
              <a:t>)</a:t>
            </a:r>
          </a:p>
          <a:p>
            <a:endParaRPr lang="en-US" sz="3200" dirty="0"/>
          </a:p>
          <a:p>
            <a:r>
              <a:rPr lang="en-US" sz="3200" dirty="0"/>
              <a:t>Span = length of longest path (denoted T</a:t>
            </a:r>
            <a:r>
              <a:rPr lang="en-US" sz="3200" baseline="-25000" dirty="0"/>
              <a:t>∞</a:t>
            </a:r>
            <a:r>
              <a:rPr lang="en-US" sz="3200" dirty="0"/>
              <a:t>)</a:t>
            </a:r>
          </a:p>
          <a:p>
            <a:endParaRPr lang="en-US" sz="3200" dirty="0"/>
          </a:p>
          <a:p>
            <a:endParaRPr lang="en-US" sz="3200" dirty="0"/>
          </a:p>
          <a:p>
            <a:endParaRPr lang="en-US" dirty="0"/>
          </a:p>
        </p:txBody>
      </p:sp>
      <p:grpSp>
        <p:nvGrpSpPr>
          <p:cNvPr id="7" name="Group 6">
            <a:extLst>
              <a:ext uri="{FF2B5EF4-FFF2-40B4-BE49-F238E27FC236}">
                <a16:creationId xmlns:a16="http://schemas.microsoft.com/office/drawing/2014/main" id="{0E8FD95D-DD00-2E09-19A7-745BA9BA8C4B}"/>
              </a:ext>
            </a:extLst>
          </p:cNvPr>
          <p:cNvGrpSpPr/>
          <p:nvPr/>
        </p:nvGrpSpPr>
        <p:grpSpPr>
          <a:xfrm>
            <a:off x="8733164" y="3191671"/>
            <a:ext cx="2620636" cy="2688430"/>
            <a:chOff x="1672085" y="1972471"/>
            <a:chExt cx="2620636" cy="2688430"/>
          </a:xfrm>
        </p:grpSpPr>
        <p:sp>
          <p:nvSpPr>
            <p:cNvPr id="8" name="Rectangle 7">
              <a:extLst>
                <a:ext uri="{FF2B5EF4-FFF2-40B4-BE49-F238E27FC236}">
                  <a16:creationId xmlns:a16="http://schemas.microsoft.com/office/drawing/2014/main" id="{21839F90-CE1E-9465-A109-3BB5A6563918}"/>
                </a:ext>
              </a:extLst>
            </p:cNvPr>
            <p:cNvSpPr/>
            <p:nvPr/>
          </p:nvSpPr>
          <p:spPr>
            <a:xfrm>
              <a:off x="2643634" y="1972471"/>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9" name="Rectangle 8">
              <a:extLst>
                <a:ext uri="{FF2B5EF4-FFF2-40B4-BE49-F238E27FC236}">
                  <a16:creationId xmlns:a16="http://schemas.microsoft.com/office/drawing/2014/main" id="{3F51FEBF-B4A5-28EE-697B-F5F5B80E846A}"/>
                </a:ext>
              </a:extLst>
            </p:cNvPr>
            <p:cNvSpPr/>
            <p:nvPr/>
          </p:nvSpPr>
          <p:spPr>
            <a:xfrm>
              <a:off x="2669156" y="2720183"/>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0" name="Rectangle 9">
              <a:extLst>
                <a:ext uri="{FF2B5EF4-FFF2-40B4-BE49-F238E27FC236}">
                  <a16:creationId xmlns:a16="http://schemas.microsoft.com/office/drawing/2014/main" id="{6F0019D4-D42B-BC56-1001-1E8C00026F71}"/>
                </a:ext>
              </a:extLst>
            </p:cNvPr>
            <p:cNvSpPr/>
            <p:nvPr/>
          </p:nvSpPr>
          <p:spPr>
            <a:xfrm>
              <a:off x="1672085" y="4219576"/>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a:t>
              </a:r>
            </a:p>
          </p:txBody>
        </p:sp>
        <p:sp>
          <p:nvSpPr>
            <p:cNvPr id="11" name="Rectangle 10">
              <a:extLst>
                <a:ext uri="{FF2B5EF4-FFF2-40B4-BE49-F238E27FC236}">
                  <a16:creationId xmlns:a16="http://schemas.microsoft.com/office/drawing/2014/main" id="{9E4F5BBD-63FC-F76C-93B4-B68B46E35986}"/>
                </a:ext>
              </a:extLst>
            </p:cNvPr>
            <p:cNvSpPr/>
            <p:nvPr/>
          </p:nvSpPr>
          <p:spPr>
            <a:xfrm>
              <a:off x="1672085" y="3471863"/>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12" name="Rectangle 11">
              <a:extLst>
                <a:ext uri="{FF2B5EF4-FFF2-40B4-BE49-F238E27FC236}">
                  <a16:creationId xmlns:a16="http://schemas.microsoft.com/office/drawing/2014/main" id="{E1DF8C54-6823-B705-B199-59D569C52C71}"/>
                </a:ext>
              </a:extLst>
            </p:cNvPr>
            <p:cNvSpPr/>
            <p:nvPr/>
          </p:nvSpPr>
          <p:spPr>
            <a:xfrm>
              <a:off x="1672085" y="2724150"/>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3" name="Rectangle 12">
              <a:extLst>
                <a:ext uri="{FF2B5EF4-FFF2-40B4-BE49-F238E27FC236}">
                  <a16:creationId xmlns:a16="http://schemas.microsoft.com/office/drawing/2014/main" id="{55940D42-FAE3-822C-422B-54AA45719D37}"/>
                </a:ext>
              </a:extLst>
            </p:cNvPr>
            <p:cNvSpPr/>
            <p:nvPr/>
          </p:nvSpPr>
          <p:spPr>
            <a:xfrm>
              <a:off x="3640706" y="2724149"/>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Arrow Connector 13">
              <a:extLst>
                <a:ext uri="{FF2B5EF4-FFF2-40B4-BE49-F238E27FC236}">
                  <a16:creationId xmlns:a16="http://schemas.microsoft.com/office/drawing/2014/main" id="{5D017C48-56D7-984A-8B33-0BB248FADFD7}"/>
                </a:ext>
              </a:extLst>
            </p:cNvPr>
            <p:cNvCxnSpPr>
              <a:cxnSpLocks/>
              <a:stCxn id="8" idx="2"/>
              <a:endCxn id="9" idx="0"/>
            </p:cNvCxnSpPr>
            <p:nvPr/>
          </p:nvCxnSpPr>
          <p:spPr>
            <a:xfrm>
              <a:off x="2969642" y="2413796"/>
              <a:ext cx="25522" cy="306387"/>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1AB8717-24AC-864F-A689-CBA6B5902322}"/>
                </a:ext>
              </a:extLst>
            </p:cNvPr>
            <p:cNvCxnSpPr>
              <a:cxnSpLocks/>
              <a:stCxn id="8" idx="2"/>
              <a:endCxn id="13" idx="0"/>
            </p:cNvCxnSpPr>
            <p:nvPr/>
          </p:nvCxnSpPr>
          <p:spPr>
            <a:xfrm>
              <a:off x="2969642" y="2413796"/>
              <a:ext cx="997072" cy="310353"/>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63ACA42-0DB0-B0B8-3699-2557755E4F96}"/>
                </a:ext>
              </a:extLst>
            </p:cNvPr>
            <p:cNvCxnSpPr>
              <a:cxnSpLocks/>
              <a:stCxn id="8" idx="2"/>
              <a:endCxn id="12" idx="0"/>
            </p:cNvCxnSpPr>
            <p:nvPr/>
          </p:nvCxnSpPr>
          <p:spPr>
            <a:xfrm flipH="1">
              <a:off x="1998093" y="2413796"/>
              <a:ext cx="971549"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43DDA0F-FD9B-C00D-773B-DA0F2D61E45A}"/>
                </a:ext>
              </a:extLst>
            </p:cNvPr>
            <p:cNvCxnSpPr>
              <a:cxnSpLocks/>
            </p:cNvCxnSpPr>
            <p:nvPr/>
          </p:nvCxnSpPr>
          <p:spPr>
            <a:xfrm>
              <a:off x="2002405" y="3161508"/>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D1C186A-F9C6-6287-6961-AA97BD3D9846}"/>
                </a:ext>
              </a:extLst>
            </p:cNvPr>
            <p:cNvCxnSpPr>
              <a:cxnSpLocks/>
            </p:cNvCxnSpPr>
            <p:nvPr/>
          </p:nvCxnSpPr>
          <p:spPr>
            <a:xfrm>
              <a:off x="2021455" y="3919142"/>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D643368A-1ACD-DF48-9952-26DD2F6F0EDF}"/>
              </a:ext>
            </a:extLst>
          </p:cNvPr>
          <p:cNvSpPr txBox="1"/>
          <p:nvPr/>
        </p:nvSpPr>
        <p:spPr>
          <a:xfrm>
            <a:off x="2743209" y="3839726"/>
            <a:ext cx="5687311" cy="2308324"/>
          </a:xfrm>
          <a:prstGeom prst="rect">
            <a:avLst/>
          </a:prstGeom>
          <a:noFill/>
        </p:spPr>
        <p:txBody>
          <a:bodyPr wrap="square" rtlCol="0">
            <a:spAutoFit/>
          </a:bodyPr>
          <a:lstStyle/>
          <a:p>
            <a:pPr marL="0" indent="0">
              <a:buNone/>
            </a:pPr>
            <a:r>
              <a:rPr lang="en-US" sz="2400" dirty="0"/>
              <a:t>What are the work and span of this graph?</a:t>
            </a:r>
          </a:p>
          <a:p>
            <a:pPr marL="457200" indent="-457200">
              <a:buFont typeface="+mj-lt"/>
              <a:buAutoNum type="alphaUcPeriod"/>
            </a:pPr>
            <a:r>
              <a:rPr lang="en-US" sz="2400" dirty="0"/>
              <a:t>3 and 4</a:t>
            </a:r>
          </a:p>
          <a:p>
            <a:pPr marL="457200" indent="-457200">
              <a:buFont typeface="+mj-lt"/>
              <a:buAutoNum type="alphaUcPeriod"/>
            </a:pPr>
            <a:r>
              <a:rPr lang="en-US" sz="2400" dirty="0"/>
              <a:t>4 and 4</a:t>
            </a:r>
          </a:p>
          <a:p>
            <a:pPr marL="457200" indent="-457200">
              <a:buFont typeface="+mj-lt"/>
              <a:buAutoNum type="alphaUcPeriod"/>
            </a:pPr>
            <a:r>
              <a:rPr lang="en-US" sz="2400" dirty="0"/>
              <a:t>6 and 3</a:t>
            </a:r>
          </a:p>
          <a:p>
            <a:pPr marL="457200" indent="-457200">
              <a:buFont typeface="+mj-lt"/>
              <a:buAutoNum type="alphaUcPeriod"/>
            </a:pPr>
            <a:r>
              <a:rPr lang="en-US" sz="2400" dirty="0"/>
              <a:t>7 and 3</a:t>
            </a:r>
          </a:p>
          <a:p>
            <a:pPr marL="457200" indent="-457200">
              <a:buFont typeface="+mj-lt"/>
              <a:buAutoNum type="alphaUcPeriod"/>
            </a:pPr>
            <a:r>
              <a:rPr lang="en-US" sz="2400" dirty="0"/>
              <a:t>None of the above</a:t>
            </a:r>
            <a:endParaRPr lang="en-US" dirty="0"/>
          </a:p>
        </p:txBody>
      </p:sp>
    </p:spTree>
    <p:extLst>
      <p:ext uri="{BB962C8B-B14F-4D97-AF65-F5344CB8AC3E}">
        <p14:creationId xmlns:p14="http://schemas.microsoft.com/office/powerpoint/2010/main" val="843831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2F50D-6F43-FC41-F923-BDFEA5F9AE3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101C128-7C52-21F6-C08C-004B2F756463}"/>
              </a:ext>
            </a:extLst>
          </p:cNvPr>
          <p:cNvSpPr>
            <a:spLocks noGrp="1"/>
          </p:cNvSpPr>
          <p:nvPr>
            <p:ph type="title"/>
          </p:nvPr>
        </p:nvSpPr>
        <p:spPr/>
        <p:txBody>
          <a:bodyPr/>
          <a:lstStyle/>
          <a:p>
            <a:pPr algn="ctr"/>
            <a:r>
              <a:rPr lang="en-US" dirty="0"/>
              <a:t>Now we’re trying to optimize 2 things</a:t>
            </a:r>
          </a:p>
        </p:txBody>
      </p:sp>
      <p:sp>
        <p:nvSpPr>
          <p:cNvPr id="6" name="Content Placeholder 5">
            <a:extLst>
              <a:ext uri="{FF2B5EF4-FFF2-40B4-BE49-F238E27FC236}">
                <a16:creationId xmlns:a16="http://schemas.microsoft.com/office/drawing/2014/main" id="{B0677FE5-87D6-D81C-DC03-506A9627584D}"/>
              </a:ext>
            </a:extLst>
          </p:cNvPr>
          <p:cNvSpPr>
            <a:spLocks noGrp="1"/>
          </p:cNvSpPr>
          <p:nvPr>
            <p:ph idx="1"/>
          </p:nvPr>
        </p:nvSpPr>
        <p:spPr>
          <a:xfrm>
            <a:off x="838200" y="1825625"/>
            <a:ext cx="10515600" cy="1682353"/>
          </a:xfrm>
        </p:spPr>
        <p:txBody>
          <a:bodyPr>
            <a:normAutofit/>
          </a:bodyPr>
          <a:lstStyle/>
          <a:p>
            <a:r>
              <a:rPr lang="en-US" sz="3200" dirty="0"/>
              <a:t>Work = number of strands (denoted T</a:t>
            </a:r>
            <a:r>
              <a:rPr lang="en-US" sz="3200" baseline="-25000" dirty="0"/>
              <a:t>1</a:t>
            </a:r>
            <a:r>
              <a:rPr lang="en-US" sz="3200" dirty="0"/>
              <a:t>)</a:t>
            </a:r>
          </a:p>
          <a:p>
            <a:endParaRPr lang="en-US" sz="3200" dirty="0"/>
          </a:p>
          <a:p>
            <a:r>
              <a:rPr lang="en-US" sz="3200" dirty="0"/>
              <a:t>Span = length of longest path (denoted T</a:t>
            </a:r>
            <a:r>
              <a:rPr lang="en-US" sz="3200" baseline="-25000" dirty="0"/>
              <a:t>∞</a:t>
            </a:r>
            <a:r>
              <a:rPr lang="en-US" sz="3200" dirty="0"/>
              <a:t>)</a:t>
            </a:r>
          </a:p>
          <a:p>
            <a:endParaRPr lang="en-US" sz="3200" dirty="0"/>
          </a:p>
          <a:p>
            <a:endParaRPr lang="en-US" sz="3200" dirty="0"/>
          </a:p>
          <a:p>
            <a:endParaRPr lang="en-US" dirty="0"/>
          </a:p>
        </p:txBody>
      </p:sp>
      <p:grpSp>
        <p:nvGrpSpPr>
          <p:cNvPr id="7" name="Group 6">
            <a:extLst>
              <a:ext uri="{FF2B5EF4-FFF2-40B4-BE49-F238E27FC236}">
                <a16:creationId xmlns:a16="http://schemas.microsoft.com/office/drawing/2014/main" id="{0E4FE99B-6407-4A4B-B358-687203558001}"/>
              </a:ext>
            </a:extLst>
          </p:cNvPr>
          <p:cNvGrpSpPr/>
          <p:nvPr/>
        </p:nvGrpSpPr>
        <p:grpSpPr>
          <a:xfrm>
            <a:off x="8733164" y="3191671"/>
            <a:ext cx="2620636" cy="2688430"/>
            <a:chOff x="1672085" y="1972471"/>
            <a:chExt cx="2620636" cy="2688430"/>
          </a:xfrm>
        </p:grpSpPr>
        <p:sp>
          <p:nvSpPr>
            <p:cNvPr id="8" name="Rectangle 7">
              <a:extLst>
                <a:ext uri="{FF2B5EF4-FFF2-40B4-BE49-F238E27FC236}">
                  <a16:creationId xmlns:a16="http://schemas.microsoft.com/office/drawing/2014/main" id="{129C365E-B7AF-273A-DBF3-F8CC89CAA21E}"/>
                </a:ext>
              </a:extLst>
            </p:cNvPr>
            <p:cNvSpPr/>
            <p:nvPr/>
          </p:nvSpPr>
          <p:spPr>
            <a:xfrm>
              <a:off x="2643634" y="1972471"/>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9" name="Rectangle 8">
              <a:extLst>
                <a:ext uri="{FF2B5EF4-FFF2-40B4-BE49-F238E27FC236}">
                  <a16:creationId xmlns:a16="http://schemas.microsoft.com/office/drawing/2014/main" id="{0C08D65A-509F-89DA-B875-97ADAB0FBC1F}"/>
                </a:ext>
              </a:extLst>
            </p:cNvPr>
            <p:cNvSpPr/>
            <p:nvPr/>
          </p:nvSpPr>
          <p:spPr>
            <a:xfrm>
              <a:off x="2669156" y="2720183"/>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0" name="Rectangle 9">
              <a:extLst>
                <a:ext uri="{FF2B5EF4-FFF2-40B4-BE49-F238E27FC236}">
                  <a16:creationId xmlns:a16="http://schemas.microsoft.com/office/drawing/2014/main" id="{FE8FC0D5-DE20-0999-2CED-752F30D8A86F}"/>
                </a:ext>
              </a:extLst>
            </p:cNvPr>
            <p:cNvSpPr/>
            <p:nvPr/>
          </p:nvSpPr>
          <p:spPr>
            <a:xfrm>
              <a:off x="1672085" y="4219576"/>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a:t>
              </a:r>
            </a:p>
          </p:txBody>
        </p:sp>
        <p:sp>
          <p:nvSpPr>
            <p:cNvPr id="11" name="Rectangle 10">
              <a:extLst>
                <a:ext uri="{FF2B5EF4-FFF2-40B4-BE49-F238E27FC236}">
                  <a16:creationId xmlns:a16="http://schemas.microsoft.com/office/drawing/2014/main" id="{7BD59841-EDB5-FF5D-DBE1-5950229E213C}"/>
                </a:ext>
              </a:extLst>
            </p:cNvPr>
            <p:cNvSpPr/>
            <p:nvPr/>
          </p:nvSpPr>
          <p:spPr>
            <a:xfrm>
              <a:off x="1672085" y="3471863"/>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12" name="Rectangle 11">
              <a:extLst>
                <a:ext uri="{FF2B5EF4-FFF2-40B4-BE49-F238E27FC236}">
                  <a16:creationId xmlns:a16="http://schemas.microsoft.com/office/drawing/2014/main" id="{600F96CA-F0F5-0A21-E0B9-AD5C191B6003}"/>
                </a:ext>
              </a:extLst>
            </p:cNvPr>
            <p:cNvSpPr/>
            <p:nvPr/>
          </p:nvSpPr>
          <p:spPr>
            <a:xfrm>
              <a:off x="1672085" y="2724150"/>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3" name="Rectangle 12">
              <a:extLst>
                <a:ext uri="{FF2B5EF4-FFF2-40B4-BE49-F238E27FC236}">
                  <a16:creationId xmlns:a16="http://schemas.microsoft.com/office/drawing/2014/main" id="{40BF5581-FBAF-77B5-9E52-602B8C6E1928}"/>
                </a:ext>
              </a:extLst>
            </p:cNvPr>
            <p:cNvSpPr/>
            <p:nvPr/>
          </p:nvSpPr>
          <p:spPr>
            <a:xfrm>
              <a:off x="3640706" y="2724149"/>
              <a:ext cx="652015" cy="44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Arrow Connector 13">
              <a:extLst>
                <a:ext uri="{FF2B5EF4-FFF2-40B4-BE49-F238E27FC236}">
                  <a16:creationId xmlns:a16="http://schemas.microsoft.com/office/drawing/2014/main" id="{2B73B143-3C9F-BB1D-F411-60469C994A55}"/>
                </a:ext>
              </a:extLst>
            </p:cNvPr>
            <p:cNvCxnSpPr>
              <a:cxnSpLocks/>
              <a:stCxn id="8" idx="2"/>
              <a:endCxn id="9" idx="0"/>
            </p:cNvCxnSpPr>
            <p:nvPr/>
          </p:nvCxnSpPr>
          <p:spPr>
            <a:xfrm>
              <a:off x="2969642" y="2413796"/>
              <a:ext cx="25522" cy="306387"/>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74CF5F2-3321-185B-2448-A9631BFE7CAF}"/>
                </a:ext>
              </a:extLst>
            </p:cNvPr>
            <p:cNvCxnSpPr>
              <a:cxnSpLocks/>
              <a:stCxn id="8" idx="2"/>
              <a:endCxn id="13" idx="0"/>
            </p:cNvCxnSpPr>
            <p:nvPr/>
          </p:nvCxnSpPr>
          <p:spPr>
            <a:xfrm>
              <a:off x="2969642" y="2413796"/>
              <a:ext cx="997072" cy="310353"/>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B6930A5-4AA9-3D0E-0AAA-3A319DD0DE49}"/>
                </a:ext>
              </a:extLst>
            </p:cNvPr>
            <p:cNvCxnSpPr>
              <a:cxnSpLocks/>
              <a:stCxn id="8" idx="2"/>
              <a:endCxn id="12" idx="0"/>
            </p:cNvCxnSpPr>
            <p:nvPr/>
          </p:nvCxnSpPr>
          <p:spPr>
            <a:xfrm flipH="1">
              <a:off x="1998093" y="2413796"/>
              <a:ext cx="971549"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43E8DCE-497C-80AA-B8C0-A96CFFFC7DF3}"/>
                </a:ext>
              </a:extLst>
            </p:cNvPr>
            <p:cNvCxnSpPr>
              <a:cxnSpLocks/>
            </p:cNvCxnSpPr>
            <p:nvPr/>
          </p:nvCxnSpPr>
          <p:spPr>
            <a:xfrm>
              <a:off x="2002405" y="3161508"/>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97EAB8F-AE65-E986-CC58-65844D33A696}"/>
                </a:ext>
              </a:extLst>
            </p:cNvPr>
            <p:cNvCxnSpPr>
              <a:cxnSpLocks/>
            </p:cNvCxnSpPr>
            <p:nvPr/>
          </p:nvCxnSpPr>
          <p:spPr>
            <a:xfrm>
              <a:off x="2021455" y="3919142"/>
              <a:ext cx="0" cy="31035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297E7660-34BC-52C3-CBF0-01AAE063F3DA}"/>
              </a:ext>
            </a:extLst>
          </p:cNvPr>
          <p:cNvSpPr txBox="1"/>
          <p:nvPr/>
        </p:nvSpPr>
        <p:spPr>
          <a:xfrm>
            <a:off x="2743209" y="3839726"/>
            <a:ext cx="5687311" cy="2308324"/>
          </a:xfrm>
          <a:prstGeom prst="rect">
            <a:avLst/>
          </a:prstGeom>
          <a:noFill/>
        </p:spPr>
        <p:txBody>
          <a:bodyPr wrap="square" rtlCol="0">
            <a:spAutoFit/>
          </a:bodyPr>
          <a:lstStyle/>
          <a:p>
            <a:pPr marL="0" indent="0">
              <a:buNone/>
            </a:pPr>
            <a:r>
              <a:rPr lang="en-US" sz="2400" dirty="0"/>
              <a:t>What are the work and span of this graph?</a:t>
            </a:r>
          </a:p>
          <a:p>
            <a:pPr marL="457200" indent="-457200">
              <a:buFont typeface="+mj-lt"/>
              <a:buAutoNum type="alphaUcPeriod"/>
            </a:pPr>
            <a:r>
              <a:rPr lang="en-US" sz="2400" dirty="0"/>
              <a:t>3 and 4</a:t>
            </a:r>
          </a:p>
          <a:p>
            <a:pPr marL="457200" indent="-457200">
              <a:buFont typeface="+mj-lt"/>
              <a:buAutoNum type="alphaUcPeriod"/>
            </a:pPr>
            <a:r>
              <a:rPr lang="en-US" sz="2400" dirty="0"/>
              <a:t>4 and 4</a:t>
            </a:r>
          </a:p>
          <a:p>
            <a:pPr marL="457200" indent="-457200">
              <a:buFont typeface="+mj-lt"/>
              <a:buAutoNum type="alphaUcPeriod"/>
            </a:pPr>
            <a:r>
              <a:rPr lang="en-US" sz="2400" dirty="0"/>
              <a:t>6 and 3</a:t>
            </a:r>
          </a:p>
          <a:p>
            <a:pPr marL="457200" indent="-457200">
              <a:buFont typeface="+mj-lt"/>
              <a:buAutoNum type="alphaUcPeriod"/>
            </a:pPr>
            <a:r>
              <a:rPr lang="en-US" sz="2400" dirty="0"/>
              <a:t>7 and 3</a:t>
            </a:r>
          </a:p>
          <a:p>
            <a:pPr marL="457200" indent="-457200">
              <a:buFont typeface="+mj-lt"/>
              <a:buAutoNum type="alphaUcPeriod"/>
            </a:pPr>
            <a:r>
              <a:rPr lang="en-US" sz="2400" u="sng" dirty="0">
                <a:solidFill>
                  <a:schemeClr val="accent4"/>
                </a:solidFill>
              </a:rPr>
              <a:t>None of the above</a:t>
            </a:r>
            <a:r>
              <a:rPr lang="en-US" sz="2400" dirty="0">
                <a:solidFill>
                  <a:schemeClr val="accent4"/>
                </a:solidFill>
              </a:rPr>
              <a:t> (6 and 4)</a:t>
            </a:r>
          </a:p>
        </p:txBody>
      </p:sp>
    </p:spTree>
    <p:extLst>
      <p:ext uri="{BB962C8B-B14F-4D97-AF65-F5344CB8AC3E}">
        <p14:creationId xmlns:p14="http://schemas.microsoft.com/office/powerpoint/2010/main" val="36690047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a:t>Combining </a:t>
            </a:r>
            <a:r>
              <a:rPr lang="en-US" dirty="0" err="1"/>
              <a:t>subcomputations</a:t>
            </a:r>
            <a:endParaRPr lang="en-US" dirty="0"/>
          </a:p>
        </p:txBody>
      </p:sp>
      <p:sp>
        <p:nvSpPr>
          <p:cNvPr id="7" name="Rectangle 6"/>
          <p:cNvSpPr/>
          <p:nvPr/>
        </p:nvSpPr>
        <p:spPr>
          <a:xfrm>
            <a:off x="1138685" y="2346385"/>
            <a:ext cx="862642"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8" name="Rectangle 7"/>
          <p:cNvSpPr/>
          <p:nvPr/>
        </p:nvSpPr>
        <p:spPr>
          <a:xfrm>
            <a:off x="2566358" y="2346385"/>
            <a:ext cx="862642"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cxnSp>
        <p:nvCxnSpPr>
          <p:cNvPr id="10" name="Straight Arrow Connector 9"/>
          <p:cNvCxnSpPr>
            <a:stCxn id="7" idx="3"/>
            <a:endCxn id="8" idx="1"/>
          </p:cNvCxnSpPr>
          <p:nvPr/>
        </p:nvCxnSpPr>
        <p:spPr>
          <a:xfrm>
            <a:off x="2001327" y="2665563"/>
            <a:ext cx="565031"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3429000" y="2665562"/>
            <a:ext cx="565031"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55684" y="2679365"/>
            <a:ext cx="565031"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7448045" y="1827650"/>
            <a:ext cx="862642"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14" name="Rectangle 13"/>
          <p:cNvSpPr/>
          <p:nvPr/>
        </p:nvSpPr>
        <p:spPr>
          <a:xfrm>
            <a:off x="7448045" y="2816327"/>
            <a:ext cx="862642"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cxnSp>
        <p:nvCxnSpPr>
          <p:cNvPr id="15" name="Straight Arrow Connector 14"/>
          <p:cNvCxnSpPr>
            <a:endCxn id="13" idx="1"/>
          </p:cNvCxnSpPr>
          <p:nvPr/>
        </p:nvCxnSpPr>
        <p:spPr>
          <a:xfrm flipV="1">
            <a:off x="6883014" y="2146828"/>
            <a:ext cx="565031" cy="51873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14" idx="1"/>
          </p:cNvCxnSpPr>
          <p:nvPr/>
        </p:nvCxnSpPr>
        <p:spPr>
          <a:xfrm>
            <a:off x="6883014" y="2707423"/>
            <a:ext cx="565031" cy="4280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8310687" y="2132344"/>
            <a:ext cx="565031" cy="4280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8310687" y="2692382"/>
            <a:ext cx="565031" cy="51873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8424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a:t>Combining </a:t>
            </a:r>
            <a:r>
              <a:rPr lang="en-US" dirty="0" err="1"/>
              <a:t>subcomputations</a:t>
            </a:r>
            <a:endParaRPr lang="en-US" dirty="0"/>
          </a:p>
        </p:txBody>
      </p:sp>
      <p:sp>
        <p:nvSpPr>
          <p:cNvPr id="5" name="Content Placeholder 4"/>
          <p:cNvSpPr>
            <a:spLocks noGrp="1"/>
          </p:cNvSpPr>
          <p:nvPr>
            <p:ph sz="half" idx="1"/>
          </p:nvPr>
        </p:nvSpPr>
        <p:spPr>
          <a:xfrm>
            <a:off x="838200" y="4206514"/>
            <a:ext cx="5181600" cy="1883733"/>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Work: T</a:t>
            </a:r>
            <a:r>
              <a:rPr lang="en-US" baseline="-25000" dirty="0"/>
              <a:t>1</a:t>
            </a:r>
            <a:r>
              <a:rPr lang="en-US" dirty="0"/>
              <a:t>(A) + T</a:t>
            </a:r>
            <a:r>
              <a:rPr lang="en-US" baseline="-25000" dirty="0"/>
              <a:t>1</a:t>
            </a:r>
            <a:r>
              <a:rPr lang="en-US" dirty="0"/>
              <a:t>(B)</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p:txBody>
      </p:sp>
      <p:sp>
        <p:nvSpPr>
          <p:cNvPr id="6" name="Content Placeholder 5"/>
          <p:cNvSpPr>
            <a:spLocks noGrp="1"/>
          </p:cNvSpPr>
          <p:nvPr>
            <p:ph sz="half" idx="2"/>
          </p:nvPr>
        </p:nvSpPr>
        <p:spPr>
          <a:xfrm>
            <a:off x="6172200" y="4206515"/>
            <a:ext cx="5181600" cy="1883733"/>
          </a:xfrm>
        </p:spPr>
        <p:txBody>
          <a:bodyPr/>
          <a:lstStyle/>
          <a:p>
            <a:pPr marL="0" lvl="0" indent="0">
              <a:lnSpc>
                <a:spcPct val="100000"/>
              </a:lnSpc>
              <a:spcBef>
                <a:spcPts val="0"/>
              </a:spcBef>
              <a:buNone/>
              <a:defRPr/>
            </a:pPr>
            <a:r>
              <a:rPr lang="en-US" dirty="0"/>
              <a:t>Work: T</a:t>
            </a:r>
            <a:r>
              <a:rPr lang="en-US" baseline="-25000" dirty="0"/>
              <a:t>1</a:t>
            </a:r>
            <a:r>
              <a:rPr lang="en-US" dirty="0"/>
              <a:t>(A) + T</a:t>
            </a:r>
            <a:r>
              <a:rPr lang="en-US" baseline="-25000" dirty="0"/>
              <a:t>1</a:t>
            </a:r>
            <a:r>
              <a:rPr lang="en-US" dirty="0"/>
              <a:t>(B)</a:t>
            </a:r>
          </a:p>
          <a:p>
            <a:pPr marL="0" lvl="0" indent="0">
              <a:lnSpc>
                <a:spcPct val="100000"/>
              </a:lnSpc>
              <a:spcBef>
                <a:spcPts val="0"/>
              </a:spcBef>
              <a:buNone/>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endParaRPr lang="en-US" dirty="0"/>
          </a:p>
        </p:txBody>
      </p:sp>
      <p:sp>
        <p:nvSpPr>
          <p:cNvPr id="7" name="Rectangle 6"/>
          <p:cNvSpPr/>
          <p:nvPr/>
        </p:nvSpPr>
        <p:spPr>
          <a:xfrm>
            <a:off x="1138685" y="2346385"/>
            <a:ext cx="862642"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8" name="Rectangle 7"/>
          <p:cNvSpPr/>
          <p:nvPr/>
        </p:nvSpPr>
        <p:spPr>
          <a:xfrm>
            <a:off x="2566358" y="2346385"/>
            <a:ext cx="862642"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cxnSp>
        <p:nvCxnSpPr>
          <p:cNvPr id="10" name="Straight Arrow Connector 9"/>
          <p:cNvCxnSpPr>
            <a:stCxn id="7" idx="3"/>
            <a:endCxn id="8" idx="1"/>
          </p:cNvCxnSpPr>
          <p:nvPr/>
        </p:nvCxnSpPr>
        <p:spPr>
          <a:xfrm>
            <a:off x="2001327" y="2665563"/>
            <a:ext cx="565031"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3429000" y="2665562"/>
            <a:ext cx="565031"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55684" y="2679365"/>
            <a:ext cx="565031"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7448045" y="1827650"/>
            <a:ext cx="862642"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14" name="Rectangle 13"/>
          <p:cNvSpPr/>
          <p:nvPr/>
        </p:nvSpPr>
        <p:spPr>
          <a:xfrm>
            <a:off x="7448045" y="2816327"/>
            <a:ext cx="862642"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cxnSp>
        <p:nvCxnSpPr>
          <p:cNvPr id="15" name="Straight Arrow Connector 14"/>
          <p:cNvCxnSpPr>
            <a:endCxn id="13" idx="1"/>
          </p:cNvCxnSpPr>
          <p:nvPr/>
        </p:nvCxnSpPr>
        <p:spPr>
          <a:xfrm flipV="1">
            <a:off x="6883014" y="2146828"/>
            <a:ext cx="565031" cy="51873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14" idx="1"/>
          </p:cNvCxnSpPr>
          <p:nvPr/>
        </p:nvCxnSpPr>
        <p:spPr>
          <a:xfrm>
            <a:off x="6883014" y="2707423"/>
            <a:ext cx="565031" cy="4280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8310687" y="2132344"/>
            <a:ext cx="565031" cy="4280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8310687" y="2692382"/>
            <a:ext cx="565031" cy="51873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08120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a:t>Combining </a:t>
            </a:r>
            <a:r>
              <a:rPr lang="en-US" dirty="0" err="1"/>
              <a:t>subcomputations</a:t>
            </a:r>
            <a:endParaRPr lang="en-US" dirty="0"/>
          </a:p>
        </p:txBody>
      </p:sp>
      <p:sp>
        <p:nvSpPr>
          <p:cNvPr id="5" name="Content Placeholder 4"/>
          <p:cNvSpPr>
            <a:spLocks noGrp="1"/>
          </p:cNvSpPr>
          <p:nvPr>
            <p:ph sz="half" idx="1"/>
          </p:nvPr>
        </p:nvSpPr>
        <p:spPr>
          <a:xfrm>
            <a:off x="838200" y="4206514"/>
            <a:ext cx="5181600" cy="1883733"/>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Work: T</a:t>
            </a:r>
            <a:r>
              <a:rPr lang="en-US" baseline="-25000" dirty="0"/>
              <a:t>1</a:t>
            </a:r>
            <a:r>
              <a:rPr lang="en-US" dirty="0"/>
              <a:t>(A) + T</a:t>
            </a:r>
            <a:r>
              <a:rPr lang="en-US" baseline="-25000" dirty="0"/>
              <a:t>1</a:t>
            </a:r>
            <a:r>
              <a:rPr lang="en-US" dirty="0"/>
              <a:t>(B)</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lvl="0" indent="0">
              <a:lnSpc>
                <a:spcPct val="100000"/>
              </a:lnSpc>
              <a:spcBef>
                <a:spcPts val="0"/>
              </a:spcBef>
              <a:buNone/>
            </a:pPr>
            <a:r>
              <a:rPr lang="en-US" dirty="0"/>
              <a:t>Span: T</a:t>
            </a:r>
            <a:r>
              <a:rPr lang="en-US" baseline="-25000" dirty="0"/>
              <a:t>∞</a:t>
            </a:r>
            <a:r>
              <a:rPr lang="en-US" dirty="0"/>
              <a:t>(A) + T </a:t>
            </a:r>
            <a:r>
              <a:rPr lang="en-US" baseline="-25000" dirty="0"/>
              <a:t>∞</a:t>
            </a:r>
            <a:r>
              <a:rPr lang="en-US" dirty="0"/>
              <a:t>(B)</a:t>
            </a:r>
          </a:p>
        </p:txBody>
      </p:sp>
      <p:sp>
        <p:nvSpPr>
          <p:cNvPr id="6" name="Content Placeholder 5"/>
          <p:cNvSpPr>
            <a:spLocks noGrp="1"/>
          </p:cNvSpPr>
          <p:nvPr>
            <p:ph sz="half" idx="2"/>
          </p:nvPr>
        </p:nvSpPr>
        <p:spPr>
          <a:xfrm>
            <a:off x="6172200" y="4206515"/>
            <a:ext cx="5181600" cy="1883733"/>
          </a:xfrm>
        </p:spPr>
        <p:txBody>
          <a:bodyPr/>
          <a:lstStyle/>
          <a:p>
            <a:pPr marL="0" lvl="0" indent="0">
              <a:lnSpc>
                <a:spcPct val="100000"/>
              </a:lnSpc>
              <a:spcBef>
                <a:spcPts val="0"/>
              </a:spcBef>
              <a:buNone/>
              <a:defRPr/>
            </a:pPr>
            <a:r>
              <a:rPr lang="en-US" dirty="0"/>
              <a:t>Work: T</a:t>
            </a:r>
            <a:r>
              <a:rPr lang="en-US" baseline="-25000" dirty="0"/>
              <a:t>1</a:t>
            </a:r>
            <a:r>
              <a:rPr lang="en-US" dirty="0"/>
              <a:t>(A) + T</a:t>
            </a:r>
            <a:r>
              <a:rPr lang="en-US" baseline="-25000" dirty="0"/>
              <a:t>1</a:t>
            </a:r>
            <a:r>
              <a:rPr lang="en-US" dirty="0"/>
              <a:t>(B)</a:t>
            </a:r>
          </a:p>
          <a:p>
            <a:pPr marL="0" lvl="0" indent="0">
              <a:lnSpc>
                <a:spcPct val="100000"/>
              </a:lnSpc>
              <a:spcBef>
                <a:spcPts val="0"/>
              </a:spcBef>
              <a:buNone/>
              <a:defRPr/>
            </a:pPr>
            <a:endParaRPr lang="en-US" dirty="0"/>
          </a:p>
          <a:p>
            <a:pPr marL="0" lvl="0" indent="0">
              <a:lnSpc>
                <a:spcPct val="100000"/>
              </a:lnSpc>
              <a:spcBef>
                <a:spcPts val="0"/>
              </a:spcBef>
              <a:buNone/>
            </a:pPr>
            <a:r>
              <a:rPr lang="en-US" dirty="0"/>
              <a:t>Span: max{ T</a:t>
            </a:r>
            <a:r>
              <a:rPr lang="en-US" baseline="-25000" dirty="0"/>
              <a:t>∞</a:t>
            </a:r>
            <a:r>
              <a:rPr lang="en-US" dirty="0"/>
              <a:t>(A), T </a:t>
            </a:r>
            <a:r>
              <a:rPr lang="en-US" baseline="-25000" dirty="0"/>
              <a:t>∞</a:t>
            </a:r>
            <a:r>
              <a:rPr lang="en-US" dirty="0"/>
              <a:t>(B) }</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p:txBody>
      </p:sp>
      <p:sp>
        <p:nvSpPr>
          <p:cNvPr id="7" name="Rectangle 6"/>
          <p:cNvSpPr/>
          <p:nvPr/>
        </p:nvSpPr>
        <p:spPr>
          <a:xfrm>
            <a:off x="1138685" y="2346385"/>
            <a:ext cx="862642"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8" name="Rectangle 7"/>
          <p:cNvSpPr/>
          <p:nvPr/>
        </p:nvSpPr>
        <p:spPr>
          <a:xfrm>
            <a:off x="2566358" y="2346385"/>
            <a:ext cx="862642"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cxnSp>
        <p:nvCxnSpPr>
          <p:cNvPr id="10" name="Straight Arrow Connector 9"/>
          <p:cNvCxnSpPr>
            <a:stCxn id="7" idx="3"/>
            <a:endCxn id="8" idx="1"/>
          </p:cNvCxnSpPr>
          <p:nvPr/>
        </p:nvCxnSpPr>
        <p:spPr>
          <a:xfrm>
            <a:off x="2001327" y="2665563"/>
            <a:ext cx="565031"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3429000" y="2665562"/>
            <a:ext cx="565031"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55684" y="2679365"/>
            <a:ext cx="565031"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7448045" y="1827650"/>
            <a:ext cx="862642"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14" name="Rectangle 13"/>
          <p:cNvSpPr/>
          <p:nvPr/>
        </p:nvSpPr>
        <p:spPr>
          <a:xfrm>
            <a:off x="7448045" y="2816327"/>
            <a:ext cx="862642"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cxnSp>
        <p:nvCxnSpPr>
          <p:cNvPr id="15" name="Straight Arrow Connector 14"/>
          <p:cNvCxnSpPr>
            <a:endCxn id="13" idx="1"/>
          </p:cNvCxnSpPr>
          <p:nvPr/>
        </p:nvCxnSpPr>
        <p:spPr>
          <a:xfrm flipV="1">
            <a:off x="6883014" y="2146828"/>
            <a:ext cx="565031" cy="51873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endCxn id="14" idx="1"/>
          </p:cNvCxnSpPr>
          <p:nvPr/>
        </p:nvCxnSpPr>
        <p:spPr>
          <a:xfrm>
            <a:off x="6883014" y="2707423"/>
            <a:ext cx="565031" cy="4280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8310687" y="2132344"/>
            <a:ext cx="565031" cy="4280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8310687" y="2692382"/>
            <a:ext cx="565031" cy="51873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1338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7AED5-54F1-30B7-0A11-3F5CD80A4709}"/>
              </a:ext>
            </a:extLst>
          </p:cNvPr>
          <p:cNvSpPr>
            <a:spLocks noGrp="1"/>
          </p:cNvSpPr>
          <p:nvPr>
            <p:ph type="title"/>
          </p:nvPr>
        </p:nvSpPr>
        <p:spPr/>
        <p:txBody>
          <a:bodyPr/>
          <a:lstStyle/>
          <a:p>
            <a:pPr algn="ctr"/>
            <a:r>
              <a:rPr lang="en-US" dirty="0"/>
              <a:t>Using different (fixed) numbers of cores</a:t>
            </a:r>
          </a:p>
        </p:txBody>
      </p:sp>
      <p:sp>
        <p:nvSpPr>
          <p:cNvPr id="3" name="Content Placeholder 2">
            <a:extLst>
              <a:ext uri="{FF2B5EF4-FFF2-40B4-BE49-F238E27FC236}">
                <a16:creationId xmlns:a16="http://schemas.microsoft.com/office/drawing/2014/main" id="{D22C65A2-5BD5-783B-5A5C-5D8F6B4FDC15}"/>
              </a:ext>
            </a:extLst>
          </p:cNvPr>
          <p:cNvSpPr>
            <a:spLocks noGrp="1"/>
          </p:cNvSpPr>
          <p:nvPr>
            <p:ph sz="half" idx="1"/>
          </p:nvPr>
        </p:nvSpPr>
        <p:spPr>
          <a:xfrm>
            <a:off x="838200" y="1825625"/>
            <a:ext cx="5181600" cy="4351338"/>
          </a:xfrm>
        </p:spPr>
        <p:txBody>
          <a:bodyPr>
            <a:normAutofit/>
          </a:bodyPr>
          <a:lstStyle/>
          <a:p>
            <a:pPr marL="0" indent="0">
              <a:buNone/>
            </a:pPr>
            <a:r>
              <a:rPr lang="en-US" sz="2200" dirty="0"/>
              <a:t>int sum(int[] </a:t>
            </a:r>
            <a:r>
              <a:rPr lang="en-US" sz="2200" dirty="0" err="1"/>
              <a:t>arr</a:t>
            </a:r>
            <a:r>
              <a:rPr lang="en-US" sz="2200" dirty="0"/>
              <a:t>, int low, int hi) {</a:t>
            </a:r>
          </a:p>
          <a:p>
            <a:pPr marL="0" indent="0">
              <a:buNone/>
            </a:pPr>
            <a:r>
              <a:rPr lang="en-US" sz="2200" dirty="0"/>
              <a:t>     int p1 = (hi+2*low)/3;</a:t>
            </a:r>
          </a:p>
          <a:p>
            <a:pPr marL="0" indent="0">
              <a:buNone/>
            </a:pPr>
            <a:r>
              <a:rPr lang="en-US" sz="2200" dirty="0"/>
              <a:t>     int p2 = (2*</a:t>
            </a:r>
            <a:r>
              <a:rPr lang="en-US" sz="2200" dirty="0" err="1"/>
              <a:t>hi+low</a:t>
            </a:r>
            <a:r>
              <a:rPr lang="en-US" sz="2200" dirty="0"/>
              <a:t>)/3;</a:t>
            </a:r>
          </a:p>
          <a:p>
            <a:pPr marL="0" indent="0">
              <a:buNone/>
            </a:pPr>
            <a:r>
              <a:rPr lang="en-US" sz="2200" dirty="0"/>
              <a:t>     int s1 = fork </a:t>
            </a:r>
            <a:r>
              <a:rPr lang="en-US" sz="2200" dirty="0" err="1"/>
              <a:t>simpleSum</a:t>
            </a:r>
            <a:r>
              <a:rPr lang="en-US" sz="2200" dirty="0"/>
              <a:t>(array, low, p1);</a:t>
            </a:r>
          </a:p>
          <a:p>
            <a:pPr marL="0" indent="0">
              <a:buNone/>
            </a:pPr>
            <a:r>
              <a:rPr lang="en-US" sz="2200" dirty="0"/>
              <a:t>     int s2 = fork </a:t>
            </a:r>
            <a:r>
              <a:rPr lang="en-US" sz="2200" dirty="0" err="1"/>
              <a:t>simpleSum</a:t>
            </a:r>
            <a:r>
              <a:rPr lang="en-US" sz="2200" dirty="0"/>
              <a:t>(array, p1, p2);</a:t>
            </a:r>
          </a:p>
          <a:p>
            <a:pPr marL="0" indent="0">
              <a:buNone/>
            </a:pPr>
            <a:r>
              <a:rPr lang="en-US" sz="2200" dirty="0"/>
              <a:t>     int s3 = </a:t>
            </a:r>
            <a:r>
              <a:rPr lang="en-US" sz="2200" dirty="0" err="1"/>
              <a:t>simpleSum</a:t>
            </a:r>
            <a:r>
              <a:rPr lang="en-US" sz="2200" dirty="0"/>
              <a:t>(array, p2, hi);</a:t>
            </a:r>
          </a:p>
          <a:p>
            <a:pPr marL="0" indent="0">
              <a:buNone/>
            </a:pPr>
            <a:r>
              <a:rPr lang="en-US" sz="2200" dirty="0"/>
              <a:t>     join;</a:t>
            </a:r>
          </a:p>
          <a:p>
            <a:pPr marL="0" indent="0">
              <a:buNone/>
            </a:pPr>
            <a:r>
              <a:rPr lang="en-US" sz="2200" dirty="0"/>
              <a:t>     return s1 + s2 + s3;</a:t>
            </a:r>
          </a:p>
          <a:p>
            <a:pPr marL="0" indent="0">
              <a:buNone/>
            </a:pPr>
            <a:r>
              <a:rPr lang="en-US" sz="2200" dirty="0"/>
              <a:t>}</a:t>
            </a:r>
          </a:p>
          <a:p>
            <a:pPr marL="0" indent="0">
              <a:buNone/>
            </a:pPr>
            <a:endParaRPr lang="en-US" sz="2200" dirty="0"/>
          </a:p>
        </p:txBody>
      </p:sp>
      <p:sp>
        <p:nvSpPr>
          <p:cNvPr id="4" name="Content Placeholder 3">
            <a:extLst>
              <a:ext uri="{FF2B5EF4-FFF2-40B4-BE49-F238E27FC236}">
                <a16:creationId xmlns:a16="http://schemas.microsoft.com/office/drawing/2014/main" id="{2D78A178-264D-A8B0-529E-362FF8A9D044}"/>
              </a:ext>
            </a:extLst>
          </p:cNvPr>
          <p:cNvSpPr>
            <a:spLocks noGrp="1"/>
          </p:cNvSpPr>
          <p:nvPr>
            <p:ph sz="half" idx="2"/>
          </p:nvPr>
        </p:nvSpPr>
        <p:spPr>
          <a:xfrm>
            <a:off x="6172200" y="1825625"/>
            <a:ext cx="5181600" cy="4351338"/>
          </a:xfrm>
        </p:spPr>
        <p:txBody>
          <a:bodyPr>
            <a:noAutofit/>
          </a:bodyPr>
          <a:lstStyle/>
          <a:p>
            <a:pPr marL="0" indent="0">
              <a:buNone/>
            </a:pPr>
            <a:r>
              <a:rPr lang="en-US" sz="2200" dirty="0"/>
              <a:t>int sum(int[] </a:t>
            </a:r>
            <a:r>
              <a:rPr lang="en-US" sz="2200" dirty="0" err="1"/>
              <a:t>arr</a:t>
            </a:r>
            <a:r>
              <a:rPr lang="en-US" sz="2200" dirty="0"/>
              <a:t>, int low, int hi) {</a:t>
            </a:r>
          </a:p>
          <a:p>
            <a:pPr marL="0" indent="0">
              <a:buNone/>
            </a:pPr>
            <a:r>
              <a:rPr lang="en-US" sz="2200" dirty="0"/>
              <a:t>     int p1 = (hi+3*low)/4;</a:t>
            </a:r>
          </a:p>
          <a:p>
            <a:pPr marL="0" indent="0">
              <a:buNone/>
            </a:pPr>
            <a:r>
              <a:rPr lang="en-US" sz="2200" dirty="0"/>
              <a:t>     int p2 = (2*hi+2*low)/4;</a:t>
            </a:r>
          </a:p>
          <a:p>
            <a:pPr marL="0" indent="0">
              <a:buNone/>
            </a:pPr>
            <a:r>
              <a:rPr lang="en-US" sz="2200" dirty="0"/>
              <a:t>     int p3 = (3*</a:t>
            </a:r>
            <a:r>
              <a:rPr lang="en-US" sz="2200" dirty="0" err="1"/>
              <a:t>hi+low</a:t>
            </a:r>
            <a:r>
              <a:rPr lang="en-US" sz="2200" dirty="0"/>
              <a:t>)/4;</a:t>
            </a:r>
          </a:p>
          <a:p>
            <a:pPr marL="0" indent="0">
              <a:buNone/>
            </a:pPr>
            <a:r>
              <a:rPr lang="en-US" sz="2200" dirty="0"/>
              <a:t>     int s1 = fork </a:t>
            </a:r>
            <a:r>
              <a:rPr lang="en-US" sz="2200" dirty="0" err="1"/>
              <a:t>simpleSum</a:t>
            </a:r>
            <a:r>
              <a:rPr lang="en-US" sz="2200" dirty="0"/>
              <a:t>(array, low, p1);</a:t>
            </a:r>
          </a:p>
          <a:p>
            <a:pPr marL="0" indent="0">
              <a:buNone/>
            </a:pPr>
            <a:r>
              <a:rPr lang="en-US" sz="2200" dirty="0"/>
              <a:t>     int s2 = fork </a:t>
            </a:r>
            <a:r>
              <a:rPr lang="en-US" sz="2200" dirty="0" err="1"/>
              <a:t>simpleSum</a:t>
            </a:r>
            <a:r>
              <a:rPr lang="en-US" sz="2200" dirty="0"/>
              <a:t>(array, p1, p2);</a:t>
            </a:r>
          </a:p>
          <a:p>
            <a:pPr marL="0" indent="0">
              <a:buNone/>
            </a:pPr>
            <a:r>
              <a:rPr lang="en-US" sz="2200" dirty="0"/>
              <a:t>     int s3 = fork </a:t>
            </a:r>
            <a:r>
              <a:rPr lang="en-US" sz="2200" dirty="0" err="1"/>
              <a:t>simpleSum</a:t>
            </a:r>
            <a:r>
              <a:rPr lang="en-US" sz="2200" dirty="0"/>
              <a:t>(array, p2, p3);</a:t>
            </a:r>
          </a:p>
          <a:p>
            <a:pPr marL="0" indent="0">
              <a:buNone/>
            </a:pPr>
            <a:r>
              <a:rPr lang="en-US" sz="2200" dirty="0"/>
              <a:t>     int s4 = </a:t>
            </a:r>
            <a:r>
              <a:rPr lang="en-US" sz="2200" dirty="0" err="1"/>
              <a:t>simpleSum</a:t>
            </a:r>
            <a:r>
              <a:rPr lang="en-US" sz="2200" dirty="0"/>
              <a:t>(array, p3, hi);</a:t>
            </a:r>
          </a:p>
          <a:p>
            <a:pPr marL="0" indent="0">
              <a:buNone/>
            </a:pPr>
            <a:r>
              <a:rPr lang="en-US" sz="2200" dirty="0"/>
              <a:t>     join;</a:t>
            </a:r>
          </a:p>
          <a:p>
            <a:pPr marL="0" indent="0">
              <a:buNone/>
            </a:pPr>
            <a:r>
              <a:rPr lang="en-US" sz="2200" dirty="0"/>
              <a:t>     return s1 + s2 + s3 + s4;</a:t>
            </a:r>
          </a:p>
          <a:p>
            <a:pPr marL="0" indent="0">
              <a:buNone/>
            </a:pPr>
            <a:r>
              <a:rPr lang="en-US" sz="2200" dirty="0"/>
              <a:t>}</a:t>
            </a:r>
          </a:p>
        </p:txBody>
      </p:sp>
    </p:spTree>
    <p:extLst>
      <p:ext uri="{BB962C8B-B14F-4D97-AF65-F5344CB8AC3E}">
        <p14:creationId xmlns:p14="http://schemas.microsoft.com/office/powerpoint/2010/main" val="1854775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3C638-ECBD-8A1E-6C4C-E53C6A42916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D7B8CA5-6ED9-60F8-70E6-848AE38D3967}"/>
              </a:ext>
            </a:extLst>
          </p:cNvPr>
          <p:cNvSpPr>
            <a:spLocks noGrp="1"/>
          </p:cNvSpPr>
          <p:nvPr>
            <p:ph type="title"/>
          </p:nvPr>
        </p:nvSpPr>
        <p:spPr/>
        <p:txBody>
          <a:bodyPr/>
          <a:lstStyle/>
          <a:p>
            <a:pPr algn="ctr"/>
            <a:r>
              <a:rPr lang="en-US" dirty="0"/>
              <a:t>Generalizing to any number of cores</a:t>
            </a:r>
          </a:p>
        </p:txBody>
      </p:sp>
      <p:sp>
        <p:nvSpPr>
          <p:cNvPr id="6" name="Content Placeholder 5">
            <a:extLst>
              <a:ext uri="{FF2B5EF4-FFF2-40B4-BE49-F238E27FC236}">
                <a16:creationId xmlns:a16="http://schemas.microsoft.com/office/drawing/2014/main" id="{C5726056-12D8-C3CF-8682-A13FAF2046C0}"/>
              </a:ext>
            </a:extLst>
          </p:cNvPr>
          <p:cNvSpPr>
            <a:spLocks noGrp="1"/>
          </p:cNvSpPr>
          <p:nvPr>
            <p:ph idx="1"/>
          </p:nvPr>
        </p:nvSpPr>
        <p:spPr>
          <a:xfrm>
            <a:off x="416167" y="1825625"/>
            <a:ext cx="5651697" cy="4351338"/>
          </a:xfrm>
        </p:spPr>
        <p:txBody>
          <a:bodyPr>
            <a:normAutofit fontScale="85000" lnSpcReduction="20000"/>
          </a:bodyPr>
          <a:lstStyle/>
          <a:p>
            <a:pPr marL="0" indent="0">
              <a:buNone/>
            </a:pPr>
            <a:r>
              <a:rPr lang="en-US" sz="2800" dirty="0"/>
              <a:t>int sum(int[] </a:t>
            </a:r>
            <a:r>
              <a:rPr lang="en-US" sz="2800" dirty="0" err="1"/>
              <a:t>arr</a:t>
            </a:r>
            <a:r>
              <a:rPr lang="en-US" sz="2800" dirty="0"/>
              <a:t>, int low, int hi) {</a:t>
            </a:r>
          </a:p>
          <a:p>
            <a:pPr marL="0" indent="0">
              <a:buNone/>
            </a:pPr>
            <a:r>
              <a:rPr lang="en-US" sz="2800" dirty="0"/>
              <a:t>     int c = </a:t>
            </a:r>
            <a:r>
              <a:rPr lang="en-US" sz="2800" dirty="0" err="1"/>
              <a:t>getNumCores</a:t>
            </a:r>
            <a:r>
              <a:rPr lang="en-US" sz="2800" dirty="0"/>
              <a:t>();</a:t>
            </a:r>
          </a:p>
          <a:p>
            <a:pPr marL="0" indent="0">
              <a:buNone/>
            </a:pPr>
            <a:r>
              <a:rPr lang="en-US" sz="2800" dirty="0"/>
              <a:t>     int[] sums = new int[c];</a:t>
            </a:r>
          </a:p>
          <a:p>
            <a:pPr marL="0" indent="0">
              <a:buNone/>
            </a:pPr>
            <a:r>
              <a:rPr lang="en-US" sz="2800" dirty="0"/>
              <a:t>     for(int </a:t>
            </a:r>
            <a:r>
              <a:rPr lang="en-US" sz="2800" dirty="0" err="1"/>
              <a:t>i</a:t>
            </a:r>
            <a:r>
              <a:rPr lang="en-US" sz="2800" dirty="0"/>
              <a:t>=0; </a:t>
            </a:r>
            <a:r>
              <a:rPr lang="en-US" sz="2800" dirty="0" err="1"/>
              <a:t>i</a:t>
            </a:r>
            <a:r>
              <a:rPr lang="en-US" sz="2800" dirty="0"/>
              <a:t> &lt; c; </a:t>
            </a:r>
            <a:r>
              <a:rPr lang="en-US" sz="2800" dirty="0" err="1"/>
              <a:t>i</a:t>
            </a:r>
            <a:r>
              <a:rPr lang="en-US" sz="2800" dirty="0"/>
              <a:t>++) {</a:t>
            </a:r>
          </a:p>
          <a:p>
            <a:pPr marL="0" indent="0">
              <a:buNone/>
            </a:pPr>
            <a:r>
              <a:rPr lang="en-US" sz="2800" dirty="0"/>
              <a:t>          int s = (</a:t>
            </a:r>
            <a:r>
              <a:rPr lang="en-US" sz="2800" dirty="0" err="1"/>
              <a:t>i</a:t>
            </a:r>
            <a:r>
              <a:rPr lang="en-US" sz="2800" dirty="0"/>
              <a:t>*hi + (c-</a:t>
            </a:r>
            <a:r>
              <a:rPr lang="en-US" sz="2800" dirty="0" err="1"/>
              <a:t>i</a:t>
            </a:r>
            <a:r>
              <a:rPr lang="en-US" sz="2800" dirty="0"/>
              <a:t>)*low) / c;</a:t>
            </a:r>
          </a:p>
          <a:p>
            <a:pPr marL="0" indent="0">
              <a:buNone/>
            </a:pPr>
            <a:r>
              <a:rPr lang="en-US" sz="2800" dirty="0"/>
              <a:t>          int e = ((i+1)*hi + (c-i-1)*low) / c;</a:t>
            </a:r>
          </a:p>
          <a:p>
            <a:pPr marL="0" indent="0">
              <a:buNone/>
            </a:pPr>
            <a:r>
              <a:rPr lang="en-US" sz="2800" dirty="0"/>
              <a:t>          sums[</a:t>
            </a:r>
            <a:r>
              <a:rPr lang="en-US" sz="2800" dirty="0" err="1"/>
              <a:t>i</a:t>
            </a:r>
            <a:r>
              <a:rPr lang="en-US" sz="2800" dirty="0"/>
              <a:t>] = fork </a:t>
            </a:r>
            <a:r>
              <a:rPr lang="en-US" sz="2800" dirty="0" err="1"/>
              <a:t>simpleSum</a:t>
            </a:r>
            <a:r>
              <a:rPr lang="en-US" sz="2800" dirty="0"/>
              <a:t>(array, s, e);</a:t>
            </a:r>
          </a:p>
          <a:p>
            <a:pPr marL="0" indent="0">
              <a:buNone/>
            </a:pPr>
            <a:r>
              <a:rPr lang="en-US" sz="2800" dirty="0"/>
              <a:t>     }</a:t>
            </a:r>
          </a:p>
          <a:p>
            <a:pPr marL="0" indent="0">
              <a:buNone/>
            </a:pPr>
            <a:r>
              <a:rPr lang="en-US" sz="2800" dirty="0"/>
              <a:t>     join;</a:t>
            </a:r>
          </a:p>
          <a:p>
            <a:pPr marL="0" indent="0">
              <a:buNone/>
            </a:pPr>
            <a:r>
              <a:rPr lang="en-US" sz="2800" dirty="0"/>
              <a:t>     return </a:t>
            </a:r>
            <a:r>
              <a:rPr lang="en-US" sz="2800" dirty="0" err="1"/>
              <a:t>simpleSum</a:t>
            </a:r>
            <a:r>
              <a:rPr lang="en-US" sz="2800" dirty="0"/>
              <a:t>(sums, 0, c);</a:t>
            </a:r>
          </a:p>
          <a:p>
            <a:pPr marL="0" indent="0">
              <a:buNone/>
            </a:pPr>
            <a:r>
              <a:rPr lang="en-US" sz="2800" dirty="0"/>
              <a:t>}</a:t>
            </a:r>
          </a:p>
          <a:p>
            <a:pPr marL="0" indent="0">
              <a:buNone/>
            </a:pPr>
            <a:endParaRPr lang="en-US" dirty="0"/>
          </a:p>
        </p:txBody>
      </p:sp>
    </p:spTree>
    <p:extLst>
      <p:ext uri="{BB962C8B-B14F-4D97-AF65-F5344CB8AC3E}">
        <p14:creationId xmlns:p14="http://schemas.microsoft.com/office/powerpoint/2010/main" val="40083188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474DA-9CF2-5D74-4472-3F450D5998D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BD45A62-561C-9BF8-AACC-34C388F483D7}"/>
              </a:ext>
            </a:extLst>
          </p:cNvPr>
          <p:cNvSpPr>
            <a:spLocks noGrp="1"/>
          </p:cNvSpPr>
          <p:nvPr>
            <p:ph type="title"/>
          </p:nvPr>
        </p:nvSpPr>
        <p:spPr/>
        <p:txBody>
          <a:bodyPr/>
          <a:lstStyle/>
          <a:p>
            <a:pPr algn="ctr"/>
            <a:r>
              <a:rPr lang="en-US" dirty="0"/>
              <a:t>Generalizing to any number of cores</a:t>
            </a:r>
          </a:p>
        </p:txBody>
      </p:sp>
      <p:sp>
        <p:nvSpPr>
          <p:cNvPr id="6" name="Content Placeholder 5">
            <a:extLst>
              <a:ext uri="{FF2B5EF4-FFF2-40B4-BE49-F238E27FC236}">
                <a16:creationId xmlns:a16="http://schemas.microsoft.com/office/drawing/2014/main" id="{22FDB120-7411-B496-96C1-26ECD618AAF3}"/>
              </a:ext>
            </a:extLst>
          </p:cNvPr>
          <p:cNvSpPr>
            <a:spLocks noGrp="1"/>
          </p:cNvSpPr>
          <p:nvPr>
            <p:ph idx="1"/>
          </p:nvPr>
        </p:nvSpPr>
        <p:spPr>
          <a:xfrm>
            <a:off x="416167" y="1825625"/>
            <a:ext cx="5651697" cy="4351338"/>
          </a:xfrm>
        </p:spPr>
        <p:txBody>
          <a:bodyPr>
            <a:normAutofit fontScale="85000" lnSpcReduction="20000"/>
          </a:bodyPr>
          <a:lstStyle/>
          <a:p>
            <a:pPr marL="0" indent="0">
              <a:buNone/>
            </a:pPr>
            <a:r>
              <a:rPr lang="en-US" sz="2800" dirty="0"/>
              <a:t>int sum(int[] </a:t>
            </a:r>
            <a:r>
              <a:rPr lang="en-US" sz="2800" dirty="0" err="1"/>
              <a:t>arr</a:t>
            </a:r>
            <a:r>
              <a:rPr lang="en-US" sz="2800" dirty="0"/>
              <a:t>, int low, int hi) {</a:t>
            </a:r>
          </a:p>
          <a:p>
            <a:pPr marL="0" indent="0">
              <a:buNone/>
            </a:pPr>
            <a:r>
              <a:rPr lang="en-US" sz="2800" dirty="0"/>
              <a:t>     int c = </a:t>
            </a:r>
            <a:r>
              <a:rPr lang="en-US" sz="2800" dirty="0" err="1"/>
              <a:t>getNumCores</a:t>
            </a:r>
            <a:r>
              <a:rPr lang="en-US" sz="2800" dirty="0"/>
              <a:t>();</a:t>
            </a:r>
          </a:p>
          <a:p>
            <a:pPr marL="0" indent="0">
              <a:buNone/>
            </a:pPr>
            <a:r>
              <a:rPr lang="en-US" sz="2800" dirty="0"/>
              <a:t>     int[] sums = new int[c];</a:t>
            </a:r>
          </a:p>
          <a:p>
            <a:pPr marL="0" indent="0">
              <a:buNone/>
            </a:pPr>
            <a:r>
              <a:rPr lang="en-US" sz="2800" dirty="0"/>
              <a:t>     for(int </a:t>
            </a:r>
            <a:r>
              <a:rPr lang="en-US" sz="2800" dirty="0" err="1"/>
              <a:t>i</a:t>
            </a:r>
            <a:r>
              <a:rPr lang="en-US" sz="2800" dirty="0"/>
              <a:t>=0; </a:t>
            </a:r>
            <a:r>
              <a:rPr lang="en-US" sz="2800" dirty="0" err="1"/>
              <a:t>i</a:t>
            </a:r>
            <a:r>
              <a:rPr lang="en-US" sz="2800" dirty="0"/>
              <a:t> &lt; c; </a:t>
            </a:r>
            <a:r>
              <a:rPr lang="en-US" sz="2800" dirty="0" err="1"/>
              <a:t>i</a:t>
            </a:r>
            <a:r>
              <a:rPr lang="en-US" sz="2800" dirty="0"/>
              <a:t>++) {</a:t>
            </a:r>
          </a:p>
          <a:p>
            <a:pPr marL="0" indent="0">
              <a:buNone/>
            </a:pPr>
            <a:r>
              <a:rPr lang="en-US" sz="2800" dirty="0"/>
              <a:t>          int s = (</a:t>
            </a:r>
            <a:r>
              <a:rPr lang="en-US" sz="2800" dirty="0" err="1"/>
              <a:t>i</a:t>
            </a:r>
            <a:r>
              <a:rPr lang="en-US" sz="2800" dirty="0"/>
              <a:t>*hi + (c-</a:t>
            </a:r>
            <a:r>
              <a:rPr lang="en-US" sz="2800" dirty="0" err="1"/>
              <a:t>i</a:t>
            </a:r>
            <a:r>
              <a:rPr lang="en-US" sz="2800" dirty="0"/>
              <a:t>)*low) / c;</a:t>
            </a:r>
          </a:p>
          <a:p>
            <a:pPr marL="0" indent="0">
              <a:buNone/>
            </a:pPr>
            <a:r>
              <a:rPr lang="en-US" sz="2800" dirty="0"/>
              <a:t>          int e = ((i+1)*hi + (c-i-1)*low) / c;</a:t>
            </a:r>
          </a:p>
          <a:p>
            <a:pPr marL="0" indent="0">
              <a:buNone/>
            </a:pPr>
            <a:r>
              <a:rPr lang="en-US" sz="2800" dirty="0"/>
              <a:t>          sums[</a:t>
            </a:r>
            <a:r>
              <a:rPr lang="en-US" sz="2800" dirty="0" err="1"/>
              <a:t>i</a:t>
            </a:r>
            <a:r>
              <a:rPr lang="en-US" sz="2800" dirty="0"/>
              <a:t>] = fork </a:t>
            </a:r>
            <a:r>
              <a:rPr lang="en-US" sz="2800" dirty="0" err="1"/>
              <a:t>simpleSum</a:t>
            </a:r>
            <a:r>
              <a:rPr lang="en-US" sz="2800" dirty="0"/>
              <a:t>(array, s, e);</a:t>
            </a:r>
          </a:p>
          <a:p>
            <a:pPr marL="0" indent="0">
              <a:buNone/>
            </a:pPr>
            <a:r>
              <a:rPr lang="en-US" sz="2800" dirty="0"/>
              <a:t>     }</a:t>
            </a:r>
          </a:p>
          <a:p>
            <a:pPr marL="0" indent="0">
              <a:buNone/>
            </a:pPr>
            <a:r>
              <a:rPr lang="en-US" sz="2800" dirty="0"/>
              <a:t>     join;</a:t>
            </a:r>
          </a:p>
          <a:p>
            <a:pPr marL="0" indent="0">
              <a:buNone/>
            </a:pPr>
            <a:r>
              <a:rPr lang="en-US" sz="2800" dirty="0"/>
              <a:t>     return </a:t>
            </a:r>
            <a:r>
              <a:rPr lang="en-US" sz="2800" dirty="0" err="1"/>
              <a:t>simpleSum</a:t>
            </a:r>
            <a:r>
              <a:rPr lang="en-US" sz="2800" dirty="0"/>
              <a:t>(sums, 0, c);</a:t>
            </a:r>
          </a:p>
          <a:p>
            <a:pPr marL="0" indent="0">
              <a:buNone/>
            </a:pPr>
            <a:r>
              <a:rPr lang="en-US" sz="2800" dirty="0"/>
              <a:t>}</a:t>
            </a:r>
          </a:p>
          <a:p>
            <a:pPr marL="0" indent="0">
              <a:buNone/>
            </a:pPr>
            <a:endParaRPr lang="en-US" dirty="0"/>
          </a:p>
        </p:txBody>
      </p:sp>
      <p:sp>
        <p:nvSpPr>
          <p:cNvPr id="2" name="TextBox 1">
            <a:extLst>
              <a:ext uri="{FF2B5EF4-FFF2-40B4-BE49-F238E27FC236}">
                <a16:creationId xmlns:a16="http://schemas.microsoft.com/office/drawing/2014/main" id="{940B2D5D-2E15-F301-5385-0E2AAFC28117}"/>
              </a:ext>
            </a:extLst>
          </p:cNvPr>
          <p:cNvSpPr txBox="1"/>
          <p:nvPr/>
        </p:nvSpPr>
        <p:spPr>
          <a:xfrm>
            <a:off x="6096000" y="1690688"/>
            <a:ext cx="6096000" cy="2677656"/>
          </a:xfrm>
          <a:prstGeom prst="rect">
            <a:avLst/>
          </a:prstGeom>
          <a:noFill/>
        </p:spPr>
        <p:txBody>
          <a:bodyPr wrap="square" rtlCol="0">
            <a:spAutoFit/>
          </a:bodyPr>
          <a:lstStyle/>
          <a:p>
            <a:r>
              <a:rPr lang="en-US" sz="2400" dirty="0"/>
              <a:t>What if </a:t>
            </a:r>
          </a:p>
          <a:p>
            <a:r>
              <a:rPr lang="en-US" sz="2400" dirty="0"/>
              <a:t>… c is wrong? (the OS takes a core back)</a:t>
            </a:r>
          </a:p>
          <a:p>
            <a:endParaRPr lang="en-US" sz="2400" dirty="0"/>
          </a:p>
          <a:p>
            <a:endParaRPr lang="en-US" sz="2400" dirty="0"/>
          </a:p>
          <a:p>
            <a:endParaRPr lang="en-US" sz="2400" dirty="0"/>
          </a:p>
          <a:p>
            <a:endParaRPr lang="en-US" sz="2400" dirty="0"/>
          </a:p>
          <a:p>
            <a:endParaRPr lang="en-US" sz="2400" dirty="0"/>
          </a:p>
        </p:txBody>
      </p:sp>
      <p:grpSp>
        <p:nvGrpSpPr>
          <p:cNvPr id="8" name="Group 7">
            <a:extLst>
              <a:ext uri="{FF2B5EF4-FFF2-40B4-BE49-F238E27FC236}">
                <a16:creationId xmlns:a16="http://schemas.microsoft.com/office/drawing/2014/main" id="{9DD5A54D-8B44-E9FC-C8B5-608483EF9F7E}"/>
              </a:ext>
            </a:extLst>
          </p:cNvPr>
          <p:cNvGrpSpPr/>
          <p:nvPr/>
        </p:nvGrpSpPr>
        <p:grpSpPr>
          <a:xfrm>
            <a:off x="7392709" y="2761828"/>
            <a:ext cx="1852268" cy="904707"/>
            <a:chOff x="6647122" y="2294424"/>
            <a:chExt cx="1852268" cy="904707"/>
          </a:xfrm>
        </p:grpSpPr>
        <p:sp>
          <p:nvSpPr>
            <p:cNvPr id="3" name="Rectangle 2">
              <a:extLst>
                <a:ext uri="{FF2B5EF4-FFF2-40B4-BE49-F238E27FC236}">
                  <a16:creationId xmlns:a16="http://schemas.microsoft.com/office/drawing/2014/main" id="{8D909BA0-FCDB-2D2D-BF27-46989406988E}"/>
                </a:ext>
              </a:extLst>
            </p:cNvPr>
            <p:cNvSpPr/>
            <p:nvPr/>
          </p:nvSpPr>
          <p:spPr>
            <a:xfrm>
              <a:off x="6647122" y="2294424"/>
              <a:ext cx="926134" cy="3657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7970B6D-9597-4816-A089-FF1380BA4ADC}"/>
                </a:ext>
              </a:extLst>
            </p:cNvPr>
            <p:cNvSpPr/>
            <p:nvPr/>
          </p:nvSpPr>
          <p:spPr>
            <a:xfrm>
              <a:off x="6647122" y="2833371"/>
              <a:ext cx="926134" cy="3657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6C88A17-062F-B237-2DC3-4107F4B75BB3}"/>
                </a:ext>
              </a:extLst>
            </p:cNvPr>
            <p:cNvSpPr/>
            <p:nvPr/>
          </p:nvSpPr>
          <p:spPr>
            <a:xfrm>
              <a:off x="7573256" y="2294424"/>
              <a:ext cx="926134" cy="3657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0825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95EAC-8BA2-CDA1-3CF9-FCBF287C4E2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371413D-1C38-1F5F-F839-D6FDFEAB3204}"/>
              </a:ext>
            </a:extLst>
          </p:cNvPr>
          <p:cNvSpPr>
            <a:spLocks noGrp="1"/>
          </p:cNvSpPr>
          <p:nvPr>
            <p:ph type="title"/>
          </p:nvPr>
        </p:nvSpPr>
        <p:spPr/>
        <p:txBody>
          <a:bodyPr/>
          <a:lstStyle/>
          <a:p>
            <a:pPr algn="ctr"/>
            <a:r>
              <a:rPr lang="en-US" dirty="0"/>
              <a:t>Generalizing to any number of cores</a:t>
            </a:r>
          </a:p>
        </p:txBody>
      </p:sp>
      <p:sp>
        <p:nvSpPr>
          <p:cNvPr id="6" name="Content Placeholder 5">
            <a:extLst>
              <a:ext uri="{FF2B5EF4-FFF2-40B4-BE49-F238E27FC236}">
                <a16:creationId xmlns:a16="http://schemas.microsoft.com/office/drawing/2014/main" id="{DE030732-CA6C-DE44-7799-D873A461E6F0}"/>
              </a:ext>
            </a:extLst>
          </p:cNvPr>
          <p:cNvSpPr>
            <a:spLocks noGrp="1"/>
          </p:cNvSpPr>
          <p:nvPr>
            <p:ph idx="1"/>
          </p:nvPr>
        </p:nvSpPr>
        <p:spPr>
          <a:xfrm>
            <a:off x="416167" y="1825625"/>
            <a:ext cx="5651697" cy="4351338"/>
          </a:xfrm>
        </p:spPr>
        <p:txBody>
          <a:bodyPr>
            <a:normAutofit fontScale="85000" lnSpcReduction="20000"/>
          </a:bodyPr>
          <a:lstStyle/>
          <a:p>
            <a:pPr marL="0" indent="0">
              <a:buNone/>
            </a:pPr>
            <a:r>
              <a:rPr lang="en-US" sz="2800" dirty="0"/>
              <a:t>int sum(int[] </a:t>
            </a:r>
            <a:r>
              <a:rPr lang="en-US" sz="2800" dirty="0" err="1"/>
              <a:t>arr</a:t>
            </a:r>
            <a:r>
              <a:rPr lang="en-US" sz="2800" dirty="0"/>
              <a:t>, int low, int hi) {</a:t>
            </a:r>
          </a:p>
          <a:p>
            <a:pPr marL="0" indent="0">
              <a:buNone/>
            </a:pPr>
            <a:r>
              <a:rPr lang="en-US" sz="2800" dirty="0"/>
              <a:t>     int c = </a:t>
            </a:r>
            <a:r>
              <a:rPr lang="en-US" sz="2800" dirty="0" err="1"/>
              <a:t>getNumCores</a:t>
            </a:r>
            <a:r>
              <a:rPr lang="en-US" sz="2800" dirty="0"/>
              <a:t>();</a:t>
            </a:r>
          </a:p>
          <a:p>
            <a:pPr marL="0" indent="0">
              <a:buNone/>
            </a:pPr>
            <a:r>
              <a:rPr lang="en-US" sz="2800" dirty="0"/>
              <a:t>     int[] sums = new int[c];</a:t>
            </a:r>
          </a:p>
          <a:p>
            <a:pPr marL="0" indent="0">
              <a:buNone/>
            </a:pPr>
            <a:r>
              <a:rPr lang="en-US" sz="2800" dirty="0"/>
              <a:t>     for(int </a:t>
            </a:r>
            <a:r>
              <a:rPr lang="en-US" sz="2800" dirty="0" err="1"/>
              <a:t>i</a:t>
            </a:r>
            <a:r>
              <a:rPr lang="en-US" sz="2800" dirty="0"/>
              <a:t>=0; </a:t>
            </a:r>
            <a:r>
              <a:rPr lang="en-US" sz="2800" dirty="0" err="1"/>
              <a:t>i</a:t>
            </a:r>
            <a:r>
              <a:rPr lang="en-US" sz="2800" dirty="0"/>
              <a:t> &lt; c; </a:t>
            </a:r>
            <a:r>
              <a:rPr lang="en-US" sz="2800" dirty="0" err="1"/>
              <a:t>i</a:t>
            </a:r>
            <a:r>
              <a:rPr lang="en-US" sz="2800" dirty="0"/>
              <a:t>++) {</a:t>
            </a:r>
          </a:p>
          <a:p>
            <a:pPr marL="0" indent="0">
              <a:buNone/>
            </a:pPr>
            <a:r>
              <a:rPr lang="en-US" sz="2800" dirty="0"/>
              <a:t>          int s = (</a:t>
            </a:r>
            <a:r>
              <a:rPr lang="en-US" sz="2800" dirty="0" err="1"/>
              <a:t>i</a:t>
            </a:r>
            <a:r>
              <a:rPr lang="en-US" sz="2800" dirty="0"/>
              <a:t>*hi + (c-</a:t>
            </a:r>
            <a:r>
              <a:rPr lang="en-US" sz="2800" dirty="0" err="1"/>
              <a:t>i</a:t>
            </a:r>
            <a:r>
              <a:rPr lang="en-US" sz="2800" dirty="0"/>
              <a:t>)*low) / c;</a:t>
            </a:r>
          </a:p>
          <a:p>
            <a:pPr marL="0" indent="0">
              <a:buNone/>
            </a:pPr>
            <a:r>
              <a:rPr lang="en-US" sz="2800" dirty="0"/>
              <a:t>          int e = ((i+1)*hi + (c-i-1)*low) / c;</a:t>
            </a:r>
          </a:p>
          <a:p>
            <a:pPr marL="0" indent="0">
              <a:buNone/>
            </a:pPr>
            <a:r>
              <a:rPr lang="en-US" sz="2800" dirty="0"/>
              <a:t>          sums[</a:t>
            </a:r>
            <a:r>
              <a:rPr lang="en-US" sz="2800" dirty="0" err="1"/>
              <a:t>i</a:t>
            </a:r>
            <a:r>
              <a:rPr lang="en-US" sz="2800" dirty="0"/>
              <a:t>] = fork </a:t>
            </a:r>
            <a:r>
              <a:rPr lang="en-US" sz="2800" dirty="0" err="1"/>
              <a:t>simpleSum</a:t>
            </a:r>
            <a:r>
              <a:rPr lang="en-US" sz="2800" dirty="0"/>
              <a:t>(array, s, e);</a:t>
            </a:r>
          </a:p>
          <a:p>
            <a:pPr marL="0" indent="0">
              <a:buNone/>
            </a:pPr>
            <a:r>
              <a:rPr lang="en-US" sz="2800" dirty="0"/>
              <a:t>     }</a:t>
            </a:r>
          </a:p>
          <a:p>
            <a:pPr marL="0" indent="0">
              <a:buNone/>
            </a:pPr>
            <a:r>
              <a:rPr lang="en-US" sz="2800" dirty="0"/>
              <a:t>     join;</a:t>
            </a:r>
          </a:p>
          <a:p>
            <a:pPr marL="0" indent="0">
              <a:buNone/>
            </a:pPr>
            <a:r>
              <a:rPr lang="en-US" sz="2800" dirty="0"/>
              <a:t>     return </a:t>
            </a:r>
            <a:r>
              <a:rPr lang="en-US" sz="2800" dirty="0" err="1"/>
              <a:t>simpleSum</a:t>
            </a:r>
            <a:r>
              <a:rPr lang="en-US" sz="2800" dirty="0"/>
              <a:t>(sums, 0, c);</a:t>
            </a:r>
          </a:p>
          <a:p>
            <a:pPr marL="0" indent="0">
              <a:buNone/>
            </a:pPr>
            <a:r>
              <a:rPr lang="en-US" sz="2800" dirty="0"/>
              <a:t>}</a:t>
            </a:r>
          </a:p>
          <a:p>
            <a:pPr marL="0" indent="0">
              <a:buNone/>
            </a:pPr>
            <a:endParaRPr lang="en-US" dirty="0"/>
          </a:p>
        </p:txBody>
      </p:sp>
      <p:sp>
        <p:nvSpPr>
          <p:cNvPr id="2" name="TextBox 1">
            <a:extLst>
              <a:ext uri="{FF2B5EF4-FFF2-40B4-BE49-F238E27FC236}">
                <a16:creationId xmlns:a16="http://schemas.microsoft.com/office/drawing/2014/main" id="{46E38D3C-6608-DD53-7250-7EDDB52EB307}"/>
              </a:ext>
            </a:extLst>
          </p:cNvPr>
          <p:cNvSpPr txBox="1"/>
          <p:nvPr/>
        </p:nvSpPr>
        <p:spPr>
          <a:xfrm>
            <a:off x="6096000" y="1690688"/>
            <a:ext cx="6096000" cy="3046988"/>
          </a:xfrm>
          <a:prstGeom prst="rect">
            <a:avLst/>
          </a:prstGeom>
          <a:noFill/>
        </p:spPr>
        <p:txBody>
          <a:bodyPr wrap="square" rtlCol="0">
            <a:spAutoFit/>
          </a:bodyPr>
          <a:lstStyle/>
          <a:p>
            <a:r>
              <a:rPr lang="en-US" sz="2400" dirty="0"/>
              <a:t>What if </a:t>
            </a:r>
          </a:p>
          <a:p>
            <a:r>
              <a:rPr lang="en-US" sz="2400" dirty="0"/>
              <a:t>… c is wrong? (the OS takes a core back)</a:t>
            </a:r>
          </a:p>
          <a:p>
            <a:endParaRPr lang="en-US" sz="2400" dirty="0"/>
          </a:p>
          <a:p>
            <a:endParaRPr lang="en-US" sz="2400" dirty="0"/>
          </a:p>
          <a:p>
            <a:endParaRPr lang="en-US" sz="2400" dirty="0"/>
          </a:p>
          <a:p>
            <a:endParaRPr lang="en-US" sz="2400" dirty="0"/>
          </a:p>
          <a:p>
            <a:endParaRPr lang="en-US" sz="2400" dirty="0"/>
          </a:p>
          <a:p>
            <a:r>
              <a:rPr lang="en-US" sz="2400" dirty="0"/>
              <a:t>… strands need different amounts of work?  </a:t>
            </a:r>
          </a:p>
        </p:txBody>
      </p:sp>
      <p:grpSp>
        <p:nvGrpSpPr>
          <p:cNvPr id="8" name="Group 7">
            <a:extLst>
              <a:ext uri="{FF2B5EF4-FFF2-40B4-BE49-F238E27FC236}">
                <a16:creationId xmlns:a16="http://schemas.microsoft.com/office/drawing/2014/main" id="{D3FF0E25-86E3-9771-D425-744DEC9ECAF0}"/>
              </a:ext>
            </a:extLst>
          </p:cNvPr>
          <p:cNvGrpSpPr/>
          <p:nvPr/>
        </p:nvGrpSpPr>
        <p:grpSpPr>
          <a:xfrm>
            <a:off x="7392709" y="2761828"/>
            <a:ext cx="1852268" cy="904707"/>
            <a:chOff x="6647122" y="2294424"/>
            <a:chExt cx="1852268" cy="904707"/>
          </a:xfrm>
        </p:grpSpPr>
        <p:sp>
          <p:nvSpPr>
            <p:cNvPr id="3" name="Rectangle 2">
              <a:extLst>
                <a:ext uri="{FF2B5EF4-FFF2-40B4-BE49-F238E27FC236}">
                  <a16:creationId xmlns:a16="http://schemas.microsoft.com/office/drawing/2014/main" id="{628DC8D1-56AC-27B5-2469-C865332D0C08}"/>
                </a:ext>
              </a:extLst>
            </p:cNvPr>
            <p:cNvSpPr/>
            <p:nvPr/>
          </p:nvSpPr>
          <p:spPr>
            <a:xfrm>
              <a:off x="6647122" y="2294424"/>
              <a:ext cx="926134" cy="3657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F88D0D6-AED5-6980-5DDA-FDD388955C72}"/>
                </a:ext>
              </a:extLst>
            </p:cNvPr>
            <p:cNvSpPr/>
            <p:nvPr/>
          </p:nvSpPr>
          <p:spPr>
            <a:xfrm>
              <a:off x="6647122" y="2833371"/>
              <a:ext cx="926134" cy="3657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391FB1B-D34E-3A8B-5941-B17D42D1E986}"/>
                </a:ext>
              </a:extLst>
            </p:cNvPr>
            <p:cNvSpPr/>
            <p:nvPr/>
          </p:nvSpPr>
          <p:spPr>
            <a:xfrm>
              <a:off x="7573256" y="2294424"/>
              <a:ext cx="926134" cy="3657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67D0CE90-A00E-4512-D263-27119E480D10}"/>
              </a:ext>
            </a:extLst>
          </p:cNvPr>
          <p:cNvGrpSpPr/>
          <p:nvPr/>
        </p:nvGrpSpPr>
        <p:grpSpPr>
          <a:xfrm>
            <a:off x="7392709" y="4953067"/>
            <a:ext cx="1852268" cy="904707"/>
            <a:chOff x="6647122" y="2294424"/>
            <a:chExt cx="1852268" cy="904707"/>
          </a:xfrm>
        </p:grpSpPr>
        <p:sp>
          <p:nvSpPr>
            <p:cNvPr id="10" name="Rectangle 9">
              <a:extLst>
                <a:ext uri="{FF2B5EF4-FFF2-40B4-BE49-F238E27FC236}">
                  <a16:creationId xmlns:a16="http://schemas.microsoft.com/office/drawing/2014/main" id="{9A1B5977-3134-65BE-8245-0CC4109DCD3A}"/>
                </a:ext>
              </a:extLst>
            </p:cNvPr>
            <p:cNvSpPr/>
            <p:nvPr/>
          </p:nvSpPr>
          <p:spPr>
            <a:xfrm>
              <a:off x="6647122" y="2294424"/>
              <a:ext cx="1852268" cy="3657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152D8DE-F647-628C-965A-B279704E1D7F}"/>
                </a:ext>
              </a:extLst>
            </p:cNvPr>
            <p:cNvSpPr/>
            <p:nvPr/>
          </p:nvSpPr>
          <p:spPr>
            <a:xfrm>
              <a:off x="6647122" y="2833371"/>
              <a:ext cx="926134" cy="3657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954059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2CCF2-45EC-863A-99AB-AC754170C9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1D48B8-5C00-2090-5569-FA06CE07C003}"/>
              </a:ext>
            </a:extLst>
          </p:cNvPr>
          <p:cNvSpPr>
            <a:spLocks noGrp="1"/>
          </p:cNvSpPr>
          <p:nvPr>
            <p:ph type="title"/>
          </p:nvPr>
        </p:nvSpPr>
        <p:spPr/>
        <p:txBody>
          <a:bodyPr/>
          <a:lstStyle/>
          <a:p>
            <a:pPr algn="ctr"/>
            <a:r>
              <a:rPr lang="en-US" dirty="0"/>
              <a:t>Recursion to the rescue!</a:t>
            </a:r>
          </a:p>
        </p:txBody>
      </p:sp>
      <p:sp>
        <p:nvSpPr>
          <p:cNvPr id="3" name="Content Placeholder 2">
            <a:extLst>
              <a:ext uri="{FF2B5EF4-FFF2-40B4-BE49-F238E27FC236}">
                <a16:creationId xmlns:a16="http://schemas.microsoft.com/office/drawing/2014/main" id="{6FCAEEC4-15BA-8D2E-791C-548FEDBD8631}"/>
              </a:ext>
            </a:extLst>
          </p:cNvPr>
          <p:cNvSpPr>
            <a:spLocks noGrp="1"/>
          </p:cNvSpPr>
          <p:nvPr>
            <p:ph idx="1"/>
          </p:nvPr>
        </p:nvSpPr>
        <p:spPr/>
        <p:txBody>
          <a:bodyPr>
            <a:normAutofit/>
          </a:bodyPr>
          <a:lstStyle/>
          <a:p>
            <a:pPr marL="0" indent="0">
              <a:buNone/>
            </a:pPr>
            <a:r>
              <a:rPr lang="en-US" sz="2400" dirty="0"/>
              <a:t>int sum(int[] array, int low, int hi) {</a:t>
            </a:r>
          </a:p>
          <a:p>
            <a:pPr marL="0" indent="0">
              <a:buNone/>
            </a:pPr>
            <a:r>
              <a:rPr lang="en-US" sz="2400" dirty="0"/>
              <a:t>	//base case</a:t>
            </a:r>
          </a:p>
          <a:p>
            <a:pPr marL="0" indent="0">
              <a:buNone/>
            </a:pPr>
            <a:r>
              <a:rPr lang="en-US" sz="2400" dirty="0"/>
              <a:t>	int left = fork sum(array, low, (</a:t>
            </a:r>
            <a:r>
              <a:rPr lang="en-US" sz="2400" dirty="0" err="1"/>
              <a:t>hi+low</a:t>
            </a:r>
            <a:r>
              <a:rPr lang="en-US" sz="2400" dirty="0"/>
              <a:t>)/2);</a:t>
            </a:r>
          </a:p>
          <a:p>
            <a:pPr marL="0" indent="0">
              <a:buNone/>
            </a:pPr>
            <a:r>
              <a:rPr lang="en-US" sz="2400" dirty="0"/>
              <a:t>	int right = sum(array, (</a:t>
            </a:r>
            <a:r>
              <a:rPr lang="en-US" sz="2400" dirty="0" err="1"/>
              <a:t>hi+low</a:t>
            </a:r>
            <a:r>
              <a:rPr lang="en-US" sz="2400" dirty="0"/>
              <a:t>)/2, hi);</a:t>
            </a:r>
          </a:p>
          <a:p>
            <a:pPr marL="0" indent="0">
              <a:buNone/>
            </a:pPr>
            <a:r>
              <a:rPr lang="en-US" sz="2400" dirty="0"/>
              <a:t>	join;</a:t>
            </a:r>
          </a:p>
          <a:p>
            <a:pPr marL="0" indent="0">
              <a:buNone/>
            </a:pPr>
            <a:r>
              <a:rPr lang="en-US" sz="2400" dirty="0"/>
              <a:t>	return left + right;</a:t>
            </a:r>
          </a:p>
          <a:p>
            <a:pPr marL="0" indent="0">
              <a:buNone/>
            </a:pPr>
            <a:r>
              <a:rPr lang="en-US" sz="2400" dirty="0"/>
              <a:t>}</a:t>
            </a:r>
          </a:p>
        </p:txBody>
      </p:sp>
    </p:spTree>
    <p:extLst>
      <p:ext uri="{BB962C8B-B14F-4D97-AF65-F5344CB8AC3E}">
        <p14:creationId xmlns:p14="http://schemas.microsoft.com/office/powerpoint/2010/main" val="27838522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4F541-8376-9D6C-7A23-DD84BEECA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7093EA-EE72-008E-BC5F-BD4DF9E610FE}"/>
              </a:ext>
            </a:extLst>
          </p:cNvPr>
          <p:cNvSpPr>
            <a:spLocks noGrp="1"/>
          </p:cNvSpPr>
          <p:nvPr>
            <p:ph type="title"/>
          </p:nvPr>
        </p:nvSpPr>
        <p:spPr/>
        <p:txBody>
          <a:bodyPr/>
          <a:lstStyle/>
          <a:p>
            <a:pPr algn="ctr"/>
            <a:r>
              <a:rPr lang="en-US" dirty="0"/>
              <a:t>Recursion to the rescue!</a:t>
            </a:r>
          </a:p>
        </p:txBody>
      </p:sp>
      <p:sp>
        <p:nvSpPr>
          <p:cNvPr id="3" name="Content Placeholder 2">
            <a:extLst>
              <a:ext uri="{FF2B5EF4-FFF2-40B4-BE49-F238E27FC236}">
                <a16:creationId xmlns:a16="http://schemas.microsoft.com/office/drawing/2014/main" id="{7C643198-9C1E-6E23-B2CE-8FF80BD7BA5F}"/>
              </a:ext>
            </a:extLst>
          </p:cNvPr>
          <p:cNvSpPr>
            <a:spLocks noGrp="1"/>
          </p:cNvSpPr>
          <p:nvPr>
            <p:ph idx="1"/>
          </p:nvPr>
        </p:nvSpPr>
        <p:spPr/>
        <p:txBody>
          <a:bodyPr>
            <a:normAutofit/>
          </a:bodyPr>
          <a:lstStyle/>
          <a:p>
            <a:pPr marL="0" indent="0">
              <a:buNone/>
            </a:pPr>
            <a:r>
              <a:rPr lang="en-US" sz="2400" dirty="0"/>
              <a:t>int sum(int[] array, int low, int hi) {</a:t>
            </a:r>
          </a:p>
          <a:p>
            <a:pPr marL="0" indent="0">
              <a:buNone/>
            </a:pPr>
            <a:r>
              <a:rPr lang="en-US" sz="2400" dirty="0"/>
              <a:t>	//base case</a:t>
            </a:r>
          </a:p>
          <a:p>
            <a:pPr marL="0" indent="0">
              <a:buNone/>
            </a:pPr>
            <a:r>
              <a:rPr lang="en-US" sz="2400" dirty="0"/>
              <a:t>	int left = fork sum(array, low, (</a:t>
            </a:r>
            <a:r>
              <a:rPr lang="en-US" sz="2400" dirty="0" err="1"/>
              <a:t>hi+low</a:t>
            </a:r>
            <a:r>
              <a:rPr lang="en-US" sz="2400" dirty="0"/>
              <a:t>)/2);</a:t>
            </a:r>
          </a:p>
          <a:p>
            <a:pPr marL="0" indent="0">
              <a:buNone/>
            </a:pPr>
            <a:r>
              <a:rPr lang="en-US" sz="2400" dirty="0"/>
              <a:t>	int right = sum(array, (</a:t>
            </a:r>
            <a:r>
              <a:rPr lang="en-US" sz="2400" dirty="0" err="1"/>
              <a:t>hi+low</a:t>
            </a:r>
            <a:r>
              <a:rPr lang="en-US" sz="2400" dirty="0"/>
              <a:t>)/2, hi);</a:t>
            </a:r>
          </a:p>
          <a:p>
            <a:pPr marL="0" indent="0">
              <a:buNone/>
            </a:pPr>
            <a:r>
              <a:rPr lang="en-US" sz="2400" dirty="0"/>
              <a:t>	join;</a:t>
            </a:r>
          </a:p>
          <a:p>
            <a:pPr marL="0" indent="0">
              <a:buNone/>
            </a:pPr>
            <a:r>
              <a:rPr lang="en-US" sz="2400" dirty="0"/>
              <a:t>	return left + right;</a:t>
            </a:r>
          </a:p>
          <a:p>
            <a:pPr marL="0" indent="0">
              <a:buNone/>
            </a:pPr>
            <a:r>
              <a:rPr lang="en-US" sz="2400" dirty="0"/>
              <a:t>}</a:t>
            </a:r>
          </a:p>
        </p:txBody>
      </p:sp>
      <p:sp>
        <p:nvSpPr>
          <p:cNvPr id="4" name="TextBox 3">
            <a:extLst>
              <a:ext uri="{FF2B5EF4-FFF2-40B4-BE49-F238E27FC236}">
                <a16:creationId xmlns:a16="http://schemas.microsoft.com/office/drawing/2014/main" id="{31EE59E9-B6C8-C0AA-7538-0C10285738A0}"/>
              </a:ext>
            </a:extLst>
          </p:cNvPr>
          <p:cNvSpPr txBox="1"/>
          <p:nvPr/>
        </p:nvSpPr>
        <p:spPr>
          <a:xfrm>
            <a:off x="5430130" y="4434463"/>
            <a:ext cx="6231988" cy="1877437"/>
          </a:xfrm>
          <a:prstGeom prst="rect">
            <a:avLst/>
          </a:prstGeom>
          <a:noFill/>
        </p:spPr>
        <p:txBody>
          <a:bodyPr wrap="square" rtlCol="0">
            <a:spAutoFit/>
          </a:bodyPr>
          <a:lstStyle/>
          <a:p>
            <a:r>
              <a:rPr lang="en-US" sz="2400" dirty="0"/>
              <a:t>Creates many more strands than cores</a:t>
            </a:r>
          </a:p>
          <a:p>
            <a:pPr>
              <a:spcBef>
                <a:spcPts val="1200"/>
              </a:spcBef>
            </a:pPr>
            <a:r>
              <a:rPr lang="en-US" sz="2400" dirty="0"/>
              <a:t>As each core finishes a strand, it gets another</a:t>
            </a:r>
          </a:p>
          <a:p>
            <a:pPr>
              <a:spcBef>
                <a:spcPts val="1200"/>
              </a:spcBef>
            </a:pPr>
            <a:r>
              <a:rPr lang="en-US" sz="2400" dirty="0"/>
              <a:t>Strands may have initial assignment, but any core can potentially take them (</a:t>
            </a:r>
            <a:r>
              <a:rPr lang="en-US" sz="2400" i="1" dirty="0"/>
              <a:t>work stealing</a:t>
            </a:r>
            <a:r>
              <a:rPr lang="en-US" sz="2400" dirty="0"/>
              <a:t>)</a:t>
            </a:r>
          </a:p>
        </p:txBody>
      </p:sp>
      <p:sp>
        <p:nvSpPr>
          <p:cNvPr id="5" name="Rounded Rectangle 4">
            <a:extLst>
              <a:ext uri="{FF2B5EF4-FFF2-40B4-BE49-F238E27FC236}">
                <a16:creationId xmlns:a16="http://schemas.microsoft.com/office/drawing/2014/main" id="{513B652A-ABD0-54BE-0CE1-3547BBD98226}"/>
              </a:ext>
            </a:extLst>
          </p:cNvPr>
          <p:cNvSpPr/>
          <p:nvPr/>
        </p:nvSpPr>
        <p:spPr>
          <a:xfrm>
            <a:off x="5331002" y="4381596"/>
            <a:ext cx="6274190" cy="2047484"/>
          </a:xfrm>
          <a:prstGeom prst="roundRect">
            <a:avLst/>
          </a:prstGeom>
          <a:solidFill>
            <a:schemeClr val="tx2">
              <a:lumMod val="50000"/>
              <a:lumOff val="50000"/>
              <a:alpha val="25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9176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5339D-35C2-BFE2-2FE3-E1502B89250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EA22E2-98D5-8E41-FD61-9DB58B3BA96D}"/>
              </a:ext>
            </a:extLst>
          </p:cNvPr>
          <p:cNvSpPr>
            <a:spLocks noGrp="1"/>
          </p:cNvSpPr>
          <p:nvPr>
            <p:ph idx="1"/>
          </p:nvPr>
        </p:nvSpPr>
        <p:spPr>
          <a:xfrm>
            <a:off x="838200" y="1825625"/>
            <a:ext cx="8420100" cy="4351338"/>
          </a:xfrm>
        </p:spPr>
        <p:txBody>
          <a:bodyPr/>
          <a:lstStyle/>
          <a:p>
            <a:pPr marL="0" indent="0">
              <a:buNone/>
            </a:pPr>
            <a:r>
              <a:rPr lang="en-US" dirty="0"/>
              <a:t>int sum(int[] array, int low, int hi) {</a:t>
            </a:r>
          </a:p>
          <a:p>
            <a:pPr marL="0" indent="0">
              <a:buNone/>
            </a:pPr>
            <a:r>
              <a:rPr lang="en-US" dirty="0"/>
              <a:t>   //base case</a:t>
            </a:r>
          </a:p>
          <a:p>
            <a:pPr marL="0" indent="0">
              <a:buNone/>
            </a:pPr>
            <a:endParaRPr lang="en-US" dirty="0"/>
          </a:p>
          <a:p>
            <a:pPr marL="0" indent="0">
              <a:buNone/>
            </a:pPr>
            <a:r>
              <a:rPr lang="en-US" dirty="0"/>
              <a:t>   int left = fork sum(array, low, (</a:t>
            </a:r>
            <a:r>
              <a:rPr lang="en-US" dirty="0" err="1"/>
              <a:t>hi+low</a:t>
            </a:r>
            <a:r>
              <a:rPr lang="en-US" dirty="0"/>
              <a:t>)/2);</a:t>
            </a:r>
          </a:p>
          <a:p>
            <a:pPr marL="0" indent="0">
              <a:buNone/>
            </a:pPr>
            <a:r>
              <a:rPr lang="en-US" dirty="0"/>
              <a:t>   int right = sum(array, (</a:t>
            </a:r>
            <a:r>
              <a:rPr lang="en-US" dirty="0" err="1"/>
              <a:t>hi+low</a:t>
            </a:r>
            <a:r>
              <a:rPr lang="en-US" dirty="0"/>
              <a:t>)/2, hi);</a:t>
            </a:r>
          </a:p>
          <a:p>
            <a:pPr marL="0" indent="0">
              <a:buNone/>
            </a:pPr>
            <a:r>
              <a:rPr lang="en-US" dirty="0"/>
              <a:t>   join;</a:t>
            </a:r>
          </a:p>
          <a:p>
            <a:pPr marL="0" indent="0">
              <a:buNone/>
            </a:pPr>
            <a:r>
              <a:rPr lang="en-US" dirty="0"/>
              <a:t>   return left + right;</a:t>
            </a:r>
          </a:p>
          <a:p>
            <a:pPr marL="0" indent="0">
              <a:buNone/>
            </a:pPr>
            <a:r>
              <a:rPr lang="en-US" dirty="0"/>
              <a:t>}</a:t>
            </a:r>
          </a:p>
        </p:txBody>
      </p:sp>
      <p:sp>
        <p:nvSpPr>
          <p:cNvPr id="2" name="Title 1">
            <a:extLst>
              <a:ext uri="{FF2B5EF4-FFF2-40B4-BE49-F238E27FC236}">
                <a16:creationId xmlns:a16="http://schemas.microsoft.com/office/drawing/2014/main" id="{BE597102-3483-E5F3-71DF-79DEC8E0381A}"/>
              </a:ext>
            </a:extLst>
          </p:cNvPr>
          <p:cNvSpPr>
            <a:spLocks noGrp="1"/>
          </p:cNvSpPr>
          <p:nvPr>
            <p:ph type="title"/>
          </p:nvPr>
        </p:nvSpPr>
        <p:spPr/>
        <p:txBody>
          <a:bodyPr>
            <a:normAutofit/>
          </a:bodyPr>
          <a:lstStyle/>
          <a:p>
            <a:pPr algn="ctr"/>
            <a:r>
              <a:rPr lang="en-US" dirty="0"/>
              <a:t>Precedence graph for this code</a:t>
            </a:r>
          </a:p>
        </p:txBody>
      </p:sp>
      <p:grpSp>
        <p:nvGrpSpPr>
          <p:cNvPr id="22" name="Group 21">
            <a:extLst>
              <a:ext uri="{FF2B5EF4-FFF2-40B4-BE49-F238E27FC236}">
                <a16:creationId xmlns:a16="http://schemas.microsoft.com/office/drawing/2014/main" id="{97BD2AB6-DBFB-D955-8644-EC44C2EC19C0}"/>
              </a:ext>
            </a:extLst>
          </p:cNvPr>
          <p:cNvGrpSpPr/>
          <p:nvPr/>
        </p:nvGrpSpPr>
        <p:grpSpPr>
          <a:xfrm>
            <a:off x="6785735" y="1805140"/>
            <a:ext cx="5156819" cy="1623860"/>
            <a:chOff x="5871334" y="4625112"/>
            <a:chExt cx="5156819" cy="1623860"/>
          </a:xfrm>
        </p:grpSpPr>
        <p:sp>
          <p:nvSpPr>
            <p:cNvPr id="4" name="Rectangle 3">
              <a:extLst>
                <a:ext uri="{FF2B5EF4-FFF2-40B4-BE49-F238E27FC236}">
                  <a16:creationId xmlns:a16="http://schemas.microsoft.com/office/drawing/2014/main" id="{15E3DD11-5AF8-0898-1B4A-96CF5C25931B}"/>
                </a:ext>
              </a:extLst>
            </p:cNvPr>
            <p:cNvSpPr/>
            <p:nvPr/>
          </p:nvSpPr>
          <p:spPr>
            <a:xfrm>
              <a:off x="8053475" y="4625112"/>
              <a:ext cx="1204824"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left half</a:t>
              </a:r>
            </a:p>
          </p:txBody>
        </p:sp>
        <p:sp>
          <p:nvSpPr>
            <p:cNvPr id="5" name="Rectangle 4">
              <a:extLst>
                <a:ext uri="{FF2B5EF4-FFF2-40B4-BE49-F238E27FC236}">
                  <a16:creationId xmlns:a16="http://schemas.microsoft.com/office/drawing/2014/main" id="{2E4ACFF9-C3AD-D592-79A0-AA0F12909E35}"/>
                </a:ext>
              </a:extLst>
            </p:cNvPr>
            <p:cNvSpPr/>
            <p:nvPr/>
          </p:nvSpPr>
          <p:spPr>
            <a:xfrm>
              <a:off x="8017938" y="5610617"/>
              <a:ext cx="1240361"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right half</a:t>
              </a:r>
            </a:p>
          </p:txBody>
        </p:sp>
        <p:cxnSp>
          <p:nvCxnSpPr>
            <p:cNvPr id="7" name="Straight Arrow Connector 6">
              <a:extLst>
                <a:ext uri="{FF2B5EF4-FFF2-40B4-BE49-F238E27FC236}">
                  <a16:creationId xmlns:a16="http://schemas.microsoft.com/office/drawing/2014/main" id="{36BA1492-DED1-4D85-E440-F058CDB67638}"/>
                </a:ext>
              </a:extLst>
            </p:cNvPr>
            <p:cNvCxnSpPr>
              <a:cxnSpLocks/>
              <a:endCxn id="4" idx="1"/>
            </p:cNvCxnSpPr>
            <p:nvPr/>
          </p:nvCxnSpPr>
          <p:spPr>
            <a:xfrm flipV="1">
              <a:off x="7488444" y="4944290"/>
              <a:ext cx="565031" cy="51873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4DF1C42-287B-3F44-987C-67B7BA779FDA}"/>
                </a:ext>
              </a:extLst>
            </p:cNvPr>
            <p:cNvCxnSpPr>
              <a:cxnSpLocks/>
              <a:endCxn id="5" idx="1"/>
            </p:cNvCxnSpPr>
            <p:nvPr/>
          </p:nvCxnSpPr>
          <p:spPr>
            <a:xfrm>
              <a:off x="7452908" y="5501713"/>
              <a:ext cx="565030" cy="4280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A822958-C579-B04C-F739-7B94F52C902B}"/>
                </a:ext>
              </a:extLst>
            </p:cNvPr>
            <p:cNvCxnSpPr/>
            <p:nvPr/>
          </p:nvCxnSpPr>
          <p:spPr>
            <a:xfrm>
              <a:off x="9261375" y="4944289"/>
              <a:ext cx="565031" cy="4280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A195A56-7FCB-76CA-302D-DB64B22697F5}"/>
                </a:ext>
              </a:extLst>
            </p:cNvPr>
            <p:cNvCxnSpPr/>
            <p:nvPr/>
          </p:nvCxnSpPr>
          <p:spPr>
            <a:xfrm flipV="1">
              <a:off x="9261374" y="5406396"/>
              <a:ext cx="565031" cy="51873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3F2DBB89-41C9-221A-197E-F62540863001}"/>
                </a:ext>
              </a:extLst>
            </p:cNvPr>
            <p:cNvSpPr/>
            <p:nvPr/>
          </p:nvSpPr>
          <p:spPr>
            <a:xfrm>
              <a:off x="5871334" y="5182535"/>
              <a:ext cx="1614033"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Base case, making calls</a:t>
              </a:r>
            </a:p>
          </p:txBody>
        </p:sp>
        <p:sp>
          <p:nvSpPr>
            <p:cNvPr id="21" name="Rectangle 20">
              <a:extLst>
                <a:ext uri="{FF2B5EF4-FFF2-40B4-BE49-F238E27FC236}">
                  <a16:creationId xmlns:a16="http://schemas.microsoft.com/office/drawing/2014/main" id="{232BBA49-6E30-CD86-0A80-8A1E28D75310}"/>
                </a:ext>
              </a:extLst>
            </p:cNvPr>
            <p:cNvSpPr/>
            <p:nvPr/>
          </p:nvSpPr>
          <p:spPr>
            <a:xfrm>
              <a:off x="9823329" y="5087218"/>
              <a:ext cx="1204824"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adding</a:t>
              </a:r>
            </a:p>
          </p:txBody>
        </p:sp>
      </p:grpSp>
    </p:spTree>
    <p:extLst>
      <p:ext uri="{BB962C8B-B14F-4D97-AF65-F5344CB8AC3E}">
        <p14:creationId xmlns:p14="http://schemas.microsoft.com/office/powerpoint/2010/main" val="20905701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2092A-7D9D-7066-BC68-6BDA466A74E5}"/>
            </a:ext>
          </a:extLst>
        </p:cNvPr>
        <p:cNvGrpSpPr/>
        <p:nvPr/>
      </p:nvGrpSpPr>
      <p:grpSpPr>
        <a:xfrm>
          <a:off x="0" y="0"/>
          <a:ext cx="0" cy="0"/>
          <a:chOff x="0" y="0"/>
          <a:chExt cx="0" cy="0"/>
        </a:xfrm>
      </p:grpSpPr>
      <p:sp>
        <p:nvSpPr>
          <p:cNvPr id="12" name="Rounded Rectangle 11">
            <a:extLst>
              <a:ext uri="{FF2B5EF4-FFF2-40B4-BE49-F238E27FC236}">
                <a16:creationId xmlns:a16="http://schemas.microsoft.com/office/drawing/2014/main" id="{F1C5929B-CFE0-B519-AC46-2935BB1CFB0D}"/>
              </a:ext>
            </a:extLst>
          </p:cNvPr>
          <p:cNvSpPr/>
          <p:nvPr/>
        </p:nvSpPr>
        <p:spPr>
          <a:xfrm>
            <a:off x="4760431" y="4526130"/>
            <a:ext cx="7160217" cy="2103865"/>
          </a:xfrm>
          <a:prstGeom prst="roundRect">
            <a:avLst/>
          </a:prstGeom>
          <a:solidFill>
            <a:schemeClr val="tx2">
              <a:lumMod val="50000"/>
              <a:lumOff val="50000"/>
              <a:alpha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8CF30BD-2F41-220F-BB9E-ACCE4868F944}"/>
              </a:ext>
            </a:extLst>
          </p:cNvPr>
          <p:cNvSpPr>
            <a:spLocks noGrp="1"/>
          </p:cNvSpPr>
          <p:nvPr>
            <p:ph idx="1"/>
          </p:nvPr>
        </p:nvSpPr>
        <p:spPr>
          <a:xfrm>
            <a:off x="838200" y="1825625"/>
            <a:ext cx="8420100" cy="4351338"/>
          </a:xfrm>
        </p:spPr>
        <p:txBody>
          <a:bodyPr/>
          <a:lstStyle/>
          <a:p>
            <a:pPr marL="0" indent="0">
              <a:buNone/>
            </a:pPr>
            <a:r>
              <a:rPr lang="en-US" dirty="0"/>
              <a:t>int sum(int[] array, int low, int hi) {</a:t>
            </a:r>
          </a:p>
          <a:p>
            <a:pPr marL="0" indent="0">
              <a:buNone/>
            </a:pPr>
            <a:r>
              <a:rPr lang="en-US" dirty="0"/>
              <a:t>   //base case</a:t>
            </a:r>
          </a:p>
          <a:p>
            <a:pPr marL="0" indent="0">
              <a:buNone/>
            </a:pPr>
            <a:endParaRPr lang="en-US" dirty="0"/>
          </a:p>
          <a:p>
            <a:pPr marL="0" indent="0">
              <a:buNone/>
            </a:pPr>
            <a:r>
              <a:rPr lang="en-US" dirty="0"/>
              <a:t>   int left = fork sum(array, low, (</a:t>
            </a:r>
            <a:r>
              <a:rPr lang="en-US" dirty="0" err="1"/>
              <a:t>hi+low</a:t>
            </a:r>
            <a:r>
              <a:rPr lang="en-US" dirty="0"/>
              <a:t>)/2);</a:t>
            </a:r>
          </a:p>
          <a:p>
            <a:pPr marL="0" indent="0">
              <a:buNone/>
            </a:pPr>
            <a:r>
              <a:rPr lang="en-US" dirty="0"/>
              <a:t>   int right = sum(array, (</a:t>
            </a:r>
            <a:r>
              <a:rPr lang="en-US" dirty="0" err="1"/>
              <a:t>hi+low</a:t>
            </a:r>
            <a:r>
              <a:rPr lang="en-US" dirty="0"/>
              <a:t>)/2, hi);</a:t>
            </a:r>
          </a:p>
          <a:p>
            <a:pPr marL="0" indent="0">
              <a:buNone/>
            </a:pPr>
            <a:r>
              <a:rPr lang="en-US" dirty="0"/>
              <a:t>   join;</a:t>
            </a:r>
          </a:p>
          <a:p>
            <a:pPr marL="0" indent="0">
              <a:buNone/>
            </a:pPr>
            <a:r>
              <a:rPr lang="en-US" dirty="0"/>
              <a:t>   return left + right;</a:t>
            </a:r>
          </a:p>
          <a:p>
            <a:pPr marL="0" indent="0">
              <a:buNone/>
            </a:pPr>
            <a:r>
              <a:rPr lang="en-US" dirty="0"/>
              <a:t>}</a:t>
            </a:r>
          </a:p>
        </p:txBody>
      </p:sp>
      <p:sp>
        <p:nvSpPr>
          <p:cNvPr id="2" name="Title 1">
            <a:extLst>
              <a:ext uri="{FF2B5EF4-FFF2-40B4-BE49-F238E27FC236}">
                <a16:creationId xmlns:a16="http://schemas.microsoft.com/office/drawing/2014/main" id="{854E7F87-3314-FE72-3B31-496D1D95B32A}"/>
              </a:ext>
            </a:extLst>
          </p:cNvPr>
          <p:cNvSpPr>
            <a:spLocks noGrp="1"/>
          </p:cNvSpPr>
          <p:nvPr>
            <p:ph type="title"/>
          </p:nvPr>
        </p:nvSpPr>
        <p:spPr/>
        <p:txBody>
          <a:bodyPr>
            <a:normAutofit/>
          </a:bodyPr>
          <a:lstStyle/>
          <a:p>
            <a:pPr algn="ctr"/>
            <a:r>
              <a:rPr lang="en-US" dirty="0"/>
              <a:t>Precedence graph for this code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25743F6-638F-2085-4565-477416D9E0B9}"/>
                  </a:ext>
                </a:extLst>
              </p:cNvPr>
              <p:cNvSpPr txBox="1"/>
              <p:nvPr/>
            </p:nvSpPr>
            <p:spPr>
              <a:xfrm>
                <a:off x="5262626" y="5124865"/>
                <a:ext cx="6676977" cy="1384995"/>
              </a:xfrm>
              <a:prstGeom prst="rect">
                <a:avLst/>
              </a:prstGeom>
              <a:noFill/>
            </p:spPr>
            <p:txBody>
              <a:bodyPr wrap="square" numCol="2" rtlCol="0">
                <a:spAutoFit/>
              </a:bodyPr>
              <a:lstStyle/>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(1)</a:t>
                </a:r>
              </a:p>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(log n)</a:t>
                </a:r>
              </a:p>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(n)</a:t>
                </a:r>
              </a:p>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(n log n)</a:t>
                </a:r>
              </a:p>
              <a:p>
                <a:pPr marL="342900" indent="-342900">
                  <a:buFont typeface="+mj-lt"/>
                  <a:buAutoNum type="alphaUcPeriod"/>
                </a:pPr>
                <a:r>
                  <a:rPr lang="en-US" sz="2800" dirty="0"/>
                  <a:t> None of the above</a:t>
                </a:r>
              </a:p>
            </p:txBody>
          </p:sp>
        </mc:Choice>
        <mc:Fallback xmlns="">
          <p:sp>
            <p:nvSpPr>
              <p:cNvPr id="6" name="TextBox 5">
                <a:extLst>
                  <a:ext uri="{FF2B5EF4-FFF2-40B4-BE49-F238E27FC236}">
                    <a16:creationId xmlns:a16="http://schemas.microsoft.com/office/drawing/2014/main" id="{F25743F6-638F-2085-4565-477416D9E0B9}"/>
                  </a:ext>
                </a:extLst>
              </p:cNvPr>
              <p:cNvSpPr txBox="1">
                <a:spLocks noRot="1" noChangeAspect="1" noMove="1" noResize="1" noEditPoints="1" noAdjustHandles="1" noChangeArrowheads="1" noChangeShapeType="1" noTextEdit="1"/>
              </p:cNvSpPr>
              <p:nvPr/>
            </p:nvSpPr>
            <p:spPr>
              <a:xfrm>
                <a:off x="5262626" y="5124865"/>
                <a:ext cx="6676977" cy="1384995"/>
              </a:xfrm>
              <a:prstGeom prst="rect">
                <a:avLst/>
              </a:prstGeom>
              <a:blipFill>
                <a:blip r:embed="rId3"/>
                <a:stretch>
                  <a:fillRect l="-1898" t="-4545" r="-1139" b="-11818"/>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F59C7D69-58CE-8864-4512-C8F80128B4CD}"/>
              </a:ext>
            </a:extLst>
          </p:cNvPr>
          <p:cNvGrpSpPr/>
          <p:nvPr/>
        </p:nvGrpSpPr>
        <p:grpSpPr>
          <a:xfrm>
            <a:off x="6785735" y="1805140"/>
            <a:ext cx="5156819" cy="1623860"/>
            <a:chOff x="5871334" y="4625112"/>
            <a:chExt cx="5156819" cy="1623860"/>
          </a:xfrm>
        </p:grpSpPr>
        <p:sp>
          <p:nvSpPr>
            <p:cNvPr id="4" name="Rectangle 3">
              <a:extLst>
                <a:ext uri="{FF2B5EF4-FFF2-40B4-BE49-F238E27FC236}">
                  <a16:creationId xmlns:a16="http://schemas.microsoft.com/office/drawing/2014/main" id="{10C41F3F-E078-138C-E3E8-D743EA476601}"/>
                </a:ext>
              </a:extLst>
            </p:cNvPr>
            <p:cNvSpPr/>
            <p:nvPr/>
          </p:nvSpPr>
          <p:spPr>
            <a:xfrm>
              <a:off x="8053475" y="4625112"/>
              <a:ext cx="1204824"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left half</a:t>
              </a:r>
            </a:p>
          </p:txBody>
        </p:sp>
        <p:sp>
          <p:nvSpPr>
            <p:cNvPr id="5" name="Rectangle 4">
              <a:extLst>
                <a:ext uri="{FF2B5EF4-FFF2-40B4-BE49-F238E27FC236}">
                  <a16:creationId xmlns:a16="http://schemas.microsoft.com/office/drawing/2014/main" id="{B66659D3-6C7F-1BC1-E7EC-4E895B9CF02E}"/>
                </a:ext>
              </a:extLst>
            </p:cNvPr>
            <p:cNvSpPr/>
            <p:nvPr/>
          </p:nvSpPr>
          <p:spPr>
            <a:xfrm>
              <a:off x="8017938" y="5610617"/>
              <a:ext cx="1240361"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right half</a:t>
              </a:r>
            </a:p>
          </p:txBody>
        </p:sp>
        <p:cxnSp>
          <p:nvCxnSpPr>
            <p:cNvPr id="7" name="Straight Arrow Connector 6">
              <a:extLst>
                <a:ext uri="{FF2B5EF4-FFF2-40B4-BE49-F238E27FC236}">
                  <a16:creationId xmlns:a16="http://schemas.microsoft.com/office/drawing/2014/main" id="{39D11B14-E4EC-45F8-A350-9AF17E945BE5}"/>
                </a:ext>
              </a:extLst>
            </p:cNvPr>
            <p:cNvCxnSpPr>
              <a:cxnSpLocks/>
              <a:endCxn id="4" idx="1"/>
            </p:cNvCxnSpPr>
            <p:nvPr/>
          </p:nvCxnSpPr>
          <p:spPr>
            <a:xfrm flipV="1">
              <a:off x="7488444" y="4944290"/>
              <a:ext cx="565031" cy="51873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D69B00C-1353-5BBD-4D63-97C3EFB5E34E}"/>
                </a:ext>
              </a:extLst>
            </p:cNvPr>
            <p:cNvCxnSpPr>
              <a:cxnSpLocks/>
              <a:endCxn id="5" idx="1"/>
            </p:cNvCxnSpPr>
            <p:nvPr/>
          </p:nvCxnSpPr>
          <p:spPr>
            <a:xfrm>
              <a:off x="7452908" y="5501713"/>
              <a:ext cx="565030" cy="4280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DADCD09-D082-DA1D-3CC6-48D237BAAE85}"/>
                </a:ext>
              </a:extLst>
            </p:cNvPr>
            <p:cNvCxnSpPr/>
            <p:nvPr/>
          </p:nvCxnSpPr>
          <p:spPr>
            <a:xfrm>
              <a:off x="9261375" y="4944289"/>
              <a:ext cx="565031" cy="4280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EBCCC70-E1BB-826F-5E4B-FDB72C51EE00}"/>
                </a:ext>
              </a:extLst>
            </p:cNvPr>
            <p:cNvCxnSpPr/>
            <p:nvPr/>
          </p:nvCxnSpPr>
          <p:spPr>
            <a:xfrm flipV="1">
              <a:off x="9261374" y="5406396"/>
              <a:ext cx="565031" cy="51873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D71299A5-87DC-AB9E-ECFC-C39D7AC7217B}"/>
                </a:ext>
              </a:extLst>
            </p:cNvPr>
            <p:cNvSpPr/>
            <p:nvPr/>
          </p:nvSpPr>
          <p:spPr>
            <a:xfrm>
              <a:off x="5871334" y="5182535"/>
              <a:ext cx="1614033"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Base case, making calls</a:t>
              </a:r>
            </a:p>
          </p:txBody>
        </p:sp>
        <p:sp>
          <p:nvSpPr>
            <p:cNvPr id="21" name="Rectangle 20">
              <a:extLst>
                <a:ext uri="{FF2B5EF4-FFF2-40B4-BE49-F238E27FC236}">
                  <a16:creationId xmlns:a16="http://schemas.microsoft.com/office/drawing/2014/main" id="{2B363D60-3215-DA5C-AAD5-EBB13E8F758E}"/>
                </a:ext>
              </a:extLst>
            </p:cNvPr>
            <p:cNvSpPr/>
            <p:nvPr/>
          </p:nvSpPr>
          <p:spPr>
            <a:xfrm>
              <a:off x="9823329" y="5087218"/>
              <a:ext cx="1204824"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adding</a:t>
              </a:r>
            </a:p>
          </p:txBody>
        </p:sp>
      </p:grpSp>
      <p:sp>
        <p:nvSpPr>
          <p:cNvPr id="11" name="TextBox 10">
            <a:extLst>
              <a:ext uri="{FF2B5EF4-FFF2-40B4-BE49-F238E27FC236}">
                <a16:creationId xmlns:a16="http://schemas.microsoft.com/office/drawing/2014/main" id="{53F55F25-8AC9-DAB1-D900-8F32075851F0}"/>
              </a:ext>
            </a:extLst>
          </p:cNvPr>
          <p:cNvSpPr txBox="1"/>
          <p:nvPr/>
        </p:nvSpPr>
        <p:spPr>
          <a:xfrm>
            <a:off x="5048250" y="4591403"/>
            <a:ext cx="6424579" cy="523220"/>
          </a:xfrm>
          <a:prstGeom prst="rect">
            <a:avLst/>
          </a:prstGeom>
          <a:noFill/>
        </p:spPr>
        <p:txBody>
          <a:bodyPr wrap="none" rtlCol="0">
            <a:spAutoFit/>
          </a:bodyPr>
          <a:lstStyle/>
          <a:p>
            <a:r>
              <a:rPr lang="en-US" sz="2800" dirty="0"/>
              <a:t>What is the span of this code? (n=hi-low)</a:t>
            </a:r>
          </a:p>
        </p:txBody>
      </p:sp>
    </p:spTree>
    <p:extLst>
      <p:ext uri="{BB962C8B-B14F-4D97-AF65-F5344CB8AC3E}">
        <p14:creationId xmlns:p14="http://schemas.microsoft.com/office/powerpoint/2010/main" val="14345736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051A-DE8A-930E-9AD7-AE083B08989C}"/>
            </a:ext>
          </a:extLst>
        </p:cNvPr>
        <p:cNvGrpSpPr/>
        <p:nvPr/>
      </p:nvGrpSpPr>
      <p:grpSpPr>
        <a:xfrm>
          <a:off x="0" y="0"/>
          <a:ext cx="0" cy="0"/>
          <a:chOff x="0" y="0"/>
          <a:chExt cx="0" cy="0"/>
        </a:xfrm>
      </p:grpSpPr>
      <p:sp>
        <p:nvSpPr>
          <p:cNvPr id="12" name="Rounded Rectangle 11">
            <a:extLst>
              <a:ext uri="{FF2B5EF4-FFF2-40B4-BE49-F238E27FC236}">
                <a16:creationId xmlns:a16="http://schemas.microsoft.com/office/drawing/2014/main" id="{AECB1D87-11B9-CB33-2739-39CEB87BCC6C}"/>
              </a:ext>
            </a:extLst>
          </p:cNvPr>
          <p:cNvSpPr/>
          <p:nvPr/>
        </p:nvSpPr>
        <p:spPr>
          <a:xfrm>
            <a:off x="4760431" y="4526130"/>
            <a:ext cx="7160217" cy="2103865"/>
          </a:xfrm>
          <a:prstGeom prst="roundRect">
            <a:avLst/>
          </a:prstGeom>
          <a:solidFill>
            <a:schemeClr val="tx2">
              <a:lumMod val="50000"/>
              <a:lumOff val="50000"/>
              <a:alpha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4C2D67C-AF51-0C39-227F-324EC00CB695}"/>
              </a:ext>
            </a:extLst>
          </p:cNvPr>
          <p:cNvSpPr>
            <a:spLocks noGrp="1"/>
          </p:cNvSpPr>
          <p:nvPr>
            <p:ph idx="1"/>
          </p:nvPr>
        </p:nvSpPr>
        <p:spPr>
          <a:xfrm>
            <a:off x="838200" y="1825625"/>
            <a:ext cx="8420100" cy="4351338"/>
          </a:xfrm>
        </p:spPr>
        <p:txBody>
          <a:bodyPr/>
          <a:lstStyle/>
          <a:p>
            <a:pPr marL="0" indent="0">
              <a:buNone/>
            </a:pPr>
            <a:r>
              <a:rPr lang="en-US" dirty="0"/>
              <a:t>int sum(int[] array, int low, int hi) {</a:t>
            </a:r>
          </a:p>
          <a:p>
            <a:pPr marL="0" indent="0">
              <a:buNone/>
            </a:pPr>
            <a:r>
              <a:rPr lang="en-US" dirty="0"/>
              <a:t>   //base case</a:t>
            </a:r>
          </a:p>
          <a:p>
            <a:pPr marL="0" indent="0">
              <a:buNone/>
            </a:pPr>
            <a:endParaRPr lang="en-US" dirty="0"/>
          </a:p>
          <a:p>
            <a:pPr marL="0" indent="0">
              <a:buNone/>
            </a:pPr>
            <a:r>
              <a:rPr lang="en-US" dirty="0"/>
              <a:t>   int left = fork sum(array, low, (</a:t>
            </a:r>
            <a:r>
              <a:rPr lang="en-US" dirty="0" err="1"/>
              <a:t>hi+low</a:t>
            </a:r>
            <a:r>
              <a:rPr lang="en-US" dirty="0"/>
              <a:t>)/2);</a:t>
            </a:r>
          </a:p>
          <a:p>
            <a:pPr marL="0" indent="0">
              <a:buNone/>
            </a:pPr>
            <a:r>
              <a:rPr lang="en-US" dirty="0"/>
              <a:t>   int right = sum(array, (</a:t>
            </a:r>
            <a:r>
              <a:rPr lang="en-US" dirty="0" err="1"/>
              <a:t>hi+low</a:t>
            </a:r>
            <a:r>
              <a:rPr lang="en-US" dirty="0"/>
              <a:t>)/2, hi);</a:t>
            </a:r>
          </a:p>
          <a:p>
            <a:pPr marL="0" indent="0">
              <a:buNone/>
            </a:pPr>
            <a:r>
              <a:rPr lang="en-US" dirty="0"/>
              <a:t>   join;</a:t>
            </a:r>
          </a:p>
          <a:p>
            <a:pPr marL="0" indent="0">
              <a:buNone/>
            </a:pPr>
            <a:r>
              <a:rPr lang="en-US" dirty="0"/>
              <a:t>   return left + right;</a:t>
            </a:r>
          </a:p>
          <a:p>
            <a:pPr marL="0" indent="0">
              <a:buNone/>
            </a:pPr>
            <a:r>
              <a:rPr lang="en-US" dirty="0"/>
              <a:t>}</a:t>
            </a:r>
          </a:p>
        </p:txBody>
      </p:sp>
      <p:sp>
        <p:nvSpPr>
          <p:cNvPr id="2" name="Title 1">
            <a:extLst>
              <a:ext uri="{FF2B5EF4-FFF2-40B4-BE49-F238E27FC236}">
                <a16:creationId xmlns:a16="http://schemas.microsoft.com/office/drawing/2014/main" id="{BBB3D39C-2937-01EC-3F6D-1068B187435B}"/>
              </a:ext>
            </a:extLst>
          </p:cNvPr>
          <p:cNvSpPr>
            <a:spLocks noGrp="1"/>
          </p:cNvSpPr>
          <p:nvPr>
            <p:ph type="title"/>
          </p:nvPr>
        </p:nvSpPr>
        <p:spPr/>
        <p:txBody>
          <a:bodyPr>
            <a:normAutofit/>
          </a:bodyPr>
          <a:lstStyle/>
          <a:p>
            <a:pPr algn="ctr"/>
            <a:r>
              <a:rPr lang="en-US" dirty="0"/>
              <a:t>Precedence graph for this code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597845B-C8FB-0B16-DAAA-01BCAE2A0AA7}"/>
                  </a:ext>
                </a:extLst>
              </p:cNvPr>
              <p:cNvSpPr txBox="1"/>
              <p:nvPr/>
            </p:nvSpPr>
            <p:spPr>
              <a:xfrm>
                <a:off x="5262626" y="5124865"/>
                <a:ext cx="6676977" cy="1384995"/>
              </a:xfrm>
              <a:prstGeom prst="rect">
                <a:avLst/>
              </a:prstGeom>
              <a:noFill/>
            </p:spPr>
            <p:txBody>
              <a:bodyPr wrap="square" numCol="2" rtlCol="0">
                <a:spAutoFit/>
              </a:bodyPr>
              <a:lstStyle/>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(1)</a:t>
                </a:r>
              </a:p>
              <a:p>
                <a:pPr marL="342900" indent="-342900">
                  <a:buFont typeface="+mj-lt"/>
                  <a:buAutoNum type="alphaUcPeriod"/>
                </a:pPr>
                <a:r>
                  <a:rPr lang="en-US" sz="2800" u="sng" dirty="0">
                    <a:solidFill>
                      <a:srgbClr val="00B050"/>
                    </a:solidFill>
                  </a:rPr>
                  <a:t> </a:t>
                </a:r>
                <a14:m>
                  <m:oMath xmlns:m="http://schemas.openxmlformats.org/officeDocument/2006/math">
                    <m:r>
                      <m:rPr>
                        <m:sty m:val="p"/>
                      </m:rPr>
                      <a:rPr lang="el-GR" sz="2800" i="1" u="sng" smtClean="0">
                        <a:solidFill>
                          <a:srgbClr val="00B050"/>
                        </a:solidFill>
                        <a:latin typeface="Cambria Math" panose="02040503050406030204" pitchFamily="18" charset="0"/>
                        <a:ea typeface="Cambria Math" panose="02040503050406030204" pitchFamily="18" charset="0"/>
                      </a:rPr>
                      <m:t>Θ</m:t>
                    </m:r>
                  </m:oMath>
                </a14:m>
                <a:r>
                  <a:rPr lang="en-US" sz="2800" u="sng" dirty="0">
                    <a:solidFill>
                      <a:srgbClr val="00B050"/>
                    </a:solidFill>
                  </a:rPr>
                  <a:t>(log n)</a:t>
                </a:r>
              </a:p>
              <a:p>
                <a:pPr marL="342900" indent="-342900">
                  <a:buFont typeface="+mj-lt"/>
                  <a:buAutoNum type="alphaUcPeriod"/>
                </a:pPr>
                <a:r>
                  <a:rPr lang="en-US" sz="2800" dirty="0"/>
                  <a:t> </a:t>
                </a:r>
                <a14:m>
                  <m:oMath xmlns:m="http://schemas.openxmlformats.org/officeDocument/2006/math">
                    <m:r>
                      <a:rPr lang="el-GR" sz="2800" i="1" smtClean="0">
                        <a:latin typeface="Cambria Math" panose="02040503050406030204" pitchFamily="18" charset="0"/>
                        <a:ea typeface="Cambria Math" panose="02040503050406030204" pitchFamily="18" charset="0"/>
                      </a:rPr>
                      <m:t>𝛩</m:t>
                    </m:r>
                  </m:oMath>
                </a14:m>
                <a:r>
                  <a:rPr lang="en-US" sz="2800" dirty="0"/>
                  <a:t>(n)</a:t>
                </a:r>
              </a:p>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(n log n)</a:t>
                </a:r>
              </a:p>
              <a:p>
                <a:pPr marL="342900" indent="-342900">
                  <a:buFont typeface="+mj-lt"/>
                  <a:buAutoNum type="alphaUcPeriod"/>
                </a:pPr>
                <a:r>
                  <a:rPr lang="en-US" sz="2800" dirty="0"/>
                  <a:t> None of the above</a:t>
                </a:r>
              </a:p>
            </p:txBody>
          </p:sp>
        </mc:Choice>
        <mc:Fallback xmlns="">
          <p:sp>
            <p:nvSpPr>
              <p:cNvPr id="6" name="TextBox 5">
                <a:extLst>
                  <a:ext uri="{FF2B5EF4-FFF2-40B4-BE49-F238E27FC236}">
                    <a16:creationId xmlns:a16="http://schemas.microsoft.com/office/drawing/2014/main" id="{3597845B-C8FB-0B16-DAAA-01BCAE2A0AA7}"/>
                  </a:ext>
                </a:extLst>
              </p:cNvPr>
              <p:cNvSpPr txBox="1">
                <a:spLocks noRot="1" noChangeAspect="1" noMove="1" noResize="1" noEditPoints="1" noAdjustHandles="1" noChangeArrowheads="1" noChangeShapeType="1" noTextEdit="1"/>
              </p:cNvSpPr>
              <p:nvPr/>
            </p:nvSpPr>
            <p:spPr>
              <a:xfrm>
                <a:off x="5262626" y="5124865"/>
                <a:ext cx="6676977" cy="1384995"/>
              </a:xfrm>
              <a:prstGeom prst="rect">
                <a:avLst/>
              </a:prstGeom>
              <a:blipFill>
                <a:blip r:embed="rId3"/>
                <a:stretch>
                  <a:fillRect l="-1898" t="-4545" r="-1139" b="-11818"/>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9D17D94F-F376-2F48-2159-7DDB5F27D561}"/>
              </a:ext>
            </a:extLst>
          </p:cNvPr>
          <p:cNvGrpSpPr/>
          <p:nvPr/>
        </p:nvGrpSpPr>
        <p:grpSpPr>
          <a:xfrm>
            <a:off x="6785735" y="1805140"/>
            <a:ext cx="5156819" cy="1623860"/>
            <a:chOff x="5871334" y="4625112"/>
            <a:chExt cx="5156819" cy="1623860"/>
          </a:xfrm>
        </p:grpSpPr>
        <p:sp>
          <p:nvSpPr>
            <p:cNvPr id="4" name="Rectangle 3">
              <a:extLst>
                <a:ext uri="{FF2B5EF4-FFF2-40B4-BE49-F238E27FC236}">
                  <a16:creationId xmlns:a16="http://schemas.microsoft.com/office/drawing/2014/main" id="{956D24D1-ED7F-52F6-439F-92F40FF2A4E6}"/>
                </a:ext>
              </a:extLst>
            </p:cNvPr>
            <p:cNvSpPr/>
            <p:nvPr/>
          </p:nvSpPr>
          <p:spPr>
            <a:xfrm>
              <a:off x="8053475" y="4625112"/>
              <a:ext cx="1204824"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left half</a:t>
              </a:r>
            </a:p>
          </p:txBody>
        </p:sp>
        <p:sp>
          <p:nvSpPr>
            <p:cNvPr id="5" name="Rectangle 4">
              <a:extLst>
                <a:ext uri="{FF2B5EF4-FFF2-40B4-BE49-F238E27FC236}">
                  <a16:creationId xmlns:a16="http://schemas.microsoft.com/office/drawing/2014/main" id="{FA42A511-726C-1B9D-1607-918515F860B7}"/>
                </a:ext>
              </a:extLst>
            </p:cNvPr>
            <p:cNvSpPr/>
            <p:nvPr/>
          </p:nvSpPr>
          <p:spPr>
            <a:xfrm>
              <a:off x="8017938" y="5610617"/>
              <a:ext cx="1240361"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right half</a:t>
              </a:r>
            </a:p>
          </p:txBody>
        </p:sp>
        <p:cxnSp>
          <p:nvCxnSpPr>
            <p:cNvPr id="7" name="Straight Arrow Connector 6">
              <a:extLst>
                <a:ext uri="{FF2B5EF4-FFF2-40B4-BE49-F238E27FC236}">
                  <a16:creationId xmlns:a16="http://schemas.microsoft.com/office/drawing/2014/main" id="{807E70A6-730E-9889-DFD1-C33BF3828F8B}"/>
                </a:ext>
              </a:extLst>
            </p:cNvPr>
            <p:cNvCxnSpPr>
              <a:cxnSpLocks/>
              <a:endCxn id="4" idx="1"/>
            </p:cNvCxnSpPr>
            <p:nvPr/>
          </p:nvCxnSpPr>
          <p:spPr>
            <a:xfrm flipV="1">
              <a:off x="7488444" y="4944290"/>
              <a:ext cx="565031" cy="51873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7661DE0-B6A8-035C-9C85-A9085D0C2F7B}"/>
                </a:ext>
              </a:extLst>
            </p:cNvPr>
            <p:cNvCxnSpPr>
              <a:cxnSpLocks/>
              <a:endCxn id="5" idx="1"/>
            </p:cNvCxnSpPr>
            <p:nvPr/>
          </p:nvCxnSpPr>
          <p:spPr>
            <a:xfrm>
              <a:off x="7452908" y="5501713"/>
              <a:ext cx="565030" cy="4280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8AA8AEF-A46D-54BF-2933-721CC6CC7ADF}"/>
                </a:ext>
              </a:extLst>
            </p:cNvPr>
            <p:cNvCxnSpPr/>
            <p:nvPr/>
          </p:nvCxnSpPr>
          <p:spPr>
            <a:xfrm>
              <a:off x="9261375" y="4944289"/>
              <a:ext cx="565031" cy="4280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5EE3869-8A86-98A7-3D2A-2E2B341ECE3E}"/>
                </a:ext>
              </a:extLst>
            </p:cNvPr>
            <p:cNvCxnSpPr/>
            <p:nvPr/>
          </p:nvCxnSpPr>
          <p:spPr>
            <a:xfrm flipV="1">
              <a:off x="9261374" y="5406396"/>
              <a:ext cx="565031" cy="51873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C74DF027-6155-645D-F6C4-64A5F941B243}"/>
                </a:ext>
              </a:extLst>
            </p:cNvPr>
            <p:cNvSpPr/>
            <p:nvPr/>
          </p:nvSpPr>
          <p:spPr>
            <a:xfrm>
              <a:off x="5871334" y="5182535"/>
              <a:ext cx="1614033"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Base case, making calls</a:t>
              </a:r>
            </a:p>
          </p:txBody>
        </p:sp>
        <p:sp>
          <p:nvSpPr>
            <p:cNvPr id="21" name="Rectangle 20">
              <a:extLst>
                <a:ext uri="{FF2B5EF4-FFF2-40B4-BE49-F238E27FC236}">
                  <a16:creationId xmlns:a16="http://schemas.microsoft.com/office/drawing/2014/main" id="{D8DCD967-D9C9-B1BD-73AC-AFF57491994A}"/>
                </a:ext>
              </a:extLst>
            </p:cNvPr>
            <p:cNvSpPr/>
            <p:nvPr/>
          </p:nvSpPr>
          <p:spPr>
            <a:xfrm>
              <a:off x="9823329" y="5087218"/>
              <a:ext cx="1204824"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adding</a:t>
              </a:r>
            </a:p>
          </p:txBody>
        </p:sp>
      </p:grpSp>
      <p:sp>
        <p:nvSpPr>
          <p:cNvPr id="11" name="TextBox 10">
            <a:extLst>
              <a:ext uri="{FF2B5EF4-FFF2-40B4-BE49-F238E27FC236}">
                <a16:creationId xmlns:a16="http://schemas.microsoft.com/office/drawing/2014/main" id="{33414C54-D070-89A4-9CA2-B5F077A7401B}"/>
              </a:ext>
            </a:extLst>
          </p:cNvPr>
          <p:cNvSpPr txBox="1"/>
          <p:nvPr/>
        </p:nvSpPr>
        <p:spPr>
          <a:xfrm>
            <a:off x="5048250" y="4591403"/>
            <a:ext cx="6424579" cy="523220"/>
          </a:xfrm>
          <a:prstGeom prst="rect">
            <a:avLst/>
          </a:prstGeom>
          <a:noFill/>
        </p:spPr>
        <p:txBody>
          <a:bodyPr wrap="none" rtlCol="0">
            <a:spAutoFit/>
          </a:bodyPr>
          <a:lstStyle/>
          <a:p>
            <a:r>
              <a:rPr lang="en-US" sz="2800" dirty="0"/>
              <a:t>What is the span of this code? (n=hi-low)</a:t>
            </a:r>
          </a:p>
        </p:txBody>
      </p:sp>
    </p:spTree>
    <p:extLst>
      <p:ext uri="{BB962C8B-B14F-4D97-AF65-F5344CB8AC3E}">
        <p14:creationId xmlns:p14="http://schemas.microsoft.com/office/powerpoint/2010/main" val="39655196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798F8-3E82-AB73-BE3B-3AE93CE22568}"/>
            </a:ext>
          </a:extLst>
        </p:cNvPr>
        <p:cNvGrpSpPr/>
        <p:nvPr/>
      </p:nvGrpSpPr>
      <p:grpSpPr>
        <a:xfrm>
          <a:off x="0" y="0"/>
          <a:ext cx="0" cy="0"/>
          <a:chOff x="0" y="0"/>
          <a:chExt cx="0" cy="0"/>
        </a:xfrm>
      </p:grpSpPr>
      <p:sp>
        <p:nvSpPr>
          <p:cNvPr id="12" name="Rounded Rectangle 11">
            <a:extLst>
              <a:ext uri="{FF2B5EF4-FFF2-40B4-BE49-F238E27FC236}">
                <a16:creationId xmlns:a16="http://schemas.microsoft.com/office/drawing/2014/main" id="{6BA87705-B0D0-D05E-3625-16BB742B0E4B}"/>
              </a:ext>
            </a:extLst>
          </p:cNvPr>
          <p:cNvSpPr/>
          <p:nvPr/>
        </p:nvSpPr>
        <p:spPr>
          <a:xfrm>
            <a:off x="4760431" y="4526130"/>
            <a:ext cx="7160217" cy="2103865"/>
          </a:xfrm>
          <a:prstGeom prst="roundRect">
            <a:avLst/>
          </a:prstGeom>
          <a:solidFill>
            <a:schemeClr val="tx2">
              <a:lumMod val="50000"/>
              <a:lumOff val="50000"/>
              <a:alpha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0C176B2-A277-5155-B8C0-B46C59975390}"/>
              </a:ext>
            </a:extLst>
          </p:cNvPr>
          <p:cNvSpPr>
            <a:spLocks noGrp="1"/>
          </p:cNvSpPr>
          <p:nvPr>
            <p:ph idx="1"/>
          </p:nvPr>
        </p:nvSpPr>
        <p:spPr>
          <a:xfrm>
            <a:off x="838200" y="1825625"/>
            <a:ext cx="8420100" cy="4351338"/>
          </a:xfrm>
        </p:spPr>
        <p:txBody>
          <a:bodyPr/>
          <a:lstStyle/>
          <a:p>
            <a:pPr marL="0" indent="0">
              <a:buNone/>
            </a:pPr>
            <a:r>
              <a:rPr lang="en-US" dirty="0"/>
              <a:t>int sum(int[] array, int low, int hi) {</a:t>
            </a:r>
          </a:p>
          <a:p>
            <a:pPr marL="0" indent="0">
              <a:buNone/>
            </a:pPr>
            <a:r>
              <a:rPr lang="en-US" dirty="0"/>
              <a:t>   //base case</a:t>
            </a:r>
          </a:p>
          <a:p>
            <a:pPr marL="0" indent="0">
              <a:buNone/>
            </a:pPr>
            <a:endParaRPr lang="en-US" dirty="0"/>
          </a:p>
          <a:p>
            <a:pPr marL="0" indent="0">
              <a:buNone/>
            </a:pPr>
            <a:r>
              <a:rPr lang="en-US" dirty="0"/>
              <a:t>   int left = fork sum(array, low, (</a:t>
            </a:r>
            <a:r>
              <a:rPr lang="en-US" dirty="0" err="1"/>
              <a:t>hi+low</a:t>
            </a:r>
            <a:r>
              <a:rPr lang="en-US" dirty="0"/>
              <a:t>)/2);</a:t>
            </a:r>
          </a:p>
          <a:p>
            <a:pPr marL="0" indent="0">
              <a:buNone/>
            </a:pPr>
            <a:r>
              <a:rPr lang="en-US" dirty="0"/>
              <a:t>   int right = sum(array, (</a:t>
            </a:r>
            <a:r>
              <a:rPr lang="en-US" dirty="0" err="1"/>
              <a:t>hi+low</a:t>
            </a:r>
            <a:r>
              <a:rPr lang="en-US" dirty="0"/>
              <a:t>)/2, hi);</a:t>
            </a:r>
          </a:p>
          <a:p>
            <a:pPr marL="0" indent="0">
              <a:buNone/>
            </a:pPr>
            <a:r>
              <a:rPr lang="en-US" dirty="0"/>
              <a:t>   join;</a:t>
            </a:r>
          </a:p>
          <a:p>
            <a:pPr marL="0" indent="0">
              <a:buNone/>
            </a:pPr>
            <a:r>
              <a:rPr lang="en-US" dirty="0"/>
              <a:t>   return left + right;</a:t>
            </a:r>
          </a:p>
          <a:p>
            <a:pPr marL="0" indent="0">
              <a:buNone/>
            </a:pPr>
            <a:r>
              <a:rPr lang="en-US" dirty="0"/>
              <a:t>}</a:t>
            </a:r>
          </a:p>
        </p:txBody>
      </p:sp>
      <p:sp>
        <p:nvSpPr>
          <p:cNvPr id="2" name="Title 1">
            <a:extLst>
              <a:ext uri="{FF2B5EF4-FFF2-40B4-BE49-F238E27FC236}">
                <a16:creationId xmlns:a16="http://schemas.microsoft.com/office/drawing/2014/main" id="{0621CAB8-1A67-07F5-1A69-BBB8CF53BDC8}"/>
              </a:ext>
            </a:extLst>
          </p:cNvPr>
          <p:cNvSpPr>
            <a:spLocks noGrp="1"/>
          </p:cNvSpPr>
          <p:nvPr>
            <p:ph type="title"/>
          </p:nvPr>
        </p:nvSpPr>
        <p:spPr/>
        <p:txBody>
          <a:bodyPr>
            <a:normAutofit/>
          </a:bodyPr>
          <a:lstStyle/>
          <a:p>
            <a:pPr algn="ctr"/>
            <a:r>
              <a:rPr lang="en-US" dirty="0"/>
              <a:t>Precedence graph for this code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5631673-956E-D784-083F-13C862DE24EB}"/>
                  </a:ext>
                </a:extLst>
              </p:cNvPr>
              <p:cNvSpPr txBox="1"/>
              <p:nvPr/>
            </p:nvSpPr>
            <p:spPr>
              <a:xfrm>
                <a:off x="5262626" y="5124865"/>
                <a:ext cx="6676977" cy="1384995"/>
              </a:xfrm>
              <a:prstGeom prst="rect">
                <a:avLst/>
              </a:prstGeom>
              <a:noFill/>
            </p:spPr>
            <p:txBody>
              <a:bodyPr wrap="square" numCol="2" rtlCol="0">
                <a:spAutoFit/>
              </a:bodyPr>
              <a:lstStyle/>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(1)</a:t>
                </a:r>
              </a:p>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(log n)</a:t>
                </a:r>
              </a:p>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(n)</a:t>
                </a:r>
              </a:p>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(n log n)</a:t>
                </a:r>
              </a:p>
              <a:p>
                <a:pPr marL="342900" indent="-342900">
                  <a:buFont typeface="+mj-lt"/>
                  <a:buAutoNum type="alphaUcPeriod"/>
                </a:pPr>
                <a:r>
                  <a:rPr lang="en-US" sz="2800" dirty="0"/>
                  <a:t> None of the above</a:t>
                </a:r>
              </a:p>
            </p:txBody>
          </p:sp>
        </mc:Choice>
        <mc:Fallback xmlns="">
          <p:sp>
            <p:nvSpPr>
              <p:cNvPr id="6" name="TextBox 5">
                <a:extLst>
                  <a:ext uri="{FF2B5EF4-FFF2-40B4-BE49-F238E27FC236}">
                    <a16:creationId xmlns:a16="http://schemas.microsoft.com/office/drawing/2014/main" id="{75631673-956E-D784-083F-13C862DE24EB}"/>
                  </a:ext>
                </a:extLst>
              </p:cNvPr>
              <p:cNvSpPr txBox="1">
                <a:spLocks noRot="1" noChangeAspect="1" noMove="1" noResize="1" noEditPoints="1" noAdjustHandles="1" noChangeArrowheads="1" noChangeShapeType="1" noTextEdit="1"/>
              </p:cNvSpPr>
              <p:nvPr/>
            </p:nvSpPr>
            <p:spPr>
              <a:xfrm>
                <a:off x="5262626" y="5124865"/>
                <a:ext cx="6676977" cy="1384995"/>
              </a:xfrm>
              <a:prstGeom prst="rect">
                <a:avLst/>
              </a:prstGeom>
              <a:blipFill>
                <a:blip r:embed="rId3"/>
                <a:stretch>
                  <a:fillRect l="-1898" t="-4545" r="-1139" b="-11818"/>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56C35CDE-3895-00A6-F97F-05B6B6B85626}"/>
              </a:ext>
            </a:extLst>
          </p:cNvPr>
          <p:cNvGrpSpPr/>
          <p:nvPr/>
        </p:nvGrpSpPr>
        <p:grpSpPr>
          <a:xfrm>
            <a:off x="6785735" y="1805140"/>
            <a:ext cx="5156819" cy="1623860"/>
            <a:chOff x="5871334" y="4625112"/>
            <a:chExt cx="5156819" cy="1623860"/>
          </a:xfrm>
        </p:grpSpPr>
        <p:sp>
          <p:nvSpPr>
            <p:cNvPr id="4" name="Rectangle 3">
              <a:extLst>
                <a:ext uri="{FF2B5EF4-FFF2-40B4-BE49-F238E27FC236}">
                  <a16:creationId xmlns:a16="http://schemas.microsoft.com/office/drawing/2014/main" id="{C54ADE65-2D26-32BE-9443-99FE218BB6C1}"/>
                </a:ext>
              </a:extLst>
            </p:cNvPr>
            <p:cNvSpPr/>
            <p:nvPr/>
          </p:nvSpPr>
          <p:spPr>
            <a:xfrm>
              <a:off x="8053475" y="4625112"/>
              <a:ext cx="1204824"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left half</a:t>
              </a:r>
            </a:p>
          </p:txBody>
        </p:sp>
        <p:sp>
          <p:nvSpPr>
            <p:cNvPr id="5" name="Rectangle 4">
              <a:extLst>
                <a:ext uri="{FF2B5EF4-FFF2-40B4-BE49-F238E27FC236}">
                  <a16:creationId xmlns:a16="http://schemas.microsoft.com/office/drawing/2014/main" id="{26AC6055-8C97-558C-651F-CD3C8D7EEDD7}"/>
                </a:ext>
              </a:extLst>
            </p:cNvPr>
            <p:cNvSpPr/>
            <p:nvPr/>
          </p:nvSpPr>
          <p:spPr>
            <a:xfrm>
              <a:off x="8017938" y="5610617"/>
              <a:ext cx="1240361"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right half</a:t>
              </a:r>
            </a:p>
          </p:txBody>
        </p:sp>
        <p:cxnSp>
          <p:nvCxnSpPr>
            <p:cNvPr id="7" name="Straight Arrow Connector 6">
              <a:extLst>
                <a:ext uri="{FF2B5EF4-FFF2-40B4-BE49-F238E27FC236}">
                  <a16:creationId xmlns:a16="http://schemas.microsoft.com/office/drawing/2014/main" id="{E933D030-C69D-6D80-A743-3F7CABF54050}"/>
                </a:ext>
              </a:extLst>
            </p:cNvPr>
            <p:cNvCxnSpPr>
              <a:cxnSpLocks/>
              <a:endCxn id="4" idx="1"/>
            </p:cNvCxnSpPr>
            <p:nvPr/>
          </p:nvCxnSpPr>
          <p:spPr>
            <a:xfrm flipV="1">
              <a:off x="7488444" y="4944290"/>
              <a:ext cx="565031" cy="51873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20B0205-F926-A86D-4DEB-1AC39A7354B8}"/>
                </a:ext>
              </a:extLst>
            </p:cNvPr>
            <p:cNvCxnSpPr>
              <a:cxnSpLocks/>
              <a:endCxn id="5" idx="1"/>
            </p:cNvCxnSpPr>
            <p:nvPr/>
          </p:nvCxnSpPr>
          <p:spPr>
            <a:xfrm>
              <a:off x="7452908" y="5501713"/>
              <a:ext cx="565030" cy="4280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3B773B9-D012-6C15-6ABA-61CE6E575732}"/>
                </a:ext>
              </a:extLst>
            </p:cNvPr>
            <p:cNvCxnSpPr/>
            <p:nvPr/>
          </p:nvCxnSpPr>
          <p:spPr>
            <a:xfrm>
              <a:off x="9261375" y="4944289"/>
              <a:ext cx="565031" cy="4280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4DA27BF-9EE3-FEAA-7BB3-E77CC8443EE5}"/>
                </a:ext>
              </a:extLst>
            </p:cNvPr>
            <p:cNvCxnSpPr/>
            <p:nvPr/>
          </p:nvCxnSpPr>
          <p:spPr>
            <a:xfrm flipV="1">
              <a:off x="9261374" y="5406396"/>
              <a:ext cx="565031" cy="51873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28DDE022-2D19-5B71-B334-ACBD3574C49A}"/>
                </a:ext>
              </a:extLst>
            </p:cNvPr>
            <p:cNvSpPr/>
            <p:nvPr/>
          </p:nvSpPr>
          <p:spPr>
            <a:xfrm>
              <a:off x="5871334" y="5182535"/>
              <a:ext cx="1614033"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Base case, making calls</a:t>
              </a:r>
            </a:p>
          </p:txBody>
        </p:sp>
        <p:sp>
          <p:nvSpPr>
            <p:cNvPr id="21" name="Rectangle 20">
              <a:extLst>
                <a:ext uri="{FF2B5EF4-FFF2-40B4-BE49-F238E27FC236}">
                  <a16:creationId xmlns:a16="http://schemas.microsoft.com/office/drawing/2014/main" id="{6E26D0ED-E735-F27E-5F38-7953EEE974D1}"/>
                </a:ext>
              </a:extLst>
            </p:cNvPr>
            <p:cNvSpPr/>
            <p:nvPr/>
          </p:nvSpPr>
          <p:spPr>
            <a:xfrm>
              <a:off x="9823329" y="5087218"/>
              <a:ext cx="1204824"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adding</a:t>
              </a:r>
            </a:p>
          </p:txBody>
        </p:sp>
      </p:grpSp>
      <p:sp>
        <p:nvSpPr>
          <p:cNvPr id="11" name="TextBox 10">
            <a:extLst>
              <a:ext uri="{FF2B5EF4-FFF2-40B4-BE49-F238E27FC236}">
                <a16:creationId xmlns:a16="http://schemas.microsoft.com/office/drawing/2014/main" id="{2B5D3164-0BB1-60FF-AF1A-91D485606B5C}"/>
              </a:ext>
            </a:extLst>
          </p:cNvPr>
          <p:cNvSpPr txBox="1"/>
          <p:nvPr/>
        </p:nvSpPr>
        <p:spPr>
          <a:xfrm>
            <a:off x="5048250" y="4591403"/>
            <a:ext cx="6408229" cy="523220"/>
          </a:xfrm>
          <a:prstGeom prst="rect">
            <a:avLst/>
          </a:prstGeom>
          <a:noFill/>
        </p:spPr>
        <p:txBody>
          <a:bodyPr wrap="none" rtlCol="0">
            <a:spAutoFit/>
          </a:bodyPr>
          <a:lstStyle/>
          <a:p>
            <a:r>
              <a:rPr lang="en-US" sz="2800" dirty="0"/>
              <a:t>What is the work of this code? (n=hi-low)</a:t>
            </a:r>
          </a:p>
        </p:txBody>
      </p:sp>
    </p:spTree>
    <p:extLst>
      <p:ext uri="{BB962C8B-B14F-4D97-AF65-F5344CB8AC3E}">
        <p14:creationId xmlns:p14="http://schemas.microsoft.com/office/powerpoint/2010/main" val="20836577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1143F-5692-FA48-9364-6F0EE4B542A5}"/>
            </a:ext>
          </a:extLst>
        </p:cNvPr>
        <p:cNvGrpSpPr/>
        <p:nvPr/>
      </p:nvGrpSpPr>
      <p:grpSpPr>
        <a:xfrm>
          <a:off x="0" y="0"/>
          <a:ext cx="0" cy="0"/>
          <a:chOff x="0" y="0"/>
          <a:chExt cx="0" cy="0"/>
        </a:xfrm>
      </p:grpSpPr>
      <p:sp>
        <p:nvSpPr>
          <p:cNvPr id="12" name="Rounded Rectangle 11">
            <a:extLst>
              <a:ext uri="{FF2B5EF4-FFF2-40B4-BE49-F238E27FC236}">
                <a16:creationId xmlns:a16="http://schemas.microsoft.com/office/drawing/2014/main" id="{DBC5B4E9-A7DD-DC3D-4C6B-2B5B5136B3C3}"/>
              </a:ext>
            </a:extLst>
          </p:cNvPr>
          <p:cNvSpPr/>
          <p:nvPr/>
        </p:nvSpPr>
        <p:spPr>
          <a:xfrm>
            <a:off x="4760431" y="4526130"/>
            <a:ext cx="7160217" cy="2103865"/>
          </a:xfrm>
          <a:prstGeom prst="roundRect">
            <a:avLst/>
          </a:prstGeom>
          <a:solidFill>
            <a:schemeClr val="tx2">
              <a:lumMod val="50000"/>
              <a:lumOff val="50000"/>
              <a:alpha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11109C-D90D-DC5C-EA65-0EF064F333B5}"/>
              </a:ext>
            </a:extLst>
          </p:cNvPr>
          <p:cNvSpPr>
            <a:spLocks noGrp="1"/>
          </p:cNvSpPr>
          <p:nvPr>
            <p:ph idx="1"/>
          </p:nvPr>
        </p:nvSpPr>
        <p:spPr>
          <a:xfrm>
            <a:off x="838200" y="1825625"/>
            <a:ext cx="8420100" cy="4351338"/>
          </a:xfrm>
        </p:spPr>
        <p:txBody>
          <a:bodyPr/>
          <a:lstStyle/>
          <a:p>
            <a:pPr marL="0" indent="0">
              <a:buNone/>
            </a:pPr>
            <a:r>
              <a:rPr lang="en-US" dirty="0"/>
              <a:t>int sum(int[] array, int low, int hi) {</a:t>
            </a:r>
          </a:p>
          <a:p>
            <a:pPr marL="0" indent="0">
              <a:buNone/>
            </a:pPr>
            <a:r>
              <a:rPr lang="en-US" dirty="0"/>
              <a:t>   //base case</a:t>
            </a:r>
          </a:p>
          <a:p>
            <a:pPr marL="0" indent="0">
              <a:buNone/>
            </a:pPr>
            <a:endParaRPr lang="en-US" dirty="0"/>
          </a:p>
          <a:p>
            <a:pPr marL="0" indent="0">
              <a:buNone/>
            </a:pPr>
            <a:r>
              <a:rPr lang="en-US" dirty="0"/>
              <a:t>   int left = fork sum(array, low, (</a:t>
            </a:r>
            <a:r>
              <a:rPr lang="en-US" dirty="0" err="1"/>
              <a:t>hi+low</a:t>
            </a:r>
            <a:r>
              <a:rPr lang="en-US" dirty="0"/>
              <a:t>)/2);</a:t>
            </a:r>
          </a:p>
          <a:p>
            <a:pPr marL="0" indent="0">
              <a:buNone/>
            </a:pPr>
            <a:r>
              <a:rPr lang="en-US" dirty="0"/>
              <a:t>   int right = sum(array, (</a:t>
            </a:r>
            <a:r>
              <a:rPr lang="en-US" dirty="0" err="1"/>
              <a:t>hi+low</a:t>
            </a:r>
            <a:r>
              <a:rPr lang="en-US" dirty="0"/>
              <a:t>)/2, hi);</a:t>
            </a:r>
          </a:p>
          <a:p>
            <a:pPr marL="0" indent="0">
              <a:buNone/>
            </a:pPr>
            <a:r>
              <a:rPr lang="en-US" dirty="0"/>
              <a:t>   join;</a:t>
            </a:r>
          </a:p>
          <a:p>
            <a:pPr marL="0" indent="0">
              <a:buNone/>
            </a:pPr>
            <a:r>
              <a:rPr lang="en-US" dirty="0"/>
              <a:t>   return left + right;</a:t>
            </a:r>
          </a:p>
          <a:p>
            <a:pPr marL="0" indent="0">
              <a:buNone/>
            </a:pPr>
            <a:r>
              <a:rPr lang="en-US" dirty="0"/>
              <a:t>}</a:t>
            </a:r>
          </a:p>
        </p:txBody>
      </p:sp>
      <p:sp>
        <p:nvSpPr>
          <p:cNvPr id="2" name="Title 1">
            <a:extLst>
              <a:ext uri="{FF2B5EF4-FFF2-40B4-BE49-F238E27FC236}">
                <a16:creationId xmlns:a16="http://schemas.microsoft.com/office/drawing/2014/main" id="{9DD4B5FA-3443-A08F-3052-E3BEA1F1D314}"/>
              </a:ext>
            </a:extLst>
          </p:cNvPr>
          <p:cNvSpPr>
            <a:spLocks noGrp="1"/>
          </p:cNvSpPr>
          <p:nvPr>
            <p:ph type="title"/>
          </p:nvPr>
        </p:nvSpPr>
        <p:spPr/>
        <p:txBody>
          <a:bodyPr>
            <a:normAutofit/>
          </a:bodyPr>
          <a:lstStyle/>
          <a:p>
            <a:pPr algn="ctr"/>
            <a:r>
              <a:rPr lang="en-US"/>
              <a:t>Applying this to a program</a:t>
            </a: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B774078-F979-AD86-BEC4-30A998ACEADB}"/>
                  </a:ext>
                </a:extLst>
              </p:cNvPr>
              <p:cNvSpPr txBox="1"/>
              <p:nvPr/>
            </p:nvSpPr>
            <p:spPr>
              <a:xfrm>
                <a:off x="5262626" y="5124865"/>
                <a:ext cx="6676977" cy="1384995"/>
              </a:xfrm>
              <a:prstGeom prst="rect">
                <a:avLst/>
              </a:prstGeom>
              <a:noFill/>
            </p:spPr>
            <p:txBody>
              <a:bodyPr wrap="square" numCol="2" rtlCol="0">
                <a:spAutoFit/>
              </a:bodyPr>
              <a:lstStyle/>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(1)</a:t>
                </a:r>
              </a:p>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(log n)</a:t>
                </a:r>
              </a:p>
              <a:p>
                <a:pPr marL="342900" indent="-342900">
                  <a:buFont typeface="+mj-lt"/>
                  <a:buAutoNum type="alphaUcPeriod"/>
                </a:pPr>
                <a:r>
                  <a:rPr lang="en-US" sz="2800" dirty="0">
                    <a:solidFill>
                      <a:srgbClr val="00B050"/>
                    </a:solidFill>
                  </a:rPr>
                  <a:t> </a:t>
                </a:r>
                <a14:m>
                  <m:oMath xmlns:m="http://schemas.openxmlformats.org/officeDocument/2006/math">
                    <m:r>
                      <m:rPr>
                        <m:sty m:val="p"/>
                      </m:rPr>
                      <a:rPr lang="el-GR" sz="2800" i="1" u="sng" smtClean="0">
                        <a:solidFill>
                          <a:srgbClr val="00B050"/>
                        </a:solidFill>
                        <a:latin typeface="Cambria Math" panose="02040503050406030204" pitchFamily="18" charset="0"/>
                        <a:ea typeface="Cambria Math" panose="02040503050406030204" pitchFamily="18" charset="0"/>
                      </a:rPr>
                      <m:t>Θ</m:t>
                    </m:r>
                  </m:oMath>
                </a14:m>
                <a:r>
                  <a:rPr lang="en-US" sz="2800" u="sng" dirty="0">
                    <a:solidFill>
                      <a:srgbClr val="00B050"/>
                    </a:solidFill>
                  </a:rPr>
                  <a:t>(n)</a:t>
                </a:r>
              </a:p>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(n log n)</a:t>
                </a:r>
              </a:p>
              <a:p>
                <a:pPr marL="342900" indent="-342900">
                  <a:buFont typeface="+mj-lt"/>
                  <a:buAutoNum type="alphaUcPeriod"/>
                </a:pPr>
                <a:r>
                  <a:rPr lang="en-US" sz="2800" dirty="0"/>
                  <a:t> None of the above</a:t>
                </a:r>
              </a:p>
            </p:txBody>
          </p:sp>
        </mc:Choice>
        <mc:Fallback xmlns="">
          <p:sp>
            <p:nvSpPr>
              <p:cNvPr id="6" name="TextBox 5">
                <a:extLst>
                  <a:ext uri="{FF2B5EF4-FFF2-40B4-BE49-F238E27FC236}">
                    <a16:creationId xmlns:a16="http://schemas.microsoft.com/office/drawing/2014/main" id="{7B774078-F979-AD86-BEC4-30A998ACEADB}"/>
                  </a:ext>
                </a:extLst>
              </p:cNvPr>
              <p:cNvSpPr txBox="1">
                <a:spLocks noRot="1" noChangeAspect="1" noMove="1" noResize="1" noEditPoints="1" noAdjustHandles="1" noChangeArrowheads="1" noChangeShapeType="1" noTextEdit="1"/>
              </p:cNvSpPr>
              <p:nvPr/>
            </p:nvSpPr>
            <p:spPr>
              <a:xfrm>
                <a:off x="5262626" y="5124865"/>
                <a:ext cx="6676977" cy="1384995"/>
              </a:xfrm>
              <a:prstGeom prst="rect">
                <a:avLst/>
              </a:prstGeom>
              <a:blipFill>
                <a:blip r:embed="rId3"/>
                <a:stretch>
                  <a:fillRect l="-1898" t="-4545" r="-1139" b="-11818"/>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39286162-0C98-5708-A037-DC0D6F8C3A99}"/>
              </a:ext>
            </a:extLst>
          </p:cNvPr>
          <p:cNvGrpSpPr/>
          <p:nvPr/>
        </p:nvGrpSpPr>
        <p:grpSpPr>
          <a:xfrm>
            <a:off x="6785735" y="1805140"/>
            <a:ext cx="5156819" cy="1623860"/>
            <a:chOff x="5871334" y="4625112"/>
            <a:chExt cx="5156819" cy="1623860"/>
          </a:xfrm>
        </p:grpSpPr>
        <p:sp>
          <p:nvSpPr>
            <p:cNvPr id="4" name="Rectangle 3">
              <a:extLst>
                <a:ext uri="{FF2B5EF4-FFF2-40B4-BE49-F238E27FC236}">
                  <a16:creationId xmlns:a16="http://schemas.microsoft.com/office/drawing/2014/main" id="{4EEA7D83-D89A-C9BD-04A4-73180AE651F1}"/>
                </a:ext>
              </a:extLst>
            </p:cNvPr>
            <p:cNvSpPr/>
            <p:nvPr/>
          </p:nvSpPr>
          <p:spPr>
            <a:xfrm>
              <a:off x="8053475" y="4625112"/>
              <a:ext cx="1204824"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left half</a:t>
              </a:r>
            </a:p>
          </p:txBody>
        </p:sp>
        <p:sp>
          <p:nvSpPr>
            <p:cNvPr id="5" name="Rectangle 4">
              <a:extLst>
                <a:ext uri="{FF2B5EF4-FFF2-40B4-BE49-F238E27FC236}">
                  <a16:creationId xmlns:a16="http://schemas.microsoft.com/office/drawing/2014/main" id="{4C661290-1ED8-691E-D10D-44E6CB05212F}"/>
                </a:ext>
              </a:extLst>
            </p:cNvPr>
            <p:cNvSpPr/>
            <p:nvPr/>
          </p:nvSpPr>
          <p:spPr>
            <a:xfrm>
              <a:off x="8017938" y="5610617"/>
              <a:ext cx="1240361"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right half</a:t>
              </a:r>
            </a:p>
          </p:txBody>
        </p:sp>
        <p:cxnSp>
          <p:nvCxnSpPr>
            <p:cNvPr id="7" name="Straight Arrow Connector 6">
              <a:extLst>
                <a:ext uri="{FF2B5EF4-FFF2-40B4-BE49-F238E27FC236}">
                  <a16:creationId xmlns:a16="http://schemas.microsoft.com/office/drawing/2014/main" id="{D2722720-311A-F70D-52C5-EDF9456759DE}"/>
                </a:ext>
              </a:extLst>
            </p:cNvPr>
            <p:cNvCxnSpPr>
              <a:cxnSpLocks/>
              <a:endCxn id="4" idx="1"/>
            </p:cNvCxnSpPr>
            <p:nvPr/>
          </p:nvCxnSpPr>
          <p:spPr>
            <a:xfrm flipV="1">
              <a:off x="7488444" y="4944290"/>
              <a:ext cx="565031" cy="51873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B28A628-0C77-25FF-519A-2E5906B0EAF8}"/>
                </a:ext>
              </a:extLst>
            </p:cNvPr>
            <p:cNvCxnSpPr>
              <a:cxnSpLocks/>
              <a:endCxn id="5" idx="1"/>
            </p:cNvCxnSpPr>
            <p:nvPr/>
          </p:nvCxnSpPr>
          <p:spPr>
            <a:xfrm>
              <a:off x="7452908" y="5501713"/>
              <a:ext cx="565030" cy="4280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B260E7B-A898-A3F9-58DB-57F79D9953A8}"/>
                </a:ext>
              </a:extLst>
            </p:cNvPr>
            <p:cNvCxnSpPr/>
            <p:nvPr/>
          </p:nvCxnSpPr>
          <p:spPr>
            <a:xfrm>
              <a:off x="9261375" y="4944289"/>
              <a:ext cx="565031" cy="428082"/>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731DDD0-781F-9019-A2E0-A2F9F65B09D3}"/>
                </a:ext>
              </a:extLst>
            </p:cNvPr>
            <p:cNvCxnSpPr/>
            <p:nvPr/>
          </p:nvCxnSpPr>
          <p:spPr>
            <a:xfrm flipV="1">
              <a:off x="9261374" y="5406396"/>
              <a:ext cx="565031" cy="518734"/>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B0F5F1B3-3E41-D606-D20C-6D0665D90E0C}"/>
                </a:ext>
              </a:extLst>
            </p:cNvPr>
            <p:cNvSpPr/>
            <p:nvPr/>
          </p:nvSpPr>
          <p:spPr>
            <a:xfrm>
              <a:off x="5871334" y="5182535"/>
              <a:ext cx="1614033"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Base case, making calls</a:t>
              </a:r>
            </a:p>
          </p:txBody>
        </p:sp>
        <p:sp>
          <p:nvSpPr>
            <p:cNvPr id="21" name="Rectangle 20">
              <a:extLst>
                <a:ext uri="{FF2B5EF4-FFF2-40B4-BE49-F238E27FC236}">
                  <a16:creationId xmlns:a16="http://schemas.microsoft.com/office/drawing/2014/main" id="{BA038246-97B2-710A-AEAC-33DE65F6A8BF}"/>
                </a:ext>
              </a:extLst>
            </p:cNvPr>
            <p:cNvSpPr/>
            <p:nvPr/>
          </p:nvSpPr>
          <p:spPr>
            <a:xfrm>
              <a:off x="9823329" y="5087218"/>
              <a:ext cx="1204824" cy="6383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adding</a:t>
              </a:r>
            </a:p>
          </p:txBody>
        </p:sp>
      </p:grpSp>
      <p:sp>
        <p:nvSpPr>
          <p:cNvPr id="11" name="TextBox 10">
            <a:extLst>
              <a:ext uri="{FF2B5EF4-FFF2-40B4-BE49-F238E27FC236}">
                <a16:creationId xmlns:a16="http://schemas.microsoft.com/office/drawing/2014/main" id="{4132501C-75D7-0B6C-4EDA-D030E4BB8427}"/>
              </a:ext>
            </a:extLst>
          </p:cNvPr>
          <p:cNvSpPr txBox="1"/>
          <p:nvPr/>
        </p:nvSpPr>
        <p:spPr>
          <a:xfrm>
            <a:off x="5048250" y="4591403"/>
            <a:ext cx="6408229" cy="523220"/>
          </a:xfrm>
          <a:prstGeom prst="rect">
            <a:avLst/>
          </a:prstGeom>
          <a:noFill/>
        </p:spPr>
        <p:txBody>
          <a:bodyPr wrap="none" rtlCol="0">
            <a:spAutoFit/>
          </a:bodyPr>
          <a:lstStyle/>
          <a:p>
            <a:r>
              <a:rPr lang="en-US" sz="2800" dirty="0"/>
              <a:t>What is the work of this code? (n=hi-low)</a:t>
            </a:r>
          </a:p>
        </p:txBody>
      </p:sp>
    </p:spTree>
    <p:extLst>
      <p:ext uri="{BB962C8B-B14F-4D97-AF65-F5344CB8AC3E}">
        <p14:creationId xmlns:p14="http://schemas.microsoft.com/office/powerpoint/2010/main" val="20818055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48658-D3DC-D29D-A30F-116EAEE809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01FAEF-AA3F-67E8-5476-DB44270C8E00}"/>
              </a:ext>
            </a:extLst>
          </p:cNvPr>
          <p:cNvSpPr>
            <a:spLocks noGrp="1"/>
          </p:cNvSpPr>
          <p:nvPr>
            <p:ph idx="1"/>
          </p:nvPr>
        </p:nvSpPr>
        <p:spPr>
          <a:xfrm>
            <a:off x="838200" y="1825625"/>
            <a:ext cx="5748580" cy="4351338"/>
          </a:xfrm>
        </p:spPr>
        <p:txBody>
          <a:bodyPr>
            <a:normAutofit/>
          </a:bodyPr>
          <a:lstStyle/>
          <a:p>
            <a:pPr marL="0" indent="0">
              <a:buNone/>
            </a:pPr>
            <a:r>
              <a:rPr lang="en-US" dirty="0"/>
              <a:t>int sum(int[] array, int low, int hi) {</a:t>
            </a:r>
          </a:p>
          <a:p>
            <a:pPr marL="0" indent="0">
              <a:buNone/>
            </a:pPr>
            <a:r>
              <a:rPr lang="en-US" dirty="0"/>
              <a:t>	int total = 0;</a:t>
            </a:r>
          </a:p>
          <a:p>
            <a:pPr marL="0" indent="0">
              <a:buNone/>
            </a:pPr>
            <a:r>
              <a:rPr lang="en-US" dirty="0"/>
              <a:t>	for(int </a:t>
            </a:r>
            <a:r>
              <a:rPr lang="en-US" dirty="0" err="1"/>
              <a:t>i</a:t>
            </a:r>
            <a:r>
              <a:rPr lang="en-US" dirty="0"/>
              <a:t>=low; </a:t>
            </a:r>
            <a:r>
              <a:rPr lang="en-US" dirty="0" err="1"/>
              <a:t>i</a:t>
            </a:r>
            <a:r>
              <a:rPr lang="en-US" dirty="0"/>
              <a:t> &lt; hi; </a:t>
            </a:r>
            <a:r>
              <a:rPr lang="en-US" dirty="0" err="1"/>
              <a:t>i</a:t>
            </a:r>
            <a:r>
              <a:rPr lang="en-US" dirty="0"/>
              <a:t>++)</a:t>
            </a:r>
          </a:p>
          <a:p>
            <a:pPr marL="0" indent="0">
              <a:buNone/>
            </a:pPr>
            <a:r>
              <a:rPr lang="en-US" dirty="0"/>
              <a:t>		total += array[</a:t>
            </a:r>
            <a:r>
              <a:rPr lang="en-US" dirty="0" err="1"/>
              <a:t>i</a:t>
            </a:r>
            <a:r>
              <a:rPr lang="en-US" dirty="0"/>
              <a:t>];</a:t>
            </a:r>
          </a:p>
          <a:p>
            <a:pPr marL="0" indent="0">
              <a:buNone/>
            </a:pPr>
            <a:r>
              <a:rPr lang="en-US" dirty="0"/>
              <a:t>	return total;</a:t>
            </a:r>
          </a:p>
          <a:p>
            <a:pPr marL="0" indent="0">
              <a:buNone/>
            </a:pPr>
            <a:r>
              <a:rPr lang="en-US" dirty="0"/>
              <a: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6012B3F-27FD-323D-AFA7-81E8626E48D2}"/>
                  </a:ext>
                </a:extLst>
              </p:cNvPr>
              <p:cNvSpPr txBox="1"/>
              <p:nvPr/>
            </p:nvSpPr>
            <p:spPr>
              <a:xfrm>
                <a:off x="7274516" y="1825625"/>
                <a:ext cx="3853267" cy="2246769"/>
              </a:xfrm>
              <a:prstGeom prst="rect">
                <a:avLst/>
              </a:prstGeom>
              <a:noFill/>
            </p:spPr>
            <p:txBody>
              <a:bodyPr wrap="square" rtlCol="0">
                <a:spAutoFit/>
              </a:bodyPr>
              <a:lstStyle/>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(log n) and </a:t>
                </a:r>
                <a14:m>
                  <m:oMath xmlns:m="http://schemas.openxmlformats.org/officeDocument/2006/math">
                    <m:r>
                      <m:rPr>
                        <m:sty m:val="p"/>
                      </m:rPr>
                      <a:rPr lang="el-GR" sz="2800" i="1">
                        <a:latin typeface="Cambria Math" panose="02040503050406030204" pitchFamily="18" charset="0"/>
                        <a:ea typeface="Cambria Math" panose="02040503050406030204" pitchFamily="18" charset="0"/>
                      </a:rPr>
                      <m:t>Θ</m:t>
                    </m:r>
                  </m:oMath>
                </a14:m>
                <a:r>
                  <a:rPr lang="en-US" sz="2800" dirty="0"/>
                  <a:t>(log n)</a:t>
                </a:r>
              </a:p>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(log n) and </a:t>
                </a:r>
                <a14:m>
                  <m:oMath xmlns:m="http://schemas.openxmlformats.org/officeDocument/2006/math">
                    <m:r>
                      <m:rPr>
                        <m:sty m:val="p"/>
                      </m:rPr>
                      <a:rPr lang="el-GR" sz="2800" i="1">
                        <a:latin typeface="Cambria Math" panose="02040503050406030204" pitchFamily="18" charset="0"/>
                        <a:ea typeface="Cambria Math" panose="02040503050406030204" pitchFamily="18" charset="0"/>
                      </a:rPr>
                      <m:t>Θ</m:t>
                    </m:r>
                  </m:oMath>
                </a14:m>
                <a:r>
                  <a:rPr lang="en-US" sz="2800" dirty="0"/>
                  <a:t>(n)</a:t>
                </a:r>
              </a:p>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(n) and </a:t>
                </a:r>
                <a14:m>
                  <m:oMath xmlns:m="http://schemas.openxmlformats.org/officeDocument/2006/math">
                    <m:r>
                      <m:rPr>
                        <m:sty m:val="p"/>
                      </m:rPr>
                      <a:rPr lang="el-GR" sz="2800" i="1">
                        <a:latin typeface="Cambria Math" panose="02040503050406030204" pitchFamily="18" charset="0"/>
                        <a:ea typeface="Cambria Math" panose="02040503050406030204" pitchFamily="18" charset="0"/>
                      </a:rPr>
                      <m:t>Θ</m:t>
                    </m:r>
                  </m:oMath>
                </a14:m>
                <a:r>
                  <a:rPr lang="en-US" sz="2800" dirty="0"/>
                  <a:t>(log n)</a:t>
                </a:r>
              </a:p>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(n) and </a:t>
                </a:r>
                <a14:m>
                  <m:oMath xmlns:m="http://schemas.openxmlformats.org/officeDocument/2006/math">
                    <m:r>
                      <m:rPr>
                        <m:sty m:val="p"/>
                      </m:rPr>
                      <a:rPr lang="el-GR" sz="2800" i="1">
                        <a:latin typeface="Cambria Math" panose="02040503050406030204" pitchFamily="18" charset="0"/>
                        <a:ea typeface="Cambria Math" panose="02040503050406030204" pitchFamily="18" charset="0"/>
                      </a:rPr>
                      <m:t>Θ</m:t>
                    </m:r>
                  </m:oMath>
                </a14:m>
                <a:r>
                  <a:rPr lang="en-US" sz="2800" dirty="0"/>
                  <a:t>(n)</a:t>
                </a:r>
              </a:p>
              <a:p>
                <a:pPr marL="342900" indent="-342900">
                  <a:buFont typeface="+mj-lt"/>
                  <a:buAutoNum type="alphaUcPeriod"/>
                </a:pPr>
                <a:r>
                  <a:rPr lang="en-US" sz="2800" dirty="0"/>
                  <a:t> None of the above</a:t>
                </a:r>
              </a:p>
            </p:txBody>
          </p:sp>
        </mc:Choice>
        <mc:Fallback xmlns="">
          <p:sp>
            <p:nvSpPr>
              <p:cNvPr id="6" name="TextBox 5">
                <a:extLst>
                  <a:ext uri="{FF2B5EF4-FFF2-40B4-BE49-F238E27FC236}">
                    <a16:creationId xmlns:a16="http://schemas.microsoft.com/office/drawing/2014/main" id="{36012B3F-27FD-323D-AFA7-81E8626E48D2}"/>
                  </a:ext>
                </a:extLst>
              </p:cNvPr>
              <p:cNvSpPr txBox="1">
                <a:spLocks noRot="1" noChangeAspect="1" noMove="1" noResize="1" noEditPoints="1" noAdjustHandles="1" noChangeArrowheads="1" noChangeShapeType="1" noTextEdit="1"/>
              </p:cNvSpPr>
              <p:nvPr/>
            </p:nvSpPr>
            <p:spPr>
              <a:xfrm>
                <a:off x="7274516" y="1825625"/>
                <a:ext cx="3853267" cy="2246769"/>
              </a:xfrm>
              <a:prstGeom prst="rect">
                <a:avLst/>
              </a:prstGeom>
              <a:blipFill>
                <a:blip r:embed="rId3"/>
                <a:stretch>
                  <a:fillRect l="-3279" t="-2809" b="-6742"/>
                </a:stretch>
              </a:blipFill>
            </p:spPr>
            <p:txBody>
              <a:bodyPr/>
              <a:lstStyle/>
              <a:p>
                <a:r>
                  <a:rPr lang="en-US">
                    <a:noFill/>
                  </a:rPr>
                  <a:t> </a:t>
                </a:r>
              </a:p>
            </p:txBody>
          </p:sp>
        </mc:Fallback>
      </mc:AlternateContent>
      <p:sp>
        <p:nvSpPr>
          <p:cNvPr id="7" name="Title 1">
            <a:extLst>
              <a:ext uri="{FF2B5EF4-FFF2-40B4-BE49-F238E27FC236}">
                <a16:creationId xmlns:a16="http://schemas.microsoft.com/office/drawing/2014/main" id="{A6593F08-6C80-5C92-CDF6-46AF6A327554}"/>
              </a:ext>
            </a:extLst>
          </p:cNvPr>
          <p:cNvSpPr>
            <a:spLocks noGrp="1"/>
          </p:cNvSpPr>
          <p:nvPr>
            <p:ph type="title"/>
          </p:nvPr>
        </p:nvSpPr>
        <p:spPr>
          <a:xfrm>
            <a:off x="240223" y="326191"/>
            <a:ext cx="11711553" cy="1325563"/>
          </a:xfrm>
        </p:spPr>
        <p:txBody>
          <a:bodyPr>
            <a:normAutofit/>
          </a:bodyPr>
          <a:lstStyle/>
          <a:p>
            <a:pPr algn="ctr"/>
            <a:r>
              <a:rPr lang="en-US" dirty="0"/>
              <a:t>What is the work and span of this code?</a:t>
            </a:r>
            <a:br>
              <a:rPr lang="en-US" dirty="0"/>
            </a:br>
            <a:r>
              <a:rPr lang="en-US" sz="2400" dirty="0"/>
              <a:t>(n is hi-low)</a:t>
            </a:r>
            <a:endParaRPr lang="en-US" dirty="0"/>
          </a:p>
        </p:txBody>
      </p:sp>
    </p:spTree>
    <p:extLst>
      <p:ext uri="{BB962C8B-B14F-4D97-AF65-F5344CB8AC3E}">
        <p14:creationId xmlns:p14="http://schemas.microsoft.com/office/powerpoint/2010/main" val="14992340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227E0-FBF3-3500-E84F-4FE0B77B3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AB70BC-207B-A477-8994-5412D2E3CD90}"/>
              </a:ext>
            </a:extLst>
          </p:cNvPr>
          <p:cNvSpPr>
            <a:spLocks noGrp="1"/>
          </p:cNvSpPr>
          <p:nvPr>
            <p:ph type="title"/>
          </p:nvPr>
        </p:nvSpPr>
        <p:spPr>
          <a:xfrm>
            <a:off x="240223" y="326191"/>
            <a:ext cx="11711553" cy="1325563"/>
          </a:xfrm>
        </p:spPr>
        <p:txBody>
          <a:bodyPr>
            <a:normAutofit/>
          </a:bodyPr>
          <a:lstStyle/>
          <a:p>
            <a:pPr algn="ctr"/>
            <a:r>
              <a:rPr lang="en-US" dirty="0"/>
              <a:t>What is the work and span of this code?</a:t>
            </a:r>
            <a:br>
              <a:rPr lang="en-US" dirty="0"/>
            </a:br>
            <a:r>
              <a:rPr lang="en-US" sz="2400" dirty="0"/>
              <a:t>(n is hi-low)</a:t>
            </a:r>
            <a:endParaRPr lang="en-US" dirty="0"/>
          </a:p>
        </p:txBody>
      </p:sp>
      <p:sp>
        <p:nvSpPr>
          <p:cNvPr id="3" name="Content Placeholder 2">
            <a:extLst>
              <a:ext uri="{FF2B5EF4-FFF2-40B4-BE49-F238E27FC236}">
                <a16:creationId xmlns:a16="http://schemas.microsoft.com/office/drawing/2014/main" id="{EA6DAB4C-03AA-A454-E421-DD869BBE935E}"/>
              </a:ext>
            </a:extLst>
          </p:cNvPr>
          <p:cNvSpPr>
            <a:spLocks noGrp="1"/>
          </p:cNvSpPr>
          <p:nvPr>
            <p:ph idx="1"/>
          </p:nvPr>
        </p:nvSpPr>
        <p:spPr>
          <a:xfrm>
            <a:off x="838200" y="1825625"/>
            <a:ext cx="5748580" cy="4351338"/>
          </a:xfrm>
        </p:spPr>
        <p:txBody>
          <a:bodyPr>
            <a:normAutofit/>
          </a:bodyPr>
          <a:lstStyle/>
          <a:p>
            <a:pPr marL="0" indent="0">
              <a:buNone/>
            </a:pPr>
            <a:r>
              <a:rPr lang="en-US" dirty="0"/>
              <a:t>int sum(int[] array, int low, int hi) {</a:t>
            </a:r>
          </a:p>
          <a:p>
            <a:pPr marL="0" indent="0">
              <a:buNone/>
            </a:pPr>
            <a:r>
              <a:rPr lang="en-US" dirty="0"/>
              <a:t>	int total = 0;</a:t>
            </a:r>
          </a:p>
          <a:p>
            <a:pPr marL="0" indent="0">
              <a:buNone/>
            </a:pPr>
            <a:r>
              <a:rPr lang="en-US" dirty="0"/>
              <a:t>	for(int </a:t>
            </a:r>
            <a:r>
              <a:rPr lang="en-US" dirty="0" err="1"/>
              <a:t>i</a:t>
            </a:r>
            <a:r>
              <a:rPr lang="en-US" dirty="0"/>
              <a:t>=low; </a:t>
            </a:r>
            <a:r>
              <a:rPr lang="en-US" dirty="0" err="1"/>
              <a:t>i</a:t>
            </a:r>
            <a:r>
              <a:rPr lang="en-US" dirty="0"/>
              <a:t> &lt; hi; </a:t>
            </a:r>
            <a:r>
              <a:rPr lang="en-US" dirty="0" err="1"/>
              <a:t>i</a:t>
            </a:r>
            <a:r>
              <a:rPr lang="en-US" dirty="0"/>
              <a:t>++)</a:t>
            </a:r>
          </a:p>
          <a:p>
            <a:pPr marL="0" indent="0">
              <a:buNone/>
            </a:pPr>
            <a:r>
              <a:rPr lang="en-US" dirty="0"/>
              <a:t>		total += array[</a:t>
            </a:r>
            <a:r>
              <a:rPr lang="en-US" dirty="0" err="1"/>
              <a:t>i</a:t>
            </a:r>
            <a:r>
              <a:rPr lang="en-US" dirty="0"/>
              <a:t>];</a:t>
            </a:r>
          </a:p>
          <a:p>
            <a:pPr marL="0" indent="0">
              <a:buNone/>
            </a:pPr>
            <a:r>
              <a:rPr lang="en-US" dirty="0"/>
              <a:t>	return total;</a:t>
            </a:r>
          </a:p>
          <a:p>
            <a:pPr marL="0" indent="0">
              <a:buNone/>
            </a:pPr>
            <a:r>
              <a:rPr lang="en-US" dirty="0"/>
              <a: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C63870C-A350-94FC-136B-54BF46559218}"/>
                  </a:ext>
                </a:extLst>
              </p:cNvPr>
              <p:cNvSpPr txBox="1"/>
              <p:nvPr/>
            </p:nvSpPr>
            <p:spPr>
              <a:xfrm>
                <a:off x="7274516" y="1825625"/>
                <a:ext cx="3853267" cy="2246769"/>
              </a:xfrm>
              <a:prstGeom prst="rect">
                <a:avLst/>
              </a:prstGeom>
              <a:noFill/>
            </p:spPr>
            <p:txBody>
              <a:bodyPr wrap="square" rtlCol="0">
                <a:spAutoFit/>
              </a:bodyPr>
              <a:lstStyle/>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(log n) and </a:t>
                </a:r>
                <a14:m>
                  <m:oMath xmlns:m="http://schemas.openxmlformats.org/officeDocument/2006/math">
                    <m:r>
                      <m:rPr>
                        <m:sty m:val="p"/>
                      </m:rPr>
                      <a:rPr lang="el-GR" sz="2800" i="1">
                        <a:latin typeface="Cambria Math" panose="02040503050406030204" pitchFamily="18" charset="0"/>
                        <a:ea typeface="Cambria Math" panose="02040503050406030204" pitchFamily="18" charset="0"/>
                      </a:rPr>
                      <m:t>Θ</m:t>
                    </m:r>
                  </m:oMath>
                </a14:m>
                <a:r>
                  <a:rPr lang="en-US" sz="2800" dirty="0"/>
                  <a:t>(log n)</a:t>
                </a:r>
              </a:p>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(log n) and </a:t>
                </a:r>
                <a14:m>
                  <m:oMath xmlns:m="http://schemas.openxmlformats.org/officeDocument/2006/math">
                    <m:r>
                      <m:rPr>
                        <m:sty m:val="p"/>
                      </m:rPr>
                      <a:rPr lang="el-GR" sz="2800" i="1">
                        <a:latin typeface="Cambria Math" panose="02040503050406030204" pitchFamily="18" charset="0"/>
                        <a:ea typeface="Cambria Math" panose="02040503050406030204" pitchFamily="18" charset="0"/>
                      </a:rPr>
                      <m:t>Θ</m:t>
                    </m:r>
                  </m:oMath>
                </a14:m>
                <a:r>
                  <a:rPr lang="en-US" sz="2800" dirty="0"/>
                  <a:t>(n)</a:t>
                </a:r>
              </a:p>
              <a:p>
                <a:pPr marL="342900" indent="-342900">
                  <a:buFont typeface="+mj-lt"/>
                  <a:buAutoNum type="alphaUcPeriod"/>
                </a:pPr>
                <a:r>
                  <a:rPr lang="en-US" sz="2800" dirty="0"/>
                  <a:t> </a:t>
                </a:r>
                <a14:m>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Θ</m:t>
                    </m:r>
                  </m:oMath>
                </a14:m>
                <a:r>
                  <a:rPr lang="en-US" sz="2800" dirty="0"/>
                  <a:t>(n) and </a:t>
                </a:r>
                <a14:m>
                  <m:oMath xmlns:m="http://schemas.openxmlformats.org/officeDocument/2006/math">
                    <m:r>
                      <m:rPr>
                        <m:sty m:val="p"/>
                      </m:rPr>
                      <a:rPr lang="el-GR" sz="2800" i="1">
                        <a:latin typeface="Cambria Math" panose="02040503050406030204" pitchFamily="18" charset="0"/>
                        <a:ea typeface="Cambria Math" panose="02040503050406030204" pitchFamily="18" charset="0"/>
                      </a:rPr>
                      <m:t>Θ</m:t>
                    </m:r>
                  </m:oMath>
                </a14:m>
                <a:r>
                  <a:rPr lang="en-US" sz="2800" dirty="0"/>
                  <a:t>(log n)</a:t>
                </a:r>
              </a:p>
              <a:p>
                <a:pPr marL="342900" indent="-342900">
                  <a:buFont typeface="+mj-lt"/>
                  <a:buAutoNum type="alphaUcPeriod"/>
                </a:pPr>
                <a:r>
                  <a:rPr lang="en-US" sz="2800" dirty="0"/>
                  <a:t> </a:t>
                </a:r>
                <a14:m>
                  <m:oMath xmlns:m="http://schemas.openxmlformats.org/officeDocument/2006/math">
                    <m:r>
                      <m:rPr>
                        <m:sty m:val="p"/>
                      </m:rPr>
                      <a:rPr lang="el-GR" sz="2800" i="1" u="sng" smtClean="0">
                        <a:solidFill>
                          <a:schemeClr val="tx2">
                            <a:lumMod val="50000"/>
                            <a:lumOff val="50000"/>
                          </a:schemeClr>
                        </a:solidFill>
                        <a:latin typeface="Cambria Math" panose="02040503050406030204" pitchFamily="18" charset="0"/>
                        <a:ea typeface="Cambria Math" panose="02040503050406030204" pitchFamily="18" charset="0"/>
                      </a:rPr>
                      <m:t>Θ</m:t>
                    </m:r>
                  </m:oMath>
                </a14:m>
                <a:r>
                  <a:rPr lang="en-US" sz="2800" u="sng" dirty="0">
                    <a:solidFill>
                      <a:schemeClr val="tx2">
                        <a:lumMod val="50000"/>
                        <a:lumOff val="50000"/>
                      </a:schemeClr>
                    </a:solidFill>
                  </a:rPr>
                  <a:t>(n) and </a:t>
                </a:r>
                <a14:m>
                  <m:oMath xmlns:m="http://schemas.openxmlformats.org/officeDocument/2006/math">
                    <m:r>
                      <m:rPr>
                        <m:sty m:val="p"/>
                      </m:rPr>
                      <a:rPr lang="el-GR" sz="2800" i="1" u="sng" smtClean="0">
                        <a:solidFill>
                          <a:schemeClr val="tx2">
                            <a:lumMod val="50000"/>
                            <a:lumOff val="50000"/>
                          </a:schemeClr>
                        </a:solidFill>
                        <a:latin typeface="Cambria Math" panose="02040503050406030204" pitchFamily="18" charset="0"/>
                        <a:ea typeface="Cambria Math" panose="02040503050406030204" pitchFamily="18" charset="0"/>
                      </a:rPr>
                      <m:t>Θ</m:t>
                    </m:r>
                  </m:oMath>
                </a14:m>
                <a:r>
                  <a:rPr lang="en-US" sz="2800" u="sng" dirty="0">
                    <a:solidFill>
                      <a:schemeClr val="tx2">
                        <a:lumMod val="50000"/>
                        <a:lumOff val="50000"/>
                      </a:schemeClr>
                    </a:solidFill>
                  </a:rPr>
                  <a:t>(n)</a:t>
                </a:r>
              </a:p>
              <a:p>
                <a:pPr marL="342900" indent="-342900">
                  <a:buFont typeface="+mj-lt"/>
                  <a:buAutoNum type="alphaUcPeriod"/>
                </a:pPr>
                <a:r>
                  <a:rPr lang="en-US" sz="2800" dirty="0"/>
                  <a:t> None of the above</a:t>
                </a:r>
              </a:p>
            </p:txBody>
          </p:sp>
        </mc:Choice>
        <mc:Fallback xmlns="">
          <p:sp>
            <p:nvSpPr>
              <p:cNvPr id="6" name="TextBox 5">
                <a:extLst>
                  <a:ext uri="{FF2B5EF4-FFF2-40B4-BE49-F238E27FC236}">
                    <a16:creationId xmlns:a16="http://schemas.microsoft.com/office/drawing/2014/main" id="{9C63870C-A350-94FC-136B-54BF46559218}"/>
                  </a:ext>
                </a:extLst>
              </p:cNvPr>
              <p:cNvSpPr txBox="1">
                <a:spLocks noRot="1" noChangeAspect="1" noMove="1" noResize="1" noEditPoints="1" noAdjustHandles="1" noChangeArrowheads="1" noChangeShapeType="1" noTextEdit="1"/>
              </p:cNvSpPr>
              <p:nvPr/>
            </p:nvSpPr>
            <p:spPr>
              <a:xfrm>
                <a:off x="7274516" y="1825625"/>
                <a:ext cx="3853267" cy="2246769"/>
              </a:xfrm>
              <a:prstGeom prst="rect">
                <a:avLst/>
              </a:prstGeom>
              <a:blipFill>
                <a:blip r:embed="rId3"/>
                <a:stretch>
                  <a:fillRect l="-3279" t="-2809" b="-6742"/>
                </a:stretch>
              </a:blipFill>
            </p:spPr>
            <p:txBody>
              <a:bodyPr/>
              <a:lstStyle/>
              <a:p>
                <a:r>
                  <a:rPr lang="en-US">
                    <a:noFill/>
                  </a:rPr>
                  <a:t> </a:t>
                </a:r>
              </a:p>
            </p:txBody>
          </p:sp>
        </mc:Fallback>
      </mc:AlternateContent>
    </p:spTree>
    <p:extLst>
      <p:ext uri="{BB962C8B-B14F-4D97-AF65-F5344CB8AC3E}">
        <p14:creationId xmlns:p14="http://schemas.microsoft.com/office/powerpoint/2010/main" val="11037570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47D45-02F1-9AE5-A9E1-7B76E924740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A006BA-7955-7836-D323-F60C46DF3712}"/>
              </a:ext>
            </a:extLst>
          </p:cNvPr>
          <p:cNvSpPr>
            <a:spLocks noGrp="1"/>
          </p:cNvSpPr>
          <p:nvPr>
            <p:ph idx="1"/>
          </p:nvPr>
        </p:nvSpPr>
        <p:spPr>
          <a:xfrm>
            <a:off x="165315" y="2621955"/>
            <a:ext cx="5671088" cy="2074027"/>
          </a:xfrm>
        </p:spPr>
        <p:txBody>
          <a:bodyPr>
            <a:normAutofit/>
          </a:bodyPr>
          <a:lstStyle/>
          <a:p>
            <a:pPr marL="0" indent="0">
              <a:buNone/>
            </a:pPr>
            <a:r>
              <a:rPr lang="en-US" sz="2400" u="sng" dirty="0">
                <a:solidFill>
                  <a:schemeClr val="tx2">
                    <a:lumMod val="50000"/>
                    <a:lumOff val="50000"/>
                  </a:schemeClr>
                </a:solidFill>
              </a:rPr>
              <a:t>int</a:t>
            </a:r>
            <a:r>
              <a:rPr lang="en-US" sz="2400" dirty="0"/>
              <a:t> sum(int[] array, int low, int hi) {</a:t>
            </a:r>
          </a:p>
          <a:p>
            <a:pPr marL="0" indent="0">
              <a:buNone/>
            </a:pPr>
            <a:r>
              <a:rPr lang="en-US" sz="2400" dirty="0"/>
              <a:t>     …</a:t>
            </a:r>
          </a:p>
          <a:p>
            <a:pPr marL="0" indent="0">
              <a:buNone/>
            </a:pPr>
            <a:r>
              <a:rPr lang="en-US" sz="2400" dirty="0"/>
              <a:t>}</a:t>
            </a:r>
          </a:p>
        </p:txBody>
      </p:sp>
      <p:sp>
        <p:nvSpPr>
          <p:cNvPr id="2" name="Title 1">
            <a:extLst>
              <a:ext uri="{FF2B5EF4-FFF2-40B4-BE49-F238E27FC236}">
                <a16:creationId xmlns:a16="http://schemas.microsoft.com/office/drawing/2014/main" id="{6603CF79-3686-C810-36E0-3FC378F4E585}"/>
              </a:ext>
            </a:extLst>
          </p:cNvPr>
          <p:cNvSpPr>
            <a:spLocks noGrp="1"/>
          </p:cNvSpPr>
          <p:nvPr>
            <p:ph type="title"/>
          </p:nvPr>
        </p:nvSpPr>
        <p:spPr>
          <a:xfrm>
            <a:off x="838200" y="365125"/>
            <a:ext cx="10515600" cy="766251"/>
          </a:xfrm>
        </p:spPr>
        <p:txBody>
          <a:bodyPr>
            <a:normAutofit/>
          </a:bodyPr>
          <a:lstStyle/>
          <a:p>
            <a:pPr algn="ctr"/>
            <a:r>
              <a:rPr lang="en-US" dirty="0"/>
              <a:t>Putting this into actual Java</a:t>
            </a:r>
          </a:p>
        </p:txBody>
      </p:sp>
      <p:sp>
        <p:nvSpPr>
          <p:cNvPr id="13" name="Content Placeholder 2">
            <a:extLst>
              <a:ext uri="{FF2B5EF4-FFF2-40B4-BE49-F238E27FC236}">
                <a16:creationId xmlns:a16="http://schemas.microsoft.com/office/drawing/2014/main" id="{E3CA87FC-9A9A-B4E6-8196-5946025F5FA8}"/>
              </a:ext>
            </a:extLst>
          </p:cNvPr>
          <p:cNvSpPr txBox="1">
            <a:spLocks/>
          </p:cNvSpPr>
          <p:nvPr/>
        </p:nvSpPr>
        <p:spPr>
          <a:xfrm>
            <a:off x="5930685" y="1692061"/>
            <a:ext cx="6096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class Sum extends </a:t>
            </a:r>
            <a:r>
              <a:rPr lang="en-US" sz="2400" dirty="0" err="1"/>
              <a:t>RecursiveTask</a:t>
            </a:r>
            <a:r>
              <a:rPr lang="en-US" sz="2400" dirty="0"/>
              <a:t>&lt;</a:t>
            </a:r>
            <a:r>
              <a:rPr lang="en-US" sz="2400" u="sng" dirty="0">
                <a:solidFill>
                  <a:schemeClr val="tx2">
                    <a:lumMod val="50000"/>
                    <a:lumOff val="50000"/>
                  </a:schemeClr>
                </a:solidFill>
              </a:rPr>
              <a:t>Integer</a:t>
            </a:r>
            <a:r>
              <a:rPr lang="en-US" sz="2400" dirty="0"/>
              <a:t>&gt; {</a:t>
            </a:r>
          </a:p>
          <a:p>
            <a:pPr marL="0" indent="0">
              <a:buNone/>
            </a:pPr>
            <a:r>
              <a:rPr lang="en-US" sz="2400" dirty="0"/>
              <a:t>     </a:t>
            </a:r>
          </a:p>
          <a:p>
            <a:pPr marL="0" indent="0">
              <a:buNone/>
            </a:pPr>
            <a:r>
              <a:rPr lang="en-US" sz="2400" dirty="0"/>
              <a:t>     protected </a:t>
            </a:r>
            <a:r>
              <a:rPr lang="en-US" sz="2400" u="sng" dirty="0">
                <a:solidFill>
                  <a:schemeClr val="tx2">
                    <a:lumMod val="50000"/>
                    <a:lumOff val="50000"/>
                  </a:schemeClr>
                </a:solidFill>
              </a:rPr>
              <a:t>Integer</a:t>
            </a:r>
            <a:r>
              <a:rPr lang="en-US" sz="2400" dirty="0"/>
              <a:t> compute() {</a:t>
            </a:r>
          </a:p>
          <a:p>
            <a:pPr marL="0" indent="0">
              <a:buNone/>
            </a:pPr>
            <a:r>
              <a:rPr lang="en-US" sz="2400" dirty="0"/>
              <a:t>          …</a:t>
            </a:r>
          </a:p>
          <a:p>
            <a:pPr marL="0" indent="0">
              <a:buNone/>
            </a:pPr>
            <a:r>
              <a:rPr lang="en-US" sz="2400" dirty="0"/>
              <a:t>     }</a:t>
            </a:r>
          </a:p>
          <a:p>
            <a:pPr marL="0" indent="0">
              <a:buNone/>
            </a:pPr>
            <a:r>
              <a:rPr lang="en-US" sz="2400" dirty="0"/>
              <a:t>}</a:t>
            </a:r>
          </a:p>
        </p:txBody>
      </p:sp>
      <p:sp>
        <p:nvSpPr>
          <p:cNvPr id="14" name="Content Placeholder 2">
            <a:extLst>
              <a:ext uri="{FF2B5EF4-FFF2-40B4-BE49-F238E27FC236}">
                <a16:creationId xmlns:a16="http://schemas.microsoft.com/office/drawing/2014/main" id="{CBF191CF-E9C8-7751-9164-65722FFC2A62}"/>
              </a:ext>
            </a:extLst>
          </p:cNvPr>
          <p:cNvSpPr txBox="1">
            <a:spLocks/>
          </p:cNvSpPr>
          <p:nvPr/>
        </p:nvSpPr>
        <p:spPr>
          <a:xfrm>
            <a:off x="581185" y="4783974"/>
            <a:ext cx="8299343" cy="14025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tx2">
                    <a:lumMod val="50000"/>
                    <a:lumOff val="50000"/>
                  </a:schemeClr>
                </a:solidFill>
              </a:rPr>
              <a:t>Use a class to represent a call to sum</a:t>
            </a:r>
          </a:p>
          <a:p>
            <a:pPr marL="0" indent="0">
              <a:buFont typeface="Arial" panose="020B0604020202020204" pitchFamily="34" charset="0"/>
              <a:buNone/>
            </a:pPr>
            <a:endParaRPr lang="en-US" sz="2400" dirty="0">
              <a:solidFill>
                <a:schemeClr val="tx2">
                  <a:lumMod val="50000"/>
                  <a:lumOff val="50000"/>
                </a:schemeClr>
              </a:solidFill>
            </a:endParaRPr>
          </a:p>
          <a:p>
            <a:pPr marL="0" indent="0">
              <a:buFont typeface="Arial" panose="020B0604020202020204" pitchFamily="34" charset="0"/>
              <a:buNone/>
            </a:pPr>
            <a:r>
              <a:rPr lang="en-US" sz="2400" dirty="0">
                <a:solidFill>
                  <a:schemeClr val="tx2">
                    <a:lumMod val="50000"/>
                    <a:lumOff val="50000"/>
                  </a:schemeClr>
                </a:solidFill>
              </a:rPr>
              <a:t>Parameterized by the return type (must be a reference type)</a:t>
            </a:r>
          </a:p>
        </p:txBody>
      </p:sp>
    </p:spTree>
    <p:extLst>
      <p:ext uri="{BB962C8B-B14F-4D97-AF65-F5344CB8AC3E}">
        <p14:creationId xmlns:p14="http://schemas.microsoft.com/office/powerpoint/2010/main" val="26782314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FF007-1983-CCAA-02CB-DFD8996AB8D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F692A3-F9FD-2DF2-9F12-8BBE437DB437}"/>
              </a:ext>
            </a:extLst>
          </p:cNvPr>
          <p:cNvSpPr>
            <a:spLocks noGrp="1"/>
          </p:cNvSpPr>
          <p:nvPr>
            <p:ph idx="1"/>
          </p:nvPr>
        </p:nvSpPr>
        <p:spPr>
          <a:xfrm>
            <a:off x="165315" y="2621955"/>
            <a:ext cx="5671088" cy="2074027"/>
          </a:xfrm>
        </p:spPr>
        <p:txBody>
          <a:bodyPr>
            <a:normAutofit/>
          </a:bodyPr>
          <a:lstStyle/>
          <a:p>
            <a:pPr marL="0" indent="0">
              <a:buNone/>
            </a:pPr>
            <a:r>
              <a:rPr lang="en-US" sz="2400" dirty="0"/>
              <a:t>int sum(int[] array, int low, int hi) {</a:t>
            </a:r>
          </a:p>
          <a:p>
            <a:pPr marL="0" indent="0">
              <a:buNone/>
            </a:pPr>
            <a:r>
              <a:rPr lang="en-US" sz="2400" dirty="0"/>
              <a:t>     …</a:t>
            </a:r>
          </a:p>
          <a:p>
            <a:pPr marL="0" indent="0">
              <a:buNone/>
            </a:pPr>
            <a:r>
              <a:rPr lang="en-US" sz="2400" dirty="0"/>
              <a:t>}</a:t>
            </a:r>
          </a:p>
        </p:txBody>
      </p:sp>
      <p:sp>
        <p:nvSpPr>
          <p:cNvPr id="2" name="Title 1">
            <a:extLst>
              <a:ext uri="{FF2B5EF4-FFF2-40B4-BE49-F238E27FC236}">
                <a16:creationId xmlns:a16="http://schemas.microsoft.com/office/drawing/2014/main" id="{E9B380AF-9523-F55A-D779-BF7128E42D3A}"/>
              </a:ext>
            </a:extLst>
          </p:cNvPr>
          <p:cNvSpPr>
            <a:spLocks noGrp="1"/>
          </p:cNvSpPr>
          <p:nvPr>
            <p:ph type="title"/>
          </p:nvPr>
        </p:nvSpPr>
        <p:spPr>
          <a:xfrm>
            <a:off x="838200" y="365125"/>
            <a:ext cx="10515600" cy="766251"/>
          </a:xfrm>
        </p:spPr>
        <p:txBody>
          <a:bodyPr>
            <a:normAutofit/>
          </a:bodyPr>
          <a:lstStyle/>
          <a:p>
            <a:pPr algn="ctr"/>
            <a:r>
              <a:rPr lang="en-US" dirty="0"/>
              <a:t>Putting this into actual Java</a:t>
            </a:r>
          </a:p>
        </p:txBody>
      </p:sp>
      <p:sp>
        <p:nvSpPr>
          <p:cNvPr id="13" name="Content Placeholder 2">
            <a:extLst>
              <a:ext uri="{FF2B5EF4-FFF2-40B4-BE49-F238E27FC236}">
                <a16:creationId xmlns:a16="http://schemas.microsoft.com/office/drawing/2014/main" id="{95833B45-4EED-8AF2-DBDC-BAB0D5DEFB1C}"/>
              </a:ext>
            </a:extLst>
          </p:cNvPr>
          <p:cNvSpPr txBox="1">
            <a:spLocks/>
          </p:cNvSpPr>
          <p:nvPr/>
        </p:nvSpPr>
        <p:spPr>
          <a:xfrm>
            <a:off x="5930685" y="1692061"/>
            <a:ext cx="6096000"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class Sum extends </a:t>
            </a:r>
            <a:r>
              <a:rPr lang="en-US" sz="2400" dirty="0" err="1"/>
              <a:t>RecursiveTask</a:t>
            </a:r>
            <a:r>
              <a:rPr lang="en-US" sz="2400" dirty="0"/>
              <a:t>&lt;Integer&gt; {</a:t>
            </a:r>
          </a:p>
          <a:p>
            <a:pPr marL="0" indent="0">
              <a:buNone/>
            </a:pPr>
            <a:r>
              <a:rPr lang="en-US" sz="2400" dirty="0"/>
              <a:t>     int[] array;     int low;     int high;</a:t>
            </a:r>
          </a:p>
          <a:p>
            <a:pPr marL="0" indent="0">
              <a:buNone/>
            </a:pPr>
            <a:endParaRPr lang="en-US" sz="2400" dirty="0"/>
          </a:p>
          <a:p>
            <a:pPr marL="0" indent="0">
              <a:buNone/>
            </a:pPr>
            <a:r>
              <a:rPr lang="en-US" sz="2400" dirty="0"/>
              <a:t>     public Sum(int[] array, int low, int hi) {</a:t>
            </a:r>
          </a:p>
          <a:p>
            <a:pPr marL="0" indent="0">
              <a:buNone/>
            </a:pPr>
            <a:r>
              <a:rPr lang="en-US" sz="2400" dirty="0"/>
              <a:t>          </a:t>
            </a:r>
            <a:r>
              <a:rPr lang="en-US" sz="2400" dirty="0" err="1"/>
              <a:t>this.array</a:t>
            </a:r>
            <a:r>
              <a:rPr lang="en-US" sz="2400" dirty="0"/>
              <a:t> = array;  </a:t>
            </a:r>
            <a:r>
              <a:rPr lang="en-US" sz="2400" dirty="0" err="1"/>
              <a:t>this.low</a:t>
            </a:r>
            <a:r>
              <a:rPr lang="en-US" sz="2400" dirty="0"/>
              <a:t> = low;  </a:t>
            </a:r>
            <a:r>
              <a:rPr lang="en-US" sz="2400" dirty="0" err="1"/>
              <a:t>this.hi</a:t>
            </a:r>
            <a:r>
              <a:rPr lang="en-US" sz="2400" dirty="0"/>
              <a:t> = hi;</a:t>
            </a:r>
          </a:p>
          <a:p>
            <a:pPr marL="0" indent="0">
              <a:buNone/>
            </a:pPr>
            <a:r>
              <a:rPr lang="en-US" sz="2400" dirty="0"/>
              <a:t>     }</a:t>
            </a:r>
          </a:p>
          <a:p>
            <a:pPr marL="0" indent="0">
              <a:buNone/>
            </a:pPr>
            <a:endParaRPr lang="en-US" sz="2400" dirty="0"/>
          </a:p>
          <a:p>
            <a:pPr marL="0" indent="0">
              <a:buNone/>
            </a:pPr>
            <a:r>
              <a:rPr lang="en-US" sz="2400" dirty="0"/>
              <a:t>     protected Integer compute() {</a:t>
            </a:r>
          </a:p>
          <a:p>
            <a:pPr marL="0" indent="0">
              <a:buNone/>
            </a:pPr>
            <a:r>
              <a:rPr lang="en-US" sz="2400" dirty="0"/>
              <a:t>          …</a:t>
            </a:r>
          </a:p>
          <a:p>
            <a:pPr marL="0" indent="0">
              <a:buNone/>
            </a:pPr>
            <a:r>
              <a:rPr lang="en-US" sz="2400" dirty="0"/>
              <a:t>     }</a:t>
            </a:r>
          </a:p>
          <a:p>
            <a:pPr marL="0" indent="0">
              <a:buNone/>
            </a:pPr>
            <a:r>
              <a:rPr lang="en-US" sz="2400" dirty="0"/>
              <a:t>}</a:t>
            </a:r>
          </a:p>
        </p:txBody>
      </p:sp>
      <p:sp>
        <p:nvSpPr>
          <p:cNvPr id="14" name="Content Placeholder 2">
            <a:extLst>
              <a:ext uri="{FF2B5EF4-FFF2-40B4-BE49-F238E27FC236}">
                <a16:creationId xmlns:a16="http://schemas.microsoft.com/office/drawing/2014/main" id="{8930A5AD-1FCB-8F03-8311-EFCAA2EAB2EB}"/>
              </a:ext>
            </a:extLst>
          </p:cNvPr>
          <p:cNvSpPr txBox="1">
            <a:spLocks/>
          </p:cNvSpPr>
          <p:nvPr/>
        </p:nvSpPr>
        <p:spPr>
          <a:xfrm>
            <a:off x="581186" y="4783974"/>
            <a:ext cx="5349500" cy="14025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tx2">
                    <a:lumMod val="50000"/>
                    <a:lumOff val="50000"/>
                  </a:schemeClr>
                </a:solidFill>
              </a:rPr>
              <a:t>Can’t pass arguments into compute</a:t>
            </a:r>
          </a:p>
          <a:p>
            <a:pPr marL="0" indent="0">
              <a:buFont typeface="Arial" panose="020B0604020202020204" pitchFamily="34" charset="0"/>
              <a:buNone/>
            </a:pPr>
            <a:endParaRPr lang="en-US" sz="2400" dirty="0">
              <a:solidFill>
                <a:schemeClr val="tx2">
                  <a:lumMod val="50000"/>
                  <a:lumOff val="50000"/>
                </a:schemeClr>
              </a:solidFill>
            </a:endParaRPr>
          </a:p>
          <a:p>
            <a:pPr marL="0" indent="0">
              <a:buFont typeface="Arial" panose="020B0604020202020204" pitchFamily="34" charset="0"/>
              <a:buNone/>
            </a:pPr>
            <a:r>
              <a:rPr lang="en-US" sz="2400" dirty="0">
                <a:solidFill>
                  <a:schemeClr val="tx2">
                    <a:lumMod val="50000"/>
                    <a:lumOff val="50000"/>
                  </a:schemeClr>
                </a:solidFill>
              </a:rPr>
              <a:t>Use constructor to get the information</a:t>
            </a:r>
          </a:p>
        </p:txBody>
      </p:sp>
    </p:spTree>
    <p:extLst>
      <p:ext uri="{BB962C8B-B14F-4D97-AF65-F5344CB8AC3E}">
        <p14:creationId xmlns:p14="http://schemas.microsoft.com/office/powerpoint/2010/main" val="27783234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FA3DE-56D6-2528-C32C-62F12B8E511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2502EF-D232-81AE-4961-73983EFE56C4}"/>
              </a:ext>
            </a:extLst>
          </p:cNvPr>
          <p:cNvSpPr>
            <a:spLocks noGrp="1"/>
          </p:cNvSpPr>
          <p:nvPr>
            <p:ph idx="1"/>
          </p:nvPr>
        </p:nvSpPr>
        <p:spPr>
          <a:xfrm>
            <a:off x="306089" y="1690688"/>
            <a:ext cx="5671088" cy="4351338"/>
          </a:xfrm>
        </p:spPr>
        <p:txBody>
          <a:bodyPr>
            <a:normAutofit/>
          </a:bodyPr>
          <a:lstStyle/>
          <a:p>
            <a:pPr marL="0" indent="0">
              <a:buNone/>
            </a:pPr>
            <a:endParaRPr lang="en-US" sz="2200" dirty="0"/>
          </a:p>
          <a:p>
            <a:pPr marL="0" indent="0">
              <a:buNone/>
            </a:pPr>
            <a:endParaRPr lang="en-US" sz="2200" dirty="0"/>
          </a:p>
          <a:p>
            <a:pPr marL="0" indent="0">
              <a:buNone/>
            </a:pPr>
            <a:r>
              <a:rPr lang="en-US" sz="2200" dirty="0"/>
              <a:t>int sum(int[] array, int low, int hi) {</a:t>
            </a:r>
          </a:p>
          <a:p>
            <a:pPr marL="0" indent="0">
              <a:buNone/>
            </a:pPr>
            <a:r>
              <a:rPr lang="en-US" sz="2200" dirty="0"/>
              <a:t>   //base case</a:t>
            </a:r>
          </a:p>
          <a:p>
            <a:pPr marL="0" indent="0">
              <a:buNone/>
            </a:pPr>
            <a:endParaRPr lang="en-US" sz="2200" dirty="0"/>
          </a:p>
          <a:p>
            <a:pPr marL="0" indent="0">
              <a:buNone/>
            </a:pPr>
            <a:r>
              <a:rPr lang="en-US" sz="2200" dirty="0"/>
              <a:t>   int left = fork sum(array, low, (</a:t>
            </a:r>
            <a:r>
              <a:rPr lang="en-US" sz="2200" dirty="0" err="1"/>
              <a:t>hi+low</a:t>
            </a:r>
            <a:r>
              <a:rPr lang="en-US" sz="2200" dirty="0"/>
              <a:t>)/2);</a:t>
            </a:r>
          </a:p>
          <a:p>
            <a:pPr marL="0" indent="0">
              <a:buNone/>
            </a:pPr>
            <a:r>
              <a:rPr lang="en-US" sz="2200" dirty="0"/>
              <a:t>   int right = sum(array, (</a:t>
            </a:r>
            <a:r>
              <a:rPr lang="en-US" sz="2200" dirty="0" err="1"/>
              <a:t>hi+low</a:t>
            </a:r>
            <a:r>
              <a:rPr lang="en-US" sz="2200" dirty="0"/>
              <a:t>)/2, hi);</a:t>
            </a:r>
          </a:p>
          <a:p>
            <a:pPr marL="0" indent="0">
              <a:buNone/>
            </a:pPr>
            <a:r>
              <a:rPr lang="en-US" sz="2200" dirty="0"/>
              <a:t>   join;</a:t>
            </a:r>
          </a:p>
          <a:p>
            <a:pPr marL="0" indent="0">
              <a:buNone/>
            </a:pPr>
            <a:r>
              <a:rPr lang="en-US" sz="2200" dirty="0"/>
              <a:t>   return left + right;</a:t>
            </a:r>
          </a:p>
          <a:p>
            <a:pPr marL="0" indent="0">
              <a:buNone/>
            </a:pPr>
            <a:r>
              <a:rPr lang="en-US" sz="2200" dirty="0"/>
              <a:t>}</a:t>
            </a:r>
          </a:p>
        </p:txBody>
      </p:sp>
      <p:sp>
        <p:nvSpPr>
          <p:cNvPr id="2" name="Title 1">
            <a:extLst>
              <a:ext uri="{FF2B5EF4-FFF2-40B4-BE49-F238E27FC236}">
                <a16:creationId xmlns:a16="http://schemas.microsoft.com/office/drawing/2014/main" id="{D91037BE-C07E-CCB4-A5AF-CC165F54EEB2}"/>
              </a:ext>
            </a:extLst>
          </p:cNvPr>
          <p:cNvSpPr>
            <a:spLocks noGrp="1"/>
          </p:cNvSpPr>
          <p:nvPr>
            <p:ph type="title"/>
          </p:nvPr>
        </p:nvSpPr>
        <p:spPr>
          <a:xfrm>
            <a:off x="838200" y="365125"/>
            <a:ext cx="10515600" cy="766251"/>
          </a:xfrm>
        </p:spPr>
        <p:txBody>
          <a:bodyPr>
            <a:normAutofit/>
          </a:bodyPr>
          <a:lstStyle/>
          <a:p>
            <a:pPr algn="ctr"/>
            <a:r>
              <a:rPr lang="en-US" dirty="0"/>
              <a:t>Putting this into actual Java</a:t>
            </a:r>
          </a:p>
        </p:txBody>
      </p:sp>
      <p:sp>
        <p:nvSpPr>
          <p:cNvPr id="13" name="Content Placeholder 2">
            <a:extLst>
              <a:ext uri="{FF2B5EF4-FFF2-40B4-BE49-F238E27FC236}">
                <a16:creationId xmlns:a16="http://schemas.microsoft.com/office/drawing/2014/main" id="{39D306BE-54E8-ED86-94C0-31AE9ECA7D15}"/>
              </a:ext>
            </a:extLst>
          </p:cNvPr>
          <p:cNvSpPr txBox="1">
            <a:spLocks/>
          </p:cNvSpPr>
          <p:nvPr/>
        </p:nvSpPr>
        <p:spPr>
          <a:xfrm>
            <a:off x="6214823" y="1690688"/>
            <a:ext cx="567108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t>…</a:t>
            </a:r>
          </a:p>
          <a:p>
            <a:pPr marL="0" indent="0">
              <a:buFont typeface="Arial" panose="020B0604020202020204" pitchFamily="34" charset="0"/>
              <a:buNone/>
            </a:pPr>
            <a:endParaRPr lang="en-US" sz="2200" dirty="0"/>
          </a:p>
          <a:p>
            <a:pPr marL="0" indent="0">
              <a:buFont typeface="Arial" panose="020B0604020202020204" pitchFamily="34" charset="0"/>
              <a:buNone/>
            </a:pPr>
            <a:r>
              <a:rPr lang="en-US" sz="2200" dirty="0"/>
              <a:t>protected Integer compute() {</a:t>
            </a:r>
          </a:p>
          <a:p>
            <a:pPr marL="0" indent="0">
              <a:buFont typeface="Arial" panose="020B0604020202020204" pitchFamily="34" charset="0"/>
              <a:buNone/>
            </a:pPr>
            <a:r>
              <a:rPr lang="en-US" sz="2200" dirty="0"/>
              <a:t>   if(</a:t>
            </a:r>
            <a:r>
              <a:rPr lang="en-US" sz="2200" u="sng" dirty="0">
                <a:solidFill>
                  <a:schemeClr val="tx2">
                    <a:lumMod val="50000"/>
                    <a:lumOff val="50000"/>
                  </a:schemeClr>
                </a:solidFill>
              </a:rPr>
              <a:t>hi – low &lt; THRESHOLD</a:t>
            </a:r>
            <a:r>
              <a:rPr lang="en-US" sz="2200" dirty="0"/>
              <a:t>)</a:t>
            </a:r>
          </a:p>
          <a:p>
            <a:pPr marL="0" indent="0">
              <a:buFont typeface="Arial" panose="020B0604020202020204" pitchFamily="34" charset="0"/>
              <a:buNone/>
            </a:pPr>
            <a:r>
              <a:rPr lang="en-US" sz="2200" dirty="0"/>
              <a:t>      return array[low];</a:t>
            </a:r>
          </a:p>
          <a:p>
            <a:pPr marL="0" indent="0">
              <a:buFont typeface="Arial" panose="020B0604020202020204" pitchFamily="34" charset="0"/>
              <a:buNone/>
            </a:pPr>
            <a:r>
              <a:rPr lang="en-US" sz="2200" dirty="0"/>
              <a:t>   Sum left = new Sum(array, low, (</a:t>
            </a:r>
            <a:r>
              <a:rPr lang="en-US" sz="2200" dirty="0" err="1"/>
              <a:t>hi+low</a:t>
            </a:r>
            <a:r>
              <a:rPr lang="en-US" sz="2200" dirty="0"/>
              <a:t>)/2);</a:t>
            </a:r>
          </a:p>
          <a:p>
            <a:pPr marL="0" indent="0">
              <a:buFont typeface="Arial" panose="020B0604020202020204" pitchFamily="34" charset="0"/>
              <a:buNone/>
            </a:pPr>
            <a:r>
              <a:rPr lang="en-US" sz="2200" dirty="0"/>
              <a:t>   Sum right = new Sum(array, (</a:t>
            </a:r>
            <a:r>
              <a:rPr lang="en-US" sz="2200" dirty="0" err="1"/>
              <a:t>hi+low</a:t>
            </a:r>
            <a:r>
              <a:rPr lang="en-US" sz="2200" dirty="0"/>
              <a:t>)/2, hi);</a:t>
            </a:r>
          </a:p>
          <a:p>
            <a:pPr marL="0" indent="0">
              <a:buFont typeface="Arial" panose="020B0604020202020204" pitchFamily="34" charset="0"/>
              <a:buNone/>
            </a:pPr>
            <a:r>
              <a:rPr lang="en-US" sz="2200" dirty="0"/>
              <a:t>   </a:t>
            </a:r>
            <a:r>
              <a:rPr lang="en-US" sz="2200" u="sng" dirty="0" err="1">
                <a:solidFill>
                  <a:schemeClr val="tx2">
                    <a:lumMod val="50000"/>
                    <a:lumOff val="50000"/>
                  </a:schemeClr>
                </a:solidFill>
              </a:rPr>
              <a:t>left.fork</a:t>
            </a:r>
            <a:r>
              <a:rPr lang="en-US" sz="2200" u="sng" dirty="0">
                <a:solidFill>
                  <a:schemeClr val="tx2">
                    <a:lumMod val="50000"/>
                    <a:lumOff val="50000"/>
                  </a:schemeClr>
                </a:solidFill>
              </a:rPr>
              <a:t>();</a:t>
            </a:r>
          </a:p>
          <a:p>
            <a:pPr marL="0" indent="0">
              <a:buNone/>
            </a:pPr>
            <a:r>
              <a:rPr lang="en-US" sz="2200" dirty="0"/>
              <a:t>   </a:t>
            </a:r>
            <a:r>
              <a:rPr lang="en-US" sz="2200" u="sng" dirty="0">
                <a:solidFill>
                  <a:schemeClr val="tx2">
                    <a:lumMod val="50000"/>
                    <a:lumOff val="50000"/>
                  </a:schemeClr>
                </a:solidFill>
              </a:rPr>
              <a:t>return </a:t>
            </a:r>
            <a:r>
              <a:rPr lang="en-US" sz="2200" u="sng" dirty="0" err="1">
                <a:solidFill>
                  <a:schemeClr val="tx2">
                    <a:lumMod val="50000"/>
                    <a:lumOff val="50000"/>
                  </a:schemeClr>
                </a:solidFill>
              </a:rPr>
              <a:t>right.compute</a:t>
            </a:r>
            <a:r>
              <a:rPr lang="en-US" sz="2200" u="sng" dirty="0">
                <a:solidFill>
                  <a:schemeClr val="tx2">
                    <a:lumMod val="50000"/>
                    <a:lumOff val="50000"/>
                  </a:schemeClr>
                </a:solidFill>
              </a:rPr>
              <a:t>() + </a:t>
            </a:r>
            <a:r>
              <a:rPr lang="en-US" sz="2200" u="sng" dirty="0" err="1">
                <a:solidFill>
                  <a:schemeClr val="tx2">
                    <a:lumMod val="50000"/>
                    <a:lumOff val="50000"/>
                  </a:schemeClr>
                </a:solidFill>
              </a:rPr>
              <a:t>left.join</a:t>
            </a:r>
            <a:r>
              <a:rPr lang="en-US" sz="2200" u="sng" dirty="0">
                <a:solidFill>
                  <a:schemeClr val="tx2">
                    <a:lumMod val="50000"/>
                    <a:lumOff val="50000"/>
                  </a:schemeClr>
                </a:solidFill>
              </a:rPr>
              <a:t>();</a:t>
            </a:r>
          </a:p>
          <a:p>
            <a:pPr marL="0" indent="0">
              <a:buFont typeface="Arial" panose="020B0604020202020204" pitchFamily="34" charset="0"/>
              <a:buNone/>
            </a:pPr>
            <a:r>
              <a:rPr lang="en-US" sz="2200" dirty="0"/>
              <a:t>}</a:t>
            </a:r>
          </a:p>
        </p:txBody>
      </p:sp>
      <p:sp>
        <p:nvSpPr>
          <p:cNvPr id="4" name="TextBox 3">
            <a:extLst>
              <a:ext uri="{FF2B5EF4-FFF2-40B4-BE49-F238E27FC236}">
                <a16:creationId xmlns:a16="http://schemas.microsoft.com/office/drawing/2014/main" id="{571E28D9-7F8D-9491-E351-070B2304146C}"/>
              </a:ext>
            </a:extLst>
          </p:cNvPr>
          <p:cNvSpPr txBox="1"/>
          <p:nvPr/>
        </p:nvSpPr>
        <p:spPr>
          <a:xfrm>
            <a:off x="9541789" y="1886076"/>
            <a:ext cx="2650211" cy="707886"/>
          </a:xfrm>
          <a:prstGeom prst="rect">
            <a:avLst/>
          </a:prstGeom>
          <a:noFill/>
        </p:spPr>
        <p:txBody>
          <a:bodyPr wrap="square" rtlCol="0">
            <a:spAutoFit/>
          </a:bodyPr>
          <a:lstStyle/>
          <a:p>
            <a:r>
              <a:rPr lang="en-US" sz="2000" dirty="0">
                <a:solidFill>
                  <a:schemeClr val="tx2">
                    <a:lumMod val="50000"/>
                    <a:lumOff val="50000"/>
                  </a:schemeClr>
                </a:solidFill>
              </a:rPr>
              <a:t>Only recurse to create enough strands</a:t>
            </a:r>
          </a:p>
        </p:txBody>
      </p:sp>
      <p:cxnSp>
        <p:nvCxnSpPr>
          <p:cNvPr id="5" name="Straight Arrow Connector 4">
            <a:extLst>
              <a:ext uri="{FF2B5EF4-FFF2-40B4-BE49-F238E27FC236}">
                <a16:creationId xmlns:a16="http://schemas.microsoft.com/office/drawing/2014/main" id="{A091B343-9C93-2A72-04D1-15BBE73F6620}"/>
              </a:ext>
            </a:extLst>
          </p:cNvPr>
          <p:cNvCxnSpPr>
            <a:cxnSpLocks/>
          </p:cNvCxnSpPr>
          <p:nvPr/>
        </p:nvCxnSpPr>
        <p:spPr>
          <a:xfrm flipH="1">
            <a:off x="9411105" y="2630384"/>
            <a:ext cx="1220732" cy="486469"/>
          </a:xfrm>
          <a:prstGeom prst="straightConnector1">
            <a:avLst/>
          </a:prstGeom>
          <a:ln w="38100">
            <a:solidFill>
              <a:schemeClr val="tx2">
                <a:lumMod val="50000"/>
                <a:lumOff val="50000"/>
              </a:schemeClr>
            </a:solidFill>
            <a:tailEnd type="triangle" w="lg" len="lg"/>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6CA309DC-BB1E-D52E-0BAD-B8FB8549DE7A}"/>
              </a:ext>
            </a:extLst>
          </p:cNvPr>
          <p:cNvSpPr txBox="1"/>
          <p:nvPr/>
        </p:nvSpPr>
        <p:spPr>
          <a:xfrm>
            <a:off x="5936149" y="6078448"/>
            <a:ext cx="6228436" cy="707886"/>
          </a:xfrm>
          <a:prstGeom prst="rect">
            <a:avLst/>
          </a:prstGeom>
          <a:noFill/>
        </p:spPr>
        <p:txBody>
          <a:bodyPr wrap="none" rtlCol="0">
            <a:spAutoFit/>
          </a:bodyPr>
          <a:lstStyle/>
          <a:p>
            <a:r>
              <a:rPr lang="en-US" sz="2000" dirty="0">
                <a:solidFill>
                  <a:schemeClr val="tx2">
                    <a:lumMod val="50000"/>
                    <a:lumOff val="50000"/>
                  </a:schemeClr>
                </a:solidFill>
              </a:rPr>
              <a:t>fork for only one half</a:t>
            </a:r>
          </a:p>
          <a:p>
            <a:r>
              <a:rPr lang="en-US" sz="2000" dirty="0">
                <a:solidFill>
                  <a:schemeClr val="tx2">
                    <a:lumMod val="50000"/>
                    <a:lumOff val="50000"/>
                  </a:schemeClr>
                </a:solidFill>
              </a:rPr>
              <a:t>run right half recursively, but before waiting for left half</a:t>
            </a:r>
          </a:p>
        </p:txBody>
      </p:sp>
      <p:cxnSp>
        <p:nvCxnSpPr>
          <p:cNvPr id="8" name="Straight Arrow Connector 7">
            <a:extLst>
              <a:ext uri="{FF2B5EF4-FFF2-40B4-BE49-F238E27FC236}">
                <a16:creationId xmlns:a16="http://schemas.microsoft.com/office/drawing/2014/main" id="{8FF967CF-D13A-67DB-B5A1-BB693745D85B}"/>
              </a:ext>
            </a:extLst>
          </p:cNvPr>
          <p:cNvCxnSpPr>
            <a:cxnSpLocks/>
          </p:cNvCxnSpPr>
          <p:nvPr/>
        </p:nvCxnSpPr>
        <p:spPr>
          <a:xfrm flipH="1" flipV="1">
            <a:off x="8059119" y="5478047"/>
            <a:ext cx="635430" cy="559312"/>
          </a:xfrm>
          <a:prstGeom prst="straightConnector1">
            <a:avLst/>
          </a:prstGeom>
          <a:ln w="38100">
            <a:solidFill>
              <a:schemeClr val="tx2">
                <a:lumMod val="50000"/>
                <a:lumOff val="50000"/>
              </a:schemeClr>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74024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27E10-437C-3B23-39B0-D8725E8952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B5C82-DB02-6972-BCE7-2A3321C1A37F}"/>
              </a:ext>
            </a:extLst>
          </p:cNvPr>
          <p:cNvSpPr>
            <a:spLocks noGrp="1"/>
          </p:cNvSpPr>
          <p:nvPr>
            <p:ph type="title"/>
          </p:nvPr>
        </p:nvSpPr>
        <p:spPr/>
        <p:txBody>
          <a:bodyPr/>
          <a:lstStyle/>
          <a:p>
            <a:pPr algn="ctr"/>
            <a:r>
              <a:rPr lang="en-US" dirty="0"/>
              <a:t>Putting this into actual Java: Starting off</a:t>
            </a:r>
          </a:p>
        </p:txBody>
      </p:sp>
      <p:sp>
        <p:nvSpPr>
          <p:cNvPr id="3" name="Content Placeholder 2">
            <a:extLst>
              <a:ext uri="{FF2B5EF4-FFF2-40B4-BE49-F238E27FC236}">
                <a16:creationId xmlns:a16="http://schemas.microsoft.com/office/drawing/2014/main" id="{CC24065A-0F2A-8694-572A-45F2938E4B4B}"/>
              </a:ext>
            </a:extLst>
          </p:cNvPr>
          <p:cNvSpPr>
            <a:spLocks noGrp="1"/>
          </p:cNvSpPr>
          <p:nvPr>
            <p:ph idx="1"/>
          </p:nvPr>
        </p:nvSpPr>
        <p:spPr>
          <a:xfrm>
            <a:off x="838200" y="1981200"/>
            <a:ext cx="11087100" cy="4591049"/>
          </a:xfrm>
        </p:spPr>
        <p:txBody>
          <a:bodyPr>
            <a:normAutofit/>
          </a:bodyPr>
          <a:lstStyle/>
          <a:p>
            <a:pPr marL="0" indent="0">
              <a:lnSpc>
                <a:spcPts val="1350"/>
              </a:lnSpc>
              <a:buNone/>
            </a:pPr>
            <a:endParaRPr lang="en-US" sz="2600" b="0" dirty="0">
              <a:effectLst/>
            </a:endParaRPr>
          </a:p>
          <a:p>
            <a:pPr marL="0" indent="0">
              <a:lnSpc>
                <a:spcPct val="100000"/>
              </a:lnSpc>
              <a:buNone/>
            </a:pPr>
            <a:r>
              <a:rPr lang="en-US" sz="2600" b="0" dirty="0">
                <a:effectLst/>
              </a:rPr>
              <a:t>sum = </a:t>
            </a:r>
            <a:r>
              <a:rPr lang="en-US" sz="2600" b="0" dirty="0" err="1">
                <a:effectLst/>
              </a:rPr>
              <a:t>ForkJoinPool.commonPool</a:t>
            </a:r>
            <a:r>
              <a:rPr lang="en-US" sz="2600" b="0" dirty="0">
                <a:effectLst/>
              </a:rPr>
              <a:t>().invoke(new Sum(array, 0, </a:t>
            </a:r>
            <a:r>
              <a:rPr lang="en-US" sz="2600" b="0" dirty="0" err="1">
                <a:effectLst/>
              </a:rPr>
              <a:t>array.length</a:t>
            </a:r>
            <a:r>
              <a:rPr lang="en-US" sz="2600" b="0" dirty="0">
                <a:effectLst/>
              </a:rPr>
              <a:t>));</a:t>
            </a:r>
          </a:p>
        </p:txBody>
      </p:sp>
    </p:spTree>
    <p:extLst>
      <p:ext uri="{BB962C8B-B14F-4D97-AF65-F5344CB8AC3E}">
        <p14:creationId xmlns:p14="http://schemas.microsoft.com/office/powerpoint/2010/main" val="8283793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93EEF-4413-98C0-BE0B-CAD567460A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A68675-6439-C8C9-33F8-5661B2F5FE1F}"/>
              </a:ext>
            </a:extLst>
          </p:cNvPr>
          <p:cNvSpPr>
            <a:spLocks noGrp="1"/>
          </p:cNvSpPr>
          <p:nvPr>
            <p:ph type="title"/>
          </p:nvPr>
        </p:nvSpPr>
        <p:spPr>
          <a:xfrm>
            <a:off x="838200" y="252831"/>
            <a:ext cx="10515600" cy="934285"/>
          </a:xfrm>
        </p:spPr>
        <p:txBody>
          <a:bodyPr>
            <a:normAutofit/>
          </a:bodyPr>
          <a:lstStyle/>
          <a:p>
            <a:pPr algn="ctr"/>
            <a:r>
              <a:rPr lang="en-US" dirty="0"/>
              <a:t>Putting it all together</a:t>
            </a:r>
          </a:p>
        </p:txBody>
      </p:sp>
      <p:sp>
        <p:nvSpPr>
          <p:cNvPr id="3" name="Content Placeholder 2">
            <a:extLst>
              <a:ext uri="{FF2B5EF4-FFF2-40B4-BE49-F238E27FC236}">
                <a16:creationId xmlns:a16="http://schemas.microsoft.com/office/drawing/2014/main" id="{26DE2944-AC2D-FA5C-A00E-4B9F54C17958}"/>
              </a:ext>
            </a:extLst>
          </p:cNvPr>
          <p:cNvSpPr>
            <a:spLocks noGrp="1"/>
          </p:cNvSpPr>
          <p:nvPr>
            <p:ph idx="1"/>
          </p:nvPr>
        </p:nvSpPr>
        <p:spPr>
          <a:xfrm>
            <a:off x="838200" y="1379620"/>
            <a:ext cx="10515600" cy="5277853"/>
          </a:xfrm>
        </p:spPr>
        <p:txBody>
          <a:bodyPr>
            <a:noAutofit/>
          </a:bodyPr>
          <a:lstStyle/>
          <a:p>
            <a:pPr marL="0" indent="0">
              <a:buNone/>
            </a:pPr>
            <a:r>
              <a:rPr lang="en-US" sz="2000" dirty="0"/>
              <a:t>class Sum extends </a:t>
            </a:r>
            <a:r>
              <a:rPr lang="en-US" sz="2000" dirty="0" err="1"/>
              <a:t>RecursiveTask</a:t>
            </a:r>
            <a:r>
              <a:rPr lang="en-US" sz="2000" dirty="0"/>
              <a:t>&lt;Integer&gt; {</a:t>
            </a:r>
          </a:p>
          <a:p>
            <a:pPr marL="0" indent="0">
              <a:buNone/>
            </a:pPr>
            <a:r>
              <a:rPr lang="en-US" sz="2000" dirty="0"/>
              <a:t>     //attributes and constructor</a:t>
            </a:r>
          </a:p>
          <a:p>
            <a:pPr marL="0" indent="0">
              <a:buNone/>
            </a:pPr>
            <a:endParaRPr lang="en-US" sz="2000" dirty="0"/>
          </a:p>
          <a:p>
            <a:pPr marL="0" indent="0">
              <a:buNone/>
            </a:pPr>
            <a:r>
              <a:rPr lang="en-US" sz="2000" dirty="0"/>
              <a:t>     protected Integer compute(){</a:t>
            </a:r>
          </a:p>
          <a:p>
            <a:pPr marL="0" indent="0">
              <a:buNone/>
            </a:pPr>
            <a:r>
              <a:rPr lang="en-US" sz="2000" dirty="0"/>
              <a:t>          if(hi – low &lt; THRESHOLD) return </a:t>
            </a:r>
            <a:r>
              <a:rPr lang="en-US" sz="2000" dirty="0" err="1"/>
              <a:t>simpleSum</a:t>
            </a:r>
            <a:r>
              <a:rPr lang="en-US" sz="2000" dirty="0"/>
              <a:t>(array, low, hi);</a:t>
            </a:r>
          </a:p>
          <a:p>
            <a:pPr marL="0" indent="0">
              <a:buNone/>
            </a:pPr>
            <a:r>
              <a:rPr lang="en-US" sz="2000" dirty="0"/>
              <a:t>          Sum left = new Sum(array, low, (</a:t>
            </a:r>
            <a:r>
              <a:rPr lang="en-US" sz="2000" dirty="0" err="1"/>
              <a:t>hi+low</a:t>
            </a:r>
            <a:r>
              <a:rPr lang="en-US" sz="2000" dirty="0"/>
              <a:t>)/2);</a:t>
            </a:r>
          </a:p>
          <a:p>
            <a:pPr marL="0" indent="0">
              <a:buNone/>
            </a:pPr>
            <a:r>
              <a:rPr lang="en-US" sz="2000" dirty="0"/>
              <a:t>          Sum right = new Sum(array, (</a:t>
            </a:r>
            <a:r>
              <a:rPr lang="en-US" sz="2000" dirty="0" err="1"/>
              <a:t>hi+low</a:t>
            </a:r>
            <a:r>
              <a:rPr lang="en-US" sz="2000" dirty="0"/>
              <a:t>)/2, hi);</a:t>
            </a:r>
          </a:p>
          <a:p>
            <a:pPr marL="0" indent="0">
              <a:buNone/>
            </a:pPr>
            <a:r>
              <a:rPr lang="en-US" sz="2000" dirty="0"/>
              <a:t>          </a:t>
            </a:r>
            <a:r>
              <a:rPr lang="en-US" sz="2000" dirty="0" err="1"/>
              <a:t>left.fork</a:t>
            </a:r>
            <a:r>
              <a:rPr lang="en-US" sz="2000" dirty="0"/>
              <a:t>();</a:t>
            </a:r>
          </a:p>
          <a:p>
            <a:pPr marL="0" indent="0">
              <a:buNone/>
            </a:pPr>
            <a:r>
              <a:rPr lang="en-US" sz="2000" dirty="0"/>
              <a:t>          return </a:t>
            </a:r>
            <a:r>
              <a:rPr lang="en-US" sz="2000" dirty="0" err="1"/>
              <a:t>right.compute</a:t>
            </a:r>
            <a:r>
              <a:rPr lang="en-US" sz="2000" dirty="0"/>
              <a:t>() + </a:t>
            </a:r>
            <a:r>
              <a:rPr lang="en-US" sz="2000" dirty="0" err="1"/>
              <a:t>left.join</a:t>
            </a:r>
            <a:r>
              <a:rPr lang="en-US" sz="2000" dirty="0"/>
              <a:t>();</a:t>
            </a:r>
          </a:p>
          <a:p>
            <a:pPr marL="0" indent="0">
              <a:buNone/>
            </a:pPr>
            <a:r>
              <a:rPr lang="en-US" sz="2000" dirty="0"/>
              <a:t>     }</a:t>
            </a:r>
          </a:p>
          <a:p>
            <a:pPr marL="0" indent="0">
              <a:buNone/>
            </a:pPr>
            <a:r>
              <a:rPr lang="en-US" sz="2000" dirty="0"/>
              <a:t>}</a:t>
            </a:r>
          </a:p>
          <a:p>
            <a:pPr marL="0" indent="0">
              <a:lnSpc>
                <a:spcPct val="100000"/>
              </a:lnSpc>
              <a:buNone/>
            </a:pPr>
            <a:endParaRPr lang="en-US" sz="2000" dirty="0"/>
          </a:p>
          <a:p>
            <a:pPr marL="0" indent="0">
              <a:lnSpc>
                <a:spcPct val="100000"/>
              </a:lnSpc>
              <a:buNone/>
            </a:pPr>
            <a:r>
              <a:rPr lang="en-US" sz="2000" dirty="0"/>
              <a:t>sum = </a:t>
            </a:r>
            <a:r>
              <a:rPr lang="en-US" sz="2000" dirty="0" err="1"/>
              <a:t>ForkJoinPool.commonPool</a:t>
            </a:r>
            <a:r>
              <a:rPr lang="en-US" sz="2000" dirty="0"/>
              <a:t>().invoke(new Sum(array, 0, </a:t>
            </a:r>
            <a:r>
              <a:rPr lang="en-US" sz="2000" dirty="0" err="1"/>
              <a:t>array.length</a:t>
            </a:r>
            <a:r>
              <a:rPr lang="en-US" sz="2000" dirty="0"/>
              <a:t>));</a:t>
            </a:r>
          </a:p>
        </p:txBody>
      </p:sp>
    </p:spTree>
    <p:extLst>
      <p:ext uri="{BB962C8B-B14F-4D97-AF65-F5344CB8AC3E}">
        <p14:creationId xmlns:p14="http://schemas.microsoft.com/office/powerpoint/2010/main" val="1417102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EB497-70B8-832C-AC15-30B2277B0D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521B83-CB29-EE4F-C9D6-0B76FD1DD1CA}"/>
              </a:ext>
            </a:extLst>
          </p:cNvPr>
          <p:cNvSpPr>
            <a:spLocks noGrp="1"/>
          </p:cNvSpPr>
          <p:nvPr>
            <p:ph type="title"/>
          </p:nvPr>
        </p:nvSpPr>
        <p:spPr>
          <a:xfrm>
            <a:off x="838200" y="252831"/>
            <a:ext cx="10515600" cy="934285"/>
          </a:xfrm>
        </p:spPr>
        <p:txBody>
          <a:bodyPr>
            <a:normAutofit/>
          </a:bodyPr>
          <a:lstStyle/>
          <a:p>
            <a:pPr algn="ctr"/>
            <a:r>
              <a:rPr lang="en-US" dirty="0"/>
              <a:t>Putting it all together</a:t>
            </a:r>
          </a:p>
        </p:txBody>
      </p:sp>
      <p:sp>
        <p:nvSpPr>
          <p:cNvPr id="3" name="Content Placeholder 2">
            <a:extLst>
              <a:ext uri="{FF2B5EF4-FFF2-40B4-BE49-F238E27FC236}">
                <a16:creationId xmlns:a16="http://schemas.microsoft.com/office/drawing/2014/main" id="{1DFED9B7-A7D5-2E45-EB49-A50857865EBD}"/>
              </a:ext>
            </a:extLst>
          </p:cNvPr>
          <p:cNvSpPr>
            <a:spLocks noGrp="1"/>
          </p:cNvSpPr>
          <p:nvPr>
            <p:ph idx="1"/>
          </p:nvPr>
        </p:nvSpPr>
        <p:spPr>
          <a:xfrm>
            <a:off x="838200" y="1379620"/>
            <a:ext cx="10515600" cy="5277853"/>
          </a:xfrm>
        </p:spPr>
        <p:txBody>
          <a:bodyPr>
            <a:noAutofit/>
          </a:bodyPr>
          <a:lstStyle/>
          <a:p>
            <a:pPr marL="0" indent="0">
              <a:buNone/>
            </a:pPr>
            <a:r>
              <a:rPr lang="en-US" sz="2000" dirty="0"/>
              <a:t>class Sum extends </a:t>
            </a:r>
            <a:r>
              <a:rPr lang="en-US" sz="2000" dirty="0" err="1"/>
              <a:t>RecursiveTask</a:t>
            </a:r>
            <a:r>
              <a:rPr lang="en-US" sz="2000" dirty="0"/>
              <a:t>&lt;Integer&gt; {</a:t>
            </a:r>
          </a:p>
          <a:p>
            <a:pPr marL="0" indent="0">
              <a:buNone/>
            </a:pPr>
            <a:r>
              <a:rPr lang="en-US" sz="2000" dirty="0"/>
              <a:t>     //attributes and constructor</a:t>
            </a:r>
          </a:p>
          <a:p>
            <a:pPr marL="0" indent="0">
              <a:buNone/>
            </a:pPr>
            <a:endParaRPr lang="en-US" sz="2000" dirty="0"/>
          </a:p>
          <a:p>
            <a:pPr marL="0" indent="0">
              <a:buNone/>
            </a:pPr>
            <a:r>
              <a:rPr lang="en-US" sz="2000" dirty="0"/>
              <a:t>     protected Integer compute(){</a:t>
            </a:r>
          </a:p>
          <a:p>
            <a:pPr marL="0" indent="0">
              <a:buNone/>
            </a:pPr>
            <a:r>
              <a:rPr lang="en-US" sz="2000" dirty="0"/>
              <a:t>          if(hi – low &lt; THRESHOLD) return </a:t>
            </a:r>
            <a:r>
              <a:rPr lang="en-US" sz="2000" dirty="0" err="1"/>
              <a:t>simpleSum</a:t>
            </a:r>
            <a:r>
              <a:rPr lang="en-US" sz="2000" dirty="0"/>
              <a:t>(array, low, hi);</a:t>
            </a:r>
          </a:p>
          <a:p>
            <a:pPr marL="0" indent="0">
              <a:buNone/>
            </a:pPr>
            <a:r>
              <a:rPr lang="en-US" sz="2000" dirty="0"/>
              <a:t>          Sum left = new Sum(array, low, (</a:t>
            </a:r>
            <a:r>
              <a:rPr lang="en-US" sz="2000" dirty="0" err="1"/>
              <a:t>hi+low</a:t>
            </a:r>
            <a:r>
              <a:rPr lang="en-US" sz="2000" dirty="0"/>
              <a:t>)/2);</a:t>
            </a:r>
          </a:p>
          <a:p>
            <a:pPr marL="0" indent="0">
              <a:buNone/>
            </a:pPr>
            <a:r>
              <a:rPr lang="en-US" sz="2000" dirty="0"/>
              <a:t>          Sum right = new Sum(array, (</a:t>
            </a:r>
            <a:r>
              <a:rPr lang="en-US" sz="2000" dirty="0" err="1"/>
              <a:t>hi+low</a:t>
            </a:r>
            <a:r>
              <a:rPr lang="en-US" sz="2000" dirty="0"/>
              <a:t>)/2, hi);</a:t>
            </a:r>
          </a:p>
          <a:p>
            <a:pPr marL="0" indent="0">
              <a:buNone/>
            </a:pPr>
            <a:r>
              <a:rPr lang="en-US" sz="2000" dirty="0"/>
              <a:t>          </a:t>
            </a:r>
            <a:r>
              <a:rPr lang="en-US" sz="2000" dirty="0" err="1"/>
              <a:t>left.fork</a:t>
            </a:r>
            <a:r>
              <a:rPr lang="en-US" sz="2000" dirty="0"/>
              <a:t>();</a:t>
            </a:r>
          </a:p>
          <a:p>
            <a:pPr marL="0" indent="0">
              <a:buNone/>
            </a:pPr>
            <a:r>
              <a:rPr lang="en-US" sz="2000" dirty="0"/>
              <a:t>          return </a:t>
            </a:r>
            <a:r>
              <a:rPr lang="en-US" sz="2000" dirty="0" err="1"/>
              <a:t>right.compute</a:t>
            </a:r>
            <a:r>
              <a:rPr lang="en-US" sz="2000" dirty="0"/>
              <a:t>() + </a:t>
            </a:r>
            <a:r>
              <a:rPr lang="en-US" sz="2000" dirty="0" err="1"/>
              <a:t>left.join</a:t>
            </a:r>
            <a:r>
              <a:rPr lang="en-US" sz="2000" dirty="0"/>
              <a:t>();</a:t>
            </a:r>
          </a:p>
          <a:p>
            <a:pPr marL="0" indent="0">
              <a:buNone/>
            </a:pPr>
            <a:r>
              <a:rPr lang="en-US" sz="2000" dirty="0"/>
              <a:t>     }</a:t>
            </a:r>
          </a:p>
          <a:p>
            <a:pPr marL="0" indent="0">
              <a:buNone/>
            </a:pPr>
            <a:r>
              <a:rPr lang="en-US" sz="2000" dirty="0"/>
              <a:t>}</a:t>
            </a:r>
          </a:p>
          <a:p>
            <a:pPr marL="0" indent="0">
              <a:lnSpc>
                <a:spcPct val="100000"/>
              </a:lnSpc>
              <a:buNone/>
            </a:pPr>
            <a:endParaRPr lang="en-US" sz="2000" dirty="0"/>
          </a:p>
          <a:p>
            <a:pPr marL="0" indent="0">
              <a:lnSpc>
                <a:spcPct val="100000"/>
              </a:lnSpc>
              <a:buNone/>
            </a:pPr>
            <a:r>
              <a:rPr lang="en-US" sz="2000" dirty="0"/>
              <a:t>sum = </a:t>
            </a:r>
            <a:r>
              <a:rPr lang="en-US" sz="2000" dirty="0" err="1"/>
              <a:t>ForkJoinPool.commonPool</a:t>
            </a:r>
            <a:r>
              <a:rPr lang="en-US" sz="2000" dirty="0"/>
              <a:t>().invoke(new Sum(array, 0, </a:t>
            </a:r>
            <a:r>
              <a:rPr lang="en-US" sz="2000" dirty="0" err="1"/>
              <a:t>array.length</a:t>
            </a:r>
            <a:r>
              <a:rPr lang="en-US" sz="2000" dirty="0"/>
              <a:t>));</a:t>
            </a:r>
          </a:p>
        </p:txBody>
      </p:sp>
      <p:sp>
        <p:nvSpPr>
          <p:cNvPr id="4" name="Rounded Rectangle 3">
            <a:extLst>
              <a:ext uri="{FF2B5EF4-FFF2-40B4-BE49-F238E27FC236}">
                <a16:creationId xmlns:a16="http://schemas.microsoft.com/office/drawing/2014/main" id="{B39D2C9B-BDCB-CA29-AB10-CF696B0542B2}"/>
              </a:ext>
            </a:extLst>
          </p:cNvPr>
          <p:cNvSpPr/>
          <p:nvPr/>
        </p:nvSpPr>
        <p:spPr>
          <a:xfrm>
            <a:off x="6443909" y="4180230"/>
            <a:ext cx="4909891" cy="1600637"/>
          </a:xfrm>
          <a:prstGeom prst="roundRect">
            <a:avLst/>
          </a:prstGeom>
          <a:solidFill>
            <a:schemeClr val="tx2">
              <a:lumMod val="50000"/>
              <a:lumOff val="50000"/>
              <a:alpha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What if I wanted the minimum instead of the sum?</a:t>
            </a:r>
          </a:p>
        </p:txBody>
      </p:sp>
    </p:spTree>
    <p:extLst>
      <p:ext uri="{BB962C8B-B14F-4D97-AF65-F5344CB8AC3E}">
        <p14:creationId xmlns:p14="http://schemas.microsoft.com/office/powerpoint/2010/main" val="32202319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0049B-E010-2B75-3305-5FDB6E3657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78EBD4-EB46-4739-C174-D8C916D8126B}"/>
              </a:ext>
            </a:extLst>
          </p:cNvPr>
          <p:cNvSpPr>
            <a:spLocks noGrp="1"/>
          </p:cNvSpPr>
          <p:nvPr>
            <p:ph type="title"/>
          </p:nvPr>
        </p:nvSpPr>
        <p:spPr>
          <a:xfrm>
            <a:off x="838200" y="252831"/>
            <a:ext cx="10515600" cy="934285"/>
          </a:xfrm>
        </p:spPr>
        <p:txBody>
          <a:bodyPr>
            <a:normAutofit/>
          </a:bodyPr>
          <a:lstStyle/>
          <a:p>
            <a:pPr algn="ctr"/>
            <a:r>
              <a:rPr lang="en-US" dirty="0"/>
              <a:t>Putting it all together</a:t>
            </a:r>
          </a:p>
        </p:txBody>
      </p:sp>
      <p:sp>
        <p:nvSpPr>
          <p:cNvPr id="3" name="Content Placeholder 2">
            <a:extLst>
              <a:ext uri="{FF2B5EF4-FFF2-40B4-BE49-F238E27FC236}">
                <a16:creationId xmlns:a16="http://schemas.microsoft.com/office/drawing/2014/main" id="{F40094FE-3886-956D-FDCE-D7352A18E30F}"/>
              </a:ext>
            </a:extLst>
          </p:cNvPr>
          <p:cNvSpPr>
            <a:spLocks noGrp="1"/>
          </p:cNvSpPr>
          <p:nvPr>
            <p:ph idx="1"/>
          </p:nvPr>
        </p:nvSpPr>
        <p:spPr>
          <a:xfrm>
            <a:off x="838200" y="1379620"/>
            <a:ext cx="10515600" cy="5277853"/>
          </a:xfrm>
        </p:spPr>
        <p:txBody>
          <a:bodyPr>
            <a:noAutofit/>
          </a:bodyPr>
          <a:lstStyle/>
          <a:p>
            <a:pPr marL="0" indent="0">
              <a:buNone/>
            </a:pPr>
            <a:r>
              <a:rPr lang="en-US" sz="2000" dirty="0"/>
              <a:t>class Sum extends </a:t>
            </a:r>
            <a:r>
              <a:rPr lang="en-US" sz="2000" dirty="0" err="1"/>
              <a:t>RecursiveTask</a:t>
            </a:r>
            <a:r>
              <a:rPr lang="en-US" sz="2000" dirty="0"/>
              <a:t>&lt;Integer&gt; {</a:t>
            </a:r>
          </a:p>
          <a:p>
            <a:pPr marL="0" indent="0">
              <a:buNone/>
            </a:pPr>
            <a:r>
              <a:rPr lang="en-US" sz="2000" dirty="0"/>
              <a:t>     //attributes and constructor</a:t>
            </a:r>
          </a:p>
          <a:p>
            <a:pPr marL="0" indent="0">
              <a:buNone/>
            </a:pPr>
            <a:endParaRPr lang="en-US" sz="2000" dirty="0"/>
          </a:p>
          <a:p>
            <a:pPr marL="0" indent="0">
              <a:buNone/>
            </a:pPr>
            <a:r>
              <a:rPr lang="en-US" sz="2000" dirty="0"/>
              <a:t>     protected Integer compute(){</a:t>
            </a:r>
          </a:p>
          <a:p>
            <a:pPr marL="0" indent="0">
              <a:buNone/>
            </a:pPr>
            <a:r>
              <a:rPr lang="en-US" sz="2000" dirty="0"/>
              <a:t>          if(hi – low &lt; THRESHOLD) return </a:t>
            </a:r>
            <a:r>
              <a:rPr lang="en-US" sz="2000" dirty="0" err="1"/>
              <a:t>simpleSum</a:t>
            </a:r>
            <a:r>
              <a:rPr lang="en-US" sz="2000" dirty="0"/>
              <a:t>(array, low, hi);</a:t>
            </a:r>
          </a:p>
          <a:p>
            <a:pPr marL="0" indent="0">
              <a:buNone/>
            </a:pPr>
            <a:r>
              <a:rPr lang="en-US" sz="2000" dirty="0"/>
              <a:t>          Sum left = new Sum(array, low, (</a:t>
            </a:r>
            <a:r>
              <a:rPr lang="en-US" sz="2000" dirty="0" err="1"/>
              <a:t>hi+low</a:t>
            </a:r>
            <a:r>
              <a:rPr lang="en-US" sz="2000" dirty="0"/>
              <a:t>)/2);</a:t>
            </a:r>
          </a:p>
          <a:p>
            <a:pPr marL="0" indent="0">
              <a:buNone/>
            </a:pPr>
            <a:r>
              <a:rPr lang="en-US" sz="2000" dirty="0"/>
              <a:t>          Sum right = new Sum(array, (</a:t>
            </a:r>
            <a:r>
              <a:rPr lang="en-US" sz="2000" dirty="0" err="1"/>
              <a:t>hi+low</a:t>
            </a:r>
            <a:r>
              <a:rPr lang="en-US" sz="2000" dirty="0"/>
              <a:t>)/2, hi);</a:t>
            </a:r>
          </a:p>
          <a:p>
            <a:pPr marL="0" indent="0">
              <a:buNone/>
            </a:pPr>
            <a:r>
              <a:rPr lang="en-US" sz="2000" dirty="0"/>
              <a:t>          </a:t>
            </a:r>
            <a:r>
              <a:rPr lang="en-US" sz="2000" dirty="0" err="1"/>
              <a:t>left.fork</a:t>
            </a:r>
            <a:r>
              <a:rPr lang="en-US" sz="2000" dirty="0"/>
              <a:t>();</a:t>
            </a:r>
          </a:p>
          <a:p>
            <a:pPr marL="0" indent="0">
              <a:buNone/>
            </a:pPr>
            <a:r>
              <a:rPr lang="en-US" sz="2000" dirty="0"/>
              <a:t>          return </a:t>
            </a:r>
            <a:r>
              <a:rPr lang="en-US" sz="2000" dirty="0" err="1"/>
              <a:t>right.compute</a:t>
            </a:r>
            <a:r>
              <a:rPr lang="en-US" sz="2000" dirty="0"/>
              <a:t>() + </a:t>
            </a:r>
            <a:r>
              <a:rPr lang="en-US" sz="2000" dirty="0" err="1"/>
              <a:t>left.join</a:t>
            </a:r>
            <a:r>
              <a:rPr lang="en-US" sz="2000" dirty="0"/>
              <a:t>();</a:t>
            </a:r>
          </a:p>
          <a:p>
            <a:pPr marL="0" indent="0">
              <a:buNone/>
            </a:pPr>
            <a:r>
              <a:rPr lang="en-US" sz="2000" dirty="0"/>
              <a:t>     }</a:t>
            </a:r>
          </a:p>
          <a:p>
            <a:pPr marL="0" indent="0">
              <a:buNone/>
            </a:pPr>
            <a:r>
              <a:rPr lang="en-US" sz="2000" dirty="0"/>
              <a:t>}</a:t>
            </a:r>
          </a:p>
          <a:p>
            <a:pPr marL="0" indent="0">
              <a:lnSpc>
                <a:spcPct val="100000"/>
              </a:lnSpc>
              <a:buNone/>
            </a:pPr>
            <a:endParaRPr lang="en-US" sz="2000" dirty="0"/>
          </a:p>
          <a:p>
            <a:pPr marL="0" indent="0">
              <a:lnSpc>
                <a:spcPct val="100000"/>
              </a:lnSpc>
              <a:buNone/>
            </a:pPr>
            <a:r>
              <a:rPr lang="en-US" sz="2000" dirty="0"/>
              <a:t>sum = </a:t>
            </a:r>
            <a:r>
              <a:rPr lang="en-US" sz="2000" dirty="0" err="1"/>
              <a:t>ForkJoinPool.commonPool</a:t>
            </a:r>
            <a:r>
              <a:rPr lang="en-US" sz="2000" dirty="0"/>
              <a:t>().invoke(new Sum(array, 0, </a:t>
            </a:r>
            <a:r>
              <a:rPr lang="en-US" sz="2000" dirty="0" err="1"/>
              <a:t>array.length</a:t>
            </a:r>
            <a:r>
              <a:rPr lang="en-US" sz="2000" dirty="0"/>
              <a:t>));</a:t>
            </a:r>
          </a:p>
        </p:txBody>
      </p:sp>
      <p:sp>
        <p:nvSpPr>
          <p:cNvPr id="4" name="Rounded Rectangle 3">
            <a:extLst>
              <a:ext uri="{FF2B5EF4-FFF2-40B4-BE49-F238E27FC236}">
                <a16:creationId xmlns:a16="http://schemas.microsoft.com/office/drawing/2014/main" id="{9B011065-6AB2-DCB4-A153-C7B5673F4A5C}"/>
              </a:ext>
            </a:extLst>
          </p:cNvPr>
          <p:cNvSpPr/>
          <p:nvPr/>
        </p:nvSpPr>
        <p:spPr>
          <a:xfrm>
            <a:off x="6443909" y="4180230"/>
            <a:ext cx="4909891" cy="1600637"/>
          </a:xfrm>
          <a:prstGeom prst="roundRect">
            <a:avLst/>
          </a:prstGeom>
          <a:solidFill>
            <a:schemeClr val="tx2">
              <a:lumMod val="50000"/>
              <a:lumOff val="50000"/>
              <a:alpha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What if I wanted the minimum </a:t>
            </a:r>
            <a:r>
              <a:rPr lang="en-US" sz="2800" b="1" dirty="0">
                <a:solidFill>
                  <a:schemeClr val="tx1"/>
                </a:solidFill>
              </a:rPr>
              <a:t>and</a:t>
            </a:r>
            <a:r>
              <a:rPr lang="en-US" sz="2800" dirty="0">
                <a:solidFill>
                  <a:schemeClr val="tx1"/>
                </a:solidFill>
              </a:rPr>
              <a:t> its index?</a:t>
            </a:r>
          </a:p>
        </p:txBody>
      </p:sp>
    </p:spTree>
    <p:extLst>
      <p:ext uri="{BB962C8B-B14F-4D97-AF65-F5344CB8AC3E}">
        <p14:creationId xmlns:p14="http://schemas.microsoft.com/office/powerpoint/2010/main" val="35734091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512FB-F74F-7EFB-3D4B-EAFA83F073E2}"/>
              </a:ext>
            </a:extLst>
          </p:cNvPr>
          <p:cNvSpPr>
            <a:spLocks noGrp="1"/>
          </p:cNvSpPr>
          <p:nvPr>
            <p:ph type="title"/>
          </p:nvPr>
        </p:nvSpPr>
        <p:spPr/>
        <p:txBody>
          <a:bodyPr/>
          <a:lstStyle/>
          <a:p>
            <a:pPr algn="ctr"/>
            <a:r>
              <a:rPr lang="en-US" dirty="0"/>
              <a:t>Reductions</a:t>
            </a:r>
          </a:p>
        </p:txBody>
      </p:sp>
      <p:sp>
        <p:nvSpPr>
          <p:cNvPr id="3" name="Content Placeholder 2">
            <a:extLst>
              <a:ext uri="{FF2B5EF4-FFF2-40B4-BE49-F238E27FC236}">
                <a16:creationId xmlns:a16="http://schemas.microsoft.com/office/drawing/2014/main" id="{32E0939C-5133-9B55-BB7E-ADE1BEE94D07}"/>
              </a:ext>
            </a:extLst>
          </p:cNvPr>
          <p:cNvSpPr>
            <a:spLocks noGrp="1"/>
          </p:cNvSpPr>
          <p:nvPr>
            <p:ph idx="1"/>
          </p:nvPr>
        </p:nvSpPr>
        <p:spPr/>
        <p:txBody>
          <a:bodyPr/>
          <a:lstStyle/>
          <a:p>
            <a:r>
              <a:rPr lang="en-US" dirty="0"/>
              <a:t>A reduction takes a collection of values (e.g. an array) and combined them into one value</a:t>
            </a:r>
          </a:p>
          <a:p>
            <a:r>
              <a:rPr lang="en-US" dirty="0"/>
              <a:t>Many useful reductions can be efficiently implemented using this framework</a:t>
            </a:r>
          </a:p>
          <a:p>
            <a:pPr lvl="1"/>
            <a:r>
              <a:rPr lang="en-US" dirty="0"/>
              <a:t>Sum, product, or combination using a </a:t>
            </a:r>
            <a:r>
              <a:rPr lang="en-US" dirty="0" err="1"/>
              <a:t>boolean</a:t>
            </a:r>
            <a:r>
              <a:rPr lang="en-US" dirty="0"/>
              <a:t> operator (and, or, </a:t>
            </a:r>
            <a:r>
              <a:rPr lang="en-US" dirty="0" err="1"/>
              <a:t>xor</a:t>
            </a:r>
            <a:r>
              <a:rPr lang="en-US" dirty="0"/>
              <a:t>)</a:t>
            </a:r>
          </a:p>
          <a:p>
            <a:pPr lvl="1"/>
            <a:r>
              <a:rPr lang="en-US" dirty="0"/>
              <a:t>Minimum or maximum (or </a:t>
            </a:r>
            <a:r>
              <a:rPr lang="en-US" dirty="0" err="1"/>
              <a:t>minIndex</a:t>
            </a:r>
            <a:r>
              <a:rPr lang="en-US" dirty="0"/>
              <a:t>/</a:t>
            </a:r>
            <a:r>
              <a:rPr lang="en-US" dirty="0" err="1"/>
              <a:t>maxIndex</a:t>
            </a:r>
            <a:r>
              <a:rPr lang="en-US" dirty="0"/>
              <a:t>)</a:t>
            </a:r>
          </a:p>
          <a:p>
            <a:pPr lvl="1"/>
            <a:r>
              <a:rPr lang="en-US" dirty="0"/>
              <a:t>Building a histogram (record of how many times each value occurs)</a:t>
            </a:r>
          </a:p>
          <a:p>
            <a:pPr lvl="1"/>
            <a:r>
              <a:rPr lang="en-US" dirty="0"/>
              <a:t>Counting number of values meeting a condition</a:t>
            </a:r>
          </a:p>
          <a:p>
            <a:pPr lvl="1"/>
            <a:r>
              <a:rPr lang="en-US" dirty="0" err="1"/>
              <a:t>IndexOf</a:t>
            </a:r>
            <a:r>
              <a:rPr lang="en-US" dirty="0"/>
              <a:t> or </a:t>
            </a:r>
            <a:r>
              <a:rPr lang="en-US" dirty="0" err="1"/>
              <a:t>lastIndexOf</a:t>
            </a:r>
            <a:endParaRPr lang="en-US" dirty="0"/>
          </a:p>
          <a:p>
            <a:pPr lvl="1"/>
            <a:r>
              <a:rPr lang="en-US" dirty="0"/>
              <a:t>Finding the longest sequence of matching values</a:t>
            </a:r>
          </a:p>
        </p:txBody>
      </p:sp>
    </p:spTree>
    <p:extLst>
      <p:ext uri="{BB962C8B-B14F-4D97-AF65-F5344CB8AC3E}">
        <p14:creationId xmlns:p14="http://schemas.microsoft.com/office/powerpoint/2010/main" val="6958657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0AE72FE-F754-2EED-AC6E-E55B2F98FE12}"/>
                  </a:ext>
                </a:extLst>
              </p:cNvPr>
              <p:cNvSpPr>
                <a:spLocks noGrp="1"/>
              </p:cNvSpPr>
              <p:nvPr>
                <p:ph type="title"/>
              </p:nvPr>
            </p:nvSpPr>
            <p:spPr/>
            <p:txBody>
              <a:bodyPr/>
              <a:lstStyle/>
              <a:p>
                <a:pPr algn="ctr"/>
                <a:r>
                  <a:rPr lang="en-US" dirty="0"/>
                  <a:t>How do we sum the values in an n</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n array?</a:t>
                </a:r>
              </a:p>
            </p:txBody>
          </p:sp>
        </mc:Choice>
        <mc:Fallback xmlns="">
          <p:sp>
            <p:nvSpPr>
              <p:cNvPr id="2" name="Title 1">
                <a:extLst>
                  <a:ext uri="{FF2B5EF4-FFF2-40B4-BE49-F238E27FC236}">
                    <a16:creationId xmlns:a16="http://schemas.microsoft.com/office/drawing/2014/main" id="{F0AE72FE-F754-2EED-AC6E-E55B2F98FE12}"/>
                  </a:ext>
                </a:extLst>
              </p:cNvPr>
              <p:cNvSpPr>
                <a:spLocks noGrp="1" noRot="1" noChangeAspect="1" noMove="1" noResize="1" noEditPoints="1" noAdjustHandles="1" noChangeArrowheads="1" noChangeShapeType="1" noTextEdit="1"/>
              </p:cNvSpPr>
              <p:nvPr>
                <p:ph type="title"/>
              </p:nvPr>
            </p:nvSpPr>
            <p:spPr>
              <a:blipFill>
                <a:blip r:embed="rId3"/>
                <a:stretch>
                  <a:fillRect/>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BA127787-84D1-5F09-3082-43E306A4A2BE}"/>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0158351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21696-A239-D025-4C84-E1AD9DD2391F}"/>
              </a:ext>
            </a:extLst>
          </p:cNvPr>
          <p:cNvSpPr>
            <a:spLocks noGrp="1"/>
          </p:cNvSpPr>
          <p:nvPr>
            <p:ph type="title"/>
          </p:nvPr>
        </p:nvSpPr>
        <p:spPr/>
        <p:txBody>
          <a:bodyPr/>
          <a:lstStyle/>
          <a:p>
            <a:pPr algn="ctr"/>
            <a:r>
              <a:rPr lang="en-US" dirty="0">
                <a:solidFill>
                  <a:schemeClr val="tx2">
                    <a:lumMod val="50000"/>
                    <a:lumOff val="50000"/>
                  </a:schemeClr>
                </a:solidFill>
              </a:rPr>
              <a:t>Bonus slides</a:t>
            </a:r>
          </a:p>
        </p:txBody>
      </p:sp>
      <p:sp>
        <p:nvSpPr>
          <p:cNvPr id="3" name="Content Placeholder 2">
            <a:extLst>
              <a:ext uri="{FF2B5EF4-FFF2-40B4-BE49-F238E27FC236}">
                <a16:creationId xmlns:a16="http://schemas.microsoft.com/office/drawing/2014/main" id="{052E5047-0844-780F-B375-5907E436185C}"/>
              </a:ext>
            </a:extLst>
          </p:cNvPr>
          <p:cNvSpPr>
            <a:spLocks noGrp="1"/>
          </p:cNvSpPr>
          <p:nvPr>
            <p:ph idx="1"/>
          </p:nvPr>
        </p:nvSpPr>
        <p:spPr/>
        <p:txBody>
          <a:bodyPr/>
          <a:lstStyle/>
          <a:p>
            <a:r>
              <a:rPr lang="en-US" dirty="0">
                <a:solidFill>
                  <a:schemeClr val="tx2">
                    <a:lumMod val="50000"/>
                    <a:lumOff val="50000"/>
                  </a:schemeClr>
                </a:solidFill>
              </a:rPr>
              <a:t>These are slides that I used after Lab 9, which asks the students to implement reductions including to find the kth smallest.  Many in the class implemented the method using library sorting routines so I used these slides to show them what I intended.</a:t>
            </a:r>
          </a:p>
          <a:p>
            <a:endParaRPr lang="en-US" dirty="0">
              <a:solidFill>
                <a:schemeClr val="tx2">
                  <a:lumMod val="50000"/>
                  <a:lumOff val="50000"/>
                </a:schemeClr>
              </a:solidFill>
            </a:endParaRPr>
          </a:p>
          <a:p>
            <a:r>
              <a:rPr lang="en-US" dirty="0">
                <a:solidFill>
                  <a:schemeClr val="tx2">
                    <a:lumMod val="50000"/>
                    <a:lumOff val="50000"/>
                  </a:schemeClr>
                </a:solidFill>
              </a:rPr>
              <a:t>I plan to adjust the Lab 9 handout so these hopefully won’t be necessary, but they’re included in case they’re useful.  (Perhaps if you want to talk about this reduction without doing the lab.)</a:t>
            </a:r>
          </a:p>
        </p:txBody>
      </p:sp>
    </p:spTree>
    <p:extLst>
      <p:ext uri="{BB962C8B-B14F-4D97-AF65-F5344CB8AC3E}">
        <p14:creationId xmlns:p14="http://schemas.microsoft.com/office/powerpoint/2010/main" val="34348079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533DB-245B-D7B8-9148-ED14946BB9BA}"/>
              </a:ext>
            </a:extLst>
          </p:cNvPr>
          <p:cNvSpPr>
            <a:spLocks noGrp="1"/>
          </p:cNvSpPr>
          <p:nvPr>
            <p:ph type="title"/>
          </p:nvPr>
        </p:nvSpPr>
        <p:spPr/>
        <p:txBody>
          <a:bodyPr/>
          <a:lstStyle/>
          <a:p>
            <a:pPr algn="ctr"/>
            <a:r>
              <a:rPr lang="en-US" dirty="0"/>
              <a:t>Finding minimum</a:t>
            </a:r>
          </a:p>
        </p:txBody>
      </p:sp>
      <p:sp>
        <p:nvSpPr>
          <p:cNvPr id="3" name="Content Placeholder 2">
            <a:extLst>
              <a:ext uri="{FF2B5EF4-FFF2-40B4-BE49-F238E27FC236}">
                <a16:creationId xmlns:a16="http://schemas.microsoft.com/office/drawing/2014/main" id="{47E87475-45DF-561D-B4B9-0C5929619B85}"/>
              </a:ext>
            </a:extLst>
          </p:cNvPr>
          <p:cNvSpPr>
            <a:spLocks noGrp="1"/>
          </p:cNvSpPr>
          <p:nvPr>
            <p:ph idx="1"/>
          </p:nvPr>
        </p:nvSpPr>
        <p:spPr/>
        <p:txBody>
          <a:bodyPr/>
          <a:lstStyle/>
          <a:p>
            <a:pPr marL="0" indent="0">
              <a:buNone/>
            </a:pPr>
            <a:r>
              <a:rPr lang="en-US" dirty="0"/>
              <a:t>int min = </a:t>
            </a:r>
            <a:r>
              <a:rPr lang="en-US" dirty="0" err="1"/>
              <a:t>nums</a:t>
            </a:r>
            <a:r>
              <a:rPr lang="en-US" dirty="0"/>
              <a:t>[0];</a:t>
            </a:r>
          </a:p>
          <a:p>
            <a:pPr marL="0" indent="0">
              <a:buNone/>
            </a:pPr>
            <a:r>
              <a:rPr lang="en-US" dirty="0"/>
              <a:t>for(int </a:t>
            </a:r>
            <a:r>
              <a:rPr lang="en-US" dirty="0" err="1"/>
              <a:t>i</a:t>
            </a:r>
            <a:r>
              <a:rPr lang="en-US" dirty="0"/>
              <a:t>=1; </a:t>
            </a:r>
            <a:r>
              <a:rPr lang="en-US" dirty="0" err="1"/>
              <a:t>i</a:t>
            </a:r>
            <a:r>
              <a:rPr lang="en-US" dirty="0"/>
              <a:t> &lt; </a:t>
            </a:r>
            <a:r>
              <a:rPr lang="en-US" dirty="0" err="1"/>
              <a:t>nums.length</a:t>
            </a:r>
            <a:r>
              <a:rPr lang="en-US" dirty="0"/>
              <a:t>; </a:t>
            </a:r>
            <a:r>
              <a:rPr lang="en-US" dirty="0" err="1"/>
              <a:t>i</a:t>
            </a:r>
            <a:r>
              <a:rPr lang="en-US" dirty="0"/>
              <a:t>++)</a:t>
            </a:r>
          </a:p>
          <a:p>
            <a:pPr marL="0" indent="0">
              <a:buNone/>
            </a:pPr>
            <a:r>
              <a:rPr lang="en-US" dirty="0"/>
              <a:t>     if(</a:t>
            </a:r>
            <a:r>
              <a:rPr lang="en-US" dirty="0" err="1"/>
              <a:t>nums</a:t>
            </a:r>
            <a:r>
              <a:rPr lang="en-US" dirty="0"/>
              <a:t>[</a:t>
            </a:r>
            <a:r>
              <a:rPr lang="en-US" dirty="0" err="1"/>
              <a:t>i</a:t>
            </a:r>
            <a:r>
              <a:rPr lang="en-US" dirty="0"/>
              <a:t>] &lt; min)</a:t>
            </a:r>
          </a:p>
          <a:p>
            <a:pPr marL="0" indent="0">
              <a:buNone/>
            </a:pPr>
            <a:r>
              <a:rPr lang="en-US" dirty="0"/>
              <a:t>          min = </a:t>
            </a:r>
            <a:r>
              <a:rPr lang="en-US" dirty="0" err="1"/>
              <a:t>nums</a:t>
            </a:r>
            <a:r>
              <a:rPr lang="en-US" dirty="0"/>
              <a:t>[</a:t>
            </a:r>
            <a:r>
              <a:rPr lang="en-US" dirty="0" err="1"/>
              <a:t>i</a:t>
            </a:r>
            <a:r>
              <a:rPr lang="en-US" dirty="0"/>
              <a:t>];</a:t>
            </a:r>
          </a:p>
        </p:txBody>
      </p:sp>
    </p:spTree>
    <p:extLst>
      <p:ext uri="{BB962C8B-B14F-4D97-AF65-F5344CB8AC3E}">
        <p14:creationId xmlns:p14="http://schemas.microsoft.com/office/powerpoint/2010/main" val="19522750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A6741-947D-2752-C219-F90CECB2FD9E}"/>
              </a:ext>
            </a:extLst>
          </p:cNvPr>
          <p:cNvSpPr>
            <a:spLocks noGrp="1"/>
          </p:cNvSpPr>
          <p:nvPr>
            <p:ph type="title"/>
          </p:nvPr>
        </p:nvSpPr>
        <p:spPr/>
        <p:txBody>
          <a:bodyPr/>
          <a:lstStyle/>
          <a:p>
            <a:pPr algn="ctr"/>
            <a:r>
              <a:rPr lang="en-US" dirty="0"/>
              <a:t>Finding second smallest</a:t>
            </a:r>
          </a:p>
        </p:txBody>
      </p:sp>
      <p:sp>
        <p:nvSpPr>
          <p:cNvPr id="3" name="Content Placeholder 2">
            <a:extLst>
              <a:ext uri="{FF2B5EF4-FFF2-40B4-BE49-F238E27FC236}">
                <a16:creationId xmlns:a16="http://schemas.microsoft.com/office/drawing/2014/main" id="{851D6A24-ADC3-854D-0A39-07BECFAA5C20}"/>
              </a:ext>
            </a:extLst>
          </p:cNvPr>
          <p:cNvSpPr>
            <a:spLocks noGrp="1"/>
          </p:cNvSpPr>
          <p:nvPr>
            <p:ph idx="1"/>
          </p:nvPr>
        </p:nvSpPr>
        <p:spPr>
          <a:xfrm>
            <a:off x="838200" y="1825625"/>
            <a:ext cx="10515600" cy="4667250"/>
          </a:xfrm>
        </p:spPr>
        <p:txBody>
          <a:bodyPr>
            <a:normAutofit fontScale="92500" lnSpcReduction="20000"/>
          </a:bodyPr>
          <a:lstStyle/>
          <a:p>
            <a:pPr marL="0" indent="0">
              <a:buNone/>
            </a:pPr>
            <a:r>
              <a:rPr lang="en-US" dirty="0"/>
              <a:t>int first = </a:t>
            </a:r>
            <a:r>
              <a:rPr lang="en-US" dirty="0" err="1"/>
              <a:t>nums</a:t>
            </a:r>
            <a:r>
              <a:rPr lang="en-US" dirty="0"/>
              <a:t>[0];			//smallest so far</a:t>
            </a:r>
          </a:p>
          <a:p>
            <a:pPr marL="0" indent="0">
              <a:buNone/>
            </a:pPr>
            <a:r>
              <a:rPr lang="en-US" dirty="0"/>
              <a:t>int second = </a:t>
            </a:r>
            <a:r>
              <a:rPr lang="en-US" dirty="0" err="1"/>
              <a:t>nums</a:t>
            </a:r>
            <a:r>
              <a:rPr lang="en-US" dirty="0"/>
              <a:t>[1];		//second smallest so far</a:t>
            </a:r>
          </a:p>
          <a:p>
            <a:pPr marL="0" indent="0">
              <a:buNone/>
            </a:pPr>
            <a:r>
              <a:rPr lang="en-US" dirty="0"/>
              <a:t>if(first &gt; second)</a:t>
            </a:r>
          </a:p>
          <a:p>
            <a:pPr marL="0" indent="0">
              <a:buNone/>
            </a:pPr>
            <a:r>
              <a:rPr lang="en-US" dirty="0"/>
              <a:t>     swap first and second;</a:t>
            </a:r>
          </a:p>
          <a:p>
            <a:pPr marL="0" indent="0">
              <a:buNone/>
            </a:pPr>
            <a:r>
              <a:rPr lang="en-US" dirty="0"/>
              <a:t>for(int </a:t>
            </a:r>
            <a:r>
              <a:rPr lang="en-US" dirty="0" err="1"/>
              <a:t>i</a:t>
            </a:r>
            <a:r>
              <a:rPr lang="en-US" dirty="0"/>
              <a:t>=2; i &lt; </a:t>
            </a:r>
            <a:r>
              <a:rPr lang="en-US" dirty="0" err="1"/>
              <a:t>nums.length</a:t>
            </a:r>
            <a:r>
              <a:rPr lang="en-US" dirty="0"/>
              <a:t>; </a:t>
            </a:r>
            <a:r>
              <a:rPr lang="en-US" dirty="0" err="1"/>
              <a:t>i</a:t>
            </a:r>
            <a:r>
              <a:rPr lang="en-US" dirty="0"/>
              <a:t>++) {</a:t>
            </a:r>
          </a:p>
          <a:p>
            <a:pPr marL="0" indent="0">
              <a:buNone/>
            </a:pPr>
            <a:r>
              <a:rPr lang="en-US" dirty="0"/>
              <a:t>     if(</a:t>
            </a:r>
            <a:r>
              <a:rPr lang="en-US" dirty="0" err="1"/>
              <a:t>nums</a:t>
            </a:r>
            <a:r>
              <a:rPr lang="en-US" dirty="0"/>
              <a:t>[</a:t>
            </a:r>
            <a:r>
              <a:rPr lang="en-US" dirty="0" err="1"/>
              <a:t>i</a:t>
            </a:r>
            <a:r>
              <a:rPr lang="en-US" dirty="0"/>
              <a:t>] &lt; second) {</a:t>
            </a:r>
          </a:p>
          <a:p>
            <a:pPr marL="0" indent="0">
              <a:buNone/>
            </a:pPr>
            <a:r>
              <a:rPr lang="en-US" dirty="0"/>
              <a:t>          second = </a:t>
            </a:r>
            <a:r>
              <a:rPr lang="en-US" dirty="0" err="1"/>
              <a:t>nums</a:t>
            </a:r>
            <a:r>
              <a:rPr lang="en-US" dirty="0"/>
              <a:t>[</a:t>
            </a:r>
            <a:r>
              <a:rPr lang="en-US" dirty="0" err="1"/>
              <a:t>i</a:t>
            </a:r>
            <a:r>
              <a:rPr lang="en-US" dirty="0"/>
              <a:t>];</a:t>
            </a:r>
          </a:p>
          <a:p>
            <a:pPr marL="0" indent="0">
              <a:buNone/>
            </a:pPr>
            <a:r>
              <a:rPr lang="en-US" dirty="0"/>
              <a:t>          if(second &lt; first)</a:t>
            </a:r>
          </a:p>
          <a:p>
            <a:pPr marL="0" indent="0">
              <a:buNone/>
            </a:pPr>
            <a:r>
              <a:rPr lang="en-US" dirty="0"/>
              <a:t>               swap first and second;</a:t>
            </a:r>
          </a:p>
          <a:p>
            <a:pPr marL="0" indent="0">
              <a:buNone/>
            </a:pPr>
            <a:r>
              <a:rPr lang="en-US" dirty="0"/>
              <a:t>     }</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9536032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5F730-CB70-731E-C31E-443B167795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280A7C-C0FC-6C57-3481-21F10E100990}"/>
              </a:ext>
            </a:extLst>
          </p:cNvPr>
          <p:cNvSpPr>
            <a:spLocks noGrp="1"/>
          </p:cNvSpPr>
          <p:nvPr>
            <p:ph type="title"/>
          </p:nvPr>
        </p:nvSpPr>
        <p:spPr/>
        <p:txBody>
          <a:bodyPr/>
          <a:lstStyle/>
          <a:p>
            <a:pPr algn="ctr"/>
            <a:r>
              <a:rPr lang="en-US" dirty="0"/>
              <a:t>Finding k</a:t>
            </a:r>
            <a:r>
              <a:rPr lang="en-US" baseline="30000" dirty="0"/>
              <a:t>th</a:t>
            </a:r>
            <a:r>
              <a:rPr lang="en-US" dirty="0"/>
              <a:t> smallest</a:t>
            </a:r>
          </a:p>
        </p:txBody>
      </p:sp>
      <p:sp>
        <p:nvSpPr>
          <p:cNvPr id="3" name="Content Placeholder 2">
            <a:extLst>
              <a:ext uri="{FF2B5EF4-FFF2-40B4-BE49-F238E27FC236}">
                <a16:creationId xmlns:a16="http://schemas.microsoft.com/office/drawing/2014/main" id="{492652C4-51C1-34DC-B774-EEB38618B552}"/>
              </a:ext>
            </a:extLst>
          </p:cNvPr>
          <p:cNvSpPr>
            <a:spLocks noGrp="1"/>
          </p:cNvSpPr>
          <p:nvPr>
            <p:ph idx="1"/>
          </p:nvPr>
        </p:nvSpPr>
        <p:spPr>
          <a:xfrm>
            <a:off x="838200" y="1371600"/>
            <a:ext cx="10515600" cy="5284694"/>
          </a:xfrm>
        </p:spPr>
        <p:txBody>
          <a:bodyPr>
            <a:normAutofit fontScale="92500" lnSpcReduction="20000"/>
          </a:bodyPr>
          <a:lstStyle/>
          <a:p>
            <a:pPr marL="0" indent="0">
              <a:buNone/>
            </a:pPr>
            <a:r>
              <a:rPr lang="en-US" dirty="0"/>
              <a:t>int[] smallest = new int[k];			//k smallest values so far</a:t>
            </a:r>
          </a:p>
          <a:p>
            <a:pPr marL="0" indent="0">
              <a:buNone/>
            </a:pPr>
            <a:r>
              <a:rPr lang="en-US" dirty="0"/>
              <a:t>…				</a:t>
            </a:r>
          </a:p>
          <a:p>
            <a:pPr marL="0" indent="0">
              <a:buNone/>
            </a:pPr>
            <a:r>
              <a:rPr lang="en-US" dirty="0"/>
              <a:t>for(int </a:t>
            </a:r>
            <a:r>
              <a:rPr lang="en-US" dirty="0" err="1"/>
              <a:t>i</a:t>
            </a:r>
            <a:r>
              <a:rPr lang="en-US" dirty="0"/>
              <a:t>=k; </a:t>
            </a:r>
            <a:r>
              <a:rPr lang="en-US" dirty="0" err="1"/>
              <a:t>i</a:t>
            </a:r>
            <a:r>
              <a:rPr lang="en-US" dirty="0"/>
              <a:t> &lt; </a:t>
            </a:r>
            <a:r>
              <a:rPr lang="en-US" dirty="0" err="1"/>
              <a:t>nums.length</a:t>
            </a:r>
            <a:r>
              <a:rPr lang="en-US" dirty="0"/>
              <a:t>; </a:t>
            </a:r>
            <a:r>
              <a:rPr lang="en-US" dirty="0" err="1"/>
              <a:t>i</a:t>
            </a:r>
            <a:r>
              <a:rPr lang="en-US" dirty="0"/>
              <a:t>++) {</a:t>
            </a:r>
          </a:p>
          <a:p>
            <a:pPr marL="0" indent="0">
              <a:buNone/>
            </a:pPr>
            <a:r>
              <a:rPr lang="en-US" dirty="0"/>
              <a:t>     if(</a:t>
            </a:r>
            <a:r>
              <a:rPr lang="en-US" dirty="0" err="1"/>
              <a:t>nums</a:t>
            </a:r>
            <a:r>
              <a:rPr lang="en-US" dirty="0"/>
              <a:t>[</a:t>
            </a:r>
            <a:r>
              <a:rPr lang="en-US" dirty="0" err="1"/>
              <a:t>i</a:t>
            </a:r>
            <a:r>
              <a:rPr lang="en-US" dirty="0"/>
              <a:t>] &lt; smallest[k-1]) {</a:t>
            </a:r>
          </a:p>
          <a:p>
            <a:pPr marL="0" indent="0">
              <a:buNone/>
            </a:pPr>
            <a:r>
              <a:rPr lang="en-US" dirty="0"/>
              <a:t>          int j = k-1;</a:t>
            </a:r>
          </a:p>
          <a:p>
            <a:pPr marL="0" indent="0">
              <a:buNone/>
            </a:pPr>
            <a:r>
              <a:rPr lang="en-US" dirty="0"/>
              <a:t>          while((j &gt; 0) &amp;&amp; (</a:t>
            </a:r>
            <a:r>
              <a:rPr lang="en-US" dirty="0" err="1"/>
              <a:t>nums</a:t>
            </a:r>
            <a:r>
              <a:rPr lang="en-US" dirty="0"/>
              <a:t>[</a:t>
            </a:r>
            <a:r>
              <a:rPr lang="en-US" dirty="0" err="1"/>
              <a:t>i</a:t>
            </a:r>
            <a:r>
              <a:rPr lang="en-US" dirty="0"/>
              <a:t>] &lt; smallest[j-1])) {</a:t>
            </a:r>
          </a:p>
          <a:p>
            <a:pPr marL="0" indent="0">
              <a:buNone/>
            </a:pPr>
            <a:r>
              <a:rPr lang="en-US" dirty="0"/>
              <a:t>               smallest[j] = smallest[j-1];</a:t>
            </a:r>
          </a:p>
          <a:p>
            <a:pPr marL="0" indent="0">
              <a:buNone/>
            </a:pPr>
            <a:r>
              <a:rPr lang="en-US" dirty="0"/>
              <a:t>               j--;</a:t>
            </a:r>
          </a:p>
          <a:p>
            <a:pPr marL="0" indent="0">
              <a:buNone/>
            </a:pPr>
            <a:r>
              <a:rPr lang="en-US" dirty="0"/>
              <a:t>          }</a:t>
            </a:r>
          </a:p>
          <a:p>
            <a:pPr marL="0" indent="0">
              <a:buNone/>
            </a:pPr>
            <a:r>
              <a:rPr lang="en-US" dirty="0"/>
              <a:t>          smallest[j] = </a:t>
            </a:r>
            <a:r>
              <a:rPr lang="en-US" dirty="0" err="1"/>
              <a:t>nums</a:t>
            </a:r>
            <a:r>
              <a:rPr lang="en-US" dirty="0"/>
              <a:t>[</a:t>
            </a:r>
            <a:r>
              <a:rPr lang="en-US" dirty="0" err="1"/>
              <a:t>i</a:t>
            </a:r>
            <a:r>
              <a:rPr lang="en-US" dirty="0"/>
              <a: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38476398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699FE-4D10-BA8C-BE3C-2CBC1B439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0955A3-CC3D-122E-C2B0-654EA7F49D3C}"/>
              </a:ext>
            </a:extLst>
          </p:cNvPr>
          <p:cNvSpPr>
            <a:spLocks noGrp="1"/>
          </p:cNvSpPr>
          <p:nvPr>
            <p:ph type="title"/>
          </p:nvPr>
        </p:nvSpPr>
        <p:spPr/>
        <p:txBody>
          <a:bodyPr/>
          <a:lstStyle/>
          <a:p>
            <a:pPr algn="ctr"/>
            <a:r>
              <a:rPr lang="en-US" dirty="0"/>
              <a:t>Finding k</a:t>
            </a:r>
            <a:r>
              <a:rPr lang="en-US" baseline="30000" dirty="0"/>
              <a:t>th</a:t>
            </a:r>
            <a:r>
              <a:rPr lang="en-US" dirty="0"/>
              <a:t> smallest</a:t>
            </a:r>
          </a:p>
        </p:txBody>
      </p:sp>
      <p:sp>
        <p:nvSpPr>
          <p:cNvPr id="3" name="Content Placeholder 2">
            <a:extLst>
              <a:ext uri="{FF2B5EF4-FFF2-40B4-BE49-F238E27FC236}">
                <a16:creationId xmlns:a16="http://schemas.microsoft.com/office/drawing/2014/main" id="{D179BC23-E2A6-1486-858B-AC0F23708C16}"/>
              </a:ext>
            </a:extLst>
          </p:cNvPr>
          <p:cNvSpPr>
            <a:spLocks noGrp="1"/>
          </p:cNvSpPr>
          <p:nvPr>
            <p:ph idx="1"/>
          </p:nvPr>
        </p:nvSpPr>
        <p:spPr>
          <a:xfrm>
            <a:off x="838200" y="1371600"/>
            <a:ext cx="10515600" cy="5284694"/>
          </a:xfrm>
        </p:spPr>
        <p:txBody>
          <a:bodyPr>
            <a:normAutofit fontScale="92500" lnSpcReduction="20000"/>
          </a:bodyPr>
          <a:lstStyle/>
          <a:p>
            <a:pPr marL="0" indent="0">
              <a:buNone/>
            </a:pPr>
            <a:r>
              <a:rPr lang="en-US" dirty="0"/>
              <a:t>int[] smallest = new int[k];			//k smallest values so far</a:t>
            </a:r>
          </a:p>
          <a:p>
            <a:pPr marL="0" indent="0">
              <a:buNone/>
            </a:pPr>
            <a:r>
              <a:rPr lang="en-US" dirty="0"/>
              <a:t>…				</a:t>
            </a:r>
          </a:p>
          <a:p>
            <a:pPr marL="0" indent="0">
              <a:buNone/>
            </a:pPr>
            <a:r>
              <a:rPr lang="en-US" dirty="0"/>
              <a:t>for(int </a:t>
            </a:r>
            <a:r>
              <a:rPr lang="en-US" dirty="0" err="1"/>
              <a:t>i</a:t>
            </a:r>
            <a:r>
              <a:rPr lang="en-US" dirty="0"/>
              <a:t>=k; </a:t>
            </a:r>
            <a:r>
              <a:rPr lang="en-US" dirty="0" err="1"/>
              <a:t>i</a:t>
            </a:r>
            <a:r>
              <a:rPr lang="en-US" dirty="0"/>
              <a:t> &lt; </a:t>
            </a:r>
            <a:r>
              <a:rPr lang="en-US" dirty="0" err="1"/>
              <a:t>nums.length</a:t>
            </a:r>
            <a:r>
              <a:rPr lang="en-US" dirty="0"/>
              <a:t>; </a:t>
            </a:r>
            <a:r>
              <a:rPr lang="en-US" dirty="0" err="1"/>
              <a:t>i</a:t>
            </a:r>
            <a:r>
              <a:rPr lang="en-US" dirty="0"/>
              <a:t>++) {</a:t>
            </a:r>
          </a:p>
          <a:p>
            <a:pPr marL="0" indent="0">
              <a:buNone/>
            </a:pPr>
            <a:r>
              <a:rPr lang="en-US" dirty="0"/>
              <a:t>     if(</a:t>
            </a:r>
            <a:r>
              <a:rPr lang="en-US" dirty="0" err="1"/>
              <a:t>nums</a:t>
            </a:r>
            <a:r>
              <a:rPr lang="en-US" dirty="0"/>
              <a:t>[</a:t>
            </a:r>
            <a:r>
              <a:rPr lang="en-US" dirty="0" err="1"/>
              <a:t>i</a:t>
            </a:r>
            <a:r>
              <a:rPr lang="en-US" dirty="0"/>
              <a:t>] &lt; smallest[k-1]) {</a:t>
            </a:r>
          </a:p>
          <a:p>
            <a:pPr marL="0" indent="0">
              <a:buNone/>
            </a:pPr>
            <a:r>
              <a:rPr lang="en-US" dirty="0"/>
              <a:t>          int j = k-1;</a:t>
            </a:r>
          </a:p>
          <a:p>
            <a:pPr marL="0" indent="0">
              <a:buNone/>
            </a:pPr>
            <a:r>
              <a:rPr lang="en-US" dirty="0"/>
              <a:t>          while((j &gt; 0) &amp;&amp; (</a:t>
            </a:r>
            <a:r>
              <a:rPr lang="en-US" dirty="0" err="1"/>
              <a:t>nums</a:t>
            </a:r>
            <a:r>
              <a:rPr lang="en-US" dirty="0"/>
              <a:t>[</a:t>
            </a:r>
            <a:r>
              <a:rPr lang="en-US" dirty="0" err="1"/>
              <a:t>i</a:t>
            </a:r>
            <a:r>
              <a:rPr lang="en-US" dirty="0"/>
              <a:t>] &lt; smallest[j-1])) {</a:t>
            </a:r>
          </a:p>
          <a:p>
            <a:pPr marL="0" indent="0">
              <a:buNone/>
            </a:pPr>
            <a:r>
              <a:rPr lang="en-US" dirty="0"/>
              <a:t>               smallest[j] = smallest[j-1];</a:t>
            </a:r>
          </a:p>
          <a:p>
            <a:pPr marL="0" indent="0">
              <a:buNone/>
            </a:pPr>
            <a:r>
              <a:rPr lang="en-US" dirty="0"/>
              <a:t>               j--;</a:t>
            </a:r>
          </a:p>
          <a:p>
            <a:pPr marL="0" indent="0">
              <a:buNone/>
            </a:pPr>
            <a:r>
              <a:rPr lang="en-US" dirty="0"/>
              <a:t>          }</a:t>
            </a:r>
          </a:p>
          <a:p>
            <a:pPr marL="0" indent="0">
              <a:buNone/>
            </a:pPr>
            <a:r>
              <a:rPr lang="en-US" dirty="0"/>
              <a:t>          smallest[j] = </a:t>
            </a:r>
            <a:r>
              <a:rPr lang="en-US" dirty="0" err="1"/>
              <a:t>nums</a:t>
            </a:r>
            <a:r>
              <a:rPr lang="en-US" dirty="0"/>
              <a:t>[</a:t>
            </a:r>
            <a:r>
              <a:rPr lang="en-US" dirty="0" err="1"/>
              <a:t>i</a:t>
            </a:r>
            <a:r>
              <a:rPr lang="en-US" dirty="0"/>
              <a:t>];</a:t>
            </a:r>
          </a:p>
          <a:p>
            <a:pPr marL="0" indent="0">
              <a:buNone/>
            </a:pPr>
            <a:r>
              <a:rPr lang="en-US" dirty="0"/>
              <a:t>     }</a:t>
            </a:r>
          </a:p>
          <a:p>
            <a:pPr marL="0" indent="0">
              <a:buNone/>
            </a:pPr>
            <a:r>
              <a:rPr lang="en-US" dirty="0"/>
              <a: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109E94E-09B1-038A-98CE-48AAC97E8929}"/>
                  </a:ext>
                </a:extLst>
              </p:cNvPr>
              <p:cNvSpPr txBox="1"/>
              <p:nvPr/>
            </p:nvSpPr>
            <p:spPr>
              <a:xfrm>
                <a:off x="7066729" y="3859306"/>
                <a:ext cx="4425379" cy="2308324"/>
              </a:xfrm>
              <a:prstGeom prst="rect">
                <a:avLst/>
              </a:prstGeom>
              <a:noFill/>
            </p:spPr>
            <p:txBody>
              <a:bodyPr wrap="none" rtlCol="0">
                <a:spAutoFit/>
              </a:bodyPr>
              <a:lstStyle/>
              <a:p>
                <a:r>
                  <a:rPr lang="en-US" sz="2400" dirty="0"/>
                  <a:t>What is the running time of this?</a:t>
                </a:r>
              </a:p>
              <a:p>
                <a:pPr marL="342900" indent="-342900">
                  <a:buFont typeface="+mj-lt"/>
                  <a:buAutoNum type="alphaUcPeriod"/>
                </a:pPr>
                <a14:m>
                  <m:oMath xmlns:m="http://schemas.openxmlformats.org/officeDocument/2006/math">
                    <m:r>
                      <m:rPr>
                        <m:sty m:val="p"/>
                      </m:rPr>
                      <a:rPr lang="el-GR" sz="2400" i="0" smtClean="0">
                        <a:latin typeface="Cambria Math" panose="02040503050406030204" pitchFamily="18" charset="0"/>
                        <a:ea typeface="Cambria Math" panose="02040503050406030204" pitchFamily="18" charset="0"/>
                      </a:rPr>
                      <m:t>Θ</m:t>
                    </m:r>
                  </m:oMath>
                </a14:m>
                <a:r>
                  <a:rPr lang="en-US" sz="2400" dirty="0"/>
                  <a:t>(n)</a:t>
                </a:r>
              </a:p>
              <a:p>
                <a:pPr marL="342900" indent="-342900">
                  <a:buFont typeface="+mj-lt"/>
                  <a:buAutoNum type="alphaUcPeriod"/>
                </a:pPr>
                <a14:m>
                  <m:oMath xmlns:m="http://schemas.openxmlformats.org/officeDocument/2006/math">
                    <m:r>
                      <m:rPr>
                        <m:sty m:val="p"/>
                      </m:rPr>
                      <a:rPr lang="el-GR" sz="2400" i="0" smtClean="0">
                        <a:latin typeface="Cambria Math" panose="02040503050406030204" pitchFamily="18" charset="0"/>
                        <a:ea typeface="Cambria Math" panose="02040503050406030204" pitchFamily="18" charset="0"/>
                      </a:rPr>
                      <m:t>Θ</m:t>
                    </m:r>
                  </m:oMath>
                </a14:m>
                <a:r>
                  <a:rPr lang="en-US" sz="2400" dirty="0"/>
                  <a:t>(</a:t>
                </a:r>
                <a:r>
                  <a:rPr lang="en-US" sz="2400" dirty="0" err="1"/>
                  <a:t>n+k</a:t>
                </a:r>
                <a:r>
                  <a:rPr lang="en-US" sz="2400" dirty="0"/>
                  <a:t>)</a:t>
                </a:r>
              </a:p>
              <a:p>
                <a:pPr marL="342900" indent="-342900">
                  <a:buFont typeface="+mj-lt"/>
                  <a:buAutoNum type="alphaUcPeriod"/>
                </a:pPr>
                <a14:m>
                  <m:oMath xmlns:m="http://schemas.openxmlformats.org/officeDocument/2006/math">
                    <m:r>
                      <m:rPr>
                        <m:sty m:val="p"/>
                      </m:rPr>
                      <a:rPr lang="el-GR" sz="2400" i="0" smtClean="0">
                        <a:latin typeface="Cambria Math" panose="02040503050406030204" pitchFamily="18" charset="0"/>
                        <a:ea typeface="Cambria Math" panose="02040503050406030204" pitchFamily="18" charset="0"/>
                      </a:rPr>
                      <m:t>Θ</m:t>
                    </m:r>
                  </m:oMath>
                </a14:m>
                <a:r>
                  <a:rPr lang="en-US" sz="2400" dirty="0"/>
                  <a:t>(n log k)</a:t>
                </a:r>
              </a:p>
              <a:p>
                <a:pPr marL="342900" indent="-342900">
                  <a:buFont typeface="+mj-lt"/>
                  <a:buAutoNum type="alphaUcPeriod"/>
                </a:pPr>
                <a14:m>
                  <m:oMath xmlns:m="http://schemas.openxmlformats.org/officeDocument/2006/math">
                    <m:r>
                      <m:rPr>
                        <m:sty m:val="p"/>
                      </m:rPr>
                      <a:rPr lang="el-GR" sz="2400" i="0" smtClean="0">
                        <a:latin typeface="Cambria Math" panose="02040503050406030204" pitchFamily="18" charset="0"/>
                        <a:ea typeface="Cambria Math" panose="02040503050406030204" pitchFamily="18" charset="0"/>
                      </a:rPr>
                      <m:t>Θ</m:t>
                    </m:r>
                  </m:oMath>
                </a14:m>
                <a:r>
                  <a:rPr lang="en-US" sz="2400" dirty="0"/>
                  <a:t>(n</a:t>
                </a:r>
                <a:r>
                  <a:rPr lang="en-US" sz="2400" baseline="30000" dirty="0"/>
                  <a:t>2</a:t>
                </a:r>
                <a:r>
                  <a:rPr lang="en-US" sz="2400" dirty="0"/>
                  <a:t>)</a:t>
                </a:r>
              </a:p>
              <a:p>
                <a:pPr marL="342900" indent="-342900">
                  <a:buFont typeface="+mj-lt"/>
                  <a:buAutoNum type="alphaUcPeriod"/>
                </a:pPr>
                <a:r>
                  <a:rPr lang="en-US" sz="2400" dirty="0"/>
                  <a:t>None of the above</a:t>
                </a:r>
              </a:p>
            </p:txBody>
          </p:sp>
        </mc:Choice>
        <mc:Fallback xmlns="">
          <p:sp>
            <p:nvSpPr>
              <p:cNvPr id="4" name="TextBox 3">
                <a:extLst>
                  <a:ext uri="{FF2B5EF4-FFF2-40B4-BE49-F238E27FC236}">
                    <a16:creationId xmlns:a16="http://schemas.microsoft.com/office/drawing/2014/main" id="{B109E94E-09B1-038A-98CE-48AAC97E8929}"/>
                  </a:ext>
                </a:extLst>
              </p:cNvPr>
              <p:cNvSpPr txBox="1">
                <a:spLocks noRot="1" noChangeAspect="1" noMove="1" noResize="1" noEditPoints="1" noAdjustHandles="1" noChangeArrowheads="1" noChangeShapeType="1" noTextEdit="1"/>
              </p:cNvSpPr>
              <p:nvPr/>
            </p:nvSpPr>
            <p:spPr>
              <a:xfrm>
                <a:off x="7066729" y="3859306"/>
                <a:ext cx="4425379" cy="2308324"/>
              </a:xfrm>
              <a:prstGeom prst="rect">
                <a:avLst/>
              </a:prstGeom>
              <a:blipFill>
                <a:blip r:embed="rId2"/>
                <a:stretch>
                  <a:fillRect l="-2006" t="-1639" r="-1433" b="-5464"/>
                </a:stretch>
              </a:blipFill>
            </p:spPr>
            <p:txBody>
              <a:bodyPr/>
              <a:lstStyle/>
              <a:p>
                <a:r>
                  <a:rPr lang="en-US">
                    <a:noFill/>
                  </a:rPr>
                  <a:t> </a:t>
                </a:r>
              </a:p>
            </p:txBody>
          </p:sp>
        </mc:Fallback>
      </mc:AlternateContent>
    </p:spTree>
    <p:extLst>
      <p:ext uri="{BB962C8B-B14F-4D97-AF65-F5344CB8AC3E}">
        <p14:creationId xmlns:p14="http://schemas.microsoft.com/office/powerpoint/2010/main" val="8821659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30129-6B10-2173-A230-7220E238B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65F487-963F-F01D-967D-82169ADC930D}"/>
              </a:ext>
            </a:extLst>
          </p:cNvPr>
          <p:cNvSpPr>
            <a:spLocks noGrp="1"/>
          </p:cNvSpPr>
          <p:nvPr>
            <p:ph type="title"/>
          </p:nvPr>
        </p:nvSpPr>
        <p:spPr/>
        <p:txBody>
          <a:bodyPr/>
          <a:lstStyle/>
          <a:p>
            <a:pPr algn="ctr"/>
            <a:r>
              <a:rPr lang="en-US" dirty="0"/>
              <a:t>Finding k</a:t>
            </a:r>
            <a:r>
              <a:rPr lang="en-US" baseline="30000" dirty="0"/>
              <a:t>th</a:t>
            </a:r>
            <a:r>
              <a:rPr lang="en-US" dirty="0"/>
              <a:t> smallest</a:t>
            </a:r>
          </a:p>
        </p:txBody>
      </p:sp>
      <p:sp>
        <p:nvSpPr>
          <p:cNvPr id="3" name="Content Placeholder 2">
            <a:extLst>
              <a:ext uri="{FF2B5EF4-FFF2-40B4-BE49-F238E27FC236}">
                <a16:creationId xmlns:a16="http://schemas.microsoft.com/office/drawing/2014/main" id="{817CD746-E89F-C9C2-F187-A794B4E2D2DD}"/>
              </a:ext>
            </a:extLst>
          </p:cNvPr>
          <p:cNvSpPr>
            <a:spLocks noGrp="1"/>
          </p:cNvSpPr>
          <p:nvPr>
            <p:ph idx="1"/>
          </p:nvPr>
        </p:nvSpPr>
        <p:spPr>
          <a:xfrm>
            <a:off x="838200" y="1371600"/>
            <a:ext cx="10515600" cy="5284694"/>
          </a:xfrm>
        </p:spPr>
        <p:txBody>
          <a:bodyPr>
            <a:normAutofit fontScale="92500" lnSpcReduction="20000"/>
          </a:bodyPr>
          <a:lstStyle/>
          <a:p>
            <a:pPr marL="0" indent="0">
              <a:buNone/>
            </a:pPr>
            <a:r>
              <a:rPr lang="en-US" dirty="0"/>
              <a:t>int[] smallest = new int[k];	</a:t>
            </a:r>
            <a:r>
              <a:rPr lang="en-US"/>
              <a:t>		//</a:t>
            </a:r>
            <a:r>
              <a:rPr lang="en-US" dirty="0"/>
              <a:t>k </a:t>
            </a:r>
            <a:r>
              <a:rPr lang="en-US"/>
              <a:t>smallest values so far</a:t>
            </a:r>
            <a:endParaRPr lang="en-US" dirty="0"/>
          </a:p>
          <a:p>
            <a:pPr marL="0" indent="0">
              <a:buNone/>
            </a:pPr>
            <a:r>
              <a:rPr lang="en-US" dirty="0"/>
              <a:t>…				</a:t>
            </a:r>
          </a:p>
          <a:p>
            <a:pPr marL="0" indent="0">
              <a:buNone/>
            </a:pPr>
            <a:r>
              <a:rPr lang="en-US" dirty="0"/>
              <a:t>for(int </a:t>
            </a:r>
            <a:r>
              <a:rPr lang="en-US" dirty="0" err="1"/>
              <a:t>i</a:t>
            </a:r>
            <a:r>
              <a:rPr lang="en-US" dirty="0"/>
              <a:t>=k; </a:t>
            </a:r>
            <a:r>
              <a:rPr lang="en-US" dirty="0" err="1"/>
              <a:t>i</a:t>
            </a:r>
            <a:r>
              <a:rPr lang="en-US" dirty="0"/>
              <a:t> &lt; </a:t>
            </a:r>
            <a:r>
              <a:rPr lang="en-US" dirty="0" err="1"/>
              <a:t>nums.length</a:t>
            </a:r>
            <a:r>
              <a:rPr lang="en-US" dirty="0"/>
              <a:t>; </a:t>
            </a:r>
            <a:r>
              <a:rPr lang="en-US" dirty="0" err="1"/>
              <a:t>i</a:t>
            </a:r>
            <a:r>
              <a:rPr lang="en-US" dirty="0"/>
              <a:t>++) {</a:t>
            </a:r>
          </a:p>
          <a:p>
            <a:pPr marL="0" indent="0">
              <a:buNone/>
            </a:pPr>
            <a:r>
              <a:rPr lang="en-US" dirty="0"/>
              <a:t>     if(</a:t>
            </a:r>
            <a:r>
              <a:rPr lang="en-US" dirty="0" err="1"/>
              <a:t>nums</a:t>
            </a:r>
            <a:r>
              <a:rPr lang="en-US" dirty="0"/>
              <a:t>[</a:t>
            </a:r>
            <a:r>
              <a:rPr lang="en-US" dirty="0" err="1"/>
              <a:t>i</a:t>
            </a:r>
            <a:r>
              <a:rPr lang="en-US" dirty="0"/>
              <a:t>] &lt; smallest[k-1]) {</a:t>
            </a:r>
          </a:p>
          <a:p>
            <a:pPr marL="0" indent="0">
              <a:buNone/>
            </a:pPr>
            <a:r>
              <a:rPr lang="en-US" dirty="0"/>
              <a:t>          int j = k-1;</a:t>
            </a:r>
          </a:p>
          <a:p>
            <a:pPr marL="0" indent="0">
              <a:buNone/>
            </a:pPr>
            <a:r>
              <a:rPr lang="en-US" dirty="0"/>
              <a:t>          while((j &gt; 0) &amp;&amp; (</a:t>
            </a:r>
            <a:r>
              <a:rPr lang="en-US" dirty="0" err="1"/>
              <a:t>nums</a:t>
            </a:r>
            <a:r>
              <a:rPr lang="en-US" dirty="0"/>
              <a:t>[</a:t>
            </a:r>
            <a:r>
              <a:rPr lang="en-US" dirty="0" err="1"/>
              <a:t>i</a:t>
            </a:r>
            <a:r>
              <a:rPr lang="en-US" dirty="0"/>
              <a:t>] &lt; smallest[j-1])) {</a:t>
            </a:r>
          </a:p>
          <a:p>
            <a:pPr marL="0" indent="0">
              <a:buNone/>
            </a:pPr>
            <a:r>
              <a:rPr lang="en-US" dirty="0"/>
              <a:t>               smallest[j] = smallest[j-1];</a:t>
            </a:r>
          </a:p>
          <a:p>
            <a:pPr marL="0" indent="0">
              <a:buNone/>
            </a:pPr>
            <a:r>
              <a:rPr lang="en-US" dirty="0"/>
              <a:t>               j--;</a:t>
            </a:r>
          </a:p>
          <a:p>
            <a:pPr marL="0" indent="0">
              <a:buNone/>
            </a:pPr>
            <a:r>
              <a:rPr lang="en-US" dirty="0"/>
              <a:t>          }</a:t>
            </a:r>
          </a:p>
          <a:p>
            <a:pPr marL="0" indent="0">
              <a:buNone/>
            </a:pPr>
            <a:r>
              <a:rPr lang="en-US" dirty="0"/>
              <a:t>          smallest[j] = </a:t>
            </a:r>
            <a:r>
              <a:rPr lang="en-US" dirty="0" err="1"/>
              <a:t>nums</a:t>
            </a:r>
            <a:r>
              <a:rPr lang="en-US" dirty="0"/>
              <a:t>[</a:t>
            </a:r>
            <a:r>
              <a:rPr lang="en-US" dirty="0" err="1"/>
              <a:t>i</a:t>
            </a:r>
            <a:r>
              <a:rPr lang="en-US" dirty="0"/>
              <a:t>];</a:t>
            </a:r>
          </a:p>
          <a:p>
            <a:pPr marL="0" indent="0">
              <a:buNone/>
            </a:pPr>
            <a:r>
              <a:rPr lang="en-US" dirty="0"/>
              <a:t>     }</a:t>
            </a:r>
          </a:p>
          <a:p>
            <a:pPr marL="0" indent="0">
              <a:buNone/>
            </a:pPr>
            <a:r>
              <a:rPr lang="en-US" dirty="0"/>
              <a: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F2F05D6-313F-A6D7-A2B7-0AA2DC74D771}"/>
                  </a:ext>
                </a:extLst>
              </p:cNvPr>
              <p:cNvSpPr txBox="1"/>
              <p:nvPr/>
            </p:nvSpPr>
            <p:spPr>
              <a:xfrm>
                <a:off x="7066729" y="3859306"/>
                <a:ext cx="4425379" cy="2308324"/>
              </a:xfrm>
              <a:prstGeom prst="rect">
                <a:avLst/>
              </a:prstGeom>
              <a:noFill/>
            </p:spPr>
            <p:txBody>
              <a:bodyPr wrap="none" rtlCol="0">
                <a:spAutoFit/>
              </a:bodyPr>
              <a:lstStyle/>
              <a:p>
                <a:r>
                  <a:rPr lang="en-US" sz="2400" dirty="0"/>
                  <a:t>What is the running time of this?</a:t>
                </a:r>
              </a:p>
              <a:p>
                <a:pPr marL="342900" indent="-342900">
                  <a:buFont typeface="+mj-lt"/>
                  <a:buAutoNum type="alphaUcPeriod"/>
                </a:pPr>
                <a14:m>
                  <m:oMath xmlns:m="http://schemas.openxmlformats.org/officeDocument/2006/math">
                    <m:r>
                      <m:rPr>
                        <m:sty m:val="p"/>
                      </m:rPr>
                      <a:rPr lang="el-GR" sz="2400" i="0" smtClean="0">
                        <a:latin typeface="Cambria Math" panose="02040503050406030204" pitchFamily="18" charset="0"/>
                        <a:ea typeface="Cambria Math" panose="02040503050406030204" pitchFamily="18" charset="0"/>
                      </a:rPr>
                      <m:t>Θ</m:t>
                    </m:r>
                  </m:oMath>
                </a14:m>
                <a:r>
                  <a:rPr lang="en-US" sz="2400" dirty="0"/>
                  <a:t>(n)</a:t>
                </a:r>
              </a:p>
              <a:p>
                <a:pPr marL="342900" indent="-342900">
                  <a:buFont typeface="+mj-lt"/>
                  <a:buAutoNum type="alphaUcPeriod"/>
                </a:pPr>
                <a14:m>
                  <m:oMath xmlns:m="http://schemas.openxmlformats.org/officeDocument/2006/math">
                    <m:r>
                      <m:rPr>
                        <m:sty m:val="p"/>
                      </m:rPr>
                      <a:rPr lang="el-GR" sz="2400" i="0" smtClean="0">
                        <a:latin typeface="Cambria Math" panose="02040503050406030204" pitchFamily="18" charset="0"/>
                        <a:ea typeface="Cambria Math" panose="02040503050406030204" pitchFamily="18" charset="0"/>
                      </a:rPr>
                      <m:t>Θ</m:t>
                    </m:r>
                  </m:oMath>
                </a14:m>
                <a:r>
                  <a:rPr lang="en-US" sz="2400" dirty="0"/>
                  <a:t>(</a:t>
                </a:r>
                <a:r>
                  <a:rPr lang="en-US" sz="2400" dirty="0" err="1"/>
                  <a:t>n+k</a:t>
                </a:r>
                <a:r>
                  <a:rPr lang="en-US" sz="2400" dirty="0"/>
                  <a:t>)</a:t>
                </a:r>
              </a:p>
              <a:p>
                <a:pPr marL="342900" indent="-342900">
                  <a:buFont typeface="+mj-lt"/>
                  <a:buAutoNum type="alphaUcPeriod"/>
                </a:pPr>
                <a14:m>
                  <m:oMath xmlns:m="http://schemas.openxmlformats.org/officeDocument/2006/math">
                    <m:r>
                      <m:rPr>
                        <m:sty m:val="p"/>
                      </m:rPr>
                      <a:rPr lang="el-GR" sz="2400" i="0" smtClean="0">
                        <a:latin typeface="Cambria Math" panose="02040503050406030204" pitchFamily="18" charset="0"/>
                        <a:ea typeface="Cambria Math" panose="02040503050406030204" pitchFamily="18" charset="0"/>
                      </a:rPr>
                      <m:t>Θ</m:t>
                    </m:r>
                  </m:oMath>
                </a14:m>
                <a:r>
                  <a:rPr lang="en-US" sz="2400" dirty="0"/>
                  <a:t>(n log k)</a:t>
                </a:r>
              </a:p>
              <a:p>
                <a:pPr marL="342900" indent="-342900">
                  <a:buFont typeface="+mj-lt"/>
                  <a:buAutoNum type="alphaUcPeriod"/>
                </a:pPr>
                <a14:m>
                  <m:oMath xmlns:m="http://schemas.openxmlformats.org/officeDocument/2006/math">
                    <m:r>
                      <m:rPr>
                        <m:sty m:val="p"/>
                      </m:rPr>
                      <a:rPr lang="el-GR" sz="2400" i="0" smtClean="0">
                        <a:latin typeface="Cambria Math" panose="02040503050406030204" pitchFamily="18" charset="0"/>
                        <a:ea typeface="Cambria Math" panose="02040503050406030204" pitchFamily="18" charset="0"/>
                      </a:rPr>
                      <m:t>Θ</m:t>
                    </m:r>
                  </m:oMath>
                </a14:m>
                <a:r>
                  <a:rPr lang="en-US" sz="2400" dirty="0"/>
                  <a:t>(n</a:t>
                </a:r>
                <a:r>
                  <a:rPr lang="en-US" sz="2400" baseline="30000" dirty="0"/>
                  <a:t>2</a:t>
                </a:r>
                <a:r>
                  <a:rPr lang="en-US" sz="2400" dirty="0"/>
                  <a:t>)</a:t>
                </a:r>
              </a:p>
              <a:p>
                <a:pPr marL="342900" indent="-342900">
                  <a:buFont typeface="+mj-lt"/>
                  <a:buAutoNum type="alphaUcPeriod"/>
                </a:pPr>
                <a:r>
                  <a:rPr lang="en-US" sz="2400" u="sng" dirty="0">
                    <a:solidFill>
                      <a:schemeClr val="accent1"/>
                    </a:solidFill>
                  </a:rPr>
                  <a:t>None of the above</a:t>
                </a:r>
                <a:r>
                  <a:rPr lang="en-US" sz="2400" dirty="0">
                    <a:solidFill>
                      <a:schemeClr val="accent1"/>
                    </a:solidFill>
                  </a:rPr>
                  <a:t> </a:t>
                </a:r>
                <a14:m>
                  <m:oMath xmlns:m="http://schemas.openxmlformats.org/officeDocument/2006/math">
                    <m:r>
                      <m:rPr>
                        <m:sty m:val="p"/>
                      </m:rPr>
                      <a:rPr lang="el-GR" sz="2400" i="0" smtClean="0">
                        <a:latin typeface="Cambria Math" panose="02040503050406030204" pitchFamily="18" charset="0"/>
                        <a:ea typeface="Cambria Math" panose="02040503050406030204" pitchFamily="18" charset="0"/>
                      </a:rPr>
                      <m:t>Θ</m:t>
                    </m:r>
                  </m:oMath>
                </a14:m>
                <a:r>
                  <a:rPr lang="en-US" sz="2400" dirty="0">
                    <a:solidFill>
                      <a:schemeClr val="accent1"/>
                    </a:solidFill>
                  </a:rPr>
                  <a:t>(</a:t>
                </a:r>
                <a:r>
                  <a:rPr lang="en-US" sz="2400" dirty="0" err="1">
                    <a:solidFill>
                      <a:schemeClr val="accent1"/>
                    </a:solidFill>
                  </a:rPr>
                  <a:t>nk</a:t>
                </a:r>
                <a:r>
                  <a:rPr lang="en-US" sz="2400" dirty="0">
                    <a:solidFill>
                      <a:schemeClr val="accent1"/>
                    </a:solidFill>
                  </a:rPr>
                  <a:t>)</a:t>
                </a:r>
                <a:endParaRPr lang="en-US" sz="2400" u="sng" dirty="0">
                  <a:solidFill>
                    <a:schemeClr val="accent1"/>
                  </a:solidFill>
                </a:endParaRPr>
              </a:p>
            </p:txBody>
          </p:sp>
        </mc:Choice>
        <mc:Fallback xmlns="">
          <p:sp>
            <p:nvSpPr>
              <p:cNvPr id="4" name="TextBox 3">
                <a:extLst>
                  <a:ext uri="{FF2B5EF4-FFF2-40B4-BE49-F238E27FC236}">
                    <a16:creationId xmlns:a16="http://schemas.microsoft.com/office/drawing/2014/main" id="{2F2F05D6-313F-A6D7-A2B7-0AA2DC74D771}"/>
                  </a:ext>
                </a:extLst>
              </p:cNvPr>
              <p:cNvSpPr txBox="1">
                <a:spLocks noRot="1" noChangeAspect="1" noMove="1" noResize="1" noEditPoints="1" noAdjustHandles="1" noChangeArrowheads="1" noChangeShapeType="1" noTextEdit="1"/>
              </p:cNvSpPr>
              <p:nvPr/>
            </p:nvSpPr>
            <p:spPr>
              <a:xfrm>
                <a:off x="7066729" y="3859306"/>
                <a:ext cx="4425379" cy="2308324"/>
              </a:xfrm>
              <a:prstGeom prst="rect">
                <a:avLst/>
              </a:prstGeom>
              <a:blipFill>
                <a:blip r:embed="rId3"/>
                <a:stretch>
                  <a:fillRect l="-2006" t="-1639" r="-1433" b="-5464"/>
                </a:stretch>
              </a:blipFill>
            </p:spPr>
            <p:txBody>
              <a:bodyPr/>
              <a:lstStyle/>
              <a:p>
                <a:r>
                  <a:rPr lang="en-US">
                    <a:noFill/>
                  </a:rPr>
                  <a:t> </a:t>
                </a:r>
              </a:p>
            </p:txBody>
          </p:sp>
        </mc:Fallback>
      </mc:AlternateContent>
    </p:spTree>
    <p:extLst>
      <p:ext uri="{BB962C8B-B14F-4D97-AF65-F5344CB8AC3E}">
        <p14:creationId xmlns:p14="http://schemas.microsoft.com/office/powerpoint/2010/main" val="18914673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41513</TotalTime>
  <Words>8365</Words>
  <Application>Microsoft Macintosh PowerPoint</Application>
  <PresentationFormat>Widescreen</PresentationFormat>
  <Paragraphs>923</Paragraphs>
  <Slides>54</Slides>
  <Notes>49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Aptos</vt:lpstr>
      <vt:lpstr>Aptos Display</vt:lpstr>
      <vt:lpstr>Arial</vt:lpstr>
      <vt:lpstr>Cambria Math</vt:lpstr>
      <vt:lpstr>Office Theme</vt:lpstr>
      <vt:lpstr>Fork-join parallelism</vt:lpstr>
      <vt:lpstr>Using multiple cores</vt:lpstr>
      <vt:lpstr>Sample problem: Summing an array</vt:lpstr>
      <vt:lpstr>Splitting the sum into two parts</vt:lpstr>
      <vt:lpstr>New conceptual keywords (not real Java)</vt:lpstr>
      <vt:lpstr>New conceptual keywords (not real Java)</vt:lpstr>
      <vt:lpstr>fork and join in pictures</vt:lpstr>
      <vt:lpstr>fork and join in pictures</vt:lpstr>
      <vt:lpstr>Which of the following could be printed by the code below?</vt:lpstr>
      <vt:lpstr>Which of the following could be printed by the code below?</vt:lpstr>
      <vt:lpstr>Which of the following could be printed by the code below?</vt:lpstr>
      <vt:lpstr>Which of the following could be printed by the code below?</vt:lpstr>
      <vt:lpstr>Running a precedence graph</vt:lpstr>
      <vt:lpstr>Running a precedence graph</vt:lpstr>
      <vt:lpstr>How long will this graph run on 2 processors?</vt:lpstr>
      <vt:lpstr>How long will this graph run on 2 processors?</vt:lpstr>
      <vt:lpstr>How long will this graph run on 2 processors?</vt:lpstr>
      <vt:lpstr>How long will this graph run on 2 processors?</vt:lpstr>
      <vt:lpstr>How long will this graph run on 2 processors?</vt:lpstr>
      <vt:lpstr>How long will this graph run on 2 processors?</vt:lpstr>
      <vt:lpstr>Now we’re trying to optimize 2 things</vt:lpstr>
      <vt:lpstr>Now we’re trying to optimize 2 things</vt:lpstr>
      <vt:lpstr>Now we’re trying to optimize 2 things</vt:lpstr>
      <vt:lpstr>Combining subcomputations</vt:lpstr>
      <vt:lpstr>Combining subcomputations</vt:lpstr>
      <vt:lpstr>Combining subcomputations</vt:lpstr>
      <vt:lpstr>Using different (fixed) numbers of cores</vt:lpstr>
      <vt:lpstr>Generalizing to any number of cores</vt:lpstr>
      <vt:lpstr>Generalizing to any number of cores</vt:lpstr>
      <vt:lpstr>Generalizing to any number of cores</vt:lpstr>
      <vt:lpstr>Recursion to the rescue!</vt:lpstr>
      <vt:lpstr>Recursion to the rescue!</vt:lpstr>
      <vt:lpstr>Precedence graph for this code</vt:lpstr>
      <vt:lpstr>Precedence graph for this code</vt:lpstr>
      <vt:lpstr>Precedence graph for this code</vt:lpstr>
      <vt:lpstr>Precedence graph for this code</vt:lpstr>
      <vt:lpstr>Applying this to a program</vt:lpstr>
      <vt:lpstr>What is the work and span of this code? (n is hi-low)</vt:lpstr>
      <vt:lpstr>What is the work and span of this code? (n is hi-low)</vt:lpstr>
      <vt:lpstr>Putting this into actual Java</vt:lpstr>
      <vt:lpstr>Putting this into actual Java</vt:lpstr>
      <vt:lpstr>Putting this into actual Java</vt:lpstr>
      <vt:lpstr>Putting this into actual Java: Starting off</vt:lpstr>
      <vt:lpstr>Putting it all together</vt:lpstr>
      <vt:lpstr>Putting it all together</vt:lpstr>
      <vt:lpstr>Putting it all together</vt:lpstr>
      <vt:lpstr>Reductions</vt:lpstr>
      <vt:lpstr>How do we sum the values in an n×n array?</vt:lpstr>
      <vt:lpstr>Bonus slides</vt:lpstr>
      <vt:lpstr>Finding minimum</vt:lpstr>
      <vt:lpstr>Finding second smallest</vt:lpstr>
      <vt:lpstr>Finding kth smallest</vt:lpstr>
      <vt:lpstr>Finding kth smallest</vt:lpstr>
      <vt:lpstr>Finding kth smallest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Bunde</dc:creator>
  <cp:lastModifiedBy>David Bunde</cp:lastModifiedBy>
  <cp:revision>37</cp:revision>
  <cp:lastPrinted>2026-05-08T15:37:55Z</cp:lastPrinted>
  <dcterms:created xsi:type="dcterms:W3CDTF">2025-03-05T07:26:59Z</dcterms:created>
  <dcterms:modified xsi:type="dcterms:W3CDTF">2026-07-04T20:08:39Z</dcterms:modified>
</cp:coreProperties>
</file>
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72" r:id="rId3"/>
    <p:sldId id="263" r:id="rId4"/>
    <p:sldId id="265" r:id="rId5"/>
    <p:sldId id="264" r:id="rId6"/>
    <p:sldId id="262" r:id="rId7"/>
    <p:sldId id="257" r:id="rId8"/>
    <p:sldId id="258" r:id="rId9"/>
    <p:sldId id="259" r:id="rId10"/>
    <p:sldId id="261" r:id="rId11"/>
    <p:sldId id="273" r:id="rId12"/>
    <p:sldId id="274" r:id="rId13"/>
    <p:sldId id="287" r:id="rId14"/>
    <p:sldId id="277" r:id="rId15"/>
    <p:sldId id="278" r:id="rId16"/>
    <p:sldId id="285" r:id="rId17"/>
    <p:sldId id="279" r:id="rId18"/>
    <p:sldId id="280" r:id="rId19"/>
    <p:sldId id="283" r:id="rId20"/>
    <p:sldId id="281" r:id="rId21"/>
    <p:sldId id="282" r:id="rId22"/>
    <p:sldId id="284" r:id="rId23"/>
    <p:sldId id="286"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57843"/>
  </p:normalViewPr>
  <p:slideViewPr>
    <p:cSldViewPr snapToGrid="0" snapToObjects="1">
      <p:cViewPr varScale="1">
        <p:scale>
          <a:sx n="63" d="100"/>
          <a:sy n="63" d="100"/>
        </p:scale>
        <p:origin x="7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EE35FA-0E76-9E40-96BB-8E31EE86EE68}" type="datetimeFigureOut">
              <a:rPr lang="en-US" smtClean="0"/>
              <a:t>11/29/20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1ED3B8-7978-CB44-9122-EAB8D87087FA}" type="slidenum">
              <a:rPr lang="en-US" smtClean="0"/>
              <a:t>‹#›</a:t>
            </a:fld>
            <a:endParaRPr lang="en-US"/>
          </a:p>
        </p:txBody>
      </p:sp>
    </p:spTree>
    <p:extLst>
      <p:ext uri="{BB962C8B-B14F-4D97-AF65-F5344CB8AC3E}">
        <p14:creationId xmlns:p14="http://schemas.microsoft.com/office/powerpoint/2010/main" val="465972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1</a:t>
            </a:fld>
            <a:endParaRPr lang="en-US"/>
          </a:p>
        </p:txBody>
      </p:sp>
    </p:spTree>
    <p:extLst>
      <p:ext uri="{BB962C8B-B14F-4D97-AF65-F5344CB8AC3E}">
        <p14:creationId xmlns:p14="http://schemas.microsoft.com/office/powerpoint/2010/main" val="1157746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6</a:t>
            </a:fld>
            <a:endParaRPr lang="en-US"/>
          </a:p>
        </p:txBody>
      </p:sp>
    </p:spTree>
    <p:extLst>
      <p:ext uri="{BB962C8B-B14F-4D97-AF65-F5344CB8AC3E}">
        <p14:creationId xmlns:p14="http://schemas.microsoft.com/office/powerpoint/2010/main" val="1086048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Unplugged activity: </a:t>
            </a:r>
          </a:p>
          <a:p>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Bogaerts</a:t>
            </a:r>
            <a:r>
              <a:rPr lang="en-US" sz="1200" b="0" i="0" kern="1200" dirty="0" smtClean="0">
                <a:solidFill>
                  <a:schemeClr val="tx1"/>
                </a:solidFill>
                <a:effectLst/>
                <a:latin typeface="+mn-lt"/>
                <a:ea typeface="+mn-ea"/>
                <a:cs typeface="+mn-cs"/>
              </a:rPr>
              <a:t> used this analogy to explain the notion of thread join operation. Suppose a parent and their child are out for a walk along a trail in their local park. The child decides to travel off the path to pick flowers. While the parent can go on for some time without the child, eventually they will call out to the child to catch up: </a:t>
            </a:r>
            <a:r>
              <a:rPr lang="en-US" sz="1200" b="0" i="1" kern="1200" dirty="0" smtClean="0">
                <a:solidFill>
                  <a:schemeClr val="tx1"/>
                </a:solidFill>
                <a:effectLst/>
                <a:latin typeface="+mn-lt"/>
                <a:ea typeface="+mn-ea"/>
                <a:cs typeface="+mn-cs"/>
              </a:rPr>
              <a:t>“Come now, please join me up here”</a:t>
            </a:r>
            <a:r>
              <a:rPr lang="en-US" sz="1200" b="0" i="0" kern="1200" dirty="0" smtClean="0">
                <a:solidFill>
                  <a:schemeClr val="tx1"/>
                </a:solidFill>
                <a:effectLst/>
                <a:latin typeface="+mn-lt"/>
                <a:ea typeface="+mn-ea"/>
                <a:cs typeface="+mn-cs"/>
              </a:rPr>
              <a:t>. The parent will then wait for their child to join up with them, and then the two continue walking up the path together.</a:t>
            </a:r>
          </a:p>
          <a:p>
            <a:r>
              <a:rPr lang="en-US" sz="1200" b="0" i="0" kern="1200" dirty="0" smtClean="0">
                <a:solidFill>
                  <a:schemeClr val="tx1"/>
                </a:solidFill>
                <a:effectLst/>
                <a:latin typeface="+mn-lt"/>
                <a:ea typeface="+mn-ea"/>
                <a:cs typeface="+mn-cs"/>
              </a:rPr>
              <a:t>This is analogous to a main thread calling the join() operation on a child thread. Thread A blocks until B is finished; only then can A continue with their work.</a:t>
            </a:r>
          </a:p>
          <a:p>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7</a:t>
            </a:fld>
            <a:endParaRPr lang="en-US"/>
          </a:p>
        </p:txBody>
      </p:sp>
    </p:spTree>
    <p:extLst>
      <p:ext uri="{BB962C8B-B14F-4D97-AF65-F5344CB8AC3E}">
        <p14:creationId xmlns:p14="http://schemas.microsoft.com/office/powerpoint/2010/main" val="1296285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a:t>
            </a:r>
            <a:r>
              <a:rPr lang="en-US" baseline="0" dirty="0" smtClean="0"/>
              <a:t> arguments to identify or name the thread is cumbersome and unnecessary. Each thread instance has a name with a default value that can be changed as the thread is created. Naming threads in useful in sever processes with multiple service threads that handle different operations. </a:t>
            </a:r>
            <a:endParaRPr lang="en-US" baseline="0" dirty="0" smtClean="0"/>
          </a:p>
          <a:p>
            <a:endParaRPr lang="en-US" baseline="0" dirty="0" smtClean="0"/>
          </a:p>
          <a:p>
            <a:r>
              <a:rPr lang="en-US" sz="1200" kern="1200" dirty="0" err="1" smtClean="0">
                <a:solidFill>
                  <a:schemeClr val="tx1"/>
                </a:solidFill>
                <a:effectLst/>
                <a:latin typeface="+mn-lt"/>
                <a:ea typeface="+mn-ea"/>
                <a:cs typeface="+mn-cs"/>
              </a:rPr>
              <a:t>first_function</a:t>
            </a:r>
            <a:r>
              <a:rPr lang="en-US" sz="1200" kern="1200" dirty="0" smtClean="0">
                <a:solidFill>
                  <a:schemeClr val="tx1"/>
                </a:solidFill>
                <a:effectLst/>
                <a:latin typeface="+mn-lt"/>
                <a:ea typeface="+mn-ea"/>
                <a:cs typeface="+mn-cs"/>
              </a:rPr>
              <a:t> is Starting </a:t>
            </a:r>
          </a:p>
          <a:p>
            <a:r>
              <a:rPr lang="en-US" sz="1200" kern="1200" dirty="0" err="1" smtClean="0">
                <a:solidFill>
                  <a:schemeClr val="tx1"/>
                </a:solidFill>
                <a:effectLst/>
                <a:latin typeface="+mn-lt"/>
                <a:ea typeface="+mn-ea"/>
                <a:cs typeface="+mn-cs"/>
              </a:rPr>
              <a:t>second_function</a:t>
            </a:r>
            <a:r>
              <a:rPr lang="en-US" sz="1200" kern="1200" dirty="0" smtClean="0">
                <a:solidFill>
                  <a:schemeClr val="tx1"/>
                </a:solidFill>
                <a:effectLst/>
                <a:latin typeface="+mn-lt"/>
                <a:ea typeface="+mn-ea"/>
                <a:cs typeface="+mn-cs"/>
              </a:rPr>
              <a:t> is Starting </a:t>
            </a:r>
          </a:p>
          <a:p>
            <a:r>
              <a:rPr lang="en-US" sz="1200" kern="1200" dirty="0" smtClean="0">
                <a:solidFill>
                  <a:schemeClr val="tx1"/>
                </a:solidFill>
                <a:effectLst/>
                <a:latin typeface="+mn-lt"/>
                <a:ea typeface="+mn-ea"/>
                <a:cs typeface="+mn-cs"/>
              </a:rPr>
              <a:t>Thread-1 is Starting </a:t>
            </a:r>
          </a:p>
          <a:p>
            <a:r>
              <a:rPr lang="en-US" sz="1200" kern="1200" dirty="0" err="1" smtClean="0">
                <a:solidFill>
                  <a:schemeClr val="tx1"/>
                </a:solidFill>
                <a:effectLst/>
                <a:latin typeface="+mn-lt"/>
                <a:ea typeface="+mn-ea"/>
                <a:cs typeface="+mn-cs"/>
              </a:rPr>
              <a:t>second_function</a:t>
            </a:r>
            <a:r>
              <a:rPr lang="en-US" sz="1200" kern="1200" dirty="0" smtClean="0">
                <a:solidFill>
                  <a:schemeClr val="tx1"/>
                </a:solidFill>
                <a:effectLst/>
                <a:latin typeface="+mn-lt"/>
                <a:ea typeface="+mn-ea"/>
                <a:cs typeface="+mn-cs"/>
              </a:rPr>
              <a:t> is Existing </a:t>
            </a:r>
          </a:p>
          <a:p>
            <a:r>
              <a:rPr lang="en-US" sz="1200" kern="1200" dirty="0" smtClean="0">
                <a:solidFill>
                  <a:schemeClr val="tx1"/>
                </a:solidFill>
                <a:effectLst/>
                <a:latin typeface="+mn-lt"/>
                <a:ea typeface="+mn-ea"/>
                <a:cs typeface="+mn-cs"/>
              </a:rPr>
              <a:t>Thread-1 is Existing </a:t>
            </a:r>
          </a:p>
          <a:p>
            <a:r>
              <a:rPr lang="en-US" sz="1200" kern="1200" dirty="0" err="1" smtClean="0">
                <a:solidFill>
                  <a:schemeClr val="tx1"/>
                </a:solidFill>
                <a:effectLst/>
                <a:latin typeface="+mn-lt"/>
                <a:ea typeface="+mn-ea"/>
                <a:cs typeface="+mn-cs"/>
              </a:rPr>
              <a:t>first_function</a:t>
            </a:r>
            <a:r>
              <a:rPr lang="en-US" sz="1200" kern="1200" dirty="0" smtClean="0">
                <a:solidFill>
                  <a:schemeClr val="tx1"/>
                </a:solidFill>
                <a:effectLst/>
                <a:latin typeface="+mn-lt"/>
                <a:ea typeface="+mn-ea"/>
                <a:cs typeface="+mn-cs"/>
              </a:rPr>
              <a:t> is Existing </a:t>
            </a:r>
          </a:p>
          <a:p>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8</a:t>
            </a:fld>
            <a:endParaRPr lang="en-US"/>
          </a:p>
        </p:txBody>
      </p:sp>
    </p:spTree>
    <p:extLst>
      <p:ext uri="{BB962C8B-B14F-4D97-AF65-F5344CB8AC3E}">
        <p14:creationId xmlns:p14="http://schemas.microsoft.com/office/powerpoint/2010/main" val="1866564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implement a new thread using the threading module, you have</a:t>
            </a:r>
            <a:r>
              <a:rPr lang="en-US" baseline="0" dirty="0" smtClean="0"/>
              <a:t> to do the following</a:t>
            </a:r>
          </a:p>
          <a:p>
            <a:pPr marL="228600" indent="-228600">
              <a:buAutoNum type="arabicPeriod"/>
            </a:pPr>
            <a:r>
              <a:rPr lang="en-US" baseline="0" dirty="0" smtClean="0"/>
              <a:t>Define a new subclass of the thread class</a:t>
            </a:r>
          </a:p>
          <a:p>
            <a:pPr marL="228600" indent="-228600">
              <a:buAutoNum type="arabicPeriod"/>
            </a:pPr>
            <a:r>
              <a:rPr lang="en-US" baseline="0" dirty="0" smtClean="0"/>
              <a:t>Override the __</a:t>
            </a:r>
            <a:r>
              <a:rPr lang="en-US" baseline="0" dirty="0" err="1" smtClean="0"/>
              <a:t>init</a:t>
            </a:r>
            <a:r>
              <a:rPr lang="en-US" baseline="0" dirty="0" smtClean="0"/>
              <a:t>__(self [,</a:t>
            </a:r>
            <a:r>
              <a:rPr lang="en-US" baseline="0" dirty="0" err="1" smtClean="0"/>
              <a:t>args</a:t>
            </a:r>
            <a:r>
              <a:rPr lang="en-US" baseline="0" dirty="0" smtClean="0"/>
              <a:t>]) method to add additional arguments</a:t>
            </a:r>
          </a:p>
          <a:p>
            <a:pPr marL="228600" indent="-228600">
              <a:buAutoNum type="arabicPeriod"/>
            </a:pPr>
            <a:r>
              <a:rPr lang="en-US" baseline="0" dirty="0" smtClean="0"/>
              <a:t>Then you need to override the run(self, [</a:t>
            </a:r>
            <a:r>
              <a:rPr lang="en-US" baseline="0" dirty="0" err="1" smtClean="0"/>
              <a:t>args</a:t>
            </a:r>
            <a:r>
              <a:rPr lang="en-US" baseline="0" dirty="0" smtClean="0"/>
              <a:t>]) method to implement what the thread should do when it is starting. </a:t>
            </a:r>
          </a:p>
          <a:p>
            <a:pPr marL="228600" indent="-228600">
              <a:buAutoNum type="arabicPeriod"/>
            </a:pPr>
            <a:endParaRPr lang="en-US" baseline="0" dirty="0" smtClean="0"/>
          </a:p>
          <a:p>
            <a:pPr marL="0" indent="0">
              <a:buNone/>
            </a:pPr>
            <a:r>
              <a:rPr lang="en-US" baseline="0" dirty="0" smtClean="0"/>
              <a:t>Once you have created the new Thread subclass, you can create an instance of it and then start a new thread by invoking the start() method, which will, in turn, call the run() method. </a:t>
            </a:r>
          </a:p>
          <a:p>
            <a:pPr marL="0" indent="0">
              <a:buNone/>
            </a:pPr>
            <a:endParaRPr lang="en-US" dirty="0" smtClean="0"/>
          </a:p>
          <a:p>
            <a:r>
              <a:rPr lang="en-US" dirty="0" smtClean="0"/>
              <a:t>The</a:t>
            </a:r>
            <a:r>
              <a:rPr lang="en-US" baseline="0" dirty="0" smtClean="0"/>
              <a:t> threading module is the preferred form for creating and managing threads. Each thread is represented by a class that extends the Thread class and overrides its run() method. Then, this method becomes the starting point of the thread. In the main program, we create several objects of the </a:t>
            </a:r>
            <a:r>
              <a:rPr lang="en-US" baseline="0" dirty="0" err="1" smtClean="0"/>
              <a:t>myThread</a:t>
            </a:r>
            <a:r>
              <a:rPr lang="en-US" baseline="0" dirty="0" smtClean="0"/>
              <a:t> type; the execution of the thread begins when the start() method is called. </a:t>
            </a:r>
          </a:p>
          <a:p>
            <a:endParaRPr lang="en-US" baseline="0" dirty="0" smtClean="0"/>
          </a:p>
          <a:p>
            <a:r>
              <a:rPr lang="en-US" baseline="0" dirty="0" smtClean="0"/>
              <a:t>Calling the constructor of the Thread class is mandatory—using it, we can redefine some properties of the thread as the name or group of the thread. The thread is placed in the active state of the call to start() and remains there until it ends the run() method or you throw an unhandled exception to it. The program ends when all the threads are terminated. </a:t>
            </a:r>
          </a:p>
          <a:p>
            <a:endParaRPr lang="en-US" baseline="0" dirty="0" smtClean="0"/>
          </a:p>
          <a:p>
            <a:r>
              <a:rPr lang="en-US" baseline="0" dirty="0" smtClean="0"/>
              <a:t>The join command just handles the termination of the threads. </a:t>
            </a:r>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9</a:t>
            </a:fld>
            <a:endParaRPr lang="en-US"/>
          </a:p>
        </p:txBody>
      </p:sp>
    </p:spTree>
    <p:extLst>
      <p:ext uri="{BB962C8B-B14F-4D97-AF65-F5344CB8AC3E}">
        <p14:creationId xmlns:p14="http://schemas.microsoft.com/office/powerpoint/2010/main" val="1519688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10</a:t>
            </a:fld>
            <a:endParaRPr lang="en-US"/>
          </a:p>
        </p:txBody>
      </p:sp>
    </p:spTree>
    <p:extLst>
      <p:ext uri="{BB962C8B-B14F-4D97-AF65-F5344CB8AC3E}">
        <p14:creationId xmlns:p14="http://schemas.microsoft.com/office/powerpoint/2010/main" val="1250748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AE59A8-6847-4D61-8813-8FF606962C63}" type="slidenum">
              <a:rPr lang="en-US"/>
              <a:pPr/>
              <a:t>11</a:t>
            </a:fld>
            <a:endParaRPr lang="en-US"/>
          </a:p>
        </p:txBody>
      </p:sp>
      <p:sp>
        <p:nvSpPr>
          <p:cNvPr id="199682" name="Rectangle 2"/>
          <p:cNvSpPr>
            <a:spLocks noGrp="1" noRot="1" noChangeAspect="1" noChangeArrowheads="1" noTextEdit="1"/>
          </p:cNvSpPr>
          <p:nvPr>
            <p:ph type="sldImg"/>
          </p:nvPr>
        </p:nvSpPr>
        <p:spPr>
          <a:ln/>
        </p:spPr>
      </p:sp>
      <p:sp>
        <p:nvSpPr>
          <p:cNvPr id="199683" name="Rectangle 3"/>
          <p:cNvSpPr>
            <a:spLocks noGrp="1" noChangeArrowheads="1"/>
          </p:cNvSpPr>
          <p:nvPr>
            <p:ph type="body" idx="1"/>
          </p:nvPr>
        </p:nvSpPr>
        <p:spPr/>
        <p:txBody>
          <a:bodyPr/>
          <a:lstStyle/>
          <a:p>
            <a:r>
              <a:rPr lang="en-US" dirty="0" smtClean="0"/>
              <a:t>When</a:t>
            </a:r>
            <a:r>
              <a:rPr lang="en-US" baseline="0" dirty="0" smtClean="0"/>
              <a:t> two or more operations belonging to concurrent threads try to access the shared memory and at least one of them has the power to change the status of the data without a proper synchronization mechanism a race condition can occur and it can produce invalid code execution and bugs and unexpected behavior. </a:t>
            </a:r>
          </a:p>
          <a:p>
            <a:endParaRPr lang="en-US" baseline="0" dirty="0" smtClean="0"/>
          </a:p>
          <a:p>
            <a:r>
              <a:rPr lang="en-US" baseline="0" dirty="0" smtClean="0"/>
              <a:t>The easiest way to get around the race conditions is the use of a lock. The operation of a lock is simple; when a thread wants to access a portion of shared memory, it must necessarily acquire a lock on that portion prior to using it. </a:t>
            </a:r>
          </a:p>
          <a:p>
            <a:endParaRPr lang="en-US" baseline="0" dirty="0" smtClean="0"/>
          </a:p>
          <a:p>
            <a:r>
              <a:rPr lang="en-US" baseline="0" dirty="0" smtClean="0"/>
              <a:t>In addition to this, after completing its operation, the thread must release the lock that was previously obtained so that a portion of the shared memory is available fro any other threads that want to use it. In this way it is evident that the impossibility of incurring races is critical as the need of the lock for the thread requires that t a given instant, only a given thread can use this part of the shared memory. Despite their simplicity, the use of a lock works. However, in practice, we can see how this approach can often lead the execution to a bad situation of deadlock. </a:t>
            </a:r>
          </a:p>
          <a:p>
            <a:endParaRPr lang="en-US" baseline="0" dirty="0" smtClean="0"/>
          </a:p>
          <a:p>
            <a:r>
              <a:rPr lang="en-US" baseline="0" dirty="0" smtClean="0"/>
              <a:t>A deadlock occurs due to the acquisition of a lock from different threads; it is impossible to proceed with the execution of operations since the various locks between them block access to the resources. </a:t>
            </a:r>
          </a:p>
          <a:p>
            <a:endParaRPr lang="en-US" baseline="0" dirty="0" smtClean="0"/>
          </a:p>
          <a:p>
            <a:r>
              <a:rPr lang="en-US" baseline="0" dirty="0" smtClean="0"/>
              <a:t>Data Dependency </a:t>
            </a:r>
            <a:endParaRPr lang="en-US" dirty="0" smtClean="0"/>
          </a:p>
          <a:p>
            <a:endParaRPr lang="en-US" dirty="0" smtClean="0"/>
          </a:p>
          <a:p>
            <a:r>
              <a:rPr lang="en-US" dirty="0" smtClean="0"/>
              <a:t>Work </a:t>
            </a:r>
            <a:r>
              <a:rPr lang="en-US" dirty="0"/>
              <a:t>on deadlock goes back to the 1960s and the development of </a:t>
            </a:r>
            <a:r>
              <a:rPr lang="en-US" dirty="0" smtClean="0"/>
              <a:t>multi programmed </a:t>
            </a:r>
            <a:r>
              <a:rPr lang="en-US" dirty="0"/>
              <a:t>operating systems. The problems are familiar, and the solutions are worked out</a:t>
            </a:r>
            <a:r>
              <a:rPr lang="en-US" dirty="0" smtClean="0"/>
              <a:t>.</a:t>
            </a:r>
          </a:p>
          <a:p>
            <a:endParaRPr lang="en-US" dirty="0" smtClean="0"/>
          </a:p>
          <a:p>
            <a:endParaRPr lang="en-US" dirty="0"/>
          </a:p>
        </p:txBody>
      </p:sp>
    </p:spTree>
    <p:extLst>
      <p:ext uri="{BB962C8B-B14F-4D97-AF65-F5344CB8AC3E}">
        <p14:creationId xmlns:p14="http://schemas.microsoft.com/office/powerpoint/2010/main" val="1984555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F1AB14-2950-424D-AB8D-423B1945B1FE}" type="slidenum">
              <a:rPr lang="en-US"/>
              <a:pPr/>
              <a:t>12</a:t>
            </a:fld>
            <a:endParaRPr lang="en-US"/>
          </a:p>
        </p:txBody>
      </p:sp>
      <p:sp>
        <p:nvSpPr>
          <p:cNvPr id="221186" name="Rectangle 2"/>
          <p:cNvSpPr>
            <a:spLocks noGrp="1" noRot="1" noChangeAspect="1" noChangeArrowheads="1" noTextEdit="1"/>
          </p:cNvSpPr>
          <p:nvPr>
            <p:ph type="sldImg"/>
          </p:nvPr>
        </p:nvSpPr>
        <p:spPr>
          <a:ln/>
        </p:spPr>
      </p:sp>
      <p:sp>
        <p:nvSpPr>
          <p:cNvPr id="221187" name="Rectangle 3"/>
          <p:cNvSpPr>
            <a:spLocks noGrp="1" noChangeArrowheads="1"/>
          </p:cNvSpPr>
          <p:nvPr>
            <p:ph type="body" idx="1"/>
          </p:nvPr>
        </p:nvSpPr>
        <p:spPr/>
        <p:txBody>
          <a:bodyPr/>
          <a:lstStyle/>
          <a:p>
            <a:r>
              <a:rPr lang="en-US"/>
              <a:t>These conditions are necessary, but not sufficient.</a:t>
            </a:r>
          </a:p>
          <a:p>
            <a:endParaRPr lang="en-US"/>
          </a:p>
          <a:p>
            <a:r>
              <a:rPr lang="en-US"/>
              <a:t>Here’s a Windows-specific variant of the second condition. If a thread exits without releasing all the locks it is holding, that’s just as bad as a thread holding onto a lock waiting for another one. Another case would be a thread simply “forgetting” to release a lock. These ideas will be raised a few slides from now.</a:t>
            </a:r>
          </a:p>
        </p:txBody>
      </p:sp>
    </p:spTree>
    <p:extLst>
      <p:ext uri="{BB962C8B-B14F-4D97-AF65-F5344CB8AC3E}">
        <p14:creationId xmlns:p14="http://schemas.microsoft.com/office/powerpoint/2010/main" val="553970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Locks have two states: locked and unlocked</a:t>
            </a:r>
          </a:p>
          <a:p>
            <a:r>
              <a:rPr lang="en-US" dirty="0" smtClean="0"/>
              <a:t>We have two methods that are used to manipulate the locks: acquire() and release()</a:t>
            </a:r>
          </a:p>
          <a:p>
            <a:r>
              <a:rPr lang="en-US" dirty="0" smtClean="0"/>
              <a:t>The following are the rules: </a:t>
            </a:r>
          </a:p>
          <a:p>
            <a:pPr lvl="1"/>
            <a:r>
              <a:rPr lang="en-US" dirty="0" smtClean="0"/>
              <a:t>If the state is unlocked, a call to acquire() changes the state to locked. </a:t>
            </a:r>
          </a:p>
          <a:p>
            <a:pPr lvl="1"/>
            <a:r>
              <a:rPr lang="en-US" dirty="0" smtClean="0"/>
              <a:t>If the state is locked, a call to acquire() blocks until another thread calls release()</a:t>
            </a:r>
          </a:p>
          <a:p>
            <a:pPr lvl="1"/>
            <a:r>
              <a:rPr lang="en-US" dirty="0" smtClean="0"/>
              <a:t>If the state is unlocked, a call to release() raises a </a:t>
            </a:r>
            <a:r>
              <a:rPr lang="en-US" dirty="0" err="1" smtClean="0"/>
              <a:t>RuntimeError</a:t>
            </a:r>
            <a:r>
              <a:rPr lang="en-US" dirty="0" smtClean="0"/>
              <a:t> exception</a:t>
            </a:r>
          </a:p>
          <a:p>
            <a:pPr lvl="1"/>
            <a:r>
              <a:rPr lang="en-US" dirty="0" smtClean="0"/>
              <a:t>If the state is locked, a call to release() changes the state to unlocked. </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13</a:t>
            </a:fld>
            <a:endParaRPr lang="en-US"/>
          </a:p>
        </p:txBody>
      </p:sp>
    </p:spTree>
    <p:extLst>
      <p:ext uri="{BB962C8B-B14F-4D97-AF65-F5344CB8AC3E}">
        <p14:creationId xmlns:p14="http://schemas.microsoft.com/office/powerpoint/2010/main" val="2118588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14</a:t>
            </a:fld>
            <a:endParaRPr lang="en-US"/>
          </a:p>
        </p:txBody>
      </p:sp>
    </p:spTree>
    <p:extLst>
      <p:ext uri="{BB962C8B-B14F-4D97-AF65-F5344CB8AC3E}">
        <p14:creationId xmlns:p14="http://schemas.microsoft.com/office/powerpoint/2010/main" val="538640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called </a:t>
            </a:r>
            <a:r>
              <a:rPr lang="en-US" dirty="0" err="1" smtClean="0"/>
              <a:t>func</a:t>
            </a:r>
            <a:r>
              <a:rPr lang="en-US" dirty="0" smtClean="0"/>
              <a:t> in process </a:t>
            </a:r>
            <a:r>
              <a:rPr lang="en-US" dirty="0" smtClean="0"/>
              <a:t>0</a:t>
            </a:r>
          </a:p>
          <a:p>
            <a:r>
              <a:rPr lang="en-US" dirty="0" smtClean="0"/>
              <a:t>called </a:t>
            </a:r>
            <a:r>
              <a:rPr lang="en-US" dirty="0" err="1" smtClean="0"/>
              <a:t>func</a:t>
            </a:r>
            <a:r>
              <a:rPr lang="en-US" dirty="0" smtClean="0"/>
              <a:t> in process </a:t>
            </a:r>
            <a:r>
              <a:rPr lang="en-US" dirty="0" smtClean="0"/>
              <a:t>1</a:t>
            </a:r>
          </a:p>
          <a:p>
            <a:r>
              <a:rPr lang="en-US" dirty="0" smtClean="0"/>
              <a:t>called </a:t>
            </a:r>
            <a:r>
              <a:rPr lang="en-US" dirty="0" err="1" smtClean="0"/>
              <a:t>func</a:t>
            </a:r>
            <a:r>
              <a:rPr lang="en-US" dirty="0" smtClean="0"/>
              <a:t> in process </a:t>
            </a:r>
            <a:r>
              <a:rPr lang="en-US" dirty="0" smtClean="0"/>
              <a:t>2</a:t>
            </a:r>
          </a:p>
          <a:p>
            <a:r>
              <a:rPr lang="en-US" dirty="0" smtClean="0"/>
              <a:t>called </a:t>
            </a:r>
            <a:r>
              <a:rPr lang="en-US" dirty="0" err="1" smtClean="0"/>
              <a:t>func</a:t>
            </a:r>
            <a:r>
              <a:rPr lang="en-US" dirty="0" smtClean="0"/>
              <a:t> in process </a:t>
            </a:r>
            <a:r>
              <a:rPr lang="en-US" dirty="0" smtClean="0"/>
              <a:t>3</a:t>
            </a:r>
          </a:p>
          <a:p>
            <a:r>
              <a:rPr lang="en-US" dirty="0" smtClean="0"/>
              <a:t>called </a:t>
            </a:r>
            <a:r>
              <a:rPr lang="en-US" dirty="0" err="1" smtClean="0"/>
              <a:t>func</a:t>
            </a:r>
            <a:r>
              <a:rPr lang="en-US" dirty="0" smtClean="0"/>
              <a:t> in process 4</a:t>
            </a:r>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15</a:t>
            </a:fld>
            <a:endParaRPr lang="en-US"/>
          </a:p>
        </p:txBody>
      </p:sp>
    </p:spTree>
    <p:extLst>
      <p:ext uri="{BB962C8B-B14F-4D97-AF65-F5344CB8AC3E}">
        <p14:creationId xmlns:p14="http://schemas.microsoft.com/office/powerpoint/2010/main" val="239456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 the process with id: 0</a:t>
            </a:r>
          </a:p>
          <a:p>
            <a:r>
              <a:rPr lang="en-US" dirty="0" smtClean="0"/>
              <a:t>I'm the process with id: 1</a:t>
            </a:r>
            <a:endParaRPr lang="en-US" dirty="0"/>
          </a:p>
        </p:txBody>
      </p:sp>
      <p:sp>
        <p:nvSpPr>
          <p:cNvPr id="4" name="Slide Number Placeholder 3"/>
          <p:cNvSpPr>
            <a:spLocks noGrp="1"/>
          </p:cNvSpPr>
          <p:nvPr>
            <p:ph type="sldNum" sz="quarter" idx="10"/>
          </p:nvPr>
        </p:nvSpPr>
        <p:spPr/>
        <p:txBody>
          <a:bodyPr/>
          <a:lstStyle/>
          <a:p>
            <a:fld id="{DD1ED3B8-7978-CB44-9122-EAB8D87087FA}" type="slidenum">
              <a:rPr lang="en-US" smtClean="0"/>
              <a:t>17</a:t>
            </a:fld>
            <a:endParaRPr lang="en-US"/>
          </a:p>
        </p:txBody>
      </p:sp>
    </p:spTree>
    <p:extLst>
      <p:ext uri="{BB962C8B-B14F-4D97-AF65-F5344CB8AC3E}">
        <p14:creationId xmlns:p14="http://schemas.microsoft.com/office/powerpoint/2010/main" val="1710877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97AB1E-AA71-F64D-81F4-588DAECCE237}" type="datetimeFigureOut">
              <a:rPr lang="en-US" smtClean="0"/>
              <a:t>11/29/20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157121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97AB1E-AA71-F64D-81F4-588DAECCE237}" type="datetimeFigureOut">
              <a:rPr lang="en-US" smtClean="0"/>
              <a:t>11/29/20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1928505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597AB1E-AA71-F64D-81F4-588DAECCE237}" type="datetimeFigureOut">
              <a:rPr lang="en-US" smtClean="0"/>
              <a:t>11/29/20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420867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97AB1E-AA71-F64D-81F4-588DAECCE237}" type="datetimeFigureOut">
              <a:rPr lang="en-US" smtClean="0"/>
              <a:t>11/29/20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186092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97AB1E-AA71-F64D-81F4-588DAECCE237}" type="datetimeFigureOut">
              <a:rPr lang="en-US" smtClean="0"/>
              <a:t>11/29/20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65169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97AB1E-AA71-F64D-81F4-588DAECCE237}" type="datetimeFigureOut">
              <a:rPr lang="en-US" smtClean="0"/>
              <a:t>11/29/20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94735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97AB1E-AA71-F64D-81F4-588DAECCE237}" type="datetimeFigureOut">
              <a:rPr lang="en-US" smtClean="0"/>
              <a:t>11/29/20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677590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97AB1E-AA71-F64D-81F4-588DAECCE237}" type="datetimeFigureOut">
              <a:rPr lang="en-US" smtClean="0"/>
              <a:t>11/29/20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157165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97AB1E-AA71-F64D-81F4-588DAECCE237}" type="datetimeFigureOut">
              <a:rPr lang="en-US" smtClean="0"/>
              <a:t>11/29/20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70865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97AB1E-AA71-F64D-81F4-588DAECCE237}" type="datetimeFigureOut">
              <a:rPr lang="en-US" smtClean="0"/>
              <a:t>11/29/20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1337039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97AB1E-AA71-F64D-81F4-588DAECCE237}" type="datetimeFigureOut">
              <a:rPr lang="en-US" smtClean="0"/>
              <a:t>11/29/20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6E3F6-FA00-384F-8474-40CC6B0C3F85}" type="slidenum">
              <a:rPr lang="en-US" smtClean="0"/>
              <a:t>‹#›</a:t>
            </a:fld>
            <a:endParaRPr lang="en-US"/>
          </a:p>
        </p:txBody>
      </p:sp>
    </p:spTree>
    <p:extLst>
      <p:ext uri="{BB962C8B-B14F-4D97-AF65-F5344CB8AC3E}">
        <p14:creationId xmlns:p14="http://schemas.microsoft.com/office/powerpoint/2010/main" val="34858243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97AB1E-AA71-F64D-81F4-588DAECCE237}" type="datetimeFigureOut">
              <a:rPr lang="en-US" smtClean="0"/>
              <a:t>11/29/20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76E3F6-FA00-384F-8474-40CC6B0C3F85}" type="slidenum">
              <a:rPr lang="en-US" smtClean="0"/>
              <a:t>‹#›</a:t>
            </a:fld>
            <a:endParaRPr lang="en-US"/>
          </a:p>
        </p:txBody>
      </p:sp>
    </p:spTree>
    <p:extLst>
      <p:ext uri="{BB962C8B-B14F-4D97-AF65-F5344CB8AC3E}">
        <p14:creationId xmlns:p14="http://schemas.microsoft.com/office/powerpoint/2010/main" val="1253548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hitechnectar.com/blogs/distributed-vs-parallel-compu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Parallel Computing with Python</a:t>
            </a:r>
            <a:endParaRPr lang="en-US" dirty="0"/>
          </a:p>
        </p:txBody>
      </p:sp>
      <p:sp>
        <p:nvSpPr>
          <p:cNvPr id="3" name="Subtitle 2"/>
          <p:cNvSpPr>
            <a:spLocks noGrp="1"/>
          </p:cNvSpPr>
          <p:nvPr>
            <p:ph type="subTitle" idx="1"/>
          </p:nvPr>
        </p:nvSpPr>
        <p:spPr>
          <a:xfrm>
            <a:off x="1524000" y="4191318"/>
            <a:ext cx="9144000" cy="1655762"/>
          </a:xfrm>
        </p:spPr>
        <p:txBody>
          <a:bodyPr/>
          <a:lstStyle/>
          <a:p>
            <a:r>
              <a:rPr lang="en-US" dirty="0" smtClean="0"/>
              <a:t>Xiaoyuan Suo</a:t>
            </a:r>
            <a:endParaRPr lang="en-US" dirty="0"/>
          </a:p>
        </p:txBody>
      </p:sp>
    </p:spTree>
    <p:extLst>
      <p:ext uri="{BB962C8B-B14F-4D97-AF65-F5344CB8AC3E}">
        <p14:creationId xmlns:p14="http://schemas.microsoft.com/office/powerpoint/2010/main" val="289646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Parallel Computing?</a:t>
            </a:r>
            <a:endParaRPr lang="en-US" dirty="0"/>
          </a:p>
        </p:txBody>
      </p:sp>
      <p:sp>
        <p:nvSpPr>
          <p:cNvPr id="3" name="Content Placeholder 2"/>
          <p:cNvSpPr>
            <a:spLocks noGrp="1"/>
          </p:cNvSpPr>
          <p:nvPr>
            <p:ph idx="1"/>
          </p:nvPr>
        </p:nvSpPr>
        <p:spPr/>
        <p:txBody>
          <a:bodyPr/>
          <a:lstStyle/>
          <a:p>
            <a:r>
              <a:rPr lang="en-US" dirty="0"/>
              <a:t>“If I can shovel my driveway in 1 hour, how long would you expect it to take if someone equally capable were to help me?”</a:t>
            </a:r>
          </a:p>
          <a:p>
            <a:r>
              <a:rPr lang="en-US" dirty="0"/>
              <a:t>“If one person can dig a hole with a shovel in 100 seconds, how long will it take for 10 people to dig that hole?”</a:t>
            </a:r>
          </a:p>
          <a:p>
            <a:r>
              <a:rPr lang="en-US" dirty="0"/>
              <a:t>“Suppose the goal is to plant 100 trees. Each tree requires than you dig a hole, place the tree in the hole, and refill the hole. Assume each of these steps takes 100 seconds. </a:t>
            </a:r>
            <a:endParaRPr lang="en-US" dirty="0" smtClean="0"/>
          </a:p>
          <a:p>
            <a:pPr lvl="1"/>
            <a:r>
              <a:rPr lang="en-US" dirty="0" smtClean="0"/>
              <a:t>How </a:t>
            </a:r>
            <a:r>
              <a:rPr lang="en-US" dirty="0"/>
              <a:t>long does it take for one person to plant 1 tree? </a:t>
            </a:r>
            <a:endParaRPr lang="en-US" dirty="0" smtClean="0"/>
          </a:p>
          <a:p>
            <a:pPr lvl="1"/>
            <a:r>
              <a:rPr lang="en-US" dirty="0" smtClean="0"/>
              <a:t>How </a:t>
            </a:r>
            <a:r>
              <a:rPr lang="en-US" dirty="0"/>
              <a:t>about 100 trees? </a:t>
            </a:r>
            <a:endParaRPr lang="en-US" dirty="0" smtClean="0"/>
          </a:p>
          <a:p>
            <a:pPr lvl="1"/>
            <a:r>
              <a:rPr lang="en-US" dirty="0" smtClean="0"/>
              <a:t>Suppose </a:t>
            </a:r>
            <a:r>
              <a:rPr lang="en-US" dirty="0"/>
              <a:t>10 people helped plant trees. How long will it take?”</a:t>
            </a:r>
          </a:p>
        </p:txBody>
      </p:sp>
    </p:spTree>
    <p:extLst>
      <p:ext uri="{BB962C8B-B14F-4D97-AF65-F5344CB8AC3E}">
        <p14:creationId xmlns:p14="http://schemas.microsoft.com/office/powerpoint/2010/main" val="1891115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Parallel Computing?</a:t>
            </a:r>
            <a:endParaRPr lang="en-US" dirty="0"/>
          </a:p>
        </p:txBody>
      </p:sp>
      <p:sp>
        <p:nvSpPr>
          <p:cNvPr id="3" name="Content Placeholder 2"/>
          <p:cNvSpPr>
            <a:spLocks noGrp="1"/>
          </p:cNvSpPr>
          <p:nvPr>
            <p:ph idx="1"/>
          </p:nvPr>
        </p:nvSpPr>
        <p:spPr/>
        <p:txBody>
          <a:bodyPr/>
          <a:lstStyle/>
          <a:p>
            <a:r>
              <a:rPr lang="en-US" dirty="0"/>
              <a:t>Parallel computing is a model that divides a task into multiple sub-tasks and executes them simultaneously to increase the speed and efficiency</a:t>
            </a:r>
            <a:r>
              <a:rPr lang="en-US" dirty="0" smtClean="0"/>
              <a:t>.</a:t>
            </a:r>
          </a:p>
          <a:p>
            <a:pPr lvl="1"/>
            <a:r>
              <a:rPr lang="en-US" dirty="0"/>
              <a:t>A</a:t>
            </a:r>
            <a:r>
              <a:rPr lang="en-US" dirty="0" smtClean="0"/>
              <a:t> </a:t>
            </a:r>
            <a:r>
              <a:rPr lang="en-US" dirty="0"/>
              <a:t>problem is broken down into multiple parts. Each part is then broke down into a number of instructions</a:t>
            </a:r>
            <a:r>
              <a:rPr lang="en-US" dirty="0" smtClean="0"/>
              <a:t>.</a:t>
            </a:r>
          </a:p>
          <a:p>
            <a:pPr lvl="1"/>
            <a:r>
              <a:rPr lang="en-US" dirty="0"/>
              <a:t>These parts are allocated to different processors which execute them simultaneously. </a:t>
            </a:r>
            <a:endParaRPr lang="en-US" dirty="0" smtClean="0"/>
          </a:p>
          <a:p>
            <a:pPr lvl="1"/>
            <a:r>
              <a:rPr lang="en-US" dirty="0" smtClean="0"/>
              <a:t>This </a:t>
            </a:r>
            <a:r>
              <a:rPr lang="en-US" dirty="0"/>
              <a:t>increases the speed of execution of programs as a whole.</a:t>
            </a:r>
          </a:p>
        </p:txBody>
      </p:sp>
    </p:spTree>
    <p:extLst>
      <p:ext uri="{BB962C8B-B14F-4D97-AF65-F5344CB8AC3E}">
        <p14:creationId xmlns:p14="http://schemas.microsoft.com/office/powerpoint/2010/main" val="1680169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Distributed Computing?</a:t>
            </a:r>
            <a:endParaRPr lang="en-US" dirty="0"/>
          </a:p>
        </p:txBody>
      </p:sp>
      <p:sp>
        <p:nvSpPr>
          <p:cNvPr id="3" name="Content Placeholder 2"/>
          <p:cNvSpPr>
            <a:spLocks noGrp="1"/>
          </p:cNvSpPr>
          <p:nvPr>
            <p:ph idx="1"/>
          </p:nvPr>
        </p:nvSpPr>
        <p:spPr/>
        <p:txBody>
          <a:bodyPr>
            <a:normAutofit lnSpcReduction="10000"/>
          </a:bodyPr>
          <a:lstStyle/>
          <a:p>
            <a:r>
              <a:rPr lang="en-US" dirty="0"/>
              <a:t>Distributed computing is a field that studies distributed systems. </a:t>
            </a:r>
            <a:endParaRPr lang="en-US" dirty="0" smtClean="0"/>
          </a:p>
          <a:p>
            <a:r>
              <a:rPr lang="en-US" dirty="0" smtClean="0"/>
              <a:t>Distributed </a:t>
            </a:r>
            <a:r>
              <a:rPr lang="en-US" dirty="0"/>
              <a:t>systems are systems that have multiple computers located in different locations</a:t>
            </a:r>
            <a:r>
              <a:rPr lang="en-US" dirty="0" smtClean="0"/>
              <a:t>.</a:t>
            </a:r>
          </a:p>
          <a:p>
            <a:r>
              <a:rPr lang="en-US" dirty="0"/>
              <a:t>These computers in a distributed system work on the same program. </a:t>
            </a:r>
            <a:endParaRPr lang="en-US" dirty="0" smtClean="0"/>
          </a:p>
          <a:p>
            <a:r>
              <a:rPr lang="en-US" dirty="0" smtClean="0"/>
              <a:t>The </a:t>
            </a:r>
            <a:r>
              <a:rPr lang="en-US" dirty="0"/>
              <a:t>program is divided into different tasks and allocated to different computers.</a:t>
            </a:r>
          </a:p>
          <a:p>
            <a:r>
              <a:rPr lang="en-US" dirty="0"/>
              <a:t>The computers communicate with the help of message passing. Upon completion of computing, the result is collated and presented to the user</a:t>
            </a:r>
            <a:r>
              <a:rPr lang="en-US" dirty="0" smtClean="0"/>
              <a:t>.</a:t>
            </a:r>
            <a:r>
              <a:rPr lang="en-US" dirty="0"/>
              <a:t/>
            </a:r>
            <a:br>
              <a:rPr lang="en-US" dirty="0"/>
            </a:br>
            <a:endParaRPr lang="en-US" dirty="0"/>
          </a:p>
          <a:p>
            <a:endParaRPr lang="en-US" dirty="0"/>
          </a:p>
        </p:txBody>
      </p:sp>
    </p:spTree>
    <p:extLst>
      <p:ext uri="{BB962C8B-B14F-4D97-AF65-F5344CB8AC3E}">
        <p14:creationId xmlns:p14="http://schemas.microsoft.com/office/powerpoint/2010/main" val="56840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parallel and distributed computing?</a:t>
            </a:r>
            <a:endParaRPr lang="en-US" dirty="0"/>
          </a:p>
        </p:txBody>
      </p:sp>
      <p:sp>
        <p:nvSpPr>
          <p:cNvPr id="3" name="Content Placeholder 2"/>
          <p:cNvSpPr>
            <a:spLocks noGrp="1"/>
          </p:cNvSpPr>
          <p:nvPr>
            <p:ph idx="1"/>
          </p:nvPr>
        </p:nvSpPr>
        <p:spPr/>
        <p:txBody>
          <a:bodyPr>
            <a:normAutofit fontScale="77500" lnSpcReduction="20000"/>
          </a:bodyPr>
          <a:lstStyle/>
          <a:p>
            <a:r>
              <a:rPr lang="en-US" dirty="0"/>
              <a:t>Parallel computing generally requires one computer with multiple processors. </a:t>
            </a:r>
            <a:endParaRPr lang="en-US" dirty="0" smtClean="0"/>
          </a:p>
          <a:p>
            <a:pPr lvl="1"/>
            <a:r>
              <a:rPr lang="en-US" dirty="0" smtClean="0"/>
              <a:t>Multiple </a:t>
            </a:r>
            <a:r>
              <a:rPr lang="en-US" dirty="0"/>
              <a:t>processors within the same computer system execute instructions simultaneously</a:t>
            </a:r>
            <a:r>
              <a:rPr lang="en-US" dirty="0" smtClean="0"/>
              <a:t>.</a:t>
            </a:r>
          </a:p>
          <a:p>
            <a:pPr lvl="1"/>
            <a:r>
              <a:rPr lang="en-US" dirty="0"/>
              <a:t>All the processors work towards completing the same task. Thus they have to share resources and data</a:t>
            </a:r>
            <a:r>
              <a:rPr lang="en-US" dirty="0" smtClean="0"/>
              <a:t>.</a:t>
            </a:r>
          </a:p>
          <a:p>
            <a:r>
              <a:rPr lang="en-US" dirty="0"/>
              <a:t>In distributed computing, several computer systems are involved. </a:t>
            </a:r>
            <a:endParaRPr lang="en-US" dirty="0" smtClean="0"/>
          </a:p>
          <a:p>
            <a:r>
              <a:rPr lang="en-US" dirty="0"/>
              <a:t>In parallel computing, the tasks to be solved are divided into multiple smaller parts. These smaller tasks are assigned to multiple processors</a:t>
            </a:r>
            <a:r>
              <a:rPr lang="en-US" dirty="0" smtClean="0"/>
              <a:t>.</a:t>
            </a:r>
          </a:p>
          <a:p>
            <a:r>
              <a:rPr lang="en-US" dirty="0"/>
              <a:t>In parallel computing environments, the number of processors you can add is restricted. Distributed computing environments are more scalable. </a:t>
            </a:r>
            <a:endParaRPr lang="en-US" dirty="0" smtClean="0"/>
          </a:p>
          <a:p>
            <a:r>
              <a:rPr lang="en-US" dirty="0"/>
              <a:t>In systems implementing parallel computing, all the processors share the same memory</a:t>
            </a:r>
            <a:r>
              <a:rPr lang="en-US" dirty="0" smtClean="0"/>
              <a:t>.</a:t>
            </a:r>
            <a:r>
              <a:rPr lang="en-US" dirty="0"/>
              <a:t> Distributed systems, on the other hand, have their own memory and processors.</a:t>
            </a:r>
          </a:p>
          <a:p>
            <a:r>
              <a:rPr lang="en-US" dirty="0"/>
              <a:t>Parallel computing is often used in places requiring higher and faster processing power. For example, supercomputers.</a:t>
            </a:r>
            <a:br>
              <a:rPr lang="en-US" dirty="0"/>
            </a:br>
            <a:endParaRPr lang="en-US" dirty="0"/>
          </a:p>
          <a:p>
            <a:endParaRPr lang="en-US" dirty="0" smtClean="0"/>
          </a:p>
          <a:p>
            <a:endParaRPr lang="en-US" dirty="0" smtClean="0"/>
          </a:p>
          <a:p>
            <a:endParaRPr lang="en-US" dirty="0"/>
          </a:p>
        </p:txBody>
      </p:sp>
    </p:spTree>
    <p:extLst>
      <p:ext uri="{BB962C8B-B14F-4D97-AF65-F5344CB8AC3E}">
        <p14:creationId xmlns:p14="http://schemas.microsoft.com/office/powerpoint/2010/main" val="1816316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PDC?</a:t>
            </a:r>
            <a:endParaRPr lang="en-US" dirty="0"/>
          </a:p>
        </p:txBody>
      </p:sp>
      <p:sp>
        <p:nvSpPr>
          <p:cNvPr id="3" name="Content Placeholder 2"/>
          <p:cNvSpPr>
            <a:spLocks noGrp="1"/>
          </p:cNvSpPr>
          <p:nvPr>
            <p:ph idx="1"/>
          </p:nvPr>
        </p:nvSpPr>
        <p:spPr/>
        <p:txBody>
          <a:bodyPr/>
          <a:lstStyle/>
          <a:p>
            <a:r>
              <a:rPr lang="en-US" dirty="0" smtClean="0"/>
              <a:t>The </a:t>
            </a:r>
            <a:r>
              <a:rPr lang="en-US" dirty="0"/>
              <a:t>primary goal of parallel computing is to increase available computation power for faster application processing and problem solving</a:t>
            </a:r>
            <a:r>
              <a:rPr lang="en-US" dirty="0" smtClean="0"/>
              <a:t>.</a:t>
            </a:r>
          </a:p>
          <a:p>
            <a:pPr lvl="1"/>
            <a:r>
              <a:rPr lang="en-US" dirty="0"/>
              <a:t>It will save you time </a:t>
            </a:r>
          </a:p>
          <a:p>
            <a:pPr lvl="1"/>
            <a:r>
              <a:rPr lang="en-US" dirty="0" smtClean="0"/>
              <a:t>It </a:t>
            </a:r>
            <a:r>
              <a:rPr lang="en-US" dirty="0"/>
              <a:t>will allow you to solver larger problems. </a:t>
            </a:r>
          </a:p>
          <a:p>
            <a:pPr lvl="1"/>
            <a:r>
              <a:rPr lang="en-US" dirty="0" smtClean="0"/>
              <a:t>It’s </a:t>
            </a:r>
            <a:r>
              <a:rPr lang="en-US" dirty="0"/>
              <a:t>here whether you like it or not!</a:t>
            </a:r>
          </a:p>
          <a:p>
            <a:r>
              <a:rPr lang="en-US" dirty="0" smtClean="0"/>
              <a:t>Parallel </a:t>
            </a:r>
            <a:r>
              <a:rPr lang="en-US" dirty="0"/>
              <a:t>and distributed computing (PDC) can be found in research and industries of many </a:t>
            </a:r>
            <a:r>
              <a:rPr lang="en-US" dirty="0" smtClean="0"/>
              <a:t>science </a:t>
            </a:r>
            <a:r>
              <a:rPr lang="en-US" dirty="0"/>
              <a:t>and engineering domains. </a:t>
            </a:r>
            <a:endParaRPr lang="en-US" dirty="0" smtClean="0"/>
          </a:p>
          <a:p>
            <a:pPr lvl="1"/>
            <a:r>
              <a:rPr lang="en-US" dirty="0" smtClean="0"/>
              <a:t>You will have </a:t>
            </a:r>
            <a:r>
              <a:rPr lang="en-US" dirty="0"/>
              <a:t>a good chance to obtain better internships if </a:t>
            </a:r>
            <a:r>
              <a:rPr lang="en-US" dirty="0" smtClean="0"/>
              <a:t>you master </a:t>
            </a:r>
            <a:r>
              <a:rPr lang="en-US" dirty="0"/>
              <a:t>the concepts well </a:t>
            </a:r>
            <a:endParaRPr lang="en-US" dirty="0" smtClean="0"/>
          </a:p>
        </p:txBody>
      </p:sp>
    </p:spTree>
    <p:extLst>
      <p:ext uri="{BB962C8B-B14F-4D97-AF65-F5344CB8AC3E}">
        <p14:creationId xmlns:p14="http://schemas.microsoft.com/office/powerpoint/2010/main" val="1536977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Basics	</a:t>
            </a:r>
            <a:endParaRPr lang="en-US" dirty="0"/>
          </a:p>
        </p:txBody>
      </p:sp>
      <p:sp>
        <p:nvSpPr>
          <p:cNvPr id="3" name="Content Placeholder 2"/>
          <p:cNvSpPr>
            <a:spLocks noGrp="1"/>
          </p:cNvSpPr>
          <p:nvPr>
            <p:ph idx="1"/>
          </p:nvPr>
        </p:nvSpPr>
        <p:spPr/>
        <p:txBody>
          <a:bodyPr/>
          <a:lstStyle/>
          <a:p>
            <a:r>
              <a:rPr lang="en-US" dirty="0"/>
              <a:t>Define a Thread </a:t>
            </a:r>
          </a:p>
          <a:p>
            <a:pPr lvl="1"/>
            <a:r>
              <a:rPr lang="en-US" dirty="0" smtClean="0"/>
              <a:t>Thread is an independent execution flow that can be executed </a:t>
            </a:r>
            <a:r>
              <a:rPr lang="en-US" dirty="0" err="1" smtClean="0"/>
              <a:t>parallelly</a:t>
            </a:r>
            <a:r>
              <a:rPr lang="en-US" dirty="0" smtClean="0"/>
              <a:t> and concurrently with other threads in the system. </a:t>
            </a:r>
            <a:endParaRPr lang="en-US" dirty="0" smtClean="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41" y="2953656"/>
            <a:ext cx="5702301" cy="2680081"/>
          </a:xfrm>
          <a:prstGeom prst="rect">
            <a:avLst/>
          </a:prstGeom>
        </p:spPr>
      </p:pic>
    </p:spTree>
    <p:extLst>
      <p:ext uri="{BB962C8B-B14F-4D97-AF65-F5344CB8AC3E}">
        <p14:creationId xmlns:p14="http://schemas.microsoft.com/office/powerpoint/2010/main" val="12263865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determine the current thread </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099" y="1327377"/>
            <a:ext cx="4967515" cy="5115248"/>
          </a:xfrm>
          <a:prstGeom prst="rect">
            <a:avLst/>
          </a:prstGeom>
        </p:spPr>
      </p:pic>
    </p:spTree>
    <p:extLst>
      <p:ext uri="{BB962C8B-B14F-4D97-AF65-F5344CB8AC3E}">
        <p14:creationId xmlns:p14="http://schemas.microsoft.com/office/powerpoint/2010/main" val="17375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Thread in </a:t>
            </a:r>
            <a:r>
              <a:rPr lang="en-US" dirty="0" err="1" smtClean="0"/>
              <a:t>SubClass</a:t>
            </a:r>
            <a:endParaRPr lang="en-US"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13591" y="1825625"/>
            <a:ext cx="3764818" cy="4351338"/>
          </a:xfrm>
        </p:spPr>
      </p:pic>
    </p:spTree>
    <p:extLst>
      <p:ext uri="{BB962C8B-B14F-4D97-AF65-F5344CB8AC3E}">
        <p14:creationId xmlns:p14="http://schemas.microsoft.com/office/powerpoint/2010/main" val="15147923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Race Condition</a:t>
            </a:r>
            <a:endParaRPr lang="en-US" dirty="0"/>
          </a:p>
        </p:txBody>
      </p:sp>
      <p:sp>
        <p:nvSpPr>
          <p:cNvPr id="3" name="Content Placeholder 2"/>
          <p:cNvSpPr>
            <a:spLocks noGrp="1"/>
          </p:cNvSpPr>
          <p:nvPr>
            <p:ph idx="1"/>
          </p:nvPr>
        </p:nvSpPr>
        <p:spPr/>
        <p:txBody>
          <a:bodyPr/>
          <a:lstStyle/>
          <a:p>
            <a:r>
              <a:rPr lang="en-US" dirty="0">
                <a:solidFill>
                  <a:srgbClr val="000000"/>
                </a:solidFill>
                <a:latin typeface="Helvetica" charset="0"/>
              </a:rPr>
              <a:t>Concurrent accesses to shared resource can lead to </a:t>
            </a:r>
            <a:r>
              <a:rPr lang="en-US" b="1" dirty="0">
                <a:solidFill>
                  <a:srgbClr val="000000"/>
                </a:solidFill>
                <a:latin typeface="Helvetica-Bold" charset="0"/>
              </a:rPr>
              <a:t>race condition</a:t>
            </a:r>
            <a:r>
              <a:rPr lang="en-US" dirty="0" smtClean="0">
                <a:solidFill>
                  <a:srgbClr val="000000"/>
                </a:solidFill>
                <a:latin typeface="Helvetica" charset="0"/>
              </a:rPr>
              <a:t>.</a:t>
            </a:r>
          </a:p>
          <a:p>
            <a:pPr lvl="1"/>
            <a:r>
              <a:rPr lang="en-US" dirty="0"/>
              <a:t>A race condition occurs when two or more threads can access shared data and they try to change it at the same time. As a result, the values of variables may be unpredictable and vary depending on the timings of context switches of the </a:t>
            </a:r>
            <a:r>
              <a:rPr lang="en-US" dirty="0" smtClean="0"/>
              <a:t>processes</a:t>
            </a:r>
            <a:endParaRPr lang="en-US" dirty="0"/>
          </a:p>
          <a:p>
            <a:r>
              <a:rPr lang="en-US" dirty="0" smtClean="0"/>
              <a:t>Run a sample Program</a:t>
            </a:r>
          </a:p>
        </p:txBody>
      </p:sp>
      <p:pic>
        <p:nvPicPr>
          <p:cNvPr id="1026" name="Picture 2" descr="https://media.geeksforgeeks.org/wp-content/uploads/multithreadingfina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0947" y="3850760"/>
            <a:ext cx="5230813" cy="300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0002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dirty="0" smtClean="0"/>
              <a:t>Problem--Deadlock</a:t>
            </a:r>
            <a:endParaRPr lang="en-US" dirty="0"/>
          </a:p>
        </p:txBody>
      </p:sp>
      <p:sp>
        <p:nvSpPr>
          <p:cNvPr id="139267" name="Rectangle 3"/>
          <p:cNvSpPr>
            <a:spLocks noGrp="1" noChangeArrowheads="1"/>
          </p:cNvSpPr>
          <p:nvPr>
            <p:ph idx="1"/>
          </p:nvPr>
        </p:nvSpPr>
        <p:spPr>
          <a:xfrm>
            <a:off x="838200" y="1481931"/>
            <a:ext cx="10515600" cy="4351338"/>
          </a:xfrm>
        </p:spPr>
        <p:txBody>
          <a:bodyPr>
            <a:normAutofit/>
          </a:bodyPr>
          <a:lstStyle/>
          <a:p>
            <a:pPr>
              <a:lnSpc>
                <a:spcPct val="90000"/>
              </a:lnSpc>
            </a:pPr>
            <a:r>
              <a:rPr lang="en-US" dirty="0"/>
              <a:t>A situation involving two or more threads (processes) </a:t>
            </a:r>
            <a:r>
              <a:rPr lang="en-US" dirty="0" smtClean="0"/>
              <a:t>in </a:t>
            </a:r>
            <a:r>
              <a:rPr lang="en-US" dirty="0"/>
              <a:t>which no thread may proceed because each </a:t>
            </a:r>
            <a:r>
              <a:rPr lang="en-US" dirty="0" smtClean="0"/>
              <a:t>is </a:t>
            </a:r>
            <a:r>
              <a:rPr lang="en-US" dirty="0"/>
              <a:t>waiting for a resource held by another</a:t>
            </a:r>
          </a:p>
          <a:p>
            <a:pPr>
              <a:lnSpc>
                <a:spcPct val="90000"/>
              </a:lnSpc>
            </a:pPr>
            <a:r>
              <a:rPr lang="en-US" dirty="0"/>
              <a:t>Can be represented by a resource allocation graph</a:t>
            </a:r>
          </a:p>
          <a:p>
            <a:pPr>
              <a:lnSpc>
                <a:spcPct val="90000"/>
              </a:lnSpc>
            </a:pPr>
            <a:endParaRPr lang="en-US" dirty="0"/>
          </a:p>
          <a:p>
            <a:pPr>
              <a:lnSpc>
                <a:spcPct val="90000"/>
              </a:lnSpc>
            </a:pPr>
            <a:endParaRPr lang="en-US" dirty="0" smtClean="0"/>
          </a:p>
          <a:p>
            <a:pPr>
              <a:lnSpc>
                <a:spcPct val="90000"/>
              </a:lnSpc>
            </a:pPr>
            <a:endParaRPr lang="en-US" dirty="0" smtClean="0"/>
          </a:p>
          <a:p>
            <a:pPr>
              <a:lnSpc>
                <a:spcPct val="90000"/>
              </a:lnSpc>
            </a:pPr>
            <a:endParaRPr lang="en-US" dirty="0" smtClean="0"/>
          </a:p>
          <a:p>
            <a:r>
              <a:rPr lang="en-US" dirty="0"/>
              <a:t>Thread Synchronization with Lock and </a:t>
            </a:r>
            <a:r>
              <a:rPr lang="en-US" dirty="0" err="1"/>
              <a:t>RLock</a:t>
            </a:r>
            <a:endParaRPr lang="en-US" dirty="0"/>
          </a:p>
          <a:p>
            <a:pPr>
              <a:lnSpc>
                <a:spcPct val="90000"/>
              </a:lnSpc>
            </a:pPr>
            <a:endParaRPr lang="en-US" dirty="0"/>
          </a:p>
          <a:p>
            <a:pPr>
              <a:lnSpc>
                <a:spcPct val="90000"/>
              </a:lnSpc>
            </a:pPr>
            <a:endParaRPr lang="en-US" dirty="0"/>
          </a:p>
        </p:txBody>
      </p:sp>
      <p:sp>
        <p:nvSpPr>
          <p:cNvPr id="17" name="Slide Number Placeholder 4"/>
          <p:cNvSpPr>
            <a:spLocks noGrp="1"/>
          </p:cNvSpPr>
          <p:nvPr>
            <p:ph type="sldNum" sz="quarter" idx="10"/>
          </p:nvPr>
        </p:nvSpPr>
        <p:spPr>
          <a:prstGeom prst="rect">
            <a:avLst/>
          </a:prstGeom>
        </p:spPr>
        <p:txBody>
          <a:bodyPr/>
          <a:lstStyle/>
          <a:p>
            <a:fld id="{C02957B4-5105-4D9B-AE3B-66173415B1CE}" type="slidenum">
              <a:rPr lang="en-US"/>
              <a:pPr/>
              <a:t>11</a:t>
            </a:fld>
            <a:endParaRPr lang="en-US"/>
          </a:p>
        </p:txBody>
      </p:sp>
      <p:sp>
        <p:nvSpPr>
          <p:cNvPr id="139268" name="Oval 4"/>
          <p:cNvSpPr>
            <a:spLocks noChangeArrowheads="1"/>
          </p:cNvSpPr>
          <p:nvPr/>
        </p:nvSpPr>
        <p:spPr bwMode="auto">
          <a:xfrm>
            <a:off x="1981200" y="3581400"/>
            <a:ext cx="1676400" cy="990600"/>
          </a:xfrm>
          <a:prstGeom prst="ellipse">
            <a:avLst/>
          </a:prstGeom>
          <a:solidFill>
            <a:schemeClr val="accent4">
              <a:lumMod val="40000"/>
              <a:lumOff val="60000"/>
            </a:schemeClr>
          </a:solidFill>
          <a:ln w="12700" algn="ctr">
            <a:solidFill>
              <a:schemeClr val="bg1"/>
            </a:solidFill>
            <a:round/>
            <a:headEnd/>
            <a:tailEnd/>
          </a:ln>
          <a:effectLst/>
        </p:spPr>
        <p:txBody>
          <a:bodyPr wrap="none" anchor="ctr"/>
          <a:lstStyle/>
          <a:p>
            <a:r>
              <a:rPr lang="en-US" sz="2800" dirty="0"/>
              <a:t>Thread 1</a:t>
            </a:r>
          </a:p>
        </p:txBody>
      </p:sp>
      <p:sp>
        <p:nvSpPr>
          <p:cNvPr id="139269" name="Oval 5"/>
          <p:cNvSpPr>
            <a:spLocks noChangeArrowheads="1"/>
          </p:cNvSpPr>
          <p:nvPr/>
        </p:nvSpPr>
        <p:spPr bwMode="auto">
          <a:xfrm>
            <a:off x="8001000" y="3581400"/>
            <a:ext cx="1676400" cy="990600"/>
          </a:xfrm>
          <a:prstGeom prst="ellipse">
            <a:avLst/>
          </a:prstGeom>
          <a:solidFill>
            <a:schemeClr val="accent4">
              <a:lumMod val="40000"/>
              <a:lumOff val="60000"/>
            </a:schemeClr>
          </a:solidFill>
          <a:ln w="12700" algn="ctr">
            <a:solidFill>
              <a:schemeClr val="bg1"/>
            </a:solidFill>
            <a:round/>
            <a:headEnd/>
            <a:tailEnd/>
          </a:ln>
          <a:effectLst/>
        </p:spPr>
        <p:txBody>
          <a:bodyPr wrap="none" anchor="ctr"/>
          <a:lstStyle/>
          <a:p>
            <a:r>
              <a:rPr lang="en-US" sz="2800" dirty="0"/>
              <a:t>Thread 2</a:t>
            </a:r>
          </a:p>
        </p:txBody>
      </p:sp>
      <p:sp>
        <p:nvSpPr>
          <p:cNvPr id="139270" name="Rectangle 6"/>
          <p:cNvSpPr>
            <a:spLocks noChangeArrowheads="1"/>
          </p:cNvSpPr>
          <p:nvPr/>
        </p:nvSpPr>
        <p:spPr bwMode="auto">
          <a:xfrm>
            <a:off x="4876800" y="3124200"/>
            <a:ext cx="1219200" cy="685800"/>
          </a:xfrm>
          <a:prstGeom prst="rect">
            <a:avLst/>
          </a:prstGeom>
          <a:solidFill>
            <a:schemeClr val="accent4">
              <a:lumMod val="40000"/>
              <a:lumOff val="60000"/>
            </a:schemeClr>
          </a:solidFill>
          <a:ln w="50800" algn="ctr">
            <a:solidFill>
              <a:schemeClr val="bg1"/>
            </a:solidFill>
            <a:miter lim="800000"/>
            <a:headEnd/>
            <a:tailEnd/>
          </a:ln>
          <a:effectLst/>
        </p:spPr>
        <p:txBody>
          <a:bodyPr wrap="none" anchor="ctr"/>
          <a:lstStyle/>
          <a:p>
            <a:r>
              <a:rPr lang="en-US" sz="2800" dirty="0" err="1"/>
              <a:t>lock_b</a:t>
            </a:r>
            <a:endParaRPr lang="en-US" dirty="0"/>
          </a:p>
        </p:txBody>
      </p:sp>
      <p:sp>
        <p:nvSpPr>
          <p:cNvPr id="139271" name="Rectangle 7"/>
          <p:cNvSpPr>
            <a:spLocks noChangeArrowheads="1"/>
          </p:cNvSpPr>
          <p:nvPr/>
        </p:nvSpPr>
        <p:spPr bwMode="auto">
          <a:xfrm>
            <a:off x="4876800" y="4267200"/>
            <a:ext cx="1219200" cy="685800"/>
          </a:xfrm>
          <a:prstGeom prst="rect">
            <a:avLst/>
          </a:prstGeom>
          <a:solidFill>
            <a:schemeClr val="accent4">
              <a:lumMod val="40000"/>
              <a:lumOff val="60000"/>
            </a:schemeClr>
          </a:solidFill>
          <a:ln w="50800" algn="ctr">
            <a:solidFill>
              <a:schemeClr val="bg1"/>
            </a:solidFill>
            <a:miter lim="800000"/>
            <a:headEnd/>
            <a:tailEnd/>
          </a:ln>
          <a:effectLst/>
        </p:spPr>
        <p:txBody>
          <a:bodyPr wrap="none" anchor="ctr"/>
          <a:lstStyle/>
          <a:p>
            <a:r>
              <a:rPr lang="en-US" sz="3200" dirty="0" err="1"/>
              <a:t>lock_a</a:t>
            </a:r>
            <a:endParaRPr lang="en-US" dirty="0"/>
          </a:p>
        </p:txBody>
      </p:sp>
      <p:sp>
        <p:nvSpPr>
          <p:cNvPr id="139272" name="Line 8"/>
          <p:cNvSpPr>
            <a:spLocks noChangeShapeType="1"/>
          </p:cNvSpPr>
          <p:nvPr/>
        </p:nvSpPr>
        <p:spPr bwMode="auto">
          <a:xfrm flipV="1">
            <a:off x="3505200" y="3505200"/>
            <a:ext cx="1371600" cy="228600"/>
          </a:xfrm>
          <a:prstGeom prst="line">
            <a:avLst/>
          </a:prstGeom>
          <a:noFill/>
          <a:ln w="50800">
            <a:solidFill>
              <a:srgbClr val="C00000"/>
            </a:solidFill>
            <a:round/>
            <a:headEnd/>
            <a:tailEnd type="triangle" w="med" len="med"/>
          </a:ln>
          <a:effectLst/>
        </p:spPr>
        <p:txBody>
          <a:bodyPr wrap="none" anchor="ctr"/>
          <a:lstStyle/>
          <a:p>
            <a:endParaRPr lang="en-US"/>
          </a:p>
        </p:txBody>
      </p:sp>
      <p:sp>
        <p:nvSpPr>
          <p:cNvPr id="139273" name="Line 9"/>
          <p:cNvSpPr>
            <a:spLocks noChangeShapeType="1"/>
          </p:cNvSpPr>
          <p:nvPr/>
        </p:nvSpPr>
        <p:spPr bwMode="auto">
          <a:xfrm>
            <a:off x="6096000" y="3429000"/>
            <a:ext cx="1981200" cy="457200"/>
          </a:xfrm>
          <a:prstGeom prst="line">
            <a:avLst/>
          </a:prstGeom>
          <a:noFill/>
          <a:ln w="50800">
            <a:solidFill>
              <a:srgbClr val="C00000"/>
            </a:solidFill>
            <a:round/>
            <a:headEnd/>
            <a:tailEnd type="triangle" w="med" len="med"/>
          </a:ln>
          <a:effectLst/>
        </p:spPr>
        <p:txBody>
          <a:bodyPr wrap="none" anchor="ctr"/>
          <a:lstStyle/>
          <a:p>
            <a:endParaRPr lang="en-US"/>
          </a:p>
        </p:txBody>
      </p:sp>
      <p:sp>
        <p:nvSpPr>
          <p:cNvPr id="139274" name="Line 10"/>
          <p:cNvSpPr>
            <a:spLocks noChangeShapeType="1"/>
          </p:cNvSpPr>
          <p:nvPr/>
        </p:nvSpPr>
        <p:spPr bwMode="auto">
          <a:xfrm flipH="1">
            <a:off x="6096000" y="4267200"/>
            <a:ext cx="1981200" cy="381000"/>
          </a:xfrm>
          <a:prstGeom prst="line">
            <a:avLst/>
          </a:prstGeom>
          <a:noFill/>
          <a:ln w="50800">
            <a:solidFill>
              <a:srgbClr val="C00000"/>
            </a:solidFill>
            <a:round/>
            <a:headEnd/>
            <a:tailEnd type="triangle" w="med" len="med"/>
          </a:ln>
          <a:effectLst/>
        </p:spPr>
        <p:txBody>
          <a:bodyPr wrap="none" anchor="ctr"/>
          <a:lstStyle/>
          <a:p>
            <a:endParaRPr lang="en-US"/>
          </a:p>
        </p:txBody>
      </p:sp>
      <p:sp>
        <p:nvSpPr>
          <p:cNvPr id="139275" name="Line 11"/>
          <p:cNvSpPr>
            <a:spLocks noChangeShapeType="1"/>
          </p:cNvSpPr>
          <p:nvPr/>
        </p:nvSpPr>
        <p:spPr bwMode="auto">
          <a:xfrm flipH="1" flipV="1">
            <a:off x="3581400" y="4267200"/>
            <a:ext cx="1295400" cy="381000"/>
          </a:xfrm>
          <a:prstGeom prst="line">
            <a:avLst/>
          </a:prstGeom>
          <a:noFill/>
          <a:ln w="50800">
            <a:solidFill>
              <a:srgbClr val="C00000"/>
            </a:solidFill>
            <a:round/>
            <a:headEnd/>
            <a:tailEnd type="triangle" w="med" len="med"/>
          </a:ln>
          <a:effectLst/>
        </p:spPr>
        <p:txBody>
          <a:bodyPr wrap="none" anchor="ctr"/>
          <a:lstStyle/>
          <a:p>
            <a:endParaRPr lang="en-US"/>
          </a:p>
        </p:txBody>
      </p:sp>
      <p:sp>
        <p:nvSpPr>
          <p:cNvPr id="139276" name="Text Box 12"/>
          <p:cNvSpPr txBox="1">
            <a:spLocks noChangeArrowheads="1"/>
          </p:cNvSpPr>
          <p:nvPr/>
        </p:nvSpPr>
        <p:spPr bwMode="auto">
          <a:xfrm>
            <a:off x="3200400" y="3124200"/>
            <a:ext cx="744306" cy="369332"/>
          </a:xfrm>
          <a:prstGeom prst="rect">
            <a:avLst/>
          </a:prstGeom>
          <a:noFill/>
          <a:ln w="50800" algn="ctr">
            <a:noFill/>
            <a:miter lim="800000"/>
            <a:headEnd/>
            <a:tailEnd/>
          </a:ln>
          <a:effectLst/>
        </p:spPr>
        <p:txBody>
          <a:bodyPr wrap="none">
            <a:spAutoFit/>
          </a:bodyPr>
          <a:lstStyle/>
          <a:p>
            <a:r>
              <a:rPr lang="en-US" dirty="0">
                <a:solidFill>
                  <a:srgbClr val="0660A8"/>
                </a:solidFill>
              </a:rPr>
              <a:t>wants</a:t>
            </a:r>
          </a:p>
        </p:txBody>
      </p:sp>
      <p:sp>
        <p:nvSpPr>
          <p:cNvPr id="139277" name="Text Box 13"/>
          <p:cNvSpPr txBox="1">
            <a:spLocks noChangeArrowheads="1"/>
          </p:cNvSpPr>
          <p:nvPr/>
        </p:nvSpPr>
        <p:spPr bwMode="auto">
          <a:xfrm>
            <a:off x="6781800" y="4572000"/>
            <a:ext cx="744306" cy="369332"/>
          </a:xfrm>
          <a:prstGeom prst="rect">
            <a:avLst/>
          </a:prstGeom>
          <a:noFill/>
          <a:ln w="50800" algn="ctr">
            <a:noFill/>
            <a:miter lim="800000"/>
            <a:headEnd/>
            <a:tailEnd/>
          </a:ln>
          <a:effectLst/>
        </p:spPr>
        <p:txBody>
          <a:bodyPr wrap="none">
            <a:spAutoFit/>
          </a:bodyPr>
          <a:lstStyle/>
          <a:p>
            <a:r>
              <a:rPr lang="en-US" dirty="0">
                <a:solidFill>
                  <a:srgbClr val="0660A8"/>
                </a:solidFill>
              </a:rPr>
              <a:t>wants</a:t>
            </a:r>
          </a:p>
        </p:txBody>
      </p:sp>
      <p:sp>
        <p:nvSpPr>
          <p:cNvPr id="139278" name="Text Box 14"/>
          <p:cNvSpPr txBox="1">
            <a:spLocks noChangeArrowheads="1"/>
          </p:cNvSpPr>
          <p:nvPr/>
        </p:nvSpPr>
        <p:spPr bwMode="auto">
          <a:xfrm>
            <a:off x="6705601" y="3124200"/>
            <a:ext cx="874663" cy="369332"/>
          </a:xfrm>
          <a:prstGeom prst="rect">
            <a:avLst/>
          </a:prstGeom>
          <a:noFill/>
          <a:ln w="50800" algn="ctr">
            <a:noFill/>
            <a:miter lim="800000"/>
            <a:headEnd/>
            <a:tailEnd/>
          </a:ln>
          <a:effectLst/>
        </p:spPr>
        <p:txBody>
          <a:bodyPr wrap="none">
            <a:spAutoFit/>
          </a:bodyPr>
          <a:lstStyle/>
          <a:p>
            <a:r>
              <a:rPr lang="en-US" dirty="0">
                <a:solidFill>
                  <a:srgbClr val="0660A8"/>
                </a:solidFill>
              </a:rPr>
              <a:t>held by</a:t>
            </a:r>
          </a:p>
        </p:txBody>
      </p:sp>
      <p:sp>
        <p:nvSpPr>
          <p:cNvPr id="139279" name="Text Box 15"/>
          <p:cNvSpPr txBox="1">
            <a:spLocks noChangeArrowheads="1"/>
          </p:cNvSpPr>
          <p:nvPr/>
        </p:nvSpPr>
        <p:spPr bwMode="auto">
          <a:xfrm>
            <a:off x="3429001" y="4495800"/>
            <a:ext cx="874663" cy="369332"/>
          </a:xfrm>
          <a:prstGeom prst="rect">
            <a:avLst/>
          </a:prstGeom>
          <a:noFill/>
          <a:ln w="50800" algn="ctr">
            <a:noFill/>
            <a:miter lim="800000"/>
            <a:headEnd/>
            <a:tailEnd/>
          </a:ln>
          <a:effectLst/>
        </p:spPr>
        <p:txBody>
          <a:bodyPr wrap="none">
            <a:spAutoFit/>
          </a:bodyPr>
          <a:lstStyle/>
          <a:p>
            <a:r>
              <a:rPr lang="en-US" dirty="0">
                <a:solidFill>
                  <a:srgbClr val="0660A8"/>
                </a:solidFill>
              </a:rPr>
              <a:t>held by</a:t>
            </a:r>
          </a:p>
        </p:txBody>
      </p:sp>
    </p:spTree>
    <p:extLst>
      <p:ext uri="{BB962C8B-B14F-4D97-AF65-F5344CB8AC3E}">
        <p14:creationId xmlns:p14="http://schemas.microsoft.com/office/powerpoint/2010/main" val="1556906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t>Four Conditions for Deadlock</a:t>
            </a:r>
          </a:p>
        </p:txBody>
      </p:sp>
      <p:sp>
        <p:nvSpPr>
          <p:cNvPr id="142339" name="Rectangle 3"/>
          <p:cNvSpPr>
            <a:spLocks noGrp="1" noChangeArrowheads="1"/>
          </p:cNvSpPr>
          <p:nvPr>
            <p:ph idx="1"/>
          </p:nvPr>
        </p:nvSpPr>
        <p:spPr/>
        <p:txBody>
          <a:bodyPr>
            <a:normAutofit fontScale="92500" lnSpcReduction="10000"/>
          </a:bodyPr>
          <a:lstStyle/>
          <a:p>
            <a:r>
              <a:rPr lang="en-US" dirty="0"/>
              <a:t>Mutually exclusive access to a </a:t>
            </a:r>
            <a:r>
              <a:rPr lang="en-US" dirty="0" smtClean="0"/>
              <a:t>resource</a:t>
            </a:r>
          </a:p>
          <a:p>
            <a:pPr lvl="1"/>
            <a:r>
              <a:rPr lang="en-US" dirty="0"/>
              <a:t>Mutual exclusion is a property of concurrency control, which prevents race conditions. </a:t>
            </a:r>
          </a:p>
          <a:p>
            <a:pPr lvl="1"/>
            <a:r>
              <a:rPr lang="en-US" dirty="0"/>
              <a:t>It is the requirement that one thread of execution never enters its critical section at the same time that another concurrent thread of execution enters its own critical section, which refers to an interval of time during which a thread of execution accesses a shared resource, such as shared memory.</a:t>
            </a:r>
          </a:p>
          <a:p>
            <a:pPr lvl="1"/>
            <a:endParaRPr lang="en-US" dirty="0"/>
          </a:p>
          <a:p>
            <a:r>
              <a:rPr lang="en-US" dirty="0"/>
              <a:t>Threads hold onto resources they have while they </a:t>
            </a:r>
            <a:r>
              <a:rPr lang="en-US" dirty="0" smtClean="0"/>
              <a:t>wait </a:t>
            </a:r>
            <a:r>
              <a:rPr lang="en-US" dirty="0"/>
              <a:t>for additional resources</a:t>
            </a:r>
          </a:p>
          <a:p>
            <a:r>
              <a:rPr lang="en-US" dirty="0"/>
              <a:t>Resources cannot be taken away from threads</a:t>
            </a:r>
          </a:p>
          <a:p>
            <a:r>
              <a:rPr lang="en-US" dirty="0"/>
              <a:t>Cycle in resource allocation graph</a:t>
            </a:r>
          </a:p>
        </p:txBody>
      </p:sp>
      <p:sp>
        <p:nvSpPr>
          <p:cNvPr id="5" name="Slide Number Placeholder 4"/>
          <p:cNvSpPr>
            <a:spLocks noGrp="1"/>
          </p:cNvSpPr>
          <p:nvPr>
            <p:ph type="sldNum" sz="quarter" idx="10"/>
          </p:nvPr>
        </p:nvSpPr>
        <p:spPr>
          <a:prstGeom prst="rect">
            <a:avLst/>
          </a:prstGeom>
        </p:spPr>
        <p:txBody>
          <a:bodyPr/>
          <a:lstStyle/>
          <a:p>
            <a:fld id="{7C8D72B9-790B-4B83-B4AD-DE46F2740A6C}" type="slidenum">
              <a:rPr lang="en-US"/>
              <a:pPr/>
              <a:t>12</a:t>
            </a:fld>
            <a:endParaRPr lang="en-US"/>
          </a:p>
        </p:txBody>
      </p:sp>
    </p:spTree>
    <p:extLst>
      <p:ext uri="{BB962C8B-B14F-4D97-AF65-F5344CB8AC3E}">
        <p14:creationId xmlns:p14="http://schemas.microsoft.com/office/powerpoint/2010/main" val="111578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RLock</a:t>
            </a:r>
            <a:r>
              <a:rPr lang="en-US" dirty="0" smtClean="0"/>
              <a:t> vs Lock</a:t>
            </a:r>
            <a:endParaRPr lang="en-US" dirty="0"/>
          </a:p>
        </p:txBody>
      </p:sp>
      <p:pic>
        <p:nvPicPr>
          <p:cNvPr id="7" name="Content Placeholder 6"/>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1568768"/>
            <a:ext cx="4864728" cy="4280376"/>
          </a:xfrm>
        </p:spPr>
      </p:pic>
      <p:pic>
        <p:nvPicPr>
          <p:cNvPr id="8" name="Content Placeholder 7"/>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398260" y="1526798"/>
            <a:ext cx="4655820" cy="4486237"/>
          </a:xfrm>
        </p:spPr>
      </p:pic>
    </p:spTree>
    <p:extLst>
      <p:ext uri="{BB962C8B-B14F-4D97-AF65-F5344CB8AC3E}">
        <p14:creationId xmlns:p14="http://schemas.microsoft.com/office/powerpoint/2010/main" val="1005905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a:t>
            </a:r>
            <a:r>
              <a:rPr lang="en-US" dirty="0" err="1" smtClean="0"/>
              <a:t>Rlock</a:t>
            </a:r>
            <a:r>
              <a:rPr lang="en-US" dirty="0"/>
              <a:t> </a:t>
            </a:r>
            <a:r>
              <a:rPr lang="en-US" dirty="0" smtClean="0"/>
              <a:t>vs. Lock</a:t>
            </a:r>
            <a:endParaRPr lang="en-US" dirty="0"/>
          </a:p>
        </p:txBody>
      </p:sp>
      <p:sp>
        <p:nvSpPr>
          <p:cNvPr id="3" name="Content Placeholder 2"/>
          <p:cNvSpPr>
            <a:spLocks noGrp="1"/>
          </p:cNvSpPr>
          <p:nvPr>
            <p:ph idx="1"/>
          </p:nvPr>
        </p:nvSpPr>
        <p:spPr/>
        <p:txBody>
          <a:bodyPr/>
          <a:lstStyle/>
          <a:p>
            <a:r>
              <a:rPr lang="en-US" dirty="0" smtClean="0"/>
              <a:t>Any thread can release the acquired lock. </a:t>
            </a:r>
          </a:p>
          <a:p>
            <a:r>
              <a:rPr lang="en-US" dirty="0" smtClean="0"/>
              <a:t>If </a:t>
            </a:r>
            <a:r>
              <a:rPr lang="en-US" dirty="0" smtClean="0"/>
              <a:t>we want only the thread that acquires a lock to release it, we must use </a:t>
            </a:r>
            <a:r>
              <a:rPr lang="en-US" dirty="0" err="1" smtClean="0"/>
              <a:t>Rlock</a:t>
            </a:r>
            <a:r>
              <a:rPr lang="en-US" dirty="0"/>
              <a:t> </a:t>
            </a:r>
            <a:r>
              <a:rPr lang="en-US" dirty="0" smtClean="0"/>
              <a:t>objects</a:t>
            </a:r>
          </a:p>
          <a:p>
            <a:r>
              <a:rPr lang="en-US" dirty="0" smtClean="0"/>
              <a:t>Lock cannot be acquired again, unless it is being released</a:t>
            </a:r>
          </a:p>
          <a:p>
            <a:pPr lvl="1"/>
            <a:r>
              <a:rPr lang="en-US" dirty="0"/>
              <a:t>Locks help us in efficiently accessing a shared resource in a program in order to prevent corruption of data, it follows mutual exclusion as only one thread can access a particular resource at a time.</a:t>
            </a:r>
            <a:endParaRPr lang="en-US" dirty="0" smtClean="0"/>
          </a:p>
          <a:p>
            <a:r>
              <a:rPr lang="en-US" dirty="0"/>
              <a:t>The </a:t>
            </a:r>
            <a:r>
              <a:rPr lang="en-US" dirty="0" err="1" smtClean="0"/>
              <a:t>RLocked</a:t>
            </a:r>
            <a:r>
              <a:rPr lang="en-US" dirty="0" smtClean="0"/>
              <a:t> </a:t>
            </a:r>
            <a:r>
              <a:rPr lang="en-US" dirty="0"/>
              <a:t>resource can be accessed repeatedly by various threads</a:t>
            </a:r>
            <a:endParaRPr lang="en-US" dirty="0" smtClean="0"/>
          </a:p>
          <a:p>
            <a:r>
              <a:rPr lang="en-US" dirty="0" err="1" smtClean="0"/>
              <a:t>Rlock</a:t>
            </a:r>
            <a:r>
              <a:rPr lang="en-US" dirty="0" smtClean="0"/>
              <a:t>() is useful when you want to have a thread-safe access from outside the class and use the same methods from inside the class </a:t>
            </a:r>
            <a:endParaRPr lang="en-US" dirty="0"/>
          </a:p>
        </p:txBody>
      </p:sp>
    </p:spTree>
    <p:extLst>
      <p:ext uri="{BB962C8B-B14F-4D97-AF65-F5344CB8AC3E}">
        <p14:creationId xmlns:p14="http://schemas.microsoft.com/office/powerpoint/2010/main" val="184172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Multiprocessing</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4860" y="1870233"/>
            <a:ext cx="6642100" cy="2896775"/>
          </a:xfrm>
        </p:spPr>
      </p:pic>
    </p:spTree>
    <p:extLst>
      <p:ext uri="{BB962C8B-B14F-4D97-AF65-F5344CB8AC3E}">
        <p14:creationId xmlns:p14="http://schemas.microsoft.com/office/powerpoint/2010/main" val="1088948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Multiprocessing</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8458" y="1690688"/>
            <a:ext cx="4473222" cy="4429021"/>
          </a:xfrm>
        </p:spPr>
      </p:pic>
    </p:spTree>
    <p:extLst>
      <p:ext uri="{BB962C8B-B14F-4D97-AF65-F5344CB8AC3E}">
        <p14:creationId xmlns:p14="http://schemas.microsoft.com/office/powerpoint/2010/main" val="2023771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Multiprocessing with a class</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1620" y="1532256"/>
            <a:ext cx="5427980" cy="4498986"/>
          </a:xfrm>
          <a:prstGeom prst="rect">
            <a:avLst/>
          </a:prstGeom>
        </p:spPr>
      </p:pic>
    </p:spTree>
    <p:extLst>
      <p:ext uri="{BB962C8B-B14F-4D97-AF65-F5344CB8AC3E}">
        <p14:creationId xmlns:p14="http://schemas.microsoft.com/office/powerpoint/2010/main" val="2110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Multiprocessing with the Pool class</a:t>
            </a:r>
            <a:endParaRPr lang="en-US" dirty="0"/>
          </a:p>
        </p:txBody>
      </p:sp>
      <p:sp>
        <p:nvSpPr>
          <p:cNvPr id="3" name="Content Placeholder 2"/>
          <p:cNvSpPr>
            <a:spLocks noGrp="1"/>
          </p:cNvSpPr>
          <p:nvPr>
            <p:ph idx="1"/>
          </p:nvPr>
        </p:nvSpPr>
        <p:spPr/>
        <p:txBody>
          <a:bodyPr/>
          <a:lstStyle/>
          <a:p>
            <a:r>
              <a:rPr lang="en-US" dirty="0"/>
              <a:t>Pool class can be used for parallel execution of a function for different input data. The </a:t>
            </a:r>
            <a:r>
              <a:rPr lang="en-US" dirty="0" err="1"/>
              <a:t>multiprocessing.Pool</a:t>
            </a:r>
            <a:r>
              <a:rPr lang="en-US" dirty="0"/>
              <a:t>() class spawns a set of processes called workers and can submit tasks using the methods apply/</a:t>
            </a:r>
            <a:r>
              <a:rPr lang="en-US" dirty="0" err="1"/>
              <a:t>apply_async</a:t>
            </a:r>
            <a:r>
              <a:rPr lang="en-US" dirty="0"/>
              <a:t> and map/</a:t>
            </a:r>
            <a:r>
              <a:rPr lang="en-US" dirty="0" err="1"/>
              <a:t>map_async</a:t>
            </a:r>
            <a:r>
              <a:rPr lang="en-US" dirty="0"/>
              <a:t>. For parallel mapping, you should first initialize a </a:t>
            </a:r>
            <a:r>
              <a:rPr lang="en-US" dirty="0" err="1"/>
              <a:t>multiprocessing.Pool</a:t>
            </a:r>
            <a:r>
              <a:rPr lang="en-US" dirty="0"/>
              <a:t>() object. The first argument is the number of workers; if not given, that number will be equal to the number of cores in the system.</a:t>
            </a:r>
          </a:p>
        </p:txBody>
      </p:sp>
      <p:pic>
        <p:nvPicPr>
          <p:cNvPr id="1026" name="Picture 2" descr="https://media.geeksforgeeks.org/wp-content/uploads/20191121213618/poo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714240"/>
            <a:ext cx="10658475" cy="116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88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Synchronous and Asynchronous E</a:t>
            </a:r>
            <a:r>
              <a:rPr lang="en-US" b="1" dirty="0" smtClean="0"/>
              <a:t>xecution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A synchronous execution is one the processes are completed in the same order in which it was started. This is achieved by locking the main program until the respective processes are finished.</a:t>
            </a:r>
          </a:p>
          <a:p>
            <a:r>
              <a:rPr lang="en-US" dirty="0"/>
              <a:t>Asynchronous, on the other hand, doesn’t involve locking. As a result, the order of results can get mixed up but usually gets done quicker.</a:t>
            </a:r>
          </a:p>
          <a:p>
            <a:r>
              <a:rPr lang="en-US" dirty="0"/>
              <a:t>Pool </a:t>
            </a:r>
            <a:r>
              <a:rPr lang="en-US" dirty="0" smtClean="0"/>
              <a:t>Class</a:t>
            </a:r>
          </a:p>
          <a:p>
            <a:pPr lvl="1"/>
            <a:r>
              <a:rPr lang="en-US" dirty="0" smtClean="0"/>
              <a:t>Synchronous </a:t>
            </a:r>
            <a:r>
              <a:rPr lang="en-US" dirty="0"/>
              <a:t>execution</a:t>
            </a:r>
          </a:p>
          <a:p>
            <a:pPr lvl="2"/>
            <a:r>
              <a:rPr lang="en-US" dirty="0" err="1"/>
              <a:t>Pool.map</a:t>
            </a:r>
            <a:r>
              <a:rPr lang="en-US" dirty="0"/>
              <a:t>() and </a:t>
            </a:r>
            <a:r>
              <a:rPr lang="en-US" dirty="0" err="1"/>
              <a:t>Pool.starmap</a:t>
            </a:r>
            <a:r>
              <a:rPr lang="en-US" dirty="0"/>
              <a:t>()</a:t>
            </a:r>
          </a:p>
          <a:p>
            <a:pPr lvl="2"/>
            <a:r>
              <a:rPr lang="en-US" dirty="0" err="1"/>
              <a:t>Pool.apply</a:t>
            </a:r>
            <a:r>
              <a:rPr lang="en-US" dirty="0"/>
              <a:t>()</a:t>
            </a:r>
          </a:p>
          <a:p>
            <a:pPr lvl="1"/>
            <a:r>
              <a:rPr lang="en-US" dirty="0"/>
              <a:t>Asynchronous execution</a:t>
            </a:r>
          </a:p>
          <a:p>
            <a:pPr lvl="2"/>
            <a:r>
              <a:rPr lang="en-US" dirty="0" err="1"/>
              <a:t>Pool.map_async</a:t>
            </a:r>
            <a:r>
              <a:rPr lang="en-US" dirty="0"/>
              <a:t>() and </a:t>
            </a:r>
            <a:r>
              <a:rPr lang="en-US" dirty="0" err="1"/>
              <a:t>Pool.starmap_async</a:t>
            </a:r>
            <a:r>
              <a:rPr lang="en-US" dirty="0"/>
              <a:t>()</a:t>
            </a:r>
          </a:p>
          <a:p>
            <a:pPr lvl="2"/>
            <a:r>
              <a:rPr lang="en-US" dirty="0" err="1"/>
              <a:t>Pool.apply_async</a:t>
            </a:r>
            <a:r>
              <a:rPr lang="en-US" dirty="0"/>
              <a:t>())</a:t>
            </a:r>
          </a:p>
          <a:p>
            <a:endParaRPr lang="en-US" dirty="0"/>
          </a:p>
        </p:txBody>
      </p:sp>
    </p:spTree>
    <p:extLst>
      <p:ext uri="{BB962C8B-B14F-4D97-AF65-F5344CB8AC3E}">
        <p14:creationId xmlns:p14="http://schemas.microsoft.com/office/powerpoint/2010/main" val="1532016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Pool class</a:t>
            </a:r>
            <a:endParaRPr lang="en-US" dirty="0"/>
          </a:p>
        </p:txBody>
      </p:sp>
      <p:sp>
        <p:nvSpPr>
          <p:cNvPr id="3" name="Content Placeholder 2"/>
          <p:cNvSpPr>
            <a:spLocks noGrp="1"/>
          </p:cNvSpPr>
          <p:nvPr>
            <p:ph idx="1"/>
          </p:nvPr>
        </p:nvSpPr>
        <p:spPr/>
        <p:txBody>
          <a:bodyPr/>
          <a:lstStyle/>
          <a:p>
            <a:r>
              <a:rPr lang="en-US" dirty="0"/>
              <a:t>Let see by an example. In this example, we will see how to pass a function which computes the square of a number. Using </a:t>
            </a:r>
            <a:r>
              <a:rPr lang="en-US" dirty="0" err="1"/>
              <a:t>Pool.map</a:t>
            </a:r>
            <a:r>
              <a:rPr lang="en-US" dirty="0"/>
              <a:t>() you can map the function to the list and passing the function and the list of inputs as arguments, as follows:</a:t>
            </a:r>
          </a:p>
        </p:txBody>
      </p:sp>
      <p:pic>
        <p:nvPicPr>
          <p:cNvPr id="2050" name="Picture 2" descr="https://media.geeksforgeeks.org/wp-content/uploads/20191121213642/pool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 y="3495040"/>
            <a:ext cx="10467975" cy="19621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4879" y="3568700"/>
            <a:ext cx="4689969" cy="3014980"/>
          </a:xfrm>
          <a:prstGeom prst="rect">
            <a:avLst/>
          </a:prstGeom>
        </p:spPr>
      </p:pic>
    </p:spTree>
    <p:extLst>
      <p:ext uri="{BB962C8B-B14F-4D97-AF65-F5344CB8AC3E}">
        <p14:creationId xmlns:p14="http://schemas.microsoft.com/office/powerpoint/2010/main" val="170373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Asynchronous output</a:t>
            </a:r>
            <a:endParaRPr lang="en-US" dirty="0"/>
          </a:p>
        </p:txBody>
      </p:sp>
      <p:sp>
        <p:nvSpPr>
          <p:cNvPr id="3" name="Content Placeholder 2"/>
          <p:cNvSpPr>
            <a:spLocks noGrp="1"/>
          </p:cNvSpPr>
          <p:nvPr>
            <p:ph idx="1"/>
          </p:nvPr>
        </p:nvSpPr>
        <p:spPr>
          <a:xfrm>
            <a:off x="838200" y="1825625"/>
            <a:ext cx="6233160" cy="4351338"/>
          </a:xfrm>
        </p:spPr>
        <p:txBody>
          <a:bodyPr>
            <a:normAutofit/>
          </a:bodyPr>
          <a:lstStyle/>
          <a:p>
            <a:r>
              <a:rPr lang="en-US" sz="2400" dirty="0"/>
              <a:t>When we use the normal map method, the execution of the program is stopped until all the workers completed the task. Using </a:t>
            </a:r>
            <a:r>
              <a:rPr lang="en-US" sz="2400" dirty="0" err="1"/>
              <a:t>map_async</a:t>
            </a:r>
            <a:r>
              <a:rPr lang="en-US" sz="2400" dirty="0"/>
              <a:t>(), the </a:t>
            </a:r>
            <a:r>
              <a:rPr lang="en-US" sz="2400" dirty="0" err="1"/>
              <a:t>AsyncResult</a:t>
            </a:r>
            <a:r>
              <a:rPr lang="en-US" sz="2400" dirty="0"/>
              <a:t> object is returned immediately without stopping the main program and the task is done in the background. The result can be retrieved by using the </a:t>
            </a:r>
            <a:r>
              <a:rPr lang="en-US" sz="2400" dirty="0" err="1"/>
              <a:t>AsyncResult.get</a:t>
            </a:r>
            <a:r>
              <a:rPr lang="en-US" sz="2400" dirty="0"/>
              <a:t>() method at any time as shown below:</a:t>
            </a:r>
          </a:p>
        </p:txBody>
      </p:sp>
      <p:pic>
        <p:nvPicPr>
          <p:cNvPr id="3074" name="Picture 2" descr="https://media.geeksforgeeks.org/wp-content/uploads/20191121213707/pool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55567"/>
            <a:ext cx="10906125" cy="11239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1360" y="2349344"/>
            <a:ext cx="4940300" cy="2654300"/>
          </a:xfrm>
          <a:prstGeom prst="rect">
            <a:avLst/>
          </a:prstGeom>
        </p:spPr>
      </p:pic>
    </p:spTree>
    <p:extLst>
      <p:ext uri="{BB962C8B-B14F-4D97-AF65-F5344CB8AC3E}">
        <p14:creationId xmlns:p14="http://schemas.microsoft.com/office/powerpoint/2010/main" val="1086321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a:t>
            </a:r>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70220" y="1909603"/>
            <a:ext cx="5783580" cy="395642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297267"/>
            <a:ext cx="4572000" cy="1181100"/>
          </a:xfrm>
          <a:prstGeom prst="rect">
            <a:avLst/>
          </a:prstGeom>
        </p:spPr>
      </p:pic>
      <p:sp>
        <p:nvSpPr>
          <p:cNvPr id="6" name="TextBox 5"/>
          <p:cNvSpPr txBox="1"/>
          <p:nvPr/>
        </p:nvSpPr>
        <p:spPr>
          <a:xfrm>
            <a:off x="1036320" y="2519679"/>
            <a:ext cx="2865120" cy="461665"/>
          </a:xfrm>
          <a:prstGeom prst="rect">
            <a:avLst/>
          </a:prstGeom>
          <a:noFill/>
        </p:spPr>
        <p:txBody>
          <a:bodyPr wrap="square" rtlCol="0">
            <a:spAutoFit/>
          </a:bodyPr>
          <a:lstStyle/>
          <a:p>
            <a:r>
              <a:rPr lang="en-US" sz="2400" dirty="0" smtClean="0"/>
              <a:t>A large set of data</a:t>
            </a:r>
            <a:endParaRPr lang="en-US" sz="2400" dirty="0"/>
          </a:p>
        </p:txBody>
      </p:sp>
    </p:spTree>
    <p:extLst>
      <p:ext uri="{BB962C8B-B14F-4D97-AF65-F5344CB8AC3E}">
        <p14:creationId xmlns:p14="http://schemas.microsoft.com/office/powerpoint/2010/main" val="1476372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	12</a:t>
            </a:r>
            <a:endParaRPr lang="en-US" dirty="0"/>
          </a:p>
        </p:txBody>
      </p:sp>
      <p:sp>
        <p:nvSpPr>
          <p:cNvPr id="3" name="Content Placeholder 2"/>
          <p:cNvSpPr>
            <a:spLocks noGrp="1"/>
          </p:cNvSpPr>
          <p:nvPr>
            <p:ph idx="1"/>
          </p:nvPr>
        </p:nvSpPr>
        <p:spPr/>
        <p:txBody>
          <a:bodyPr/>
          <a:lstStyle/>
          <a:p>
            <a:r>
              <a:rPr lang="en-US" dirty="0"/>
              <a:t>I</a:t>
            </a:r>
            <a:r>
              <a:rPr lang="en-US" dirty="0" smtClean="0"/>
              <a:t>mplement a parallel version of “</a:t>
            </a:r>
            <a:r>
              <a:rPr lang="en-US" dirty="0" err="1" smtClean="0"/>
              <a:t>find_sum</a:t>
            </a:r>
            <a:r>
              <a:rPr lang="en-US" dirty="0" smtClean="0"/>
              <a:t>”,  </a:t>
            </a:r>
          </a:p>
          <a:p>
            <a:pPr lvl="1"/>
            <a:r>
              <a:rPr lang="en-US" dirty="0" smtClean="0"/>
              <a:t>Given a large set of randomly generated numbers (5 rows and 10,000,000 columns per row)</a:t>
            </a:r>
          </a:p>
          <a:p>
            <a:pPr lvl="1"/>
            <a:r>
              <a:rPr lang="en-US" dirty="0" smtClean="0"/>
              <a:t>Find the sum </a:t>
            </a:r>
            <a:endParaRPr lang="en-US" dirty="0"/>
          </a:p>
        </p:txBody>
      </p:sp>
    </p:spTree>
    <p:extLst>
      <p:ext uri="{BB962C8B-B14F-4D97-AF65-F5344CB8AC3E}">
        <p14:creationId xmlns:p14="http://schemas.microsoft.com/office/powerpoint/2010/main" val="301049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Useful resources: </a:t>
            </a:r>
            <a:endParaRPr lang="en-US" dirty="0"/>
          </a:p>
        </p:txBody>
      </p:sp>
      <p:sp>
        <p:nvSpPr>
          <p:cNvPr id="3" name="Content Placeholder 2"/>
          <p:cNvSpPr>
            <a:spLocks noGrp="1"/>
          </p:cNvSpPr>
          <p:nvPr>
            <p:ph idx="1"/>
          </p:nvPr>
        </p:nvSpPr>
        <p:spPr/>
        <p:txBody>
          <a:bodyPr/>
          <a:lstStyle/>
          <a:p>
            <a:r>
              <a:rPr lang="en-US" dirty="0">
                <a:hlinkClick r:id="rId2"/>
              </a:rPr>
              <a:t>https://www.hitechnectar.com/blogs/distributed-vs-parallel-computing</a:t>
            </a:r>
            <a:r>
              <a:rPr lang="en-US" dirty="0" smtClean="0">
                <a:hlinkClick r:id="rId2"/>
              </a:rPr>
              <a:t>/</a:t>
            </a:r>
            <a:endParaRPr lang="en-US" dirty="0" smtClean="0"/>
          </a:p>
          <a:p>
            <a:endParaRPr lang="en-US" dirty="0"/>
          </a:p>
        </p:txBody>
      </p:sp>
    </p:spTree>
    <p:extLst>
      <p:ext uri="{BB962C8B-B14F-4D97-AF65-F5344CB8AC3E}">
        <p14:creationId xmlns:p14="http://schemas.microsoft.com/office/powerpoint/2010/main" val="1084525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5855</TotalTime>
  <Words>1776</Words>
  <Application>Microsoft Macintosh PowerPoint</Application>
  <PresentationFormat>Widescreen</PresentationFormat>
  <Paragraphs>172</Paragraphs>
  <Slides>24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Calibri Light</vt:lpstr>
      <vt:lpstr>Helvetica</vt:lpstr>
      <vt:lpstr>Helvetica-Bold</vt:lpstr>
      <vt:lpstr>Arial</vt:lpstr>
      <vt:lpstr>Office Theme</vt:lpstr>
      <vt:lpstr>Parallel Computing with Python</vt:lpstr>
      <vt:lpstr>What is Parallel Computing?</vt:lpstr>
      <vt:lpstr>What is Parallel Computing?</vt:lpstr>
      <vt:lpstr>What is Distributed Computing?</vt:lpstr>
      <vt:lpstr>Difference between parallel and distributed computing?</vt:lpstr>
      <vt:lpstr>Why PDC?</vt:lpstr>
      <vt:lpstr>Thread Basics </vt:lpstr>
      <vt:lpstr>How to determine the current thread </vt:lpstr>
      <vt:lpstr>Use Thread in SubClass</vt:lpstr>
      <vt:lpstr>Race Condition</vt:lpstr>
      <vt:lpstr>Problem--Deadlock</vt:lpstr>
      <vt:lpstr>Four Conditions for Deadlock</vt:lpstr>
      <vt:lpstr>RLock vs Lock</vt:lpstr>
      <vt:lpstr>Python Rlock vs. Lock</vt:lpstr>
      <vt:lpstr>Python Multiprocessing</vt:lpstr>
      <vt:lpstr>Multiprocessing</vt:lpstr>
      <vt:lpstr>Multiprocessing with a class</vt:lpstr>
      <vt:lpstr>Multiprocessing with the Pool class</vt:lpstr>
      <vt:lpstr>Synchronous and Asynchronous Execution</vt:lpstr>
      <vt:lpstr>Pool class</vt:lpstr>
      <vt:lpstr>Asynchronous output</vt:lpstr>
      <vt:lpstr>Example</vt:lpstr>
      <vt:lpstr>Assignment 12</vt:lpstr>
      <vt:lpstr>Useful resources: </vt:lpstr>
    </vt:vector>
  </TitlesOfParts>
  <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Computing with Python</dc:title>
  <dc:creator>Xiaoyuan Suo</dc:creator>
  <cp:lastModifiedBy>Xiaoyuan Suo</cp:lastModifiedBy>
  <cp:revision>73</cp:revision>
  <dcterms:created xsi:type="dcterms:W3CDTF">2020-11-19T16:13:31Z</dcterms:created>
  <dcterms:modified xsi:type="dcterms:W3CDTF">2020-12-02T18:31:52Z</dcterms:modified>
</cp:coreProperties>
</file>
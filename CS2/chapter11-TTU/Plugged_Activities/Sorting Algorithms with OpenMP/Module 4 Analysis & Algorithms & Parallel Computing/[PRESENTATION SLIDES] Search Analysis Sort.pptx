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tags/tag28.xml" ContentType="application/vnd.openxmlformats-officedocument.presentationml.tags+xml"/>
  <Override PartName="/ppt/notesSlides/notesSlide29.xml" ContentType="application/vnd.openxmlformats-officedocument.presentationml.notesSlide+xml"/>
  <Override PartName="/ppt/tags/tag29.xml" ContentType="application/vnd.openxmlformats-officedocument.presentationml.tags+xml"/>
  <Override PartName="/ppt/notesSlides/notesSlide30.xml" ContentType="application/vnd.openxmlformats-officedocument.presentationml.notesSlide+xml"/>
  <Override PartName="/ppt/tags/tag30.xml" ContentType="application/vnd.openxmlformats-officedocument.presentationml.tags+xml"/>
  <Override PartName="/ppt/notesSlides/notesSlide31.xml" ContentType="application/vnd.openxmlformats-officedocument.presentationml.notesSlide+xml"/>
  <Override PartName="/ppt/tags/tag31.xml" ContentType="application/vnd.openxmlformats-officedocument.presentationml.tags+xml"/>
  <Override PartName="/ppt/notesSlides/notesSlide32.xml" ContentType="application/vnd.openxmlformats-officedocument.presentationml.notesSlide+xml"/>
  <Override PartName="/ppt/tags/tag32.xml" ContentType="application/vnd.openxmlformats-officedocument.presentationml.tags+xml"/>
  <Override PartName="/ppt/notesSlides/notesSlide33.xml" ContentType="application/vnd.openxmlformats-officedocument.presentationml.notesSlide+xml"/>
  <Override PartName="/ppt/tags/tag33.xml" ContentType="application/vnd.openxmlformats-officedocument.presentationml.tags+xml"/>
  <Override PartName="/ppt/notesSlides/notesSlide34.xml" ContentType="application/vnd.openxmlformats-officedocument.presentationml.notesSlide+xml"/>
  <Override PartName="/ppt/tags/tag34.xml" ContentType="application/vnd.openxmlformats-officedocument.presentationml.tags+xml"/>
  <Override PartName="/ppt/notesSlides/notesSlide35.xml" ContentType="application/vnd.openxmlformats-officedocument.presentationml.notesSlide+xml"/>
  <Override PartName="/ppt/tags/tag35.xml" ContentType="application/vnd.openxmlformats-officedocument.presentationml.tags+xml"/>
  <Override PartName="/ppt/notesSlides/notesSlide36.xml" ContentType="application/vnd.openxmlformats-officedocument.presentationml.notesSlide+xml"/>
  <Override PartName="/ppt/tags/tag36.xml" ContentType="application/vnd.openxmlformats-officedocument.presentationml.tags+xml"/>
  <Override PartName="/ppt/notesSlides/notesSlide37.xml" ContentType="application/vnd.openxmlformats-officedocument.presentationml.notesSlide+xml"/>
  <Override PartName="/ppt/tags/tag37.xml" ContentType="application/vnd.openxmlformats-officedocument.presentationml.tags+xml"/>
  <Override PartName="/ppt/notesSlides/notesSlide38.xml" ContentType="application/vnd.openxmlformats-officedocument.presentationml.notesSlide+xml"/>
  <Override PartName="/ppt/tags/tag38.xml" ContentType="application/vnd.openxmlformats-officedocument.presentationml.tags+xml"/>
  <Override PartName="/ppt/notesSlides/notesSlide39.xml" ContentType="application/vnd.openxmlformats-officedocument.presentationml.notesSlide+xml"/>
  <Override PartName="/ppt/tags/tag39.xml" ContentType="application/vnd.openxmlformats-officedocument.presentationml.tags+xml"/>
  <Override PartName="/ppt/notesSlides/notesSlide40.xml" ContentType="application/vnd.openxmlformats-officedocument.presentationml.notesSlide+xml"/>
  <Override PartName="/ppt/tags/tag40.xml" ContentType="application/vnd.openxmlformats-officedocument.presentationml.tags+xml"/>
  <Override PartName="/ppt/notesSlides/notesSlide41.xml" ContentType="application/vnd.openxmlformats-officedocument.presentationml.notesSlide+xml"/>
  <Override PartName="/ppt/tags/tag41.xml" ContentType="application/vnd.openxmlformats-officedocument.presentationml.tags+xml"/>
  <Override PartName="/ppt/notesSlides/notesSlide42.xml" ContentType="application/vnd.openxmlformats-officedocument.presentationml.notesSlide+xml"/>
  <Override PartName="/ppt/tags/tag42.xml" ContentType="application/vnd.openxmlformats-officedocument.presentationml.tags+xml"/>
  <Override PartName="/ppt/notesSlides/notesSlide43.xml" ContentType="application/vnd.openxmlformats-officedocument.presentationml.notesSlide+xml"/>
  <Override PartName="/ppt/tags/tag43.xml" ContentType="application/vnd.openxmlformats-officedocument.presentationml.tags+xml"/>
  <Override PartName="/ppt/notesSlides/notesSlide44.xml" ContentType="application/vnd.openxmlformats-officedocument.presentationml.notesSlide+xml"/>
  <Override PartName="/ppt/tags/tag44.xml" ContentType="application/vnd.openxmlformats-officedocument.presentationml.tags+xml"/>
  <Override PartName="/ppt/notesSlides/notesSlide45.xml" ContentType="application/vnd.openxmlformats-officedocument.presentationml.notesSlide+xml"/>
  <Override PartName="/ppt/tags/tag45.xml" ContentType="application/vnd.openxmlformats-officedocument.presentationml.tags+xml"/>
  <Override PartName="/ppt/notesSlides/notesSlide46.xml" ContentType="application/vnd.openxmlformats-officedocument.presentationml.notesSlide+xml"/>
  <Override PartName="/ppt/tags/tag46.xml" ContentType="application/vnd.openxmlformats-officedocument.presentationml.tags+xml"/>
  <Override PartName="/ppt/notesSlides/notesSlide47.xml" ContentType="application/vnd.openxmlformats-officedocument.presentationml.notesSlide+xml"/>
  <Override PartName="/ppt/tags/tag47.xml" ContentType="application/vnd.openxmlformats-officedocument.presentationml.tags+xml"/>
  <Override PartName="/ppt/notesSlides/notesSlide48.xml" ContentType="application/vnd.openxmlformats-officedocument.presentationml.notesSlide+xml"/>
  <Override PartName="/ppt/tags/tag48.xml" ContentType="application/vnd.openxmlformats-officedocument.presentationml.tags+xml"/>
  <Override PartName="/ppt/notesSlides/notesSlide49.xml" ContentType="application/vnd.openxmlformats-officedocument.presentationml.notesSlide+xml"/>
  <Override PartName="/ppt/tags/tag49.xml" ContentType="application/vnd.openxmlformats-officedocument.presentationml.tags+xml"/>
  <Override PartName="/ppt/notesSlides/notesSlide50.xml" ContentType="application/vnd.openxmlformats-officedocument.presentationml.notesSlide+xml"/>
  <Override PartName="/ppt/tags/tag50.xml" ContentType="application/vnd.openxmlformats-officedocument.presentationml.tags+xml"/>
  <Override PartName="/ppt/notesSlides/notesSlide51.xml" ContentType="application/vnd.openxmlformats-officedocument.presentationml.notesSlide+xml"/>
  <Override PartName="/ppt/tags/tag51.xml" ContentType="application/vnd.openxmlformats-officedocument.presentationml.tags+xml"/>
  <Override PartName="/ppt/notesSlides/notesSlide52.xml" ContentType="application/vnd.openxmlformats-officedocument.presentationml.notesSlide+xml"/>
  <Override PartName="/ppt/tags/tag52.xml" ContentType="application/vnd.openxmlformats-officedocument.presentationml.tags+xml"/>
  <Override PartName="/ppt/notesSlides/notesSlide53.xml" ContentType="application/vnd.openxmlformats-officedocument.presentationml.notesSlide+xml"/>
  <Override PartName="/ppt/tags/tag53.xml" ContentType="application/vnd.openxmlformats-officedocument.presentationml.tags+xml"/>
  <Override PartName="/ppt/notesSlides/notesSlide54.xml" ContentType="application/vnd.openxmlformats-officedocument.presentationml.notesSlide+xml"/>
  <Override PartName="/ppt/tags/tag54.xml" ContentType="application/vnd.openxmlformats-officedocument.presentationml.tags+xml"/>
  <Override PartName="/ppt/notesSlides/notesSlide55.xml" ContentType="application/vnd.openxmlformats-officedocument.presentationml.notesSlide+xml"/>
  <Override PartName="/ppt/tags/tag55.xml" ContentType="application/vnd.openxmlformats-officedocument.presentationml.tags+xml"/>
  <Override PartName="/ppt/notesSlides/notesSlide56.xml" ContentType="application/vnd.openxmlformats-officedocument.presentationml.notesSlide+xml"/>
  <Override PartName="/ppt/tags/tag56.xml" ContentType="application/vnd.openxmlformats-officedocument.presentationml.tags+xml"/>
  <Override PartName="/ppt/notesSlides/notesSlide57.xml" ContentType="application/vnd.openxmlformats-officedocument.presentationml.notesSlide+xml"/>
  <Override PartName="/ppt/tags/tag57.xml" ContentType="application/vnd.openxmlformats-officedocument.presentationml.tags+xml"/>
  <Override PartName="/ppt/notesSlides/notesSlide58.xml" ContentType="application/vnd.openxmlformats-officedocument.presentationml.notesSlide+xml"/>
  <Override PartName="/ppt/tags/tag58.xml" ContentType="application/vnd.openxmlformats-officedocument.presentationml.tags+xml"/>
  <Override PartName="/ppt/notesSlides/notesSlide59.xml" ContentType="application/vnd.openxmlformats-officedocument.presentationml.notesSlide+xml"/>
  <Override PartName="/ppt/tags/tag59.xml" ContentType="application/vnd.openxmlformats-officedocument.presentationml.tags+xml"/>
  <Override PartName="/ppt/notesSlides/notesSlide60.xml" ContentType="application/vnd.openxmlformats-officedocument.presentationml.notesSlide+xml"/>
  <Override PartName="/ppt/tags/tag60.xml" ContentType="application/vnd.openxmlformats-officedocument.presentationml.tags+xml"/>
  <Override PartName="/ppt/notesSlides/notesSlide61.xml" ContentType="application/vnd.openxmlformats-officedocument.presentationml.notesSlide+xml"/>
  <Override PartName="/ppt/tags/tag61.xml" ContentType="application/vnd.openxmlformats-officedocument.presentationml.tags+xml"/>
  <Override PartName="/ppt/notesSlides/notesSlide62.xml" ContentType="application/vnd.openxmlformats-officedocument.presentationml.notesSlide+xml"/>
  <Override PartName="/ppt/tags/tag62.xml" ContentType="application/vnd.openxmlformats-officedocument.presentationml.tags+xml"/>
  <Override PartName="/ppt/notesSlides/notesSlide63.xml" ContentType="application/vnd.openxmlformats-officedocument.presentationml.notesSlide+xml"/>
  <Override PartName="/ppt/tags/tag63.xml" ContentType="application/vnd.openxmlformats-officedocument.presentationml.tags+xml"/>
  <Override PartName="/ppt/notesSlides/notesSlide64.xml" ContentType="application/vnd.openxmlformats-officedocument.presentationml.notesSlide+xml"/>
  <Override PartName="/ppt/tags/tag64.xml" ContentType="application/vnd.openxmlformats-officedocument.presentationml.tags+xml"/>
  <Override PartName="/ppt/notesSlides/notesSlide65.xml" ContentType="application/vnd.openxmlformats-officedocument.presentationml.notesSlide+xml"/>
  <Override PartName="/ppt/tags/tag65.xml" ContentType="application/vnd.openxmlformats-officedocument.presentationml.tags+xml"/>
  <Override PartName="/ppt/notesSlides/notesSlide66.xml" ContentType="application/vnd.openxmlformats-officedocument.presentationml.notesSlide+xml"/>
  <Override PartName="/ppt/tags/tag66.xml" ContentType="application/vnd.openxmlformats-officedocument.presentationml.tags+xml"/>
  <Override PartName="/ppt/notesSlides/notesSlide67.xml" ContentType="application/vnd.openxmlformats-officedocument.presentationml.notesSlide+xml"/>
  <Override PartName="/ppt/tags/tag67.xml" ContentType="application/vnd.openxmlformats-officedocument.presentationml.tags+xml"/>
  <Override PartName="/ppt/notesSlides/notesSlide68.xml" ContentType="application/vnd.openxmlformats-officedocument.presentationml.notesSlide+xml"/>
  <Override PartName="/ppt/tags/tag68.xml" ContentType="application/vnd.openxmlformats-officedocument.presentationml.tags+xml"/>
  <Override PartName="/ppt/notesSlides/notesSlide69.xml" ContentType="application/vnd.openxmlformats-officedocument.presentationml.notesSlide+xml"/>
  <Override PartName="/ppt/tags/tag69.xml" ContentType="application/vnd.openxmlformats-officedocument.presentationml.tags+xml"/>
  <Override PartName="/ppt/notesSlides/notesSlide70.xml" ContentType="application/vnd.openxmlformats-officedocument.presentationml.notesSlide+xml"/>
  <Override PartName="/ppt/tags/tag70.xml" ContentType="application/vnd.openxmlformats-officedocument.presentationml.tags+xml"/>
  <Override PartName="/ppt/notesSlides/notesSlide71.xml" ContentType="application/vnd.openxmlformats-officedocument.presentationml.notesSlide+xml"/>
  <Override PartName="/ppt/tags/tag71.xml" ContentType="application/vnd.openxmlformats-officedocument.presentationml.tags+xml"/>
  <Override PartName="/ppt/notesSlides/notesSlide72.xml" ContentType="application/vnd.openxmlformats-officedocument.presentationml.notesSlide+xml"/>
  <Override PartName="/ppt/tags/tag72.xml" ContentType="application/vnd.openxmlformats-officedocument.presentationml.tags+xml"/>
  <Override PartName="/ppt/notesSlides/notesSlide73.xml" ContentType="application/vnd.openxmlformats-officedocument.presentationml.notesSlide+xml"/>
  <Override PartName="/ppt/tags/tag73.xml" ContentType="application/vnd.openxmlformats-officedocument.presentationml.tags+xml"/>
  <Override PartName="/ppt/notesSlides/notesSlide74.xml" ContentType="application/vnd.openxmlformats-officedocument.presentationml.notesSlide+xml"/>
  <Override PartName="/ppt/tags/tag74.xml" ContentType="application/vnd.openxmlformats-officedocument.presentationml.tags+xml"/>
  <Override PartName="/ppt/notesSlides/notesSlide75.xml" ContentType="application/vnd.openxmlformats-officedocument.presentationml.notesSlide+xml"/>
  <Override PartName="/ppt/tags/tag75.xml" ContentType="application/vnd.openxmlformats-officedocument.presentationml.tags+xml"/>
  <Override PartName="/ppt/notesSlides/notesSlide76.xml" ContentType="application/vnd.openxmlformats-officedocument.presentationml.notesSlide+xml"/>
  <Override PartName="/ppt/tags/tag76.xml" ContentType="application/vnd.openxmlformats-officedocument.presentationml.tags+xml"/>
  <Override PartName="/ppt/notesSlides/notesSlide77.xml" ContentType="application/vnd.openxmlformats-officedocument.presentationml.notesSlide+xml"/>
  <Override PartName="/ppt/tags/tag77.xml" ContentType="application/vnd.openxmlformats-officedocument.presentationml.tags+xml"/>
  <Override PartName="/ppt/notesSlides/notesSlide78.xml" ContentType="application/vnd.openxmlformats-officedocument.presentationml.notesSlide+xml"/>
  <Override PartName="/ppt/tags/tag78.xml" ContentType="application/vnd.openxmlformats-officedocument.presentationml.tags+xml"/>
  <Override PartName="/ppt/notesSlides/notesSlide79.xml" ContentType="application/vnd.openxmlformats-officedocument.presentationml.notesSlide+xml"/>
  <Override PartName="/ppt/tags/tag7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1" r:id="rId4"/>
  </p:sldMasterIdLst>
  <p:notesMasterIdLst>
    <p:notesMasterId r:id="rId116"/>
  </p:notesMasterIdLst>
  <p:handoutMasterIdLst>
    <p:handoutMasterId r:id="rId117"/>
  </p:handoutMasterIdLst>
  <p:sldIdLst>
    <p:sldId id="410" r:id="rId5"/>
    <p:sldId id="424" r:id="rId6"/>
    <p:sldId id="411" r:id="rId7"/>
    <p:sldId id="412" r:id="rId8"/>
    <p:sldId id="413" r:id="rId9"/>
    <p:sldId id="414" r:id="rId10"/>
    <p:sldId id="372" r:id="rId11"/>
    <p:sldId id="373" r:id="rId12"/>
    <p:sldId id="462" r:id="rId13"/>
    <p:sldId id="321" r:id="rId14"/>
    <p:sldId id="323" r:id="rId15"/>
    <p:sldId id="416" r:id="rId16"/>
    <p:sldId id="417" r:id="rId17"/>
    <p:sldId id="418" r:id="rId18"/>
    <p:sldId id="419" r:id="rId19"/>
    <p:sldId id="420" r:id="rId20"/>
    <p:sldId id="449" r:id="rId21"/>
    <p:sldId id="450" r:id="rId22"/>
    <p:sldId id="320" r:id="rId23"/>
    <p:sldId id="422" r:id="rId24"/>
    <p:sldId id="423" r:id="rId25"/>
    <p:sldId id="408" r:id="rId26"/>
    <p:sldId id="336" r:id="rId27"/>
    <p:sldId id="409" r:id="rId28"/>
    <p:sldId id="342" r:id="rId29"/>
    <p:sldId id="439" r:id="rId30"/>
    <p:sldId id="330" r:id="rId31"/>
    <p:sldId id="331" r:id="rId32"/>
    <p:sldId id="334" r:id="rId33"/>
    <p:sldId id="335" r:id="rId34"/>
    <p:sldId id="337" r:id="rId35"/>
    <p:sldId id="338" r:id="rId36"/>
    <p:sldId id="339" r:id="rId37"/>
    <p:sldId id="281" r:id="rId38"/>
    <p:sldId id="313" r:id="rId39"/>
    <p:sldId id="314" r:id="rId40"/>
    <p:sldId id="451" r:id="rId41"/>
    <p:sldId id="326" r:id="rId42"/>
    <p:sldId id="315" r:id="rId43"/>
    <p:sldId id="463" r:id="rId44"/>
    <p:sldId id="464" r:id="rId45"/>
    <p:sldId id="465" r:id="rId46"/>
    <p:sldId id="466" r:id="rId47"/>
    <p:sldId id="452" r:id="rId48"/>
    <p:sldId id="453" r:id="rId49"/>
    <p:sldId id="322" r:id="rId50"/>
    <p:sldId id="438" r:id="rId51"/>
    <p:sldId id="324" r:id="rId52"/>
    <p:sldId id="404" r:id="rId53"/>
    <p:sldId id="325" r:id="rId54"/>
    <p:sldId id="327" r:id="rId55"/>
    <p:sldId id="467" r:id="rId56"/>
    <p:sldId id="395" r:id="rId57"/>
    <p:sldId id="396" r:id="rId58"/>
    <p:sldId id="402" r:id="rId59"/>
    <p:sldId id="454" r:id="rId60"/>
    <p:sldId id="398" r:id="rId61"/>
    <p:sldId id="399" r:id="rId62"/>
    <p:sldId id="400" r:id="rId63"/>
    <p:sldId id="401" r:id="rId64"/>
    <p:sldId id="455" r:id="rId65"/>
    <p:sldId id="456" r:id="rId66"/>
    <p:sldId id="347" r:id="rId67"/>
    <p:sldId id="348" r:id="rId68"/>
    <p:sldId id="393" r:id="rId69"/>
    <p:sldId id="457" r:id="rId70"/>
    <p:sldId id="351" r:id="rId71"/>
    <p:sldId id="352" r:id="rId72"/>
    <p:sldId id="405" r:id="rId73"/>
    <p:sldId id="353" r:id="rId74"/>
    <p:sldId id="394" r:id="rId75"/>
    <p:sldId id="354" r:id="rId76"/>
    <p:sldId id="355" r:id="rId77"/>
    <p:sldId id="356" r:id="rId78"/>
    <p:sldId id="406" r:id="rId79"/>
    <p:sldId id="359" r:id="rId80"/>
    <p:sldId id="407" r:id="rId81"/>
    <p:sldId id="459" r:id="rId82"/>
    <p:sldId id="458" r:id="rId83"/>
    <p:sldId id="360" r:id="rId84"/>
    <p:sldId id="361" r:id="rId85"/>
    <p:sldId id="362" r:id="rId86"/>
    <p:sldId id="363" r:id="rId87"/>
    <p:sldId id="364" r:id="rId88"/>
    <p:sldId id="460" r:id="rId89"/>
    <p:sldId id="461" r:id="rId90"/>
    <p:sldId id="367" r:id="rId91"/>
    <p:sldId id="368" r:id="rId92"/>
    <p:sldId id="369" r:id="rId93"/>
    <p:sldId id="370" r:id="rId94"/>
    <p:sldId id="426" r:id="rId95"/>
    <p:sldId id="447" r:id="rId96"/>
    <p:sldId id="427" r:id="rId97"/>
    <p:sldId id="446" r:id="rId98"/>
    <p:sldId id="445" r:id="rId99"/>
    <p:sldId id="444" r:id="rId100"/>
    <p:sldId id="440" r:id="rId101"/>
    <p:sldId id="375" r:id="rId102"/>
    <p:sldId id="376" r:id="rId103"/>
    <p:sldId id="377" r:id="rId104"/>
    <p:sldId id="378" r:id="rId105"/>
    <p:sldId id="379" r:id="rId106"/>
    <p:sldId id="380" r:id="rId107"/>
    <p:sldId id="381" r:id="rId108"/>
    <p:sldId id="382" r:id="rId109"/>
    <p:sldId id="383" r:id="rId110"/>
    <p:sldId id="384" r:id="rId111"/>
    <p:sldId id="390" r:id="rId112"/>
    <p:sldId id="391" r:id="rId113"/>
    <p:sldId id="392" r:id="rId114"/>
    <p:sldId id="437" r:id="rId115"/>
  </p:sldIdLst>
  <p:sldSz cx="12192000" cy="6858000"/>
  <p:notesSz cx="6950075"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rockett, April" initials="CA" lastIdx="1" clrIdx="0">
    <p:extLst>
      <p:ext uri="{19B8F6BF-5375-455C-9EA6-DF929625EA0E}">
        <p15:presenceInfo xmlns:p15="http://schemas.microsoft.com/office/powerpoint/2012/main" userId="S-1-5-21-1777954443-780945429-581009308-653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FF00"/>
    <a:srgbClr val="00FFFF"/>
    <a:srgbClr val="FF9933"/>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674" autoAdjust="0"/>
    <p:restoredTop sz="94650" autoAdjust="0"/>
  </p:normalViewPr>
  <p:slideViewPr>
    <p:cSldViewPr snapToGrid="0">
      <p:cViewPr varScale="1">
        <p:scale>
          <a:sx n="101" d="100"/>
          <a:sy n="101" d="100"/>
        </p:scale>
        <p:origin x="126" y="108"/>
      </p:cViewPr>
      <p:guideLst/>
    </p:cSldViewPr>
  </p:slideViewPr>
  <p:outlineViewPr>
    <p:cViewPr>
      <p:scale>
        <a:sx n="33" d="100"/>
        <a:sy n="33" d="100"/>
      </p:scale>
      <p:origin x="0" y="-26000"/>
    </p:cViewPr>
  </p:outlineViewPr>
  <p:notesTextViewPr>
    <p:cViewPr>
      <p:scale>
        <a:sx n="1" d="1"/>
        <a:sy n="1" d="1"/>
      </p:scale>
      <p:origin x="0" y="0"/>
    </p:cViewPr>
  </p:notesTextViewPr>
  <p:sorterViewPr>
    <p:cViewPr>
      <p:scale>
        <a:sx n="50" d="100"/>
        <a:sy n="5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handoutMaster" Target="handoutMasters/handoutMaster1.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commentAuthors" Target="commentAuthor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presProps" Target="presProps.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theme" Target="theme/theme1.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3408"/>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sz="quarter" idx="1"/>
          </p:nvPr>
        </p:nvSpPr>
        <p:spPr>
          <a:xfrm>
            <a:off x="3936768" y="0"/>
            <a:ext cx="3011699" cy="463408"/>
          </a:xfrm>
          <a:prstGeom prst="rect">
            <a:avLst/>
          </a:prstGeom>
        </p:spPr>
        <p:txBody>
          <a:bodyPr vert="horz" lIns="92492" tIns="46246" rIns="92492" bIns="46246" rtlCol="0"/>
          <a:lstStyle>
            <a:lvl1pPr algn="r">
              <a:defRPr sz="1200"/>
            </a:lvl1pPr>
          </a:lstStyle>
          <a:p>
            <a:fld id="{FB7FADC4-EA60-44AD-B3A8-DAD82B0756FE}" type="datetimeFigureOut">
              <a:rPr lang="en-US" smtClean="0"/>
              <a:t>2/12/2026</a:t>
            </a:fld>
            <a:endParaRPr lang="en-US"/>
          </a:p>
        </p:txBody>
      </p:sp>
      <p:sp>
        <p:nvSpPr>
          <p:cNvPr id="4" name="Footer Placeholder 3"/>
          <p:cNvSpPr>
            <a:spLocks noGrp="1"/>
          </p:cNvSpPr>
          <p:nvPr>
            <p:ph type="ftr" sz="quarter" idx="2"/>
          </p:nvPr>
        </p:nvSpPr>
        <p:spPr>
          <a:xfrm>
            <a:off x="0" y="8772669"/>
            <a:ext cx="3011699" cy="463407"/>
          </a:xfrm>
          <a:prstGeom prst="rect">
            <a:avLst/>
          </a:prstGeom>
        </p:spPr>
        <p:txBody>
          <a:bodyPr vert="horz" lIns="92492" tIns="46246" rIns="92492" bIns="46246" rtlCol="0" anchor="b"/>
          <a:lstStyle>
            <a:lvl1pPr algn="l">
              <a:defRPr sz="1200"/>
            </a:lvl1pPr>
          </a:lstStyle>
          <a:p>
            <a:endParaRPr lang="en-US"/>
          </a:p>
        </p:txBody>
      </p:sp>
      <p:sp>
        <p:nvSpPr>
          <p:cNvPr id="5" name="Slide Number Placeholder 4"/>
          <p:cNvSpPr>
            <a:spLocks noGrp="1"/>
          </p:cNvSpPr>
          <p:nvPr>
            <p:ph type="sldNum" sz="quarter" idx="3"/>
          </p:nvPr>
        </p:nvSpPr>
        <p:spPr>
          <a:xfrm>
            <a:off x="3936768" y="8772669"/>
            <a:ext cx="3011699" cy="463407"/>
          </a:xfrm>
          <a:prstGeom prst="rect">
            <a:avLst/>
          </a:prstGeom>
        </p:spPr>
        <p:txBody>
          <a:bodyPr vert="horz" lIns="92492" tIns="46246" rIns="92492" bIns="46246" rtlCol="0" anchor="b"/>
          <a:lstStyle>
            <a:lvl1pPr algn="r">
              <a:defRPr sz="1200"/>
            </a:lvl1pPr>
          </a:lstStyle>
          <a:p>
            <a:fld id="{DE1A1D34-2343-48DC-8DAC-38350B7C43D2}" type="slidenum">
              <a:rPr lang="en-US" smtClean="0"/>
              <a:t>‹#›</a:t>
            </a:fld>
            <a:endParaRPr lang="en-US"/>
          </a:p>
        </p:txBody>
      </p:sp>
    </p:spTree>
    <p:extLst>
      <p:ext uri="{BB962C8B-B14F-4D97-AF65-F5344CB8AC3E}">
        <p14:creationId xmlns:p14="http://schemas.microsoft.com/office/powerpoint/2010/main" val="3752598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3408"/>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3408"/>
          </a:xfrm>
          <a:prstGeom prst="rect">
            <a:avLst/>
          </a:prstGeom>
        </p:spPr>
        <p:txBody>
          <a:bodyPr vert="horz" lIns="92492" tIns="46246" rIns="92492" bIns="46246" rtlCol="0"/>
          <a:lstStyle>
            <a:lvl1pPr algn="r">
              <a:defRPr sz="1200"/>
            </a:lvl1pPr>
          </a:lstStyle>
          <a:p>
            <a:fld id="{915F019D-DC92-4A77-B1EF-942900685CE1}" type="datetimeFigureOut">
              <a:rPr lang="en-US" smtClean="0"/>
              <a:t>2/12/2026</a:t>
            </a:fld>
            <a:endParaRPr lang="en-US"/>
          </a:p>
        </p:txBody>
      </p:sp>
      <p:sp>
        <p:nvSpPr>
          <p:cNvPr id="4" name="Slide Image Placeholder 3"/>
          <p:cNvSpPr>
            <a:spLocks noGrp="1" noRot="1" noChangeAspect="1"/>
          </p:cNvSpPr>
          <p:nvPr>
            <p:ph type="sldImg" idx="2"/>
          </p:nvPr>
        </p:nvSpPr>
        <p:spPr>
          <a:xfrm>
            <a:off x="703263" y="1154113"/>
            <a:ext cx="5543550" cy="3117850"/>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444861"/>
            <a:ext cx="5560060" cy="3636705"/>
          </a:xfrm>
          <a:prstGeom prst="rect">
            <a:avLst/>
          </a:prstGeom>
        </p:spPr>
        <p:txBody>
          <a:bodyPr vert="horz" lIns="92492" tIns="46246" rIns="92492" bIns="46246"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3407"/>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3407"/>
          </a:xfrm>
          <a:prstGeom prst="rect">
            <a:avLst/>
          </a:prstGeom>
        </p:spPr>
        <p:txBody>
          <a:bodyPr vert="horz" lIns="92492" tIns="46246" rIns="92492" bIns="46246" rtlCol="0" anchor="b"/>
          <a:lstStyle>
            <a:lvl1pPr algn="r">
              <a:defRPr sz="1200"/>
            </a:lvl1pPr>
          </a:lstStyle>
          <a:p>
            <a:fld id="{0D4F6081-CA06-490B-95C0-7590F14B77A5}" type="slidenum">
              <a:rPr lang="en-US" smtClean="0"/>
              <a:t>‹#›</a:t>
            </a:fld>
            <a:endParaRPr lang="en-US"/>
          </a:p>
        </p:txBody>
      </p:sp>
    </p:spTree>
    <p:extLst>
      <p:ext uri="{BB962C8B-B14F-4D97-AF65-F5344CB8AC3E}">
        <p14:creationId xmlns:p14="http://schemas.microsoft.com/office/powerpoint/2010/main" val="1430041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ags" Target="../tags/tag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ags" Target="../tags/tag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ags" Target="../tags/tag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ags" Target="../tags/tag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ags" Target="../tags/tag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ags" Target="../tags/tag1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ags" Target="../tags/tag1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ags" Target="../tags/tag18.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ags" Target="../tags/tag19.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ags" Target="../tags/tag20.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ags" Target="../tags/tag21.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notesMaster" Target="../notesMasters/notesMaster1.xml"/><Relationship Id="rId1" Type="http://schemas.openxmlformats.org/officeDocument/2006/relationships/tags" Target="../tags/tag22.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35.xml"/><Relationship Id="rId2" Type="http://schemas.openxmlformats.org/officeDocument/2006/relationships/notesMaster" Target="../notesMasters/notesMaster1.xml"/><Relationship Id="rId1" Type="http://schemas.openxmlformats.org/officeDocument/2006/relationships/tags" Target="../tags/tag23.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notesMaster" Target="../notesMasters/notesMaster1.xml"/><Relationship Id="rId1" Type="http://schemas.openxmlformats.org/officeDocument/2006/relationships/tags" Target="../tags/tag24.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38.xml"/><Relationship Id="rId2" Type="http://schemas.openxmlformats.org/officeDocument/2006/relationships/notesMaster" Target="../notesMasters/notesMaster1.xml"/><Relationship Id="rId1" Type="http://schemas.openxmlformats.org/officeDocument/2006/relationships/tags" Target="../tags/tag25.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39.xml"/><Relationship Id="rId2" Type="http://schemas.openxmlformats.org/officeDocument/2006/relationships/notesMaster" Target="../notesMasters/notesMaster1.xml"/><Relationship Id="rId1" Type="http://schemas.openxmlformats.org/officeDocument/2006/relationships/tags" Target="../tags/tag26.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40.xml"/><Relationship Id="rId2" Type="http://schemas.openxmlformats.org/officeDocument/2006/relationships/notesMaster" Target="../notesMasters/notesMaster1.xml"/><Relationship Id="rId1" Type="http://schemas.openxmlformats.org/officeDocument/2006/relationships/tags" Target="../tags/tag27.xml"/></Relationships>
</file>

<file path=ppt/notesSlides/_rels/notesSlide28.xml.rels><?xml version="1.0" encoding="UTF-8" standalone="yes"?>
<Relationships xmlns="http://schemas.openxmlformats.org/package/2006/relationships"><Relationship Id="rId3" Type="http://schemas.openxmlformats.org/officeDocument/2006/relationships/slide" Target="../slides/slide41.xml"/><Relationship Id="rId2" Type="http://schemas.openxmlformats.org/officeDocument/2006/relationships/notesMaster" Target="../notesMasters/notesMaster1.xml"/><Relationship Id="rId1" Type="http://schemas.openxmlformats.org/officeDocument/2006/relationships/tags" Target="../tags/tag28.xml"/></Relationships>
</file>

<file path=ppt/notesSlides/_rels/notesSlide29.xml.rels><?xml version="1.0" encoding="UTF-8" standalone="yes"?>
<Relationships xmlns="http://schemas.openxmlformats.org/package/2006/relationships"><Relationship Id="rId3" Type="http://schemas.openxmlformats.org/officeDocument/2006/relationships/slide" Target="../slides/slide42.xml"/><Relationship Id="rId2" Type="http://schemas.openxmlformats.org/officeDocument/2006/relationships/notesMaster" Target="../notesMasters/notesMaster1.xml"/><Relationship Id="rId1" Type="http://schemas.openxmlformats.org/officeDocument/2006/relationships/tags" Target="../tags/tag29.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43.xml"/><Relationship Id="rId2" Type="http://schemas.openxmlformats.org/officeDocument/2006/relationships/notesMaster" Target="../notesMasters/notesMaster1.xml"/><Relationship Id="rId1" Type="http://schemas.openxmlformats.org/officeDocument/2006/relationships/tags" Target="../tags/tag30.xml"/></Relationships>
</file>

<file path=ppt/notesSlides/_rels/notesSlide31.xml.rels><?xml version="1.0" encoding="UTF-8" standalone="yes"?>
<Relationships xmlns="http://schemas.openxmlformats.org/package/2006/relationships"><Relationship Id="rId3" Type="http://schemas.openxmlformats.org/officeDocument/2006/relationships/slide" Target="../slides/slide46.xml"/><Relationship Id="rId2" Type="http://schemas.openxmlformats.org/officeDocument/2006/relationships/notesMaster" Target="../notesMasters/notesMaster1.xml"/><Relationship Id="rId1" Type="http://schemas.openxmlformats.org/officeDocument/2006/relationships/tags" Target="../tags/tag31.xml"/></Relationships>
</file>

<file path=ppt/notesSlides/_rels/notesSlide32.xml.rels><?xml version="1.0" encoding="UTF-8" standalone="yes"?>
<Relationships xmlns="http://schemas.openxmlformats.org/package/2006/relationships"><Relationship Id="rId3" Type="http://schemas.openxmlformats.org/officeDocument/2006/relationships/slide" Target="../slides/slide47.xml"/><Relationship Id="rId2" Type="http://schemas.openxmlformats.org/officeDocument/2006/relationships/notesMaster" Target="../notesMasters/notesMaster1.xml"/><Relationship Id="rId1" Type="http://schemas.openxmlformats.org/officeDocument/2006/relationships/tags" Target="../tags/tag32.xml"/></Relationships>
</file>

<file path=ppt/notesSlides/_rels/notesSlide33.xml.rels><?xml version="1.0" encoding="UTF-8" standalone="yes"?>
<Relationships xmlns="http://schemas.openxmlformats.org/package/2006/relationships"><Relationship Id="rId3" Type="http://schemas.openxmlformats.org/officeDocument/2006/relationships/slide" Target="../slides/slide48.xml"/><Relationship Id="rId2" Type="http://schemas.openxmlformats.org/officeDocument/2006/relationships/notesMaster" Target="../notesMasters/notesMaster1.xml"/><Relationship Id="rId1" Type="http://schemas.openxmlformats.org/officeDocument/2006/relationships/tags" Target="../tags/tag33.xml"/></Relationships>
</file>

<file path=ppt/notesSlides/_rels/notesSlide34.xml.rels><?xml version="1.0" encoding="UTF-8" standalone="yes"?>
<Relationships xmlns="http://schemas.openxmlformats.org/package/2006/relationships"><Relationship Id="rId3" Type="http://schemas.openxmlformats.org/officeDocument/2006/relationships/slide" Target="../slides/slide49.xml"/><Relationship Id="rId2" Type="http://schemas.openxmlformats.org/officeDocument/2006/relationships/notesMaster" Target="../notesMasters/notesMaster1.xml"/><Relationship Id="rId1" Type="http://schemas.openxmlformats.org/officeDocument/2006/relationships/tags" Target="../tags/tag34.xml"/></Relationships>
</file>

<file path=ppt/notesSlides/_rels/notesSlide35.xml.rels><?xml version="1.0" encoding="UTF-8" standalone="yes"?>
<Relationships xmlns="http://schemas.openxmlformats.org/package/2006/relationships"><Relationship Id="rId3" Type="http://schemas.openxmlformats.org/officeDocument/2006/relationships/slide" Target="../slides/slide50.xml"/><Relationship Id="rId2" Type="http://schemas.openxmlformats.org/officeDocument/2006/relationships/notesMaster" Target="../notesMasters/notesMaster1.xml"/><Relationship Id="rId1" Type="http://schemas.openxmlformats.org/officeDocument/2006/relationships/tags" Target="../tags/tag35.xml"/></Relationships>
</file>

<file path=ppt/notesSlides/_rels/notesSlide36.xml.rels><?xml version="1.0" encoding="UTF-8" standalone="yes"?>
<Relationships xmlns="http://schemas.openxmlformats.org/package/2006/relationships"><Relationship Id="rId3" Type="http://schemas.openxmlformats.org/officeDocument/2006/relationships/slide" Target="../slides/slide51.xml"/><Relationship Id="rId2" Type="http://schemas.openxmlformats.org/officeDocument/2006/relationships/notesMaster" Target="../notesMasters/notesMaster1.xml"/><Relationship Id="rId1" Type="http://schemas.openxmlformats.org/officeDocument/2006/relationships/tags" Target="../tags/tag36.xml"/></Relationships>
</file>

<file path=ppt/notesSlides/_rels/notesSlide37.xml.rels><?xml version="1.0" encoding="UTF-8" standalone="yes"?>
<Relationships xmlns="http://schemas.openxmlformats.org/package/2006/relationships"><Relationship Id="rId3" Type="http://schemas.openxmlformats.org/officeDocument/2006/relationships/slide" Target="../slides/slide53.xml"/><Relationship Id="rId2" Type="http://schemas.openxmlformats.org/officeDocument/2006/relationships/notesMaster" Target="../notesMasters/notesMaster1.xml"/><Relationship Id="rId1" Type="http://schemas.openxmlformats.org/officeDocument/2006/relationships/tags" Target="../tags/tag37.xml"/></Relationships>
</file>

<file path=ppt/notesSlides/_rels/notesSlide38.xml.rels><?xml version="1.0" encoding="UTF-8" standalone="yes"?>
<Relationships xmlns="http://schemas.openxmlformats.org/package/2006/relationships"><Relationship Id="rId3" Type="http://schemas.openxmlformats.org/officeDocument/2006/relationships/slide" Target="../slides/slide54.xml"/><Relationship Id="rId2" Type="http://schemas.openxmlformats.org/officeDocument/2006/relationships/notesMaster" Target="../notesMasters/notesMaster1.xml"/><Relationship Id="rId1" Type="http://schemas.openxmlformats.org/officeDocument/2006/relationships/tags" Target="../tags/tag38.xml"/></Relationships>
</file>

<file path=ppt/notesSlides/_rels/notesSlide39.xml.rels><?xml version="1.0" encoding="UTF-8" standalone="yes"?>
<Relationships xmlns="http://schemas.openxmlformats.org/package/2006/relationships"><Relationship Id="rId3" Type="http://schemas.openxmlformats.org/officeDocument/2006/relationships/slide" Target="../slides/slide55.xml"/><Relationship Id="rId2" Type="http://schemas.openxmlformats.org/officeDocument/2006/relationships/notesMaster" Target="../notesMasters/notesMaster1.xml"/><Relationship Id="rId1" Type="http://schemas.openxmlformats.org/officeDocument/2006/relationships/tags" Target="../tags/tag39.xml"/></Relationships>
</file>

<file path=ppt/notesSlides/_rels/notesSlide40.xml.rels><?xml version="1.0" encoding="UTF-8" standalone="yes"?>
<Relationships xmlns="http://schemas.openxmlformats.org/package/2006/relationships"><Relationship Id="rId3" Type="http://schemas.openxmlformats.org/officeDocument/2006/relationships/slide" Target="../slides/slide57.xml"/><Relationship Id="rId2" Type="http://schemas.openxmlformats.org/officeDocument/2006/relationships/notesMaster" Target="../notesMasters/notesMaster1.xml"/><Relationship Id="rId1" Type="http://schemas.openxmlformats.org/officeDocument/2006/relationships/tags" Target="../tags/tag40.xml"/></Relationships>
</file>

<file path=ppt/notesSlides/_rels/notesSlide41.xml.rels><?xml version="1.0" encoding="UTF-8" standalone="yes"?>
<Relationships xmlns="http://schemas.openxmlformats.org/package/2006/relationships"><Relationship Id="rId3" Type="http://schemas.openxmlformats.org/officeDocument/2006/relationships/slide" Target="../slides/slide58.xml"/><Relationship Id="rId2" Type="http://schemas.openxmlformats.org/officeDocument/2006/relationships/notesMaster" Target="../notesMasters/notesMaster1.xml"/><Relationship Id="rId1" Type="http://schemas.openxmlformats.org/officeDocument/2006/relationships/tags" Target="../tags/tag41.xml"/></Relationships>
</file>

<file path=ppt/notesSlides/_rels/notesSlide42.xml.rels><?xml version="1.0" encoding="UTF-8" standalone="yes"?>
<Relationships xmlns="http://schemas.openxmlformats.org/package/2006/relationships"><Relationship Id="rId3" Type="http://schemas.openxmlformats.org/officeDocument/2006/relationships/slide" Target="../slides/slide59.xml"/><Relationship Id="rId2" Type="http://schemas.openxmlformats.org/officeDocument/2006/relationships/notesMaster" Target="../notesMasters/notesMaster1.xml"/><Relationship Id="rId1" Type="http://schemas.openxmlformats.org/officeDocument/2006/relationships/tags" Target="../tags/tag42.xml"/></Relationships>
</file>

<file path=ppt/notesSlides/_rels/notesSlide43.xml.rels><?xml version="1.0" encoding="UTF-8" standalone="yes"?>
<Relationships xmlns="http://schemas.openxmlformats.org/package/2006/relationships"><Relationship Id="rId3" Type="http://schemas.openxmlformats.org/officeDocument/2006/relationships/slide" Target="../slides/slide60.xml"/><Relationship Id="rId2" Type="http://schemas.openxmlformats.org/officeDocument/2006/relationships/notesMaster" Target="../notesMasters/notesMaster1.xml"/><Relationship Id="rId1" Type="http://schemas.openxmlformats.org/officeDocument/2006/relationships/tags" Target="../tags/tag43.xml"/></Relationships>
</file>

<file path=ppt/notesSlides/_rels/notesSlide44.xml.rels><?xml version="1.0" encoding="UTF-8" standalone="yes"?>
<Relationships xmlns="http://schemas.openxmlformats.org/package/2006/relationships"><Relationship Id="rId3" Type="http://schemas.openxmlformats.org/officeDocument/2006/relationships/slide" Target="../slides/slide63.xml"/><Relationship Id="rId2" Type="http://schemas.openxmlformats.org/officeDocument/2006/relationships/notesMaster" Target="../notesMasters/notesMaster1.xml"/><Relationship Id="rId1" Type="http://schemas.openxmlformats.org/officeDocument/2006/relationships/tags" Target="../tags/tag44.xml"/></Relationships>
</file>

<file path=ppt/notesSlides/_rels/notesSlide45.xml.rels><?xml version="1.0" encoding="UTF-8" standalone="yes"?>
<Relationships xmlns="http://schemas.openxmlformats.org/package/2006/relationships"><Relationship Id="rId3" Type="http://schemas.openxmlformats.org/officeDocument/2006/relationships/slide" Target="../slides/slide64.xml"/><Relationship Id="rId2" Type="http://schemas.openxmlformats.org/officeDocument/2006/relationships/notesMaster" Target="../notesMasters/notesMaster1.xml"/><Relationship Id="rId1" Type="http://schemas.openxmlformats.org/officeDocument/2006/relationships/tags" Target="../tags/tag45.xml"/></Relationships>
</file>

<file path=ppt/notesSlides/_rels/notesSlide46.xml.rels><?xml version="1.0" encoding="UTF-8" standalone="yes"?>
<Relationships xmlns="http://schemas.openxmlformats.org/package/2006/relationships"><Relationship Id="rId3" Type="http://schemas.openxmlformats.org/officeDocument/2006/relationships/slide" Target="../slides/slide65.xml"/><Relationship Id="rId2" Type="http://schemas.openxmlformats.org/officeDocument/2006/relationships/notesMaster" Target="../notesMasters/notesMaster1.xml"/><Relationship Id="rId1" Type="http://schemas.openxmlformats.org/officeDocument/2006/relationships/tags" Target="../tags/tag46.xml"/></Relationships>
</file>

<file path=ppt/notesSlides/_rels/notesSlide47.xml.rels><?xml version="1.0" encoding="UTF-8" standalone="yes"?>
<Relationships xmlns="http://schemas.openxmlformats.org/package/2006/relationships"><Relationship Id="rId3" Type="http://schemas.openxmlformats.org/officeDocument/2006/relationships/slide" Target="../slides/slide67.xml"/><Relationship Id="rId2" Type="http://schemas.openxmlformats.org/officeDocument/2006/relationships/notesMaster" Target="../notesMasters/notesMaster1.xml"/><Relationship Id="rId1" Type="http://schemas.openxmlformats.org/officeDocument/2006/relationships/tags" Target="../tags/tag47.xml"/></Relationships>
</file>

<file path=ppt/notesSlides/_rels/notesSlide48.xml.rels><?xml version="1.0" encoding="UTF-8" standalone="yes"?>
<Relationships xmlns="http://schemas.openxmlformats.org/package/2006/relationships"><Relationship Id="rId3" Type="http://schemas.openxmlformats.org/officeDocument/2006/relationships/slide" Target="../slides/slide68.xml"/><Relationship Id="rId2" Type="http://schemas.openxmlformats.org/officeDocument/2006/relationships/notesMaster" Target="../notesMasters/notesMaster1.xml"/><Relationship Id="rId1" Type="http://schemas.openxmlformats.org/officeDocument/2006/relationships/tags" Target="../tags/tag48.xml"/></Relationships>
</file>

<file path=ppt/notesSlides/_rels/notesSlide49.xml.rels><?xml version="1.0" encoding="UTF-8" standalone="yes"?>
<Relationships xmlns="http://schemas.openxmlformats.org/package/2006/relationships"><Relationship Id="rId3" Type="http://schemas.openxmlformats.org/officeDocument/2006/relationships/slide" Target="../slides/slide69.xml"/><Relationship Id="rId2" Type="http://schemas.openxmlformats.org/officeDocument/2006/relationships/notesMaster" Target="../notesMasters/notesMaster1.xml"/><Relationship Id="rId1" Type="http://schemas.openxmlformats.org/officeDocument/2006/relationships/tags" Target="../tags/tag49.xml"/></Relationships>
</file>

<file path=ppt/notesSlides/_rels/notesSlide50.xml.rels><?xml version="1.0" encoding="UTF-8" standalone="yes"?>
<Relationships xmlns="http://schemas.openxmlformats.org/package/2006/relationships"><Relationship Id="rId3" Type="http://schemas.openxmlformats.org/officeDocument/2006/relationships/slide" Target="../slides/slide70.xml"/><Relationship Id="rId2" Type="http://schemas.openxmlformats.org/officeDocument/2006/relationships/notesMaster" Target="../notesMasters/notesMaster1.xml"/><Relationship Id="rId1" Type="http://schemas.openxmlformats.org/officeDocument/2006/relationships/tags" Target="../tags/tag50.xml"/></Relationships>
</file>

<file path=ppt/notesSlides/_rels/notesSlide51.xml.rels><?xml version="1.0" encoding="UTF-8" standalone="yes"?>
<Relationships xmlns="http://schemas.openxmlformats.org/package/2006/relationships"><Relationship Id="rId3" Type="http://schemas.openxmlformats.org/officeDocument/2006/relationships/slide" Target="../slides/slide71.xml"/><Relationship Id="rId2" Type="http://schemas.openxmlformats.org/officeDocument/2006/relationships/notesMaster" Target="../notesMasters/notesMaster1.xml"/><Relationship Id="rId1" Type="http://schemas.openxmlformats.org/officeDocument/2006/relationships/tags" Target="../tags/tag51.xml"/></Relationships>
</file>

<file path=ppt/notesSlides/_rels/notesSlide52.xml.rels><?xml version="1.0" encoding="UTF-8" standalone="yes"?>
<Relationships xmlns="http://schemas.openxmlformats.org/package/2006/relationships"><Relationship Id="rId3" Type="http://schemas.openxmlformats.org/officeDocument/2006/relationships/slide" Target="../slides/slide72.xml"/><Relationship Id="rId2" Type="http://schemas.openxmlformats.org/officeDocument/2006/relationships/notesMaster" Target="../notesMasters/notesMaster1.xml"/><Relationship Id="rId1" Type="http://schemas.openxmlformats.org/officeDocument/2006/relationships/tags" Target="../tags/tag52.xml"/></Relationships>
</file>

<file path=ppt/notesSlides/_rels/notesSlide53.xml.rels><?xml version="1.0" encoding="UTF-8" standalone="yes"?>
<Relationships xmlns="http://schemas.openxmlformats.org/package/2006/relationships"><Relationship Id="rId3" Type="http://schemas.openxmlformats.org/officeDocument/2006/relationships/slide" Target="../slides/slide73.xml"/><Relationship Id="rId2" Type="http://schemas.openxmlformats.org/officeDocument/2006/relationships/notesMaster" Target="../notesMasters/notesMaster1.xml"/><Relationship Id="rId1" Type="http://schemas.openxmlformats.org/officeDocument/2006/relationships/tags" Target="../tags/tag53.xml"/></Relationships>
</file>

<file path=ppt/notesSlides/_rels/notesSlide54.xml.rels><?xml version="1.0" encoding="UTF-8" standalone="yes"?>
<Relationships xmlns="http://schemas.openxmlformats.org/package/2006/relationships"><Relationship Id="rId3" Type="http://schemas.openxmlformats.org/officeDocument/2006/relationships/slide" Target="../slides/slide74.xml"/><Relationship Id="rId2" Type="http://schemas.openxmlformats.org/officeDocument/2006/relationships/notesMaster" Target="../notesMasters/notesMaster1.xml"/><Relationship Id="rId1" Type="http://schemas.openxmlformats.org/officeDocument/2006/relationships/tags" Target="../tags/tag54.xml"/></Relationships>
</file>

<file path=ppt/notesSlides/_rels/notesSlide55.xml.rels><?xml version="1.0" encoding="UTF-8" standalone="yes"?>
<Relationships xmlns="http://schemas.openxmlformats.org/package/2006/relationships"><Relationship Id="rId3" Type="http://schemas.openxmlformats.org/officeDocument/2006/relationships/slide" Target="../slides/slide76.xml"/><Relationship Id="rId2" Type="http://schemas.openxmlformats.org/officeDocument/2006/relationships/notesMaster" Target="../notesMasters/notesMaster1.xml"/><Relationship Id="rId1" Type="http://schemas.openxmlformats.org/officeDocument/2006/relationships/tags" Target="../tags/tag55.xml"/></Relationships>
</file>

<file path=ppt/notesSlides/_rels/notesSlide56.xml.rels><?xml version="1.0" encoding="UTF-8" standalone="yes"?>
<Relationships xmlns="http://schemas.openxmlformats.org/package/2006/relationships"><Relationship Id="rId3" Type="http://schemas.openxmlformats.org/officeDocument/2006/relationships/slide" Target="../slides/slide80.xml"/><Relationship Id="rId2" Type="http://schemas.openxmlformats.org/officeDocument/2006/relationships/notesMaster" Target="../notesMasters/notesMaster1.xml"/><Relationship Id="rId1" Type="http://schemas.openxmlformats.org/officeDocument/2006/relationships/tags" Target="../tags/tag56.xml"/></Relationships>
</file>

<file path=ppt/notesSlides/_rels/notesSlide57.xml.rels><?xml version="1.0" encoding="UTF-8" standalone="yes"?>
<Relationships xmlns="http://schemas.openxmlformats.org/package/2006/relationships"><Relationship Id="rId3" Type="http://schemas.openxmlformats.org/officeDocument/2006/relationships/slide" Target="../slides/slide81.xml"/><Relationship Id="rId2" Type="http://schemas.openxmlformats.org/officeDocument/2006/relationships/notesMaster" Target="../notesMasters/notesMaster1.xml"/><Relationship Id="rId1" Type="http://schemas.openxmlformats.org/officeDocument/2006/relationships/tags" Target="../tags/tag57.xml"/></Relationships>
</file>

<file path=ppt/notesSlides/_rels/notesSlide58.xml.rels><?xml version="1.0" encoding="UTF-8" standalone="yes"?>
<Relationships xmlns="http://schemas.openxmlformats.org/package/2006/relationships"><Relationship Id="rId3" Type="http://schemas.openxmlformats.org/officeDocument/2006/relationships/slide" Target="../slides/slide82.xml"/><Relationship Id="rId2" Type="http://schemas.openxmlformats.org/officeDocument/2006/relationships/notesMaster" Target="../notesMasters/notesMaster1.xml"/><Relationship Id="rId1" Type="http://schemas.openxmlformats.org/officeDocument/2006/relationships/tags" Target="../tags/tag58.xml"/></Relationships>
</file>

<file path=ppt/notesSlides/_rels/notesSlide59.xml.rels><?xml version="1.0" encoding="UTF-8" standalone="yes"?>
<Relationships xmlns="http://schemas.openxmlformats.org/package/2006/relationships"><Relationship Id="rId3" Type="http://schemas.openxmlformats.org/officeDocument/2006/relationships/slide" Target="../slides/slide83.xml"/><Relationship Id="rId2" Type="http://schemas.openxmlformats.org/officeDocument/2006/relationships/notesMaster" Target="../notesMasters/notesMaster1.xml"/><Relationship Id="rId1" Type="http://schemas.openxmlformats.org/officeDocument/2006/relationships/tags" Target="../tags/tag59.xml"/></Relationships>
</file>

<file path=ppt/notesSlides/_rels/notesSlide60.xml.rels><?xml version="1.0" encoding="UTF-8" standalone="yes"?>
<Relationships xmlns="http://schemas.openxmlformats.org/package/2006/relationships"><Relationship Id="rId3" Type="http://schemas.openxmlformats.org/officeDocument/2006/relationships/slide" Target="../slides/slide84.xml"/><Relationship Id="rId2" Type="http://schemas.openxmlformats.org/officeDocument/2006/relationships/notesMaster" Target="../notesMasters/notesMaster1.xml"/><Relationship Id="rId1" Type="http://schemas.openxmlformats.org/officeDocument/2006/relationships/tags" Target="../tags/tag60.xml"/></Relationships>
</file>

<file path=ppt/notesSlides/_rels/notesSlide61.xml.rels><?xml version="1.0" encoding="UTF-8" standalone="yes"?>
<Relationships xmlns="http://schemas.openxmlformats.org/package/2006/relationships"><Relationship Id="rId3" Type="http://schemas.openxmlformats.org/officeDocument/2006/relationships/slide" Target="../slides/slide87.xml"/><Relationship Id="rId2" Type="http://schemas.openxmlformats.org/officeDocument/2006/relationships/notesMaster" Target="../notesMasters/notesMaster1.xml"/><Relationship Id="rId1" Type="http://schemas.openxmlformats.org/officeDocument/2006/relationships/tags" Target="../tags/tag61.xml"/></Relationships>
</file>

<file path=ppt/notesSlides/_rels/notesSlide62.xml.rels><?xml version="1.0" encoding="UTF-8" standalone="yes"?>
<Relationships xmlns="http://schemas.openxmlformats.org/package/2006/relationships"><Relationship Id="rId3" Type="http://schemas.openxmlformats.org/officeDocument/2006/relationships/slide" Target="../slides/slide88.xml"/><Relationship Id="rId2" Type="http://schemas.openxmlformats.org/officeDocument/2006/relationships/notesMaster" Target="../notesMasters/notesMaster1.xml"/><Relationship Id="rId1" Type="http://schemas.openxmlformats.org/officeDocument/2006/relationships/tags" Target="../tags/tag62.xml"/></Relationships>
</file>

<file path=ppt/notesSlides/_rels/notesSlide63.xml.rels><?xml version="1.0" encoding="UTF-8" standalone="yes"?>
<Relationships xmlns="http://schemas.openxmlformats.org/package/2006/relationships"><Relationship Id="rId3" Type="http://schemas.openxmlformats.org/officeDocument/2006/relationships/slide" Target="../slides/slide89.xml"/><Relationship Id="rId2" Type="http://schemas.openxmlformats.org/officeDocument/2006/relationships/notesMaster" Target="../notesMasters/notesMaster1.xml"/><Relationship Id="rId1" Type="http://schemas.openxmlformats.org/officeDocument/2006/relationships/tags" Target="../tags/tag63.xml"/></Relationships>
</file>

<file path=ppt/notesSlides/_rels/notesSlide64.xml.rels><?xml version="1.0" encoding="UTF-8" standalone="yes"?>
<Relationships xmlns="http://schemas.openxmlformats.org/package/2006/relationships"><Relationship Id="rId3" Type="http://schemas.openxmlformats.org/officeDocument/2006/relationships/slide" Target="../slides/slide90.xml"/><Relationship Id="rId2" Type="http://schemas.openxmlformats.org/officeDocument/2006/relationships/notesMaster" Target="../notesMasters/notesMaster1.xml"/><Relationship Id="rId1" Type="http://schemas.openxmlformats.org/officeDocument/2006/relationships/tags" Target="../tags/tag64.xml"/></Relationships>
</file>

<file path=ppt/notesSlides/_rels/notesSlide65.xml.rels><?xml version="1.0" encoding="UTF-8" standalone="yes"?>
<Relationships xmlns="http://schemas.openxmlformats.org/package/2006/relationships"><Relationship Id="rId3" Type="http://schemas.openxmlformats.org/officeDocument/2006/relationships/slide" Target="../slides/slide97.xml"/><Relationship Id="rId2" Type="http://schemas.openxmlformats.org/officeDocument/2006/relationships/notesMaster" Target="../notesMasters/notesMaster1.xml"/><Relationship Id="rId1" Type="http://schemas.openxmlformats.org/officeDocument/2006/relationships/tags" Target="../tags/tag65.xml"/></Relationships>
</file>

<file path=ppt/notesSlides/_rels/notesSlide66.xml.rels><?xml version="1.0" encoding="UTF-8" standalone="yes"?>
<Relationships xmlns="http://schemas.openxmlformats.org/package/2006/relationships"><Relationship Id="rId3" Type="http://schemas.openxmlformats.org/officeDocument/2006/relationships/slide" Target="../slides/slide98.xml"/><Relationship Id="rId2" Type="http://schemas.openxmlformats.org/officeDocument/2006/relationships/notesMaster" Target="../notesMasters/notesMaster1.xml"/><Relationship Id="rId1" Type="http://schemas.openxmlformats.org/officeDocument/2006/relationships/tags" Target="../tags/tag66.xml"/></Relationships>
</file>

<file path=ppt/notesSlides/_rels/notesSlide67.xml.rels><?xml version="1.0" encoding="UTF-8" standalone="yes"?>
<Relationships xmlns="http://schemas.openxmlformats.org/package/2006/relationships"><Relationship Id="rId3" Type="http://schemas.openxmlformats.org/officeDocument/2006/relationships/slide" Target="../slides/slide99.xml"/><Relationship Id="rId2" Type="http://schemas.openxmlformats.org/officeDocument/2006/relationships/notesMaster" Target="../notesMasters/notesMaster1.xml"/><Relationship Id="rId1" Type="http://schemas.openxmlformats.org/officeDocument/2006/relationships/tags" Target="../tags/tag67.xml"/></Relationships>
</file>

<file path=ppt/notesSlides/_rels/notesSlide68.xml.rels><?xml version="1.0" encoding="UTF-8" standalone="yes"?>
<Relationships xmlns="http://schemas.openxmlformats.org/package/2006/relationships"><Relationship Id="rId3" Type="http://schemas.openxmlformats.org/officeDocument/2006/relationships/slide" Target="../slides/slide100.xml"/><Relationship Id="rId2" Type="http://schemas.openxmlformats.org/officeDocument/2006/relationships/notesMaster" Target="../notesMasters/notesMaster1.xml"/><Relationship Id="rId1" Type="http://schemas.openxmlformats.org/officeDocument/2006/relationships/tags" Target="../tags/tag68.xml"/></Relationships>
</file>

<file path=ppt/notesSlides/_rels/notesSlide69.xml.rels><?xml version="1.0" encoding="UTF-8" standalone="yes"?>
<Relationships xmlns="http://schemas.openxmlformats.org/package/2006/relationships"><Relationship Id="rId3" Type="http://schemas.openxmlformats.org/officeDocument/2006/relationships/slide" Target="../slides/slide101.xml"/><Relationship Id="rId2" Type="http://schemas.openxmlformats.org/officeDocument/2006/relationships/notesMaster" Target="../notesMasters/notesMaster1.xml"/><Relationship Id="rId1" Type="http://schemas.openxmlformats.org/officeDocument/2006/relationships/tags" Target="../tags/tag69.xml"/></Relationships>
</file>

<file path=ppt/notesSlides/_rels/notesSlide70.xml.rels><?xml version="1.0" encoding="UTF-8" standalone="yes"?>
<Relationships xmlns="http://schemas.openxmlformats.org/package/2006/relationships"><Relationship Id="rId3" Type="http://schemas.openxmlformats.org/officeDocument/2006/relationships/slide" Target="../slides/slide102.xml"/><Relationship Id="rId2" Type="http://schemas.openxmlformats.org/officeDocument/2006/relationships/notesMaster" Target="../notesMasters/notesMaster1.xml"/><Relationship Id="rId1" Type="http://schemas.openxmlformats.org/officeDocument/2006/relationships/tags" Target="../tags/tag70.xml"/></Relationships>
</file>

<file path=ppt/notesSlides/_rels/notesSlide71.xml.rels><?xml version="1.0" encoding="UTF-8" standalone="yes"?>
<Relationships xmlns="http://schemas.openxmlformats.org/package/2006/relationships"><Relationship Id="rId3" Type="http://schemas.openxmlformats.org/officeDocument/2006/relationships/slide" Target="../slides/slide103.xml"/><Relationship Id="rId2" Type="http://schemas.openxmlformats.org/officeDocument/2006/relationships/notesMaster" Target="../notesMasters/notesMaster1.xml"/><Relationship Id="rId1" Type="http://schemas.openxmlformats.org/officeDocument/2006/relationships/tags" Target="../tags/tag71.xml"/></Relationships>
</file>

<file path=ppt/notesSlides/_rels/notesSlide72.xml.rels><?xml version="1.0" encoding="UTF-8" standalone="yes"?>
<Relationships xmlns="http://schemas.openxmlformats.org/package/2006/relationships"><Relationship Id="rId3" Type="http://schemas.openxmlformats.org/officeDocument/2006/relationships/slide" Target="../slides/slide104.xml"/><Relationship Id="rId2" Type="http://schemas.openxmlformats.org/officeDocument/2006/relationships/notesMaster" Target="../notesMasters/notesMaster1.xml"/><Relationship Id="rId1" Type="http://schemas.openxmlformats.org/officeDocument/2006/relationships/tags" Target="../tags/tag72.xml"/></Relationships>
</file>

<file path=ppt/notesSlides/_rels/notesSlide73.xml.rels><?xml version="1.0" encoding="UTF-8" standalone="yes"?>
<Relationships xmlns="http://schemas.openxmlformats.org/package/2006/relationships"><Relationship Id="rId3" Type="http://schemas.openxmlformats.org/officeDocument/2006/relationships/slide" Target="../slides/slide105.xml"/><Relationship Id="rId2" Type="http://schemas.openxmlformats.org/officeDocument/2006/relationships/notesMaster" Target="../notesMasters/notesMaster1.xml"/><Relationship Id="rId1" Type="http://schemas.openxmlformats.org/officeDocument/2006/relationships/tags" Target="../tags/tag73.xml"/></Relationships>
</file>

<file path=ppt/notesSlides/_rels/notesSlide74.xml.rels><?xml version="1.0" encoding="UTF-8" standalone="yes"?>
<Relationships xmlns="http://schemas.openxmlformats.org/package/2006/relationships"><Relationship Id="rId3" Type="http://schemas.openxmlformats.org/officeDocument/2006/relationships/slide" Target="../slides/slide106.xml"/><Relationship Id="rId2" Type="http://schemas.openxmlformats.org/officeDocument/2006/relationships/notesMaster" Target="../notesMasters/notesMaster1.xml"/><Relationship Id="rId1" Type="http://schemas.openxmlformats.org/officeDocument/2006/relationships/tags" Target="../tags/tag74.xml"/></Relationships>
</file>

<file path=ppt/notesSlides/_rels/notesSlide75.xml.rels><?xml version="1.0" encoding="UTF-8" standalone="yes"?>
<Relationships xmlns="http://schemas.openxmlformats.org/package/2006/relationships"><Relationship Id="rId3" Type="http://schemas.openxmlformats.org/officeDocument/2006/relationships/slide" Target="../slides/slide107.xml"/><Relationship Id="rId2" Type="http://schemas.openxmlformats.org/officeDocument/2006/relationships/notesMaster" Target="../notesMasters/notesMaster1.xml"/><Relationship Id="rId1" Type="http://schemas.openxmlformats.org/officeDocument/2006/relationships/tags" Target="../tags/tag75.xml"/></Relationships>
</file>

<file path=ppt/notesSlides/_rels/notesSlide76.xml.rels><?xml version="1.0" encoding="UTF-8" standalone="yes"?>
<Relationships xmlns="http://schemas.openxmlformats.org/package/2006/relationships"><Relationship Id="rId3" Type="http://schemas.openxmlformats.org/officeDocument/2006/relationships/slide" Target="../slides/slide108.xml"/><Relationship Id="rId2" Type="http://schemas.openxmlformats.org/officeDocument/2006/relationships/notesMaster" Target="../notesMasters/notesMaster1.xml"/><Relationship Id="rId1" Type="http://schemas.openxmlformats.org/officeDocument/2006/relationships/tags" Target="../tags/tag76.xml"/></Relationships>
</file>

<file path=ppt/notesSlides/_rels/notesSlide77.xml.rels><?xml version="1.0" encoding="UTF-8" standalone="yes"?>
<Relationships xmlns="http://schemas.openxmlformats.org/package/2006/relationships"><Relationship Id="rId3" Type="http://schemas.openxmlformats.org/officeDocument/2006/relationships/slide" Target="../slides/slide109.xml"/><Relationship Id="rId2" Type="http://schemas.openxmlformats.org/officeDocument/2006/relationships/notesMaster" Target="../notesMasters/notesMaster1.xml"/><Relationship Id="rId1" Type="http://schemas.openxmlformats.org/officeDocument/2006/relationships/tags" Target="../tags/tag77.xml"/></Relationships>
</file>

<file path=ppt/notesSlides/_rels/notesSlide78.xml.rels><?xml version="1.0" encoding="UTF-8" standalone="yes"?>
<Relationships xmlns="http://schemas.openxmlformats.org/package/2006/relationships"><Relationship Id="rId3" Type="http://schemas.openxmlformats.org/officeDocument/2006/relationships/slide" Target="../slides/slide110.xml"/><Relationship Id="rId2" Type="http://schemas.openxmlformats.org/officeDocument/2006/relationships/notesMaster" Target="../notesMasters/notesMaster1.xml"/><Relationship Id="rId1" Type="http://schemas.openxmlformats.org/officeDocument/2006/relationships/tags" Target="../tags/tag78.xml"/></Relationships>
</file>

<file path=ppt/notesSlides/_rels/notesSlide79.xml.rels><?xml version="1.0" encoding="UTF-8" standalone="yes"?>
<Relationships xmlns="http://schemas.openxmlformats.org/package/2006/relationships"><Relationship Id="rId3" Type="http://schemas.openxmlformats.org/officeDocument/2006/relationships/slide" Target="../slides/slide111.xml"/><Relationship Id="rId2" Type="http://schemas.openxmlformats.org/officeDocument/2006/relationships/notesMaster" Target="../notesMasters/notesMaster1.xml"/><Relationship Id="rId1" Type="http://schemas.openxmlformats.org/officeDocument/2006/relationships/tags" Target="../tags/tag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5</a:t>
            </a:fld>
            <a:endParaRPr lang="en-US"/>
          </a:p>
        </p:txBody>
      </p:sp>
    </p:spTree>
    <p:extLst>
      <p:ext uri="{BB962C8B-B14F-4D97-AF65-F5344CB8AC3E}">
        <p14:creationId xmlns:p14="http://schemas.microsoft.com/office/powerpoint/2010/main" val="3171369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6</a:t>
            </a:fld>
            <a:endParaRPr lang="en-US"/>
          </a:p>
        </p:txBody>
      </p:sp>
    </p:spTree>
    <p:extLst>
      <p:ext uri="{BB962C8B-B14F-4D97-AF65-F5344CB8AC3E}">
        <p14:creationId xmlns:p14="http://schemas.microsoft.com/office/powerpoint/2010/main" val="224078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10</a:t>
            </a:fld>
            <a:endParaRPr lang="en-US"/>
          </a:p>
        </p:txBody>
      </p:sp>
    </p:spTree>
    <p:extLst>
      <p:ext uri="{BB962C8B-B14F-4D97-AF65-F5344CB8AC3E}">
        <p14:creationId xmlns:p14="http://schemas.microsoft.com/office/powerpoint/2010/main" val="3079919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11</a:t>
            </a:fld>
            <a:endParaRPr lang="en-US"/>
          </a:p>
        </p:txBody>
      </p:sp>
    </p:spTree>
    <p:extLst>
      <p:ext uri="{BB962C8B-B14F-4D97-AF65-F5344CB8AC3E}">
        <p14:creationId xmlns:p14="http://schemas.microsoft.com/office/powerpoint/2010/main" val="1599696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12</a:t>
            </a:fld>
            <a:endParaRPr lang="en-US"/>
          </a:p>
        </p:txBody>
      </p:sp>
    </p:spTree>
    <p:extLst>
      <p:ext uri="{BB962C8B-B14F-4D97-AF65-F5344CB8AC3E}">
        <p14:creationId xmlns:p14="http://schemas.microsoft.com/office/powerpoint/2010/main" val="2680742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13</a:t>
            </a:fld>
            <a:endParaRPr lang="en-US"/>
          </a:p>
        </p:txBody>
      </p:sp>
    </p:spTree>
    <p:extLst>
      <p:ext uri="{BB962C8B-B14F-4D97-AF65-F5344CB8AC3E}">
        <p14:creationId xmlns:p14="http://schemas.microsoft.com/office/powerpoint/2010/main" val="1260424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14</a:t>
            </a:fld>
            <a:endParaRPr lang="en-US"/>
          </a:p>
        </p:txBody>
      </p:sp>
    </p:spTree>
    <p:extLst>
      <p:ext uri="{BB962C8B-B14F-4D97-AF65-F5344CB8AC3E}">
        <p14:creationId xmlns:p14="http://schemas.microsoft.com/office/powerpoint/2010/main" val="3164921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15</a:t>
            </a:fld>
            <a:endParaRPr lang="en-US"/>
          </a:p>
        </p:txBody>
      </p:sp>
    </p:spTree>
    <p:extLst>
      <p:ext uri="{BB962C8B-B14F-4D97-AF65-F5344CB8AC3E}">
        <p14:creationId xmlns:p14="http://schemas.microsoft.com/office/powerpoint/2010/main" val="33898308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19</a:t>
            </a:fld>
            <a:endParaRPr lang="en-US"/>
          </a:p>
        </p:txBody>
      </p:sp>
    </p:spTree>
    <p:extLst>
      <p:ext uri="{BB962C8B-B14F-4D97-AF65-F5344CB8AC3E}">
        <p14:creationId xmlns:p14="http://schemas.microsoft.com/office/powerpoint/2010/main" val="2373332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20</a:t>
            </a:fld>
            <a:endParaRPr lang="en-US"/>
          </a:p>
        </p:txBody>
      </p:sp>
    </p:spTree>
    <p:extLst>
      <p:ext uri="{BB962C8B-B14F-4D97-AF65-F5344CB8AC3E}">
        <p14:creationId xmlns:p14="http://schemas.microsoft.com/office/powerpoint/2010/main" val="2020071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21</a:t>
            </a:fld>
            <a:endParaRPr lang="en-US"/>
          </a:p>
        </p:txBody>
      </p:sp>
    </p:spTree>
    <p:extLst>
      <p:ext uri="{BB962C8B-B14F-4D97-AF65-F5344CB8AC3E}">
        <p14:creationId xmlns:p14="http://schemas.microsoft.com/office/powerpoint/2010/main" val="141421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22</a:t>
            </a:fld>
            <a:endParaRPr lang="en-US"/>
          </a:p>
        </p:txBody>
      </p:sp>
    </p:spTree>
    <p:extLst>
      <p:ext uri="{BB962C8B-B14F-4D97-AF65-F5344CB8AC3E}">
        <p14:creationId xmlns:p14="http://schemas.microsoft.com/office/powerpoint/2010/main" val="8219602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23</a:t>
            </a:fld>
            <a:endParaRPr lang="en-US"/>
          </a:p>
        </p:txBody>
      </p:sp>
    </p:spTree>
    <p:extLst>
      <p:ext uri="{BB962C8B-B14F-4D97-AF65-F5344CB8AC3E}">
        <p14:creationId xmlns:p14="http://schemas.microsoft.com/office/powerpoint/2010/main" val="41486379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24</a:t>
            </a:fld>
            <a:endParaRPr lang="en-US"/>
          </a:p>
        </p:txBody>
      </p:sp>
    </p:spTree>
    <p:extLst>
      <p:ext uri="{BB962C8B-B14F-4D97-AF65-F5344CB8AC3E}">
        <p14:creationId xmlns:p14="http://schemas.microsoft.com/office/powerpoint/2010/main" val="29292408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27</a:t>
            </a:fld>
            <a:endParaRPr lang="en-US"/>
          </a:p>
        </p:txBody>
      </p:sp>
    </p:spTree>
    <p:extLst>
      <p:ext uri="{BB962C8B-B14F-4D97-AF65-F5344CB8AC3E}">
        <p14:creationId xmlns:p14="http://schemas.microsoft.com/office/powerpoint/2010/main" val="22315261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28</a:t>
            </a:fld>
            <a:endParaRPr lang="en-US"/>
          </a:p>
        </p:txBody>
      </p:sp>
    </p:spTree>
    <p:extLst>
      <p:ext uri="{BB962C8B-B14F-4D97-AF65-F5344CB8AC3E}">
        <p14:creationId xmlns:p14="http://schemas.microsoft.com/office/powerpoint/2010/main" val="25558501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29</a:t>
            </a:fld>
            <a:endParaRPr lang="en-US"/>
          </a:p>
        </p:txBody>
      </p:sp>
    </p:spTree>
    <p:extLst>
      <p:ext uri="{BB962C8B-B14F-4D97-AF65-F5344CB8AC3E}">
        <p14:creationId xmlns:p14="http://schemas.microsoft.com/office/powerpoint/2010/main" val="4177883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30</a:t>
            </a:fld>
            <a:endParaRPr lang="en-US"/>
          </a:p>
        </p:txBody>
      </p:sp>
    </p:spTree>
    <p:extLst>
      <p:ext uri="{BB962C8B-B14F-4D97-AF65-F5344CB8AC3E}">
        <p14:creationId xmlns:p14="http://schemas.microsoft.com/office/powerpoint/2010/main" val="34549624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31</a:t>
            </a:fld>
            <a:endParaRPr lang="en-US"/>
          </a:p>
        </p:txBody>
      </p:sp>
    </p:spTree>
    <p:extLst>
      <p:ext uri="{BB962C8B-B14F-4D97-AF65-F5344CB8AC3E}">
        <p14:creationId xmlns:p14="http://schemas.microsoft.com/office/powerpoint/2010/main" val="6752248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32</a:t>
            </a:fld>
            <a:endParaRPr lang="en-US"/>
          </a:p>
        </p:txBody>
      </p:sp>
    </p:spTree>
    <p:extLst>
      <p:ext uri="{BB962C8B-B14F-4D97-AF65-F5344CB8AC3E}">
        <p14:creationId xmlns:p14="http://schemas.microsoft.com/office/powerpoint/2010/main" val="631045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33</a:t>
            </a:fld>
            <a:endParaRPr lang="en-US"/>
          </a:p>
        </p:txBody>
      </p:sp>
    </p:spTree>
    <p:extLst>
      <p:ext uri="{BB962C8B-B14F-4D97-AF65-F5344CB8AC3E}">
        <p14:creationId xmlns:p14="http://schemas.microsoft.com/office/powerpoint/2010/main" val="172115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34</a:t>
            </a:fld>
            <a:endParaRPr lang="en-US"/>
          </a:p>
        </p:txBody>
      </p:sp>
    </p:spTree>
    <p:extLst>
      <p:ext uri="{BB962C8B-B14F-4D97-AF65-F5344CB8AC3E}">
        <p14:creationId xmlns:p14="http://schemas.microsoft.com/office/powerpoint/2010/main" val="13021065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35</a:t>
            </a:fld>
            <a:endParaRPr lang="en-US"/>
          </a:p>
        </p:txBody>
      </p:sp>
    </p:spTree>
    <p:extLst>
      <p:ext uri="{BB962C8B-B14F-4D97-AF65-F5344CB8AC3E}">
        <p14:creationId xmlns:p14="http://schemas.microsoft.com/office/powerpoint/2010/main" val="20312369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36</a:t>
            </a:fld>
            <a:endParaRPr lang="en-US"/>
          </a:p>
        </p:txBody>
      </p:sp>
    </p:spTree>
    <p:extLst>
      <p:ext uri="{BB962C8B-B14F-4D97-AF65-F5344CB8AC3E}">
        <p14:creationId xmlns:p14="http://schemas.microsoft.com/office/powerpoint/2010/main" val="39218869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38</a:t>
            </a:fld>
            <a:endParaRPr lang="en-US"/>
          </a:p>
        </p:txBody>
      </p:sp>
    </p:spTree>
    <p:extLst>
      <p:ext uri="{BB962C8B-B14F-4D97-AF65-F5344CB8AC3E}">
        <p14:creationId xmlns:p14="http://schemas.microsoft.com/office/powerpoint/2010/main" val="18021247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39</a:t>
            </a:fld>
            <a:endParaRPr lang="en-US"/>
          </a:p>
        </p:txBody>
      </p:sp>
    </p:spTree>
    <p:extLst>
      <p:ext uri="{BB962C8B-B14F-4D97-AF65-F5344CB8AC3E}">
        <p14:creationId xmlns:p14="http://schemas.microsoft.com/office/powerpoint/2010/main" val="6612245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40</a:t>
            </a:fld>
            <a:endParaRPr lang="en-US"/>
          </a:p>
        </p:txBody>
      </p:sp>
    </p:spTree>
    <p:extLst>
      <p:ext uri="{BB962C8B-B14F-4D97-AF65-F5344CB8AC3E}">
        <p14:creationId xmlns:p14="http://schemas.microsoft.com/office/powerpoint/2010/main" val="12159062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41</a:t>
            </a:fld>
            <a:endParaRPr lang="en-US"/>
          </a:p>
        </p:txBody>
      </p:sp>
    </p:spTree>
    <p:extLst>
      <p:ext uri="{BB962C8B-B14F-4D97-AF65-F5344CB8AC3E}">
        <p14:creationId xmlns:p14="http://schemas.microsoft.com/office/powerpoint/2010/main" val="32915798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42</a:t>
            </a:fld>
            <a:endParaRPr lang="en-US"/>
          </a:p>
        </p:txBody>
      </p:sp>
    </p:spTree>
    <p:extLst>
      <p:ext uri="{BB962C8B-B14F-4D97-AF65-F5344CB8AC3E}">
        <p14:creationId xmlns:p14="http://schemas.microsoft.com/office/powerpoint/2010/main" val="41983202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43</a:t>
            </a:fld>
            <a:endParaRPr lang="en-US"/>
          </a:p>
        </p:txBody>
      </p:sp>
    </p:spTree>
    <p:extLst>
      <p:ext uri="{BB962C8B-B14F-4D97-AF65-F5344CB8AC3E}">
        <p14:creationId xmlns:p14="http://schemas.microsoft.com/office/powerpoint/2010/main" val="22342718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46</a:t>
            </a:fld>
            <a:endParaRPr lang="en-US"/>
          </a:p>
        </p:txBody>
      </p:sp>
    </p:spTree>
    <p:extLst>
      <p:ext uri="{BB962C8B-B14F-4D97-AF65-F5344CB8AC3E}">
        <p14:creationId xmlns:p14="http://schemas.microsoft.com/office/powerpoint/2010/main" val="25613387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306D2-3174-35CB-94C5-139725DE59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21B01-AF22-661D-90E1-DD19552B89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EF5D62-62FE-45DE-BE21-9CEC96A7D1BC}"/>
              </a:ext>
            </a:extLst>
          </p:cNvPr>
          <p:cNvSpPr>
            <a:spLocks noGrp="1"/>
          </p:cNvSpPr>
          <p:nvPr>
            <p:ph type="body" idx="1"/>
            <p:custDataLst>
              <p:tags r:id="rId1"/>
            </p:custDataLst>
          </p:nvPr>
        </p:nvSpPr>
        <p:spPr/>
        <p:txBody>
          <a:bodyPr/>
          <a:lstStyle/>
          <a:p>
            <a:endParaRPr lang="en-US"/>
          </a:p>
        </p:txBody>
      </p:sp>
      <p:sp>
        <p:nvSpPr>
          <p:cNvPr id="4" name="Slide Number Placeholder 3">
            <a:extLst>
              <a:ext uri="{FF2B5EF4-FFF2-40B4-BE49-F238E27FC236}">
                <a16:creationId xmlns:a16="http://schemas.microsoft.com/office/drawing/2014/main" id="{E1B7A277-F20F-CA75-E9DF-E925E410FD85}"/>
              </a:ext>
            </a:extLst>
          </p:cNvPr>
          <p:cNvSpPr>
            <a:spLocks noGrp="1"/>
          </p:cNvSpPr>
          <p:nvPr>
            <p:ph type="sldNum" sz="quarter" idx="10"/>
          </p:nvPr>
        </p:nvSpPr>
        <p:spPr/>
        <p:txBody>
          <a:bodyPr/>
          <a:lstStyle/>
          <a:p>
            <a:fld id="{0D4F6081-CA06-490B-95C0-7590F14B77A5}" type="slidenum">
              <a:rPr lang="en-US" smtClean="0"/>
              <a:t>47</a:t>
            </a:fld>
            <a:endParaRPr lang="en-US"/>
          </a:p>
        </p:txBody>
      </p:sp>
    </p:spTree>
    <p:extLst>
      <p:ext uri="{BB962C8B-B14F-4D97-AF65-F5344CB8AC3E}">
        <p14:creationId xmlns:p14="http://schemas.microsoft.com/office/powerpoint/2010/main" val="19279095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48</a:t>
            </a:fld>
            <a:endParaRPr lang="en-US"/>
          </a:p>
        </p:txBody>
      </p:sp>
    </p:spTree>
    <p:extLst>
      <p:ext uri="{BB962C8B-B14F-4D97-AF65-F5344CB8AC3E}">
        <p14:creationId xmlns:p14="http://schemas.microsoft.com/office/powerpoint/2010/main" val="35373813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49</a:t>
            </a:fld>
            <a:endParaRPr lang="en-US"/>
          </a:p>
        </p:txBody>
      </p:sp>
    </p:spTree>
    <p:extLst>
      <p:ext uri="{BB962C8B-B14F-4D97-AF65-F5344CB8AC3E}">
        <p14:creationId xmlns:p14="http://schemas.microsoft.com/office/powerpoint/2010/main" val="36288006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50</a:t>
            </a:fld>
            <a:endParaRPr lang="en-US"/>
          </a:p>
        </p:txBody>
      </p:sp>
    </p:spTree>
    <p:extLst>
      <p:ext uri="{BB962C8B-B14F-4D97-AF65-F5344CB8AC3E}">
        <p14:creationId xmlns:p14="http://schemas.microsoft.com/office/powerpoint/2010/main" val="4787256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51</a:t>
            </a:fld>
            <a:endParaRPr lang="en-US"/>
          </a:p>
        </p:txBody>
      </p:sp>
    </p:spTree>
    <p:extLst>
      <p:ext uri="{BB962C8B-B14F-4D97-AF65-F5344CB8AC3E}">
        <p14:creationId xmlns:p14="http://schemas.microsoft.com/office/powerpoint/2010/main" val="5883712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53</a:t>
            </a:fld>
            <a:endParaRPr lang="en-US"/>
          </a:p>
        </p:txBody>
      </p:sp>
    </p:spTree>
    <p:extLst>
      <p:ext uri="{BB962C8B-B14F-4D97-AF65-F5344CB8AC3E}">
        <p14:creationId xmlns:p14="http://schemas.microsoft.com/office/powerpoint/2010/main" val="15472330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54</a:t>
            </a:fld>
            <a:endParaRPr lang="en-US"/>
          </a:p>
        </p:txBody>
      </p:sp>
    </p:spTree>
    <p:extLst>
      <p:ext uri="{BB962C8B-B14F-4D97-AF65-F5344CB8AC3E}">
        <p14:creationId xmlns:p14="http://schemas.microsoft.com/office/powerpoint/2010/main" val="7583633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55</a:t>
            </a:fld>
            <a:endParaRPr lang="en-US"/>
          </a:p>
        </p:txBody>
      </p:sp>
    </p:spTree>
    <p:extLst>
      <p:ext uri="{BB962C8B-B14F-4D97-AF65-F5344CB8AC3E}">
        <p14:creationId xmlns:p14="http://schemas.microsoft.com/office/powerpoint/2010/main" val="8080083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57</a:t>
            </a:fld>
            <a:endParaRPr lang="en-US"/>
          </a:p>
        </p:txBody>
      </p:sp>
    </p:spTree>
    <p:extLst>
      <p:ext uri="{BB962C8B-B14F-4D97-AF65-F5344CB8AC3E}">
        <p14:creationId xmlns:p14="http://schemas.microsoft.com/office/powerpoint/2010/main" val="22352870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58</a:t>
            </a:fld>
            <a:endParaRPr lang="en-US"/>
          </a:p>
        </p:txBody>
      </p:sp>
    </p:spTree>
    <p:extLst>
      <p:ext uri="{BB962C8B-B14F-4D97-AF65-F5344CB8AC3E}">
        <p14:creationId xmlns:p14="http://schemas.microsoft.com/office/powerpoint/2010/main" val="10090401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59</a:t>
            </a:fld>
            <a:endParaRPr lang="en-US"/>
          </a:p>
        </p:txBody>
      </p:sp>
    </p:spTree>
    <p:extLst>
      <p:ext uri="{BB962C8B-B14F-4D97-AF65-F5344CB8AC3E}">
        <p14:creationId xmlns:p14="http://schemas.microsoft.com/office/powerpoint/2010/main" val="1065936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60</a:t>
            </a:fld>
            <a:endParaRPr lang="en-US"/>
          </a:p>
        </p:txBody>
      </p:sp>
    </p:spTree>
    <p:extLst>
      <p:ext uri="{BB962C8B-B14F-4D97-AF65-F5344CB8AC3E}">
        <p14:creationId xmlns:p14="http://schemas.microsoft.com/office/powerpoint/2010/main" val="2834651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63</a:t>
            </a:fld>
            <a:endParaRPr lang="en-US"/>
          </a:p>
        </p:txBody>
      </p:sp>
    </p:spTree>
    <p:extLst>
      <p:ext uri="{BB962C8B-B14F-4D97-AF65-F5344CB8AC3E}">
        <p14:creationId xmlns:p14="http://schemas.microsoft.com/office/powerpoint/2010/main" val="39085733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64</a:t>
            </a:fld>
            <a:endParaRPr lang="en-US"/>
          </a:p>
        </p:txBody>
      </p:sp>
    </p:spTree>
    <p:extLst>
      <p:ext uri="{BB962C8B-B14F-4D97-AF65-F5344CB8AC3E}">
        <p14:creationId xmlns:p14="http://schemas.microsoft.com/office/powerpoint/2010/main" val="36228825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65</a:t>
            </a:fld>
            <a:endParaRPr lang="en-US"/>
          </a:p>
        </p:txBody>
      </p:sp>
    </p:spTree>
    <p:extLst>
      <p:ext uri="{BB962C8B-B14F-4D97-AF65-F5344CB8AC3E}">
        <p14:creationId xmlns:p14="http://schemas.microsoft.com/office/powerpoint/2010/main" val="9491748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67</a:t>
            </a:fld>
            <a:endParaRPr lang="en-US"/>
          </a:p>
        </p:txBody>
      </p:sp>
    </p:spTree>
    <p:extLst>
      <p:ext uri="{BB962C8B-B14F-4D97-AF65-F5344CB8AC3E}">
        <p14:creationId xmlns:p14="http://schemas.microsoft.com/office/powerpoint/2010/main" val="31724755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68</a:t>
            </a:fld>
            <a:endParaRPr lang="en-US"/>
          </a:p>
        </p:txBody>
      </p:sp>
    </p:spTree>
    <p:extLst>
      <p:ext uri="{BB962C8B-B14F-4D97-AF65-F5344CB8AC3E}">
        <p14:creationId xmlns:p14="http://schemas.microsoft.com/office/powerpoint/2010/main" val="30158494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69</a:t>
            </a:fld>
            <a:endParaRPr lang="en-US"/>
          </a:p>
        </p:txBody>
      </p:sp>
    </p:spTree>
    <p:extLst>
      <p:ext uri="{BB962C8B-B14F-4D97-AF65-F5344CB8AC3E}">
        <p14:creationId xmlns:p14="http://schemas.microsoft.com/office/powerpoint/2010/main" val="31968529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70</a:t>
            </a:fld>
            <a:endParaRPr lang="en-US"/>
          </a:p>
        </p:txBody>
      </p:sp>
    </p:spTree>
    <p:extLst>
      <p:ext uri="{BB962C8B-B14F-4D97-AF65-F5344CB8AC3E}">
        <p14:creationId xmlns:p14="http://schemas.microsoft.com/office/powerpoint/2010/main" val="396732627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71</a:t>
            </a:fld>
            <a:endParaRPr lang="en-US"/>
          </a:p>
        </p:txBody>
      </p:sp>
    </p:spTree>
    <p:extLst>
      <p:ext uri="{BB962C8B-B14F-4D97-AF65-F5344CB8AC3E}">
        <p14:creationId xmlns:p14="http://schemas.microsoft.com/office/powerpoint/2010/main" val="17257549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72</a:t>
            </a:fld>
            <a:endParaRPr lang="en-US"/>
          </a:p>
        </p:txBody>
      </p:sp>
    </p:spTree>
    <p:extLst>
      <p:ext uri="{BB962C8B-B14F-4D97-AF65-F5344CB8AC3E}">
        <p14:creationId xmlns:p14="http://schemas.microsoft.com/office/powerpoint/2010/main" val="39433802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73</a:t>
            </a:fld>
            <a:endParaRPr lang="en-US"/>
          </a:p>
        </p:txBody>
      </p:sp>
    </p:spTree>
    <p:extLst>
      <p:ext uri="{BB962C8B-B14F-4D97-AF65-F5344CB8AC3E}">
        <p14:creationId xmlns:p14="http://schemas.microsoft.com/office/powerpoint/2010/main" val="38790878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74</a:t>
            </a:fld>
            <a:endParaRPr lang="en-US"/>
          </a:p>
        </p:txBody>
      </p:sp>
    </p:spTree>
    <p:extLst>
      <p:ext uri="{BB962C8B-B14F-4D97-AF65-F5344CB8AC3E}">
        <p14:creationId xmlns:p14="http://schemas.microsoft.com/office/powerpoint/2010/main" val="40751108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76</a:t>
            </a:fld>
            <a:endParaRPr lang="en-US"/>
          </a:p>
        </p:txBody>
      </p:sp>
    </p:spTree>
    <p:extLst>
      <p:ext uri="{BB962C8B-B14F-4D97-AF65-F5344CB8AC3E}">
        <p14:creationId xmlns:p14="http://schemas.microsoft.com/office/powerpoint/2010/main" val="7796927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80</a:t>
            </a:fld>
            <a:endParaRPr lang="en-US"/>
          </a:p>
        </p:txBody>
      </p:sp>
    </p:spTree>
    <p:extLst>
      <p:ext uri="{BB962C8B-B14F-4D97-AF65-F5344CB8AC3E}">
        <p14:creationId xmlns:p14="http://schemas.microsoft.com/office/powerpoint/2010/main" val="122169795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81</a:t>
            </a:fld>
            <a:endParaRPr lang="en-US"/>
          </a:p>
        </p:txBody>
      </p:sp>
    </p:spTree>
    <p:extLst>
      <p:ext uri="{BB962C8B-B14F-4D97-AF65-F5344CB8AC3E}">
        <p14:creationId xmlns:p14="http://schemas.microsoft.com/office/powerpoint/2010/main" val="24199178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82</a:t>
            </a:fld>
            <a:endParaRPr lang="en-US"/>
          </a:p>
        </p:txBody>
      </p:sp>
    </p:spTree>
    <p:extLst>
      <p:ext uri="{BB962C8B-B14F-4D97-AF65-F5344CB8AC3E}">
        <p14:creationId xmlns:p14="http://schemas.microsoft.com/office/powerpoint/2010/main" val="18282702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83</a:t>
            </a:fld>
            <a:endParaRPr lang="en-US"/>
          </a:p>
        </p:txBody>
      </p:sp>
    </p:spTree>
    <p:extLst>
      <p:ext uri="{BB962C8B-B14F-4D97-AF65-F5344CB8AC3E}">
        <p14:creationId xmlns:p14="http://schemas.microsoft.com/office/powerpoint/2010/main" val="37167188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84</a:t>
            </a:fld>
            <a:endParaRPr lang="en-US"/>
          </a:p>
        </p:txBody>
      </p:sp>
    </p:spTree>
    <p:extLst>
      <p:ext uri="{BB962C8B-B14F-4D97-AF65-F5344CB8AC3E}">
        <p14:creationId xmlns:p14="http://schemas.microsoft.com/office/powerpoint/2010/main" val="243233370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87</a:t>
            </a:fld>
            <a:endParaRPr lang="en-US"/>
          </a:p>
        </p:txBody>
      </p:sp>
    </p:spTree>
    <p:extLst>
      <p:ext uri="{BB962C8B-B14F-4D97-AF65-F5344CB8AC3E}">
        <p14:creationId xmlns:p14="http://schemas.microsoft.com/office/powerpoint/2010/main" val="11985241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88</a:t>
            </a:fld>
            <a:endParaRPr lang="en-US"/>
          </a:p>
        </p:txBody>
      </p:sp>
    </p:spTree>
    <p:extLst>
      <p:ext uri="{BB962C8B-B14F-4D97-AF65-F5344CB8AC3E}">
        <p14:creationId xmlns:p14="http://schemas.microsoft.com/office/powerpoint/2010/main" val="14233953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89</a:t>
            </a:fld>
            <a:endParaRPr lang="en-US"/>
          </a:p>
        </p:txBody>
      </p:sp>
    </p:spTree>
    <p:extLst>
      <p:ext uri="{BB962C8B-B14F-4D97-AF65-F5344CB8AC3E}">
        <p14:creationId xmlns:p14="http://schemas.microsoft.com/office/powerpoint/2010/main" val="155763379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90</a:t>
            </a:fld>
            <a:endParaRPr lang="en-US"/>
          </a:p>
        </p:txBody>
      </p:sp>
    </p:spTree>
    <p:extLst>
      <p:ext uri="{BB962C8B-B14F-4D97-AF65-F5344CB8AC3E}">
        <p14:creationId xmlns:p14="http://schemas.microsoft.com/office/powerpoint/2010/main" val="271721310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9B46F-A45E-845A-69CF-80A1D6415A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7CB61-3041-CD50-F690-CC661ED9B9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2EFED2-E69F-5CC3-C0D9-2AE407524391}"/>
              </a:ext>
            </a:extLst>
          </p:cNvPr>
          <p:cNvSpPr>
            <a:spLocks noGrp="1"/>
          </p:cNvSpPr>
          <p:nvPr>
            <p:ph type="body" idx="1"/>
            <p:custDataLst>
              <p:tags r:id="rId1"/>
            </p:custDataLst>
          </p:nvPr>
        </p:nvSpPr>
        <p:spPr/>
        <p:txBody>
          <a:bodyPr/>
          <a:lstStyle/>
          <a:p>
            <a:endParaRPr lang="en-US"/>
          </a:p>
        </p:txBody>
      </p:sp>
      <p:sp>
        <p:nvSpPr>
          <p:cNvPr id="4" name="Slide Number Placeholder 3">
            <a:extLst>
              <a:ext uri="{FF2B5EF4-FFF2-40B4-BE49-F238E27FC236}">
                <a16:creationId xmlns:a16="http://schemas.microsoft.com/office/drawing/2014/main" id="{08B9694D-EDD7-39CE-B03A-BB4054C0EE98}"/>
              </a:ext>
            </a:extLst>
          </p:cNvPr>
          <p:cNvSpPr>
            <a:spLocks noGrp="1"/>
          </p:cNvSpPr>
          <p:nvPr>
            <p:ph type="sldNum" sz="quarter" idx="10"/>
          </p:nvPr>
        </p:nvSpPr>
        <p:spPr/>
        <p:txBody>
          <a:bodyPr/>
          <a:lstStyle/>
          <a:p>
            <a:fld id="{0D4F6081-CA06-490B-95C0-7590F14B77A5}" type="slidenum">
              <a:rPr lang="en-US" smtClean="0"/>
              <a:t>97</a:t>
            </a:fld>
            <a:endParaRPr lang="en-US"/>
          </a:p>
        </p:txBody>
      </p:sp>
    </p:spTree>
    <p:extLst>
      <p:ext uri="{BB962C8B-B14F-4D97-AF65-F5344CB8AC3E}">
        <p14:creationId xmlns:p14="http://schemas.microsoft.com/office/powerpoint/2010/main" val="320154403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98</a:t>
            </a:fld>
            <a:endParaRPr lang="en-US"/>
          </a:p>
        </p:txBody>
      </p:sp>
    </p:spTree>
    <p:extLst>
      <p:ext uri="{BB962C8B-B14F-4D97-AF65-F5344CB8AC3E}">
        <p14:creationId xmlns:p14="http://schemas.microsoft.com/office/powerpoint/2010/main" val="519581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99</a:t>
            </a:fld>
            <a:endParaRPr lang="en-US"/>
          </a:p>
        </p:txBody>
      </p:sp>
    </p:spTree>
    <p:extLst>
      <p:ext uri="{BB962C8B-B14F-4D97-AF65-F5344CB8AC3E}">
        <p14:creationId xmlns:p14="http://schemas.microsoft.com/office/powerpoint/2010/main" val="151039451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100</a:t>
            </a:fld>
            <a:endParaRPr lang="en-US"/>
          </a:p>
        </p:txBody>
      </p:sp>
    </p:spTree>
    <p:extLst>
      <p:ext uri="{BB962C8B-B14F-4D97-AF65-F5344CB8AC3E}">
        <p14:creationId xmlns:p14="http://schemas.microsoft.com/office/powerpoint/2010/main" val="425030457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101</a:t>
            </a:fld>
            <a:endParaRPr lang="en-US"/>
          </a:p>
        </p:txBody>
      </p:sp>
    </p:spTree>
    <p:extLst>
      <p:ext uri="{BB962C8B-B14F-4D97-AF65-F5344CB8AC3E}">
        <p14:creationId xmlns:p14="http://schemas.microsoft.com/office/powerpoint/2010/main" val="180936475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102</a:t>
            </a:fld>
            <a:endParaRPr lang="en-US"/>
          </a:p>
        </p:txBody>
      </p:sp>
    </p:spTree>
    <p:extLst>
      <p:ext uri="{BB962C8B-B14F-4D97-AF65-F5344CB8AC3E}">
        <p14:creationId xmlns:p14="http://schemas.microsoft.com/office/powerpoint/2010/main" val="9177663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103</a:t>
            </a:fld>
            <a:endParaRPr lang="en-US"/>
          </a:p>
        </p:txBody>
      </p:sp>
    </p:spTree>
    <p:extLst>
      <p:ext uri="{BB962C8B-B14F-4D97-AF65-F5344CB8AC3E}">
        <p14:creationId xmlns:p14="http://schemas.microsoft.com/office/powerpoint/2010/main" val="89791917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104</a:t>
            </a:fld>
            <a:endParaRPr lang="en-US"/>
          </a:p>
        </p:txBody>
      </p:sp>
    </p:spTree>
    <p:extLst>
      <p:ext uri="{BB962C8B-B14F-4D97-AF65-F5344CB8AC3E}">
        <p14:creationId xmlns:p14="http://schemas.microsoft.com/office/powerpoint/2010/main" val="81305344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105</a:t>
            </a:fld>
            <a:endParaRPr lang="en-US"/>
          </a:p>
        </p:txBody>
      </p:sp>
    </p:spTree>
    <p:extLst>
      <p:ext uri="{BB962C8B-B14F-4D97-AF65-F5344CB8AC3E}">
        <p14:creationId xmlns:p14="http://schemas.microsoft.com/office/powerpoint/2010/main" val="356583842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106</a:t>
            </a:fld>
            <a:endParaRPr lang="en-US"/>
          </a:p>
        </p:txBody>
      </p:sp>
    </p:spTree>
    <p:extLst>
      <p:ext uri="{BB962C8B-B14F-4D97-AF65-F5344CB8AC3E}">
        <p14:creationId xmlns:p14="http://schemas.microsoft.com/office/powerpoint/2010/main" val="6495266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107</a:t>
            </a:fld>
            <a:endParaRPr lang="en-US"/>
          </a:p>
        </p:txBody>
      </p:sp>
    </p:spTree>
    <p:extLst>
      <p:ext uri="{BB962C8B-B14F-4D97-AF65-F5344CB8AC3E}">
        <p14:creationId xmlns:p14="http://schemas.microsoft.com/office/powerpoint/2010/main" val="415632306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108</a:t>
            </a:fld>
            <a:endParaRPr lang="en-US"/>
          </a:p>
        </p:txBody>
      </p:sp>
    </p:spTree>
    <p:extLst>
      <p:ext uri="{BB962C8B-B14F-4D97-AF65-F5344CB8AC3E}">
        <p14:creationId xmlns:p14="http://schemas.microsoft.com/office/powerpoint/2010/main" val="161785365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109</a:t>
            </a:fld>
            <a:endParaRPr lang="en-US"/>
          </a:p>
        </p:txBody>
      </p:sp>
    </p:spTree>
    <p:extLst>
      <p:ext uri="{BB962C8B-B14F-4D97-AF65-F5344CB8AC3E}">
        <p14:creationId xmlns:p14="http://schemas.microsoft.com/office/powerpoint/2010/main" val="129327203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110</a:t>
            </a:fld>
            <a:endParaRPr lang="en-US"/>
          </a:p>
        </p:txBody>
      </p:sp>
    </p:spTree>
    <p:extLst>
      <p:ext uri="{BB962C8B-B14F-4D97-AF65-F5344CB8AC3E}">
        <p14:creationId xmlns:p14="http://schemas.microsoft.com/office/powerpoint/2010/main" val="245365283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a:p>
        </p:txBody>
      </p:sp>
      <p:sp>
        <p:nvSpPr>
          <p:cNvPr id="4" name="Slide Number Placeholder 3"/>
          <p:cNvSpPr>
            <a:spLocks noGrp="1"/>
          </p:cNvSpPr>
          <p:nvPr>
            <p:ph type="sldNum" sz="quarter" idx="10"/>
          </p:nvPr>
        </p:nvSpPr>
        <p:spPr/>
        <p:txBody>
          <a:bodyPr/>
          <a:lstStyle/>
          <a:p>
            <a:fld id="{0D4F6081-CA06-490B-95C0-7590F14B77A5}" type="slidenum">
              <a:rPr lang="en-US" smtClean="0"/>
              <a:t>111</a:t>
            </a:fld>
            <a:endParaRPr lang="en-US"/>
          </a:p>
        </p:txBody>
      </p:sp>
    </p:spTree>
    <p:extLst>
      <p:ext uri="{BB962C8B-B14F-4D97-AF65-F5344CB8AC3E}">
        <p14:creationId xmlns:p14="http://schemas.microsoft.com/office/powerpoint/2010/main" val="941311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5836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62851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9621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27919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48352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71981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90743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8A87A34-81AB-432B-8DAE-1953F412C126}" type="datetimeFigureOut">
              <a:rPr lang="en-US" smtClean="0"/>
              <a:t>2/12/2026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1554324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43675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00537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33583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8A87A34-81AB-432B-8DAE-1953F412C126}" type="datetimeFigureOut">
              <a:rPr lang="en-US" smtClean="0"/>
              <a:pPr/>
              <a:t>2/12/2026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D22F896-40B5-4ADD-8801-0D06FADFA09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0983371"/>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cs.usfca.edu/~galles/visualization/Search.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youtube.com/watch?v=UU5QAJ1XMqQ"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watch?v=8TNLRK_FyFc"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youtube.com/watch?v=BeoCbJPuvSE&amp;t=2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0.png"/><Relationship Id="rId7"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7.png"/><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9.png"/><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visualgo.net/bn/sorting?slide=6"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hyperlink" Target="https://www.cs.usfca.edu/~galles/visualization/ComparisonSort.html"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en.wikipedia.org/wiki/Selection_sort"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0.xml.rels><?xml version="1.0" encoding="UTF-8" standalone="yes"?>
<Relationships xmlns="http://schemas.openxmlformats.org/package/2006/relationships"><Relationship Id="rId3" Type="http://schemas.openxmlformats.org/officeDocument/2006/relationships/hyperlink" Target="https://visualgo.net/bn/sorting?slide=7"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hyperlink" Target="https://www.cs.usfca.edu/~galles/visualization/ComparisonSort.html" TargetMode="External"/></Relationships>
</file>

<file path=ppt/slides/_rels/slide6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visualgo.net/bn/sorting?slide=8"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hyperlink" Target="https://www.cs.usfca.edu/~galles/visualization/ComparisonSort.html"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hyperlink" Target="https://www.youtube.com/watch?v=Hoixgm4-P4M&amp;t=19s"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s://visualgo.net/bn/sorting?slide=11"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8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www.youtube.com/watch?v=HsZ-YRQM8sE&amp;t=41s"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hyperlink" Target="https://en.wikipedia.org/wiki/Merge_sort"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90.xml.rels><?xml version="1.0" encoding="UTF-8" standalone="yes"?>
<Relationships xmlns="http://schemas.openxmlformats.org/package/2006/relationships"><Relationship Id="rId3" Type="http://schemas.openxmlformats.org/officeDocument/2006/relationships/hyperlink" Target="https://visualgo.net/bn/sorting?slide=10"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hyperlink" Target="https://tntech.co1.qualtrics.com/jfe/form/SV_3UyI7vqTj8Od6aq" TargetMode="External"/></Relationships>
</file>

<file path=ppt/slides/_rels/slide93.xml.rels><?xml version="1.0" encoding="UTF-8" standalone="yes"?>
<Relationships xmlns="http://schemas.openxmlformats.org/package/2006/relationships"><Relationship Id="rId2" Type="http://schemas.openxmlformats.org/officeDocument/2006/relationships/hyperlink" Target="https://raw.githack.com/xiaoyuansuo51-webster/Flag_Coloring_Activity/refs/heads/main/parallel_search.html" TargetMode="Externa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hyperlink" Target="https://raw.githack.com/xiaoyuansuo51-webster/Flag_Coloring_Activity/refs/heads/main/parallel_linked_list.html" TargetMode="External"/><Relationship Id="rId2" Type="http://schemas.openxmlformats.org/officeDocument/2006/relationships/hyperlink" Target="https://cse.unl.edu/~cbourke/PDCatUNL/module-parallel-visual.html" TargetMode="Externa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hyperlink" Target="https://raw.githack.com/xiaoyuansuo51-webster/Flag_Coloring_Activity/refs/heads/main/parallel_flag_color_XSUO.html" TargetMode="Externa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hyperlink" Target="https://en.wikipedia.org/wiki/Radix_sort" TargetMode="External"/><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B9EE0-1592-97A0-8B3B-C845524ADB9F}"/>
              </a:ext>
            </a:extLst>
          </p:cNvPr>
          <p:cNvSpPr>
            <a:spLocks noGrp="1"/>
          </p:cNvSpPr>
          <p:nvPr>
            <p:ph type="title"/>
          </p:nvPr>
        </p:nvSpPr>
        <p:spPr>
          <a:xfrm>
            <a:off x="1163541" y="-1175866"/>
            <a:ext cx="10058400" cy="698787"/>
          </a:xfrm>
        </p:spPr>
        <p:txBody>
          <a:bodyPr>
            <a:normAutofit fontScale="90000"/>
          </a:bodyPr>
          <a:lstStyle/>
          <a:p>
            <a:r>
              <a:rPr lang="en-US" dirty="0"/>
              <a:t>Search &amp; Sort Algorithms</a:t>
            </a:r>
          </a:p>
        </p:txBody>
      </p:sp>
      <p:pic>
        <p:nvPicPr>
          <p:cNvPr id="3" name="Picture 2" descr="A diagram of a cloud">
            <a:extLst>
              <a:ext uri="{FF2B5EF4-FFF2-40B4-BE49-F238E27FC236}">
                <a16:creationId xmlns:a16="http://schemas.microsoft.com/office/drawing/2014/main" id="{2C3AC373-6F02-E489-DAEF-CBF28D3C788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94292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3102C-B029-4EAF-9816-8BD7903FBC99}"/>
              </a:ext>
            </a:extLst>
          </p:cNvPr>
          <p:cNvSpPr>
            <a:spLocks noGrp="1"/>
          </p:cNvSpPr>
          <p:nvPr>
            <p:ph type="title" idx="4294967295"/>
          </p:nvPr>
        </p:nvSpPr>
        <p:spPr>
          <a:xfrm>
            <a:off x="1468341" y="-1450757"/>
            <a:ext cx="10058400" cy="1450757"/>
          </a:xfrm>
        </p:spPr>
        <p:txBody>
          <a:bodyPr/>
          <a:lstStyle/>
          <a:p>
            <a:r>
              <a:rPr lang="en-US" dirty="0"/>
              <a:t>Search Algorithms</a:t>
            </a:r>
          </a:p>
        </p:txBody>
      </p:sp>
      <p:pic>
        <p:nvPicPr>
          <p:cNvPr id="3" name="Picture 2" descr="A logo with a person in the middle">
            <a:extLst>
              <a:ext uri="{FF2B5EF4-FFF2-40B4-BE49-F238E27FC236}">
                <a16:creationId xmlns:a16="http://schemas.microsoft.com/office/drawing/2014/main" id="{5BC7B4A9-8F20-EACD-0495-710751C4773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40504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C72AB-FA2F-4782-AF0E-353269EC2A60}"/>
              </a:ext>
            </a:extLst>
          </p:cNvPr>
          <p:cNvSpPr>
            <a:spLocks noGrp="1"/>
          </p:cNvSpPr>
          <p:nvPr>
            <p:ph type="title"/>
          </p:nvPr>
        </p:nvSpPr>
        <p:spPr/>
        <p:txBody>
          <a:bodyPr/>
          <a:lstStyle/>
          <a:p>
            <a:r>
              <a:rPr lang="en-US" dirty="0"/>
              <a:t>Search Problem</a:t>
            </a:r>
          </a:p>
        </p:txBody>
      </p:sp>
      <p:sp>
        <p:nvSpPr>
          <p:cNvPr id="3" name="Content Placeholder 2">
            <a:extLst>
              <a:ext uri="{FF2B5EF4-FFF2-40B4-BE49-F238E27FC236}">
                <a16:creationId xmlns:a16="http://schemas.microsoft.com/office/drawing/2014/main" id="{1FFBAB7D-BDEA-4985-BCD2-B5E36BEDA22D}"/>
              </a:ext>
            </a:extLst>
          </p:cNvPr>
          <p:cNvSpPr>
            <a:spLocks noGrp="1"/>
          </p:cNvSpPr>
          <p:nvPr>
            <p:ph idx="1"/>
          </p:nvPr>
        </p:nvSpPr>
        <p:spPr>
          <a:xfrm>
            <a:off x="1097280" y="1924050"/>
            <a:ext cx="10058400" cy="2028825"/>
          </a:xfrm>
        </p:spPr>
        <p:txBody>
          <a:bodyPr>
            <a:normAutofit/>
          </a:bodyPr>
          <a:lstStyle/>
          <a:p>
            <a:r>
              <a:rPr lang="en-US" sz="4400" dirty="0"/>
              <a:t>The </a:t>
            </a:r>
            <a:r>
              <a:rPr lang="en-US" sz="4400" b="1" dirty="0">
                <a:solidFill>
                  <a:srgbClr val="0070C0"/>
                </a:solidFill>
              </a:rPr>
              <a:t>search problem </a:t>
            </a:r>
            <a:r>
              <a:rPr lang="en-US" sz="4400" dirty="0"/>
              <a:t>is finding a specific value (typically called a </a:t>
            </a:r>
            <a:r>
              <a:rPr lang="en-US" sz="4400" b="1" dirty="0">
                <a:solidFill>
                  <a:srgbClr val="FF0000"/>
                </a:solidFill>
              </a:rPr>
              <a:t>key</a:t>
            </a:r>
            <a:r>
              <a:rPr lang="en-US" sz="4400" dirty="0"/>
              <a:t>) in a collection of data.</a:t>
            </a:r>
          </a:p>
        </p:txBody>
      </p:sp>
      <p:pic>
        <p:nvPicPr>
          <p:cNvPr id="1028" name="Picture 4" descr="Linear Search - GeeksforGeeks">
            <a:extLst>
              <a:ext uri="{FF2B5EF4-FFF2-40B4-BE49-F238E27FC236}">
                <a16:creationId xmlns:a16="http://schemas.microsoft.com/office/drawing/2014/main" id="{087625AB-A3B8-47C4-90E3-3E41ADC6C0B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5" t="23288" r="16250" b="13699"/>
          <a:stretch/>
        </p:blipFill>
        <p:spPr bwMode="auto">
          <a:xfrm>
            <a:off x="3657600" y="3952875"/>
            <a:ext cx="6105526"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8477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C72AB-FA2F-4782-AF0E-353269EC2A60}"/>
              </a:ext>
            </a:extLst>
          </p:cNvPr>
          <p:cNvSpPr>
            <a:spLocks noGrp="1"/>
          </p:cNvSpPr>
          <p:nvPr>
            <p:ph type="title"/>
          </p:nvPr>
        </p:nvSpPr>
        <p:spPr/>
        <p:txBody>
          <a:bodyPr/>
          <a:lstStyle/>
          <a:p>
            <a:r>
              <a:rPr lang="en-US" dirty="0"/>
              <a:t>List of Search Algorithms</a:t>
            </a:r>
          </a:p>
        </p:txBody>
      </p:sp>
      <p:sp>
        <p:nvSpPr>
          <p:cNvPr id="3" name="Content Placeholder 2">
            <a:extLst>
              <a:ext uri="{FF2B5EF4-FFF2-40B4-BE49-F238E27FC236}">
                <a16:creationId xmlns:a16="http://schemas.microsoft.com/office/drawing/2014/main" id="{1FFBAB7D-BDEA-4985-BCD2-B5E36BEDA22D}"/>
              </a:ext>
            </a:extLst>
          </p:cNvPr>
          <p:cNvSpPr>
            <a:spLocks noGrp="1"/>
          </p:cNvSpPr>
          <p:nvPr>
            <p:ph idx="1"/>
          </p:nvPr>
        </p:nvSpPr>
        <p:spPr>
          <a:xfrm>
            <a:off x="1097280" y="1737361"/>
            <a:ext cx="10058400" cy="4520564"/>
          </a:xfrm>
        </p:spPr>
        <p:txBody>
          <a:bodyPr>
            <a:normAutofit/>
          </a:bodyPr>
          <a:lstStyle/>
          <a:p>
            <a:r>
              <a:rPr lang="en-US" sz="2400" dirty="0"/>
              <a:t>There are several known </a:t>
            </a:r>
            <a:r>
              <a:rPr lang="en-US" sz="2400" b="1" dirty="0">
                <a:solidFill>
                  <a:srgbClr val="0070C0"/>
                </a:solidFill>
              </a:rPr>
              <a:t>search algorithms</a:t>
            </a:r>
            <a:r>
              <a:rPr lang="en-US" sz="2400" dirty="0"/>
              <a:t>:</a:t>
            </a:r>
          </a:p>
          <a:p>
            <a:pPr marL="914400" indent="-457200">
              <a:buFont typeface="Wingdings" panose="05000000000000000000" pitchFamily="2" charset="2"/>
              <a:buChar char="v"/>
            </a:pPr>
            <a:r>
              <a:rPr lang="en-US" sz="2400" b="1" dirty="0">
                <a:solidFill>
                  <a:srgbClr val="FF0000"/>
                </a:solidFill>
              </a:rPr>
              <a:t>Linear Search</a:t>
            </a:r>
          </a:p>
          <a:p>
            <a:pPr marL="914400" indent="-457200">
              <a:buFont typeface="Wingdings" panose="05000000000000000000" pitchFamily="2" charset="2"/>
              <a:buChar char="v"/>
            </a:pPr>
            <a:r>
              <a:rPr lang="en-US" sz="2400" b="1" dirty="0">
                <a:solidFill>
                  <a:srgbClr val="FF0000"/>
                </a:solidFill>
              </a:rPr>
              <a:t>Binary Search</a:t>
            </a:r>
          </a:p>
          <a:p>
            <a:pPr marL="914400" indent="-457200">
              <a:buFont typeface="Wingdings" panose="05000000000000000000" pitchFamily="2" charset="2"/>
              <a:buChar char="v"/>
            </a:pPr>
            <a:r>
              <a:rPr lang="en-US" sz="2400" dirty="0"/>
              <a:t>Jump Search</a:t>
            </a:r>
          </a:p>
          <a:p>
            <a:pPr marL="914400" indent="-457200">
              <a:buFont typeface="Wingdings" panose="05000000000000000000" pitchFamily="2" charset="2"/>
              <a:buChar char="v"/>
            </a:pPr>
            <a:r>
              <a:rPr lang="en-US" sz="2400" dirty="0"/>
              <a:t>Interpolation Search</a:t>
            </a:r>
          </a:p>
          <a:p>
            <a:pPr marL="914400" indent="-457200">
              <a:buFont typeface="Wingdings" panose="05000000000000000000" pitchFamily="2" charset="2"/>
              <a:buChar char="v"/>
            </a:pPr>
            <a:r>
              <a:rPr lang="en-US" sz="2400" dirty="0"/>
              <a:t>Exponential Search</a:t>
            </a:r>
          </a:p>
          <a:p>
            <a:pPr marL="914400" indent="-457200">
              <a:buFont typeface="Wingdings" panose="05000000000000000000" pitchFamily="2" charset="2"/>
              <a:buChar char="v"/>
            </a:pPr>
            <a:r>
              <a:rPr lang="en-US" sz="2400" dirty="0" err="1"/>
              <a:t>Sublist</a:t>
            </a:r>
            <a:r>
              <a:rPr lang="en-US" sz="2400" dirty="0"/>
              <a:t> Search</a:t>
            </a:r>
          </a:p>
          <a:p>
            <a:pPr marL="914400" indent="-457200">
              <a:buFont typeface="Wingdings" panose="05000000000000000000" pitchFamily="2" charset="2"/>
              <a:buChar char="v"/>
            </a:pPr>
            <a:r>
              <a:rPr lang="en-US" sz="2400" dirty="0"/>
              <a:t>Fibonacci Search</a:t>
            </a:r>
          </a:p>
        </p:txBody>
      </p:sp>
    </p:spTree>
    <p:extLst>
      <p:ext uri="{BB962C8B-B14F-4D97-AF65-F5344CB8AC3E}">
        <p14:creationId xmlns:p14="http://schemas.microsoft.com/office/powerpoint/2010/main" val="2938869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LINEAR search algorithm?</a:t>
            </a:r>
          </a:p>
        </p:txBody>
      </p:sp>
      <p:sp>
        <p:nvSpPr>
          <p:cNvPr id="3" name="Content Placeholder 2"/>
          <p:cNvSpPr>
            <a:spLocks noGrp="1"/>
          </p:cNvSpPr>
          <p:nvPr>
            <p:ph idx="1"/>
          </p:nvPr>
        </p:nvSpPr>
        <p:spPr/>
        <p:txBody>
          <a:bodyPr>
            <a:normAutofit/>
          </a:bodyPr>
          <a:lstStyle/>
          <a:p>
            <a:r>
              <a:rPr lang="en-US" sz="3600" dirty="0"/>
              <a:t>The </a:t>
            </a:r>
            <a:r>
              <a:rPr lang="en-US" sz="3600" b="1" dirty="0">
                <a:solidFill>
                  <a:srgbClr val="FF0000"/>
                </a:solidFill>
              </a:rPr>
              <a:t>linear search algorithm </a:t>
            </a:r>
            <a:r>
              <a:rPr lang="en-US" sz="3600" dirty="0"/>
              <a:t>(also called sequential search) is a very simple algorithm which uses a loop to </a:t>
            </a:r>
            <a:r>
              <a:rPr lang="en-US" sz="3600" u="sng" dirty="0">
                <a:solidFill>
                  <a:srgbClr val="0070C0"/>
                </a:solidFill>
              </a:rPr>
              <a:t>sequentially</a:t>
            </a:r>
            <a:r>
              <a:rPr lang="en-US" sz="3600" dirty="0"/>
              <a:t> step through each piece of data (</a:t>
            </a:r>
            <a:r>
              <a:rPr lang="en-US" sz="3600" u="sng" dirty="0">
                <a:solidFill>
                  <a:srgbClr val="0070C0"/>
                </a:solidFill>
              </a:rPr>
              <a:t>one at a time</a:t>
            </a:r>
            <a:r>
              <a:rPr lang="en-US" sz="3600" dirty="0"/>
              <a:t>), starting at the beginning, and then stop when either the value is found or at the end of the data (value not found)</a:t>
            </a:r>
          </a:p>
        </p:txBody>
      </p:sp>
    </p:spTree>
    <p:extLst>
      <p:ext uri="{BB962C8B-B14F-4D97-AF65-F5344CB8AC3E}">
        <p14:creationId xmlns:p14="http://schemas.microsoft.com/office/powerpoint/2010/main" val="887484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Linear Search Algorithms</a:t>
            </a:r>
          </a:p>
        </p:txBody>
      </p:sp>
      <p:pic>
        <p:nvPicPr>
          <p:cNvPr id="1026" name="Picture 2" descr="Image result for sequential search algorithm"/>
          <p:cNvPicPr>
            <a:picLocks noChangeAspect="1" noChangeArrowheads="1"/>
          </p:cNvPicPr>
          <p:nvPr/>
        </p:nvPicPr>
        <p:blipFill rotWithShape="1">
          <a:blip r:embed="rId3">
            <a:extLst>
              <a:ext uri="{28A0092B-C50C-407E-A947-70E740481C1C}">
                <a14:useLocalDpi xmlns:a14="http://schemas.microsoft.com/office/drawing/2010/main" val="0"/>
              </a:ext>
            </a:extLst>
          </a:blip>
          <a:srcRect t="15890" b="11929"/>
          <a:stretch/>
        </p:blipFill>
        <p:spPr bwMode="auto">
          <a:xfrm>
            <a:off x="1533897" y="1976718"/>
            <a:ext cx="9391838" cy="4362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054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EAF97-BBC0-4074-9D48-300901D5FF6A}"/>
              </a:ext>
            </a:extLst>
          </p:cNvPr>
          <p:cNvSpPr>
            <a:spLocks noGrp="1"/>
          </p:cNvSpPr>
          <p:nvPr>
            <p:ph type="title"/>
          </p:nvPr>
        </p:nvSpPr>
        <p:spPr/>
        <p:txBody>
          <a:bodyPr/>
          <a:lstStyle/>
          <a:p>
            <a:r>
              <a:rPr lang="en-US" dirty="0"/>
              <a:t>Linear Search Animation</a:t>
            </a:r>
          </a:p>
        </p:txBody>
      </p:sp>
      <p:pic>
        <p:nvPicPr>
          <p:cNvPr id="5" name="Content Placeholder 4">
            <a:extLst>
              <a:ext uri="{FF2B5EF4-FFF2-40B4-BE49-F238E27FC236}">
                <a16:creationId xmlns:a16="http://schemas.microsoft.com/office/drawing/2014/main" id="{51740426-08D2-4CD2-B56C-2C6E3C4FCE9B}"/>
              </a:ext>
              <a:ext uri="{C183D7F6-B498-43B3-948B-1728B52AA6E4}">
                <adec:decorative xmlns:adec="http://schemas.microsoft.com/office/drawing/2017/decorative" val="1"/>
              </a:ext>
            </a:extLst>
          </p:cNvPr>
          <p:cNvPicPr>
            <a:picLocks noGrp="1" noChangeAspect="1"/>
          </p:cNvPicPr>
          <p:nvPr>
            <p:ph idx="1"/>
          </p:nvPr>
        </p:nvPicPr>
        <p:blipFill>
          <a:blip r:embed="rId2"/>
          <a:stretch>
            <a:fillRect/>
          </a:stretch>
        </p:blipFill>
        <p:spPr>
          <a:xfrm>
            <a:off x="2439988" y="1857375"/>
            <a:ext cx="6808787" cy="3404394"/>
          </a:xfrm>
        </p:spPr>
      </p:pic>
    </p:spTree>
    <p:extLst>
      <p:ext uri="{BB962C8B-B14F-4D97-AF65-F5344CB8AC3E}">
        <p14:creationId xmlns:p14="http://schemas.microsoft.com/office/powerpoint/2010/main" val="2202549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EAF97-BBC0-4074-9D48-300901D5FF6A}"/>
              </a:ext>
            </a:extLst>
          </p:cNvPr>
          <p:cNvSpPr>
            <a:spLocks noGrp="1"/>
          </p:cNvSpPr>
          <p:nvPr>
            <p:ph type="title"/>
          </p:nvPr>
        </p:nvSpPr>
        <p:spPr/>
        <p:txBody>
          <a:bodyPr/>
          <a:lstStyle/>
          <a:p>
            <a:r>
              <a:rPr lang="en-US" b="1" dirty="0"/>
              <a:t>Algorithm Visualizations</a:t>
            </a:r>
          </a:p>
        </p:txBody>
      </p:sp>
      <p:sp>
        <p:nvSpPr>
          <p:cNvPr id="4" name="Content Placeholder 3">
            <a:extLst>
              <a:ext uri="{FF2B5EF4-FFF2-40B4-BE49-F238E27FC236}">
                <a16:creationId xmlns:a16="http://schemas.microsoft.com/office/drawing/2014/main" id="{D9D618F8-9286-446C-AD14-96046087A0EB}"/>
              </a:ext>
            </a:extLst>
          </p:cNvPr>
          <p:cNvSpPr>
            <a:spLocks noGrp="1"/>
          </p:cNvSpPr>
          <p:nvPr>
            <p:ph idx="1"/>
          </p:nvPr>
        </p:nvSpPr>
        <p:spPr>
          <a:xfrm>
            <a:off x="1097280" y="1845734"/>
            <a:ext cx="10058400" cy="4023360"/>
          </a:xfrm>
        </p:spPr>
        <p:txBody>
          <a:bodyPr>
            <a:normAutofit/>
          </a:bodyPr>
          <a:lstStyle/>
          <a:p>
            <a:r>
              <a:rPr lang="en-US" sz="2800" dirty="0"/>
              <a:t>David </a:t>
            </a:r>
            <a:r>
              <a:rPr lang="en-US" sz="2800" dirty="0" err="1"/>
              <a:t>Galles</a:t>
            </a:r>
            <a:r>
              <a:rPr lang="en-US" sz="2800" dirty="0"/>
              <a:t>, Associate Professor in the Computer Science Department at the University of San Francisco, created an awesome website to help students understand various algorithms by demonstrating them with visualizations.</a:t>
            </a:r>
          </a:p>
          <a:p>
            <a:endParaRPr lang="en-US" sz="2800" dirty="0"/>
          </a:p>
          <a:p>
            <a:pPr marL="0" indent="0">
              <a:buNone/>
            </a:pPr>
            <a:r>
              <a:rPr lang="en-US" sz="2800" dirty="0"/>
              <a:t> Here is the link to the website page for search algorithms:  </a:t>
            </a:r>
          </a:p>
        </p:txBody>
      </p:sp>
      <p:sp>
        <p:nvSpPr>
          <p:cNvPr id="6" name="Rectangle 5">
            <a:extLst>
              <a:ext uri="{FF2B5EF4-FFF2-40B4-BE49-F238E27FC236}">
                <a16:creationId xmlns:a16="http://schemas.microsoft.com/office/drawing/2014/main" id="{D3578670-ECFF-4027-84BF-71211DE862BA}"/>
              </a:ext>
            </a:extLst>
          </p:cNvPr>
          <p:cNvSpPr/>
          <p:nvPr/>
        </p:nvSpPr>
        <p:spPr>
          <a:xfrm>
            <a:off x="2173250" y="4787173"/>
            <a:ext cx="7906460" cy="461665"/>
          </a:xfrm>
          <a:prstGeom prst="rect">
            <a:avLst/>
          </a:prstGeom>
        </p:spPr>
        <p:txBody>
          <a:bodyPr wrap="none">
            <a:spAutoFit/>
          </a:bodyPr>
          <a:lstStyle/>
          <a:p>
            <a:r>
              <a:rPr lang="en-US" sz="2400" b="1" dirty="0">
                <a:hlinkClick r:id="rId2"/>
              </a:rPr>
              <a:t>https://www.cs.usfca.edu/~galles/visualization/Search.html</a:t>
            </a:r>
            <a:endParaRPr lang="en-US" sz="2400" b="1" dirty="0"/>
          </a:p>
        </p:txBody>
      </p:sp>
    </p:spTree>
    <p:extLst>
      <p:ext uri="{BB962C8B-B14F-4D97-AF65-F5344CB8AC3E}">
        <p14:creationId xmlns:p14="http://schemas.microsoft.com/office/powerpoint/2010/main" val="3312087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E3048-434C-C8D9-A5C5-DE25D50A104E}"/>
              </a:ext>
            </a:extLst>
          </p:cNvPr>
          <p:cNvSpPr>
            <a:spLocks noGrp="1"/>
          </p:cNvSpPr>
          <p:nvPr>
            <p:ph type="title"/>
          </p:nvPr>
        </p:nvSpPr>
        <p:spPr/>
        <p:txBody>
          <a:bodyPr/>
          <a:lstStyle/>
          <a:p>
            <a:r>
              <a:rPr lang="en-US" dirty="0"/>
              <a:t>Linear Search by Too Tall Productions</a:t>
            </a:r>
          </a:p>
        </p:txBody>
      </p:sp>
      <p:sp>
        <p:nvSpPr>
          <p:cNvPr id="3" name="Content Placeholder 2">
            <a:extLst>
              <a:ext uri="{FF2B5EF4-FFF2-40B4-BE49-F238E27FC236}">
                <a16:creationId xmlns:a16="http://schemas.microsoft.com/office/drawing/2014/main" id="{04AD7955-7DDB-44CD-3490-C48F35FCA0FA}"/>
              </a:ext>
            </a:extLst>
          </p:cNvPr>
          <p:cNvSpPr>
            <a:spLocks noGrp="1"/>
          </p:cNvSpPr>
          <p:nvPr>
            <p:ph idx="1"/>
          </p:nvPr>
        </p:nvSpPr>
        <p:spPr/>
        <p:txBody>
          <a:bodyPr>
            <a:normAutofit/>
          </a:bodyPr>
          <a:lstStyle/>
          <a:p>
            <a:r>
              <a:rPr lang="en-US" sz="5400" dirty="0">
                <a:solidFill>
                  <a:srgbClr val="0000FF"/>
                </a:solidFill>
                <a:hlinkClick r:id="rId2">
                  <a:extLst>
                    <a:ext uri="{A12FA001-AC4F-418D-AE19-62706E023703}">
                      <ahyp:hlinkClr xmlns:ahyp="http://schemas.microsoft.com/office/drawing/2018/hyperlinkcolor" val="tx"/>
                    </a:ext>
                  </a:extLst>
                </a:hlinkClick>
              </a:rPr>
              <a:t>https://www.youtube.com/watch?v=UU5QAJ1XMqQ</a:t>
            </a:r>
            <a:r>
              <a:rPr lang="en-US" sz="5400" dirty="0">
                <a:solidFill>
                  <a:srgbClr val="0000FF"/>
                </a:solidFill>
              </a:rPr>
              <a:t> </a:t>
            </a:r>
          </a:p>
        </p:txBody>
      </p:sp>
      <p:pic>
        <p:nvPicPr>
          <p:cNvPr id="5" name="Picture 4" descr="linear search animation screenshot">
            <a:extLst>
              <a:ext uri="{FF2B5EF4-FFF2-40B4-BE49-F238E27FC236}">
                <a16:creationId xmlns:a16="http://schemas.microsoft.com/office/drawing/2014/main" id="{C5FC5773-2627-1DD7-84B7-CDE825D8087E}"/>
              </a:ext>
            </a:extLst>
          </p:cNvPr>
          <p:cNvPicPr>
            <a:picLocks noChangeAspect="1"/>
          </p:cNvPicPr>
          <p:nvPr/>
        </p:nvPicPr>
        <p:blipFill>
          <a:blip r:embed="rId3"/>
          <a:stretch>
            <a:fillRect/>
          </a:stretch>
        </p:blipFill>
        <p:spPr>
          <a:xfrm>
            <a:off x="4902044" y="3646898"/>
            <a:ext cx="6045511" cy="2330570"/>
          </a:xfrm>
          <a:prstGeom prst="rect">
            <a:avLst/>
          </a:prstGeom>
        </p:spPr>
      </p:pic>
    </p:spTree>
    <p:extLst>
      <p:ext uri="{BB962C8B-B14F-4D97-AF65-F5344CB8AC3E}">
        <p14:creationId xmlns:p14="http://schemas.microsoft.com/office/powerpoint/2010/main" val="853227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Search Example</a:t>
            </a:r>
          </a:p>
        </p:txBody>
      </p:sp>
      <p:sp>
        <p:nvSpPr>
          <p:cNvPr id="3" name="TextBox 2"/>
          <p:cNvSpPr txBox="1"/>
          <p:nvPr/>
        </p:nvSpPr>
        <p:spPr>
          <a:xfrm>
            <a:off x="1147034" y="1916206"/>
            <a:ext cx="9958892" cy="707886"/>
          </a:xfrm>
          <a:prstGeom prst="rect">
            <a:avLst/>
          </a:prstGeom>
          <a:noFill/>
        </p:spPr>
        <p:txBody>
          <a:bodyPr wrap="square" rtlCol="0">
            <a:spAutoFit/>
          </a:bodyPr>
          <a:lstStyle/>
          <a:p>
            <a:r>
              <a:rPr lang="en-US" sz="4000" b="1" dirty="0">
                <a:solidFill>
                  <a:srgbClr val="0070C0"/>
                </a:solidFill>
              </a:rPr>
              <a:t>linearSearch.cpp</a:t>
            </a:r>
          </a:p>
        </p:txBody>
      </p:sp>
    </p:spTree>
    <p:extLst>
      <p:ext uri="{BB962C8B-B14F-4D97-AF65-F5344CB8AC3E}">
        <p14:creationId xmlns:p14="http://schemas.microsoft.com/office/powerpoint/2010/main" val="369197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6547" y="1499123"/>
            <a:ext cx="9661711" cy="45719"/>
          </a:xfrm>
        </p:spPr>
        <p:txBody>
          <a:bodyPr>
            <a:normAutofit fontScale="90000"/>
          </a:bodyPr>
          <a:lstStyle/>
          <a:p>
            <a:r>
              <a:rPr lang="en-US" dirty="0"/>
              <a:t>Linear Search          Good Bad and Ugly</a:t>
            </a:r>
          </a:p>
        </p:txBody>
      </p:sp>
      <p:sp>
        <p:nvSpPr>
          <p:cNvPr id="3" name="Content Placeholder 2"/>
          <p:cNvSpPr>
            <a:spLocks noGrp="1"/>
          </p:cNvSpPr>
          <p:nvPr>
            <p:ph idx="1"/>
          </p:nvPr>
        </p:nvSpPr>
        <p:spPr/>
        <p:txBody>
          <a:bodyPr>
            <a:noAutofit/>
          </a:bodyPr>
          <a:lstStyle/>
          <a:p>
            <a:pPr marL="0" indent="0">
              <a:buNone/>
            </a:pPr>
            <a:r>
              <a:rPr lang="en-US" sz="2800" dirty="0"/>
              <a:t>GOOD:  </a:t>
            </a:r>
          </a:p>
          <a:p>
            <a:pPr marL="914400" indent="-457200">
              <a:buFont typeface="Wingdings" panose="05000000000000000000" pitchFamily="2" charset="2"/>
              <a:buChar char="v"/>
            </a:pPr>
            <a:r>
              <a:rPr lang="en-US" sz="2800" dirty="0"/>
              <a:t>Simple, easy to understand</a:t>
            </a:r>
          </a:p>
          <a:p>
            <a:pPr marL="914400" indent="-457200">
              <a:buFont typeface="Wingdings" panose="05000000000000000000" pitchFamily="2" charset="2"/>
              <a:buChar char="v"/>
            </a:pPr>
            <a:r>
              <a:rPr lang="en-US" sz="2800" dirty="0"/>
              <a:t>Doesn’t require data to be stored in any particular order</a:t>
            </a:r>
          </a:p>
          <a:p>
            <a:pPr marL="914400" indent="-457200">
              <a:buFont typeface="Wingdings" panose="05000000000000000000" pitchFamily="2" charset="2"/>
              <a:buChar char="v"/>
            </a:pPr>
            <a:r>
              <a:rPr lang="en-US" sz="2800" dirty="0"/>
              <a:t>Space Efficient – doesn’t take up much space to run</a:t>
            </a:r>
          </a:p>
          <a:p>
            <a:pPr marL="0" indent="0">
              <a:buNone/>
            </a:pPr>
            <a:r>
              <a:rPr lang="en-US" sz="2800" dirty="0"/>
              <a:t>BAD:  </a:t>
            </a:r>
          </a:p>
          <a:p>
            <a:pPr marL="914400" indent="-433388">
              <a:buFont typeface="Wingdings" panose="05000000000000000000" pitchFamily="2" charset="2"/>
              <a:buChar char="v"/>
            </a:pPr>
            <a:r>
              <a:rPr lang="en-US" sz="2800" dirty="0"/>
              <a:t>Time Inefficient – really slow, especially as the number of items you are searching for increases.</a:t>
            </a:r>
          </a:p>
        </p:txBody>
      </p:sp>
      <p:pic>
        <p:nvPicPr>
          <p:cNvPr id="4" name="Picture 3">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3771" y="121023"/>
            <a:ext cx="6155388" cy="2380582"/>
          </a:xfrm>
          <a:prstGeom prst="rect">
            <a:avLst/>
          </a:prstGeom>
        </p:spPr>
      </p:pic>
    </p:spTree>
    <p:extLst>
      <p:ext uri="{BB962C8B-B14F-4D97-AF65-F5344CB8AC3E}">
        <p14:creationId xmlns:p14="http://schemas.microsoft.com/office/powerpoint/2010/main" val="4185646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Number of Comparisons in </a:t>
            </a:r>
            <a:br>
              <a:rPr lang="en-US" dirty="0"/>
            </a:br>
            <a:r>
              <a:rPr lang="en-US" dirty="0"/>
              <a:t>Linear Search Algorithm</a:t>
            </a:r>
          </a:p>
        </p:txBody>
      </p:sp>
      <p:sp>
        <p:nvSpPr>
          <p:cNvPr id="3" name="Content Placeholder 2"/>
          <p:cNvSpPr>
            <a:spLocks noGrp="1"/>
          </p:cNvSpPr>
          <p:nvPr>
            <p:ph idx="1"/>
          </p:nvPr>
        </p:nvSpPr>
        <p:spPr/>
        <p:txBody>
          <a:bodyPr>
            <a:noAutofit/>
          </a:bodyPr>
          <a:lstStyle/>
          <a:p>
            <a:pPr marL="0" indent="0">
              <a:buNone/>
            </a:pPr>
            <a:r>
              <a:rPr lang="en-US" sz="3600" b="1" dirty="0">
                <a:solidFill>
                  <a:srgbClr val="0070C0"/>
                </a:solidFill>
              </a:rPr>
              <a:t>AVERAGE:  		</a:t>
            </a:r>
            <a:r>
              <a:rPr lang="en-US" sz="3600" dirty="0">
                <a:solidFill>
                  <a:srgbClr val="0070C0"/>
                </a:solidFill>
              </a:rPr>
              <a:t>n/2 comparisons</a:t>
            </a:r>
          </a:p>
          <a:p>
            <a:pPr marL="0" indent="0">
              <a:buNone/>
            </a:pPr>
            <a:r>
              <a:rPr lang="en-US" sz="3600" b="1" dirty="0">
                <a:solidFill>
                  <a:srgbClr val="0070C0"/>
                </a:solidFill>
              </a:rPr>
              <a:t>MAXIMUM:  		</a:t>
            </a:r>
            <a:r>
              <a:rPr lang="en-US" sz="3600" dirty="0">
                <a:solidFill>
                  <a:srgbClr val="0070C0"/>
                </a:solidFill>
              </a:rPr>
              <a:t>n comparisons</a:t>
            </a:r>
          </a:p>
          <a:p>
            <a:pPr marL="0" indent="0">
              <a:buNone/>
            </a:pPr>
            <a:r>
              <a:rPr lang="en-US" sz="3600" dirty="0"/>
              <a:t>So, for a list/array of n items, the linear search will </a:t>
            </a:r>
            <a:r>
              <a:rPr lang="en-US" sz="3600" i="1" dirty="0"/>
              <a:t>typically</a:t>
            </a:r>
            <a:r>
              <a:rPr lang="en-US" sz="3600" dirty="0"/>
              <a:t> locate an item in n/2 attempts (assuming the item you are searching for is actually in the list/array).</a:t>
            </a:r>
            <a:r>
              <a:rPr lang="en-US" sz="3200" dirty="0"/>
              <a:t>  </a:t>
            </a:r>
            <a:r>
              <a:rPr lang="en-US" sz="3200" dirty="0">
                <a:solidFill>
                  <a:srgbClr val="FF0000"/>
                </a:solidFill>
              </a:rPr>
              <a:t>However, if the item is not in the list/array, the algorithm will compare all n items.  - this is called the worst-case efficiency.</a:t>
            </a:r>
          </a:p>
        </p:txBody>
      </p:sp>
    </p:spTree>
    <p:extLst>
      <p:ext uri="{BB962C8B-B14F-4D97-AF65-F5344CB8AC3E}">
        <p14:creationId xmlns:p14="http://schemas.microsoft.com/office/powerpoint/2010/main" val="4107588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Runtime of Linear Search Algorithm</a:t>
            </a:r>
          </a:p>
        </p:txBody>
      </p:sp>
      <p:sp>
        <p:nvSpPr>
          <p:cNvPr id="3" name="Content Placeholder 2"/>
          <p:cNvSpPr>
            <a:spLocks noGrp="1"/>
          </p:cNvSpPr>
          <p:nvPr>
            <p:ph idx="1"/>
          </p:nvPr>
        </p:nvSpPr>
        <p:spPr>
          <a:xfrm>
            <a:off x="1097280" y="1845733"/>
            <a:ext cx="10058400" cy="4469341"/>
          </a:xfrm>
        </p:spPr>
        <p:txBody>
          <a:bodyPr>
            <a:noAutofit/>
          </a:bodyPr>
          <a:lstStyle/>
          <a:p>
            <a:pPr marL="0" indent="0">
              <a:buNone/>
            </a:pPr>
            <a:r>
              <a:rPr lang="en-US" sz="2800" dirty="0"/>
              <a:t>An algorithm’s </a:t>
            </a:r>
            <a:r>
              <a:rPr lang="en-US" sz="2800" b="1" dirty="0">
                <a:solidFill>
                  <a:srgbClr val="0070C0"/>
                </a:solidFill>
              </a:rPr>
              <a:t>runtime</a:t>
            </a:r>
            <a:r>
              <a:rPr lang="en-US" sz="2800" dirty="0"/>
              <a:t> is the time the algorithm takes to execute.  </a:t>
            </a:r>
          </a:p>
          <a:p>
            <a:pPr marL="0" indent="0">
              <a:buNone/>
            </a:pPr>
            <a:r>
              <a:rPr lang="en-US" sz="2800" b="1" dirty="0"/>
              <a:t>Runtime of linear search algorithm:</a:t>
            </a:r>
          </a:p>
          <a:p>
            <a:pPr marL="457200" indent="-457200">
              <a:buFont typeface="Wingdings" panose="05000000000000000000" pitchFamily="2" charset="2"/>
              <a:buChar char="v"/>
            </a:pPr>
            <a:r>
              <a:rPr lang="en-US" sz="2800" dirty="0"/>
              <a:t>1,000,000-element list = 1 second (runtime)</a:t>
            </a:r>
          </a:p>
          <a:p>
            <a:pPr marL="457200" indent="-457200">
              <a:buFont typeface="Wingdings" panose="05000000000000000000" pitchFamily="2" charset="2"/>
              <a:buChar char="v"/>
            </a:pPr>
            <a:r>
              <a:rPr lang="en-US" sz="2800" dirty="0"/>
              <a:t>10,000,000-element list = 10 seconds (runtime)</a:t>
            </a:r>
          </a:p>
          <a:p>
            <a:pPr marL="457200" indent="-457200">
              <a:buFont typeface="Wingdings" panose="05000000000000000000" pitchFamily="2" charset="2"/>
              <a:buChar char="v"/>
            </a:pPr>
            <a:r>
              <a:rPr lang="en-US" sz="2800" dirty="0"/>
              <a:t>(100 million) 100,000,000-element list = 100 seconds (runtime)</a:t>
            </a:r>
          </a:p>
          <a:p>
            <a:pPr marL="457200" indent="-457200">
              <a:buFont typeface="Wingdings" panose="05000000000000000000" pitchFamily="2" charset="2"/>
              <a:buChar char="v"/>
            </a:pPr>
            <a:r>
              <a:rPr lang="en-US" sz="2800" dirty="0"/>
              <a:t>(200 million) 200,000,000-element list = </a:t>
            </a:r>
            <a:r>
              <a:rPr lang="en-US" sz="2800" b="1" dirty="0">
                <a:solidFill>
                  <a:srgbClr val="FF0000"/>
                </a:solidFill>
              </a:rPr>
              <a:t>over 3 minutes </a:t>
            </a:r>
            <a:r>
              <a:rPr lang="en-US" sz="2800" dirty="0"/>
              <a:t>(runtime)</a:t>
            </a:r>
          </a:p>
          <a:p>
            <a:pPr marL="0" indent="0" algn="ctr">
              <a:buNone/>
            </a:pPr>
            <a:r>
              <a:rPr lang="en-US" sz="2400" b="1" dirty="0">
                <a:solidFill>
                  <a:srgbClr val="FF0000"/>
                </a:solidFill>
              </a:rPr>
              <a:t>Imagine searching for a product on Amazon.com using linear search, which has 353,710,754 products listed that has to be searched as of January 29, 2021.</a:t>
            </a:r>
          </a:p>
        </p:txBody>
      </p:sp>
    </p:spTree>
    <p:extLst>
      <p:ext uri="{BB962C8B-B14F-4D97-AF65-F5344CB8AC3E}">
        <p14:creationId xmlns:p14="http://schemas.microsoft.com/office/powerpoint/2010/main" val="401859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BINARY search algorithm?</a:t>
            </a:r>
          </a:p>
        </p:txBody>
      </p:sp>
      <p:sp>
        <p:nvSpPr>
          <p:cNvPr id="3" name="Content Placeholder 2"/>
          <p:cNvSpPr>
            <a:spLocks noGrp="1"/>
          </p:cNvSpPr>
          <p:nvPr>
            <p:ph idx="1"/>
          </p:nvPr>
        </p:nvSpPr>
        <p:spPr>
          <a:xfrm>
            <a:off x="1097280" y="1845734"/>
            <a:ext cx="10058400" cy="4467660"/>
          </a:xfrm>
        </p:spPr>
        <p:txBody>
          <a:bodyPr>
            <a:noAutofit/>
          </a:bodyPr>
          <a:lstStyle/>
          <a:p>
            <a:r>
              <a:rPr lang="en-US" sz="2400" dirty="0"/>
              <a:t>The </a:t>
            </a:r>
            <a:r>
              <a:rPr lang="en-US" sz="2400" b="1" dirty="0">
                <a:solidFill>
                  <a:srgbClr val="FF0000"/>
                </a:solidFill>
              </a:rPr>
              <a:t>binary search algorithm </a:t>
            </a:r>
            <a:r>
              <a:rPr lang="en-US" sz="2400" dirty="0"/>
              <a:t>is  much more efficient than the linear search.  </a:t>
            </a:r>
          </a:p>
          <a:p>
            <a:r>
              <a:rPr lang="en-US" sz="2400" dirty="0"/>
              <a:t>Instead of testing data starting from the beginning, this algorithm </a:t>
            </a:r>
            <a:r>
              <a:rPr lang="en-US" sz="2400" b="1" dirty="0">
                <a:solidFill>
                  <a:srgbClr val="0070C0"/>
                </a:solidFill>
              </a:rPr>
              <a:t>starts</a:t>
            </a:r>
            <a:r>
              <a:rPr lang="en-US" sz="2400" dirty="0"/>
              <a:t> with the </a:t>
            </a:r>
            <a:r>
              <a:rPr lang="en-US" sz="2400" b="1" dirty="0">
                <a:solidFill>
                  <a:srgbClr val="0070C0"/>
                </a:solidFill>
              </a:rPr>
              <a:t>item in the middle</a:t>
            </a:r>
            <a:r>
              <a:rPr lang="en-US" sz="2400" dirty="0"/>
              <a:t>.  If that element contains the desired value, then the search is over.  </a:t>
            </a:r>
          </a:p>
          <a:p>
            <a:r>
              <a:rPr lang="en-US" sz="2400" dirty="0"/>
              <a:t>Otherwise, the value in the middle element is either greater than or less than the value being searched for.  If it is greater, then the desired value (if it is in the data) will be found somewhere in the first ½ of the data.  If it is less, then the desired value (again, if it is in the list) will be found somewhere in the last </a:t>
            </a:r>
            <a:r>
              <a:rPr lang="en-US" sz="2400" dirty="0" err="1"/>
              <a:t>haf</a:t>
            </a:r>
            <a:r>
              <a:rPr lang="en-US" sz="2400" dirty="0"/>
              <a:t> of the array.  </a:t>
            </a:r>
          </a:p>
          <a:p>
            <a:r>
              <a:rPr lang="en-US" sz="2400" b="1" dirty="0">
                <a:solidFill>
                  <a:srgbClr val="0070C0"/>
                </a:solidFill>
              </a:rPr>
              <a:t>In either case, ½ of the data is eliminated from further searching.</a:t>
            </a:r>
          </a:p>
        </p:txBody>
      </p:sp>
    </p:spTree>
    <p:extLst>
      <p:ext uri="{BB962C8B-B14F-4D97-AF65-F5344CB8AC3E}">
        <p14:creationId xmlns:p14="http://schemas.microsoft.com/office/powerpoint/2010/main" val="3829887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 Algorithm Example</a:t>
            </a:r>
          </a:p>
        </p:txBody>
      </p:sp>
      <p:pic>
        <p:nvPicPr>
          <p:cNvPr id="5" name="Picture 4">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215837" y="1964111"/>
            <a:ext cx="9172015" cy="4279070"/>
          </a:xfrm>
          <a:prstGeom prst="rect">
            <a:avLst/>
          </a:prstGeom>
        </p:spPr>
      </p:pic>
    </p:spTree>
    <p:extLst>
      <p:ext uri="{BB962C8B-B14F-4D97-AF65-F5344CB8AC3E}">
        <p14:creationId xmlns:p14="http://schemas.microsoft.com/office/powerpoint/2010/main" val="1177283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C147B-F5F5-41F0-8368-6A90F55D9C30}"/>
              </a:ext>
            </a:extLst>
          </p:cNvPr>
          <p:cNvSpPr>
            <a:spLocks noGrp="1"/>
          </p:cNvSpPr>
          <p:nvPr>
            <p:ph type="title"/>
          </p:nvPr>
        </p:nvSpPr>
        <p:spPr/>
        <p:txBody>
          <a:bodyPr/>
          <a:lstStyle/>
          <a:p>
            <a:r>
              <a:rPr lang="en-US" dirty="0"/>
              <a:t>Binary Search Animation</a:t>
            </a:r>
          </a:p>
        </p:txBody>
      </p:sp>
      <p:pic>
        <p:nvPicPr>
          <p:cNvPr id="5" name="Content Placeholder 4">
            <a:extLst>
              <a:ext uri="{FF2B5EF4-FFF2-40B4-BE49-F238E27FC236}">
                <a16:creationId xmlns:a16="http://schemas.microsoft.com/office/drawing/2014/main" id="{18318270-F4F5-4193-9931-13B4BFB03AB1}"/>
              </a:ext>
              <a:ext uri="{C183D7F6-B498-43B3-948B-1728B52AA6E4}">
                <adec:decorative xmlns:adec="http://schemas.microsoft.com/office/drawing/2017/decorative" val="1"/>
              </a:ext>
            </a:extLst>
          </p:cNvPr>
          <p:cNvPicPr>
            <a:picLocks noGrp="1" noChangeAspect="1"/>
          </p:cNvPicPr>
          <p:nvPr>
            <p:ph idx="1"/>
          </p:nvPr>
        </p:nvPicPr>
        <p:blipFill>
          <a:blip r:embed="rId2"/>
          <a:stretch>
            <a:fillRect/>
          </a:stretch>
        </p:blipFill>
        <p:spPr>
          <a:xfrm>
            <a:off x="2444750" y="1924050"/>
            <a:ext cx="7362825" cy="3867150"/>
          </a:xfrm>
        </p:spPr>
      </p:pic>
    </p:spTree>
    <p:extLst>
      <p:ext uri="{BB962C8B-B14F-4D97-AF65-F5344CB8AC3E}">
        <p14:creationId xmlns:p14="http://schemas.microsoft.com/office/powerpoint/2010/main" val="1471814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2CB70-850E-D572-D1B9-2C0F16A8181E}"/>
              </a:ext>
            </a:extLst>
          </p:cNvPr>
          <p:cNvSpPr>
            <a:spLocks noGrp="1"/>
          </p:cNvSpPr>
          <p:nvPr>
            <p:ph type="title"/>
          </p:nvPr>
        </p:nvSpPr>
        <p:spPr/>
        <p:txBody>
          <a:bodyPr/>
          <a:lstStyle/>
          <a:p>
            <a:r>
              <a:rPr lang="en-US" dirty="0"/>
              <a:t>Binary Search by Too Tall Productions</a:t>
            </a:r>
          </a:p>
        </p:txBody>
      </p:sp>
      <p:sp>
        <p:nvSpPr>
          <p:cNvPr id="3" name="Content Placeholder 2">
            <a:extLst>
              <a:ext uri="{FF2B5EF4-FFF2-40B4-BE49-F238E27FC236}">
                <a16:creationId xmlns:a16="http://schemas.microsoft.com/office/drawing/2014/main" id="{46F89E4F-E010-EC64-7A09-6EFA65A8CE44}"/>
              </a:ext>
            </a:extLst>
          </p:cNvPr>
          <p:cNvSpPr>
            <a:spLocks noGrp="1"/>
          </p:cNvSpPr>
          <p:nvPr>
            <p:ph idx="1"/>
          </p:nvPr>
        </p:nvSpPr>
        <p:spPr/>
        <p:txBody>
          <a:bodyPr/>
          <a:lstStyle/>
          <a:p>
            <a:r>
              <a:rPr lang="en-US" sz="5400" b="1" dirty="0">
                <a:solidFill>
                  <a:srgbClr val="0000FF"/>
                </a:solidFill>
                <a:hlinkClick r:id="rId2">
                  <a:extLst>
                    <a:ext uri="{A12FA001-AC4F-418D-AE19-62706E023703}">
                      <ahyp:hlinkClr xmlns:ahyp="http://schemas.microsoft.com/office/drawing/2018/hyperlinkcolor" val="tx"/>
                    </a:ext>
                  </a:extLst>
                </a:hlinkClick>
              </a:rPr>
              <a:t>https://www.youtube.com/watch?v=8TNLRK_FyFc</a:t>
            </a:r>
            <a:r>
              <a:rPr lang="en-US" sz="5400" b="1" dirty="0">
                <a:solidFill>
                  <a:srgbClr val="0000FF"/>
                </a:solidFill>
              </a:rPr>
              <a:t> </a:t>
            </a:r>
          </a:p>
          <a:p>
            <a:endParaRPr lang="en-US" dirty="0"/>
          </a:p>
        </p:txBody>
      </p:sp>
    </p:spTree>
    <p:extLst>
      <p:ext uri="{BB962C8B-B14F-4D97-AF65-F5344CB8AC3E}">
        <p14:creationId xmlns:p14="http://schemas.microsoft.com/office/powerpoint/2010/main" val="687634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2CB70-850E-D572-D1B9-2C0F16A8181E}"/>
              </a:ext>
            </a:extLst>
          </p:cNvPr>
          <p:cNvSpPr>
            <a:spLocks noGrp="1"/>
          </p:cNvSpPr>
          <p:nvPr>
            <p:ph type="title"/>
          </p:nvPr>
        </p:nvSpPr>
        <p:spPr/>
        <p:txBody>
          <a:bodyPr/>
          <a:lstStyle/>
          <a:p>
            <a:r>
              <a:rPr lang="en-US" dirty="0"/>
              <a:t>Interpreting Binary Search with </a:t>
            </a:r>
            <a:br>
              <a:rPr lang="en-US" dirty="0"/>
            </a:br>
            <a:r>
              <a:rPr lang="en-US" dirty="0"/>
              <a:t>Flamenco Dance</a:t>
            </a:r>
          </a:p>
        </p:txBody>
      </p:sp>
      <p:sp>
        <p:nvSpPr>
          <p:cNvPr id="3" name="Content Placeholder 2">
            <a:extLst>
              <a:ext uri="{FF2B5EF4-FFF2-40B4-BE49-F238E27FC236}">
                <a16:creationId xmlns:a16="http://schemas.microsoft.com/office/drawing/2014/main" id="{46F89E4F-E010-EC64-7A09-6EFA65A8CE44}"/>
              </a:ext>
            </a:extLst>
          </p:cNvPr>
          <p:cNvSpPr>
            <a:spLocks noGrp="1"/>
          </p:cNvSpPr>
          <p:nvPr>
            <p:ph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0000FF"/>
                </a:solidFill>
                <a:effectLst/>
                <a:uLnTx/>
                <a:uFillTx/>
                <a:latin typeface="+mn-lt"/>
                <a:ea typeface="+mn-ea"/>
                <a:cs typeface="+mn-cs"/>
              </a:rPr>
              <a:t>https://www.youtube.com/watch?v=wz7XgKowJIg</a:t>
            </a:r>
          </a:p>
          <a:p>
            <a:endParaRPr lang="en-US" dirty="0"/>
          </a:p>
        </p:txBody>
      </p:sp>
    </p:spTree>
    <p:extLst>
      <p:ext uri="{BB962C8B-B14F-4D97-AF65-F5344CB8AC3E}">
        <p14:creationId xmlns:p14="http://schemas.microsoft.com/office/powerpoint/2010/main" val="2842020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Content Placeholder 2"/>
          <p:cNvSpPr>
            <a:spLocks noGrp="1"/>
          </p:cNvSpPr>
          <p:nvPr>
            <p:ph idx="1"/>
          </p:nvPr>
        </p:nvSpPr>
        <p:spPr/>
        <p:txBody>
          <a:bodyPr>
            <a:normAutofit/>
          </a:bodyPr>
          <a:lstStyle/>
          <a:p>
            <a:r>
              <a:rPr lang="en-US" sz="3600" b="1" dirty="0"/>
              <a:t>Look at examples:</a:t>
            </a:r>
          </a:p>
          <a:p>
            <a:endParaRPr lang="en-US" sz="3600" dirty="0"/>
          </a:p>
          <a:p>
            <a:pPr marL="457200" indent="-457200">
              <a:buFont typeface="Wingdings" panose="05000000000000000000" pitchFamily="2" charset="2"/>
              <a:buChar char="v"/>
            </a:pPr>
            <a:r>
              <a:rPr lang="en-US" sz="3600" dirty="0">
                <a:solidFill>
                  <a:srgbClr val="0070C0"/>
                </a:solidFill>
              </a:rPr>
              <a:t>BinarySearchWithoutRecursion.cpp</a:t>
            </a:r>
          </a:p>
          <a:p>
            <a:pPr marL="457200" indent="-457200">
              <a:buFont typeface="Wingdings" panose="05000000000000000000" pitchFamily="2" charset="2"/>
              <a:buChar char="v"/>
            </a:pPr>
            <a:r>
              <a:rPr lang="en-US" sz="3600" dirty="0">
                <a:solidFill>
                  <a:srgbClr val="0070C0"/>
                </a:solidFill>
              </a:rPr>
              <a:t>BinarySearchWithRecursion.cpp</a:t>
            </a:r>
          </a:p>
          <a:p>
            <a:pPr marL="457200" indent="-457200">
              <a:buFont typeface="Wingdings" panose="05000000000000000000" pitchFamily="2" charset="2"/>
              <a:buChar char="v"/>
            </a:pPr>
            <a:endParaRPr lang="en-US" sz="3600" dirty="0">
              <a:solidFill>
                <a:srgbClr val="0070C0"/>
              </a:solidFill>
            </a:endParaRPr>
          </a:p>
        </p:txBody>
      </p:sp>
    </p:spTree>
    <p:extLst>
      <p:ext uri="{BB962C8B-B14F-4D97-AF65-F5344CB8AC3E}">
        <p14:creationId xmlns:p14="http://schemas.microsoft.com/office/powerpoint/2010/main" val="547386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485676"/>
            <a:ext cx="9661711" cy="45719"/>
          </a:xfrm>
        </p:spPr>
        <p:txBody>
          <a:bodyPr>
            <a:normAutofit fontScale="90000"/>
          </a:bodyPr>
          <a:lstStyle/>
          <a:p>
            <a:r>
              <a:rPr lang="en-US" dirty="0"/>
              <a:t>Binary Search                      Good Bad and Ugly</a:t>
            </a:r>
          </a:p>
        </p:txBody>
      </p:sp>
      <p:sp>
        <p:nvSpPr>
          <p:cNvPr id="3" name="Content Placeholder 2"/>
          <p:cNvSpPr>
            <a:spLocks noGrp="1"/>
          </p:cNvSpPr>
          <p:nvPr>
            <p:ph idx="1"/>
          </p:nvPr>
        </p:nvSpPr>
        <p:spPr/>
        <p:txBody>
          <a:bodyPr>
            <a:noAutofit/>
          </a:bodyPr>
          <a:lstStyle/>
          <a:p>
            <a:pPr marL="0" indent="0">
              <a:buNone/>
            </a:pPr>
            <a:r>
              <a:rPr lang="en-US" sz="2800" dirty="0"/>
              <a:t>GOOD:  </a:t>
            </a:r>
          </a:p>
          <a:p>
            <a:pPr marL="914400" indent="-457200">
              <a:buFont typeface="Wingdings" panose="05000000000000000000" pitchFamily="2" charset="2"/>
              <a:buChar char="v"/>
            </a:pPr>
            <a:r>
              <a:rPr lang="en-US" sz="2800" dirty="0"/>
              <a:t>Easy to understand</a:t>
            </a:r>
          </a:p>
          <a:p>
            <a:pPr marL="914400" indent="-457200">
              <a:buFont typeface="Wingdings" panose="05000000000000000000" pitchFamily="2" charset="2"/>
              <a:buChar char="v"/>
            </a:pPr>
            <a:r>
              <a:rPr lang="en-US" sz="2800" dirty="0"/>
              <a:t>Time Efficient – much quicker then linear search</a:t>
            </a:r>
          </a:p>
          <a:p>
            <a:pPr marL="914400" indent="-457200">
              <a:buFont typeface="Wingdings" panose="05000000000000000000" pitchFamily="2" charset="2"/>
              <a:buChar char="v"/>
            </a:pPr>
            <a:r>
              <a:rPr lang="en-US" sz="2800" dirty="0"/>
              <a:t>Space Efficient – doesn’t take up much space at all to run</a:t>
            </a:r>
          </a:p>
          <a:p>
            <a:pPr marL="0" indent="0">
              <a:buNone/>
            </a:pPr>
            <a:r>
              <a:rPr lang="en-US" sz="2800" dirty="0"/>
              <a:t>BAD:  </a:t>
            </a:r>
          </a:p>
          <a:p>
            <a:pPr marL="914400" indent="-433388">
              <a:buFont typeface="Wingdings" panose="05000000000000000000" pitchFamily="2" charset="2"/>
              <a:buChar char="v"/>
            </a:pPr>
            <a:r>
              <a:rPr lang="en-US" sz="2800" dirty="0"/>
              <a:t>Data must be sorted</a:t>
            </a:r>
          </a:p>
        </p:txBody>
      </p:sp>
      <p:pic>
        <p:nvPicPr>
          <p:cNvPr id="5" name="Picture 4">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6612" y="0"/>
            <a:ext cx="6155388" cy="2380582"/>
          </a:xfrm>
          <a:prstGeom prst="rect">
            <a:avLst/>
          </a:prstGeom>
        </p:spPr>
      </p:pic>
    </p:spTree>
    <p:extLst>
      <p:ext uri="{BB962C8B-B14F-4D97-AF65-F5344CB8AC3E}">
        <p14:creationId xmlns:p14="http://schemas.microsoft.com/office/powerpoint/2010/main" val="3087756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Number of Comparisons in </a:t>
            </a:r>
            <a:br>
              <a:rPr lang="en-US" dirty="0"/>
            </a:br>
            <a:r>
              <a:rPr lang="en-US" dirty="0"/>
              <a:t>Binary Search Algorithm</a:t>
            </a:r>
          </a:p>
        </p:txBody>
      </p:sp>
      <p:sp>
        <p:nvSpPr>
          <p:cNvPr id="3" name="Content Placeholder 2"/>
          <p:cNvSpPr>
            <a:spLocks noGrp="1"/>
          </p:cNvSpPr>
          <p:nvPr>
            <p:ph idx="1"/>
          </p:nvPr>
        </p:nvSpPr>
        <p:spPr>
          <a:xfrm>
            <a:off x="1097280" y="1327225"/>
            <a:ext cx="10058400" cy="4023360"/>
          </a:xfrm>
        </p:spPr>
        <p:txBody>
          <a:bodyPr>
            <a:noAutofit/>
          </a:bodyPr>
          <a:lstStyle/>
          <a:p>
            <a:pPr marL="0" indent="0">
              <a:buNone/>
            </a:pPr>
            <a:r>
              <a:rPr lang="en-US" sz="3600" b="1" dirty="0">
                <a:solidFill>
                  <a:srgbClr val="0070C0"/>
                </a:solidFill>
              </a:rPr>
              <a:t>MAXIMUM:  		 </a:t>
            </a:r>
            <a:r>
              <a:rPr lang="en-US" sz="7200" b="1" dirty="0">
                <a:solidFill>
                  <a:srgbClr val="0070C0"/>
                </a:solidFill>
              </a:rPr>
              <a:t>┌</a:t>
            </a:r>
            <a:r>
              <a:rPr lang="en-US" sz="3600" b="1" dirty="0">
                <a:solidFill>
                  <a:srgbClr val="0070C0"/>
                </a:solidFill>
              </a:rPr>
              <a:t> </a:t>
            </a:r>
            <a:r>
              <a:rPr lang="en-US" sz="3600" dirty="0">
                <a:solidFill>
                  <a:srgbClr val="0070C0"/>
                </a:solidFill>
              </a:rPr>
              <a:t>log</a:t>
            </a:r>
            <a:r>
              <a:rPr lang="en-US" sz="3600" baseline="-25000" dirty="0">
                <a:solidFill>
                  <a:srgbClr val="0070C0"/>
                </a:solidFill>
              </a:rPr>
              <a:t>2</a:t>
            </a:r>
            <a:r>
              <a:rPr lang="en-US" sz="3600" dirty="0">
                <a:solidFill>
                  <a:srgbClr val="0070C0"/>
                </a:solidFill>
              </a:rPr>
              <a:t> N</a:t>
            </a:r>
            <a:r>
              <a:rPr lang="en-US" sz="3600" b="1" dirty="0">
                <a:solidFill>
                  <a:srgbClr val="0070C0"/>
                </a:solidFill>
              </a:rPr>
              <a:t> </a:t>
            </a:r>
            <a:r>
              <a:rPr lang="en-US" sz="7200" b="1" dirty="0">
                <a:solidFill>
                  <a:srgbClr val="0070C0"/>
                </a:solidFill>
              </a:rPr>
              <a:t>┐</a:t>
            </a:r>
            <a:r>
              <a:rPr lang="en-US" sz="7200" dirty="0">
                <a:solidFill>
                  <a:srgbClr val="0070C0"/>
                </a:solidFill>
              </a:rPr>
              <a:t> </a:t>
            </a:r>
            <a:r>
              <a:rPr lang="en-US" sz="3600" dirty="0">
                <a:solidFill>
                  <a:srgbClr val="0070C0"/>
                </a:solidFill>
              </a:rPr>
              <a:t>comparisons</a:t>
            </a:r>
          </a:p>
          <a:p>
            <a:pPr marL="0" indent="0">
              <a:buNone/>
            </a:pPr>
            <a:r>
              <a:rPr lang="en-US" sz="2800" dirty="0"/>
              <a:t>Powers of 2 are used to calculate the maximum number of comparisons the binary search will make on an array/list of any size.  Simply find the smallest power of 2 that is greater than or equal to the number of elements in the array.</a:t>
            </a:r>
          </a:p>
          <a:p>
            <a:pPr marL="0" indent="0">
              <a:buNone/>
            </a:pPr>
            <a:r>
              <a:rPr lang="en-US" sz="3200" b="1" dirty="0"/>
              <a:t>Example:  </a:t>
            </a:r>
            <a:r>
              <a:rPr lang="en-US" sz="3200" dirty="0"/>
              <a:t>array of 50,000 elements</a:t>
            </a:r>
          </a:p>
          <a:p>
            <a:pPr marL="0" indent="0">
              <a:buNone/>
            </a:pPr>
            <a:r>
              <a:rPr lang="en-US" sz="3200" b="1" dirty="0"/>
              <a:t>2</a:t>
            </a:r>
            <a:r>
              <a:rPr lang="en-US" sz="3200" b="1" baseline="30000" dirty="0"/>
              <a:t>16</a:t>
            </a:r>
            <a:r>
              <a:rPr lang="en-US" sz="3200" b="1" dirty="0"/>
              <a:t> = </a:t>
            </a:r>
            <a:r>
              <a:rPr lang="en-US" sz="2800" b="1" dirty="0"/>
              <a:t>65,536</a:t>
            </a:r>
            <a:r>
              <a:rPr lang="en-US" sz="2400" b="1" dirty="0"/>
              <a:t> (maximum of 16 comparisons would be made on a 50,000 array)</a:t>
            </a:r>
          </a:p>
          <a:p>
            <a:pPr marL="0" indent="0">
              <a:buNone/>
            </a:pPr>
            <a:r>
              <a:rPr lang="en-US" sz="6600" b="1" dirty="0">
                <a:solidFill>
                  <a:srgbClr val="0070C0"/>
                </a:solidFill>
              </a:rPr>
              <a:t>┌</a:t>
            </a:r>
            <a:r>
              <a:rPr lang="en-US" sz="3200" b="1" dirty="0">
                <a:solidFill>
                  <a:srgbClr val="0070C0"/>
                </a:solidFill>
              </a:rPr>
              <a:t>log</a:t>
            </a:r>
            <a:r>
              <a:rPr lang="en-US" sz="3200" b="1" baseline="-25000" dirty="0">
                <a:solidFill>
                  <a:srgbClr val="0070C0"/>
                </a:solidFill>
              </a:rPr>
              <a:t>2</a:t>
            </a:r>
            <a:r>
              <a:rPr lang="en-US" sz="3200" b="1" dirty="0">
                <a:solidFill>
                  <a:srgbClr val="0070C0"/>
                </a:solidFill>
              </a:rPr>
              <a:t> 50,000</a:t>
            </a:r>
            <a:r>
              <a:rPr lang="en-US" sz="6600" b="1" dirty="0">
                <a:solidFill>
                  <a:srgbClr val="0070C0"/>
                </a:solidFill>
              </a:rPr>
              <a:t>┐</a:t>
            </a:r>
            <a:r>
              <a:rPr lang="en-US" sz="3200" b="1" dirty="0">
                <a:solidFill>
                  <a:srgbClr val="0070C0"/>
                </a:solidFill>
              </a:rPr>
              <a:t>= 16</a:t>
            </a:r>
            <a:endParaRPr lang="en-US" sz="2800" b="1" dirty="0">
              <a:solidFill>
                <a:srgbClr val="0070C0"/>
              </a:solidFill>
            </a:endParaRPr>
          </a:p>
        </p:txBody>
      </p:sp>
    </p:spTree>
    <p:extLst>
      <p:ext uri="{BB962C8B-B14F-4D97-AF65-F5344CB8AC3E}">
        <p14:creationId xmlns:p14="http://schemas.microsoft.com/office/powerpoint/2010/main" val="985941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55E9CE-422D-3D34-C6A8-B5E60523C85D}"/>
              </a:ext>
            </a:extLst>
          </p:cNvPr>
          <p:cNvSpPr>
            <a:spLocks noGrp="1"/>
          </p:cNvSpPr>
          <p:nvPr>
            <p:ph type="title"/>
          </p:nvPr>
        </p:nvSpPr>
        <p:spPr/>
        <p:txBody>
          <a:bodyPr/>
          <a:lstStyle/>
          <a:p>
            <a:r>
              <a:rPr lang="en-US" dirty="0"/>
              <a:t>Algorithm Analysis</a:t>
            </a:r>
          </a:p>
        </p:txBody>
      </p:sp>
      <p:pic>
        <p:nvPicPr>
          <p:cNvPr id="6" name="Picture 5">
            <a:extLst>
              <a:ext uri="{FF2B5EF4-FFF2-40B4-BE49-F238E27FC236}">
                <a16:creationId xmlns:a16="http://schemas.microsoft.com/office/drawing/2014/main" id="{D744E184-6255-F1DF-7F75-C06ECB62C6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41610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 &amp; Growth Rate</a:t>
            </a:r>
          </a:p>
        </p:txBody>
      </p:sp>
      <p:sp>
        <p:nvSpPr>
          <p:cNvPr id="3" name="Content Placeholder 2"/>
          <p:cNvSpPr>
            <a:spLocks noGrp="1"/>
          </p:cNvSpPr>
          <p:nvPr>
            <p:ph idx="1"/>
          </p:nvPr>
        </p:nvSpPr>
        <p:spPr>
          <a:xfrm>
            <a:off x="1097280" y="1845733"/>
            <a:ext cx="10534426" cy="4454213"/>
          </a:xfrm>
        </p:spPr>
        <p:txBody>
          <a:bodyPr>
            <a:normAutofit lnSpcReduction="10000"/>
          </a:bodyPr>
          <a:lstStyle/>
          <a:p>
            <a:pPr marL="457200" indent="-457200">
              <a:buFont typeface="Wingdings" panose="05000000000000000000" pitchFamily="2" charset="2"/>
              <a:buChar char="v"/>
            </a:pPr>
            <a:r>
              <a:rPr lang="en-US" sz="3200" dirty="0"/>
              <a:t>The more elements, the longer it will take to do different operations (and therefore algorithms) using these elements.  </a:t>
            </a:r>
          </a:p>
          <a:p>
            <a:pPr marL="457200" indent="-457200">
              <a:buFont typeface="Wingdings" panose="05000000000000000000" pitchFamily="2" charset="2"/>
              <a:buChar char="v"/>
            </a:pPr>
            <a:endParaRPr lang="en-US" sz="3200" dirty="0"/>
          </a:p>
          <a:p>
            <a:pPr marL="457200" indent="-457200">
              <a:buFont typeface="Wingdings" panose="05000000000000000000" pitchFamily="2" charset="2"/>
              <a:buChar char="v"/>
            </a:pPr>
            <a:r>
              <a:rPr lang="en-US" sz="3200" dirty="0"/>
              <a:t>If an algorithm does a good job of not taking too much longer when adding more elements, then it has a </a:t>
            </a:r>
            <a:r>
              <a:rPr lang="en-US" sz="3200" b="1" dirty="0">
                <a:solidFill>
                  <a:srgbClr val="FF0000"/>
                </a:solidFill>
              </a:rPr>
              <a:t>slower</a:t>
            </a:r>
            <a:r>
              <a:rPr lang="en-US" sz="3200" dirty="0"/>
              <a:t> </a:t>
            </a:r>
            <a:r>
              <a:rPr lang="en-US" sz="3200" b="1" dirty="0">
                <a:solidFill>
                  <a:srgbClr val="0070C0"/>
                </a:solidFill>
              </a:rPr>
              <a:t>growth rate</a:t>
            </a:r>
            <a:r>
              <a:rPr lang="en-US" sz="3200" dirty="0"/>
              <a:t>.</a:t>
            </a:r>
          </a:p>
          <a:p>
            <a:pPr marL="457200" indent="-457200">
              <a:buFont typeface="Wingdings" panose="05000000000000000000" pitchFamily="2" charset="2"/>
              <a:buChar char="v"/>
            </a:pPr>
            <a:endParaRPr lang="en-US" sz="3200" dirty="0"/>
          </a:p>
          <a:p>
            <a:pPr marL="457200" indent="-457200">
              <a:buFont typeface="Wingdings" panose="05000000000000000000" pitchFamily="2" charset="2"/>
              <a:buChar char="v"/>
            </a:pPr>
            <a:r>
              <a:rPr lang="en-US" sz="3200" dirty="0"/>
              <a:t>If an algorithm is </a:t>
            </a:r>
            <a:r>
              <a:rPr lang="en-US" sz="3200" dirty="0" err="1"/>
              <a:t>waaayyyyyyy</a:t>
            </a:r>
            <a:r>
              <a:rPr lang="en-US" sz="3200" dirty="0"/>
              <a:t> slower when adding more elements, then it has a </a:t>
            </a:r>
            <a:r>
              <a:rPr lang="en-US" sz="3200" b="1" dirty="0">
                <a:solidFill>
                  <a:srgbClr val="FF0000"/>
                </a:solidFill>
              </a:rPr>
              <a:t>higher</a:t>
            </a:r>
            <a:r>
              <a:rPr lang="en-US" sz="3200" dirty="0"/>
              <a:t> </a:t>
            </a:r>
            <a:r>
              <a:rPr lang="en-US" sz="3200" b="1" dirty="0">
                <a:solidFill>
                  <a:srgbClr val="0070C0"/>
                </a:solidFill>
              </a:rPr>
              <a:t>growth rate</a:t>
            </a:r>
            <a:r>
              <a:rPr lang="en-US" sz="3200" dirty="0"/>
              <a:t>. </a:t>
            </a:r>
            <a:endParaRPr lang="en-US" dirty="0"/>
          </a:p>
        </p:txBody>
      </p:sp>
    </p:spTree>
    <p:extLst>
      <p:ext uri="{BB962C8B-B14F-4D97-AF65-F5344CB8AC3E}">
        <p14:creationId xmlns:p14="http://schemas.microsoft.com/office/powerpoint/2010/main" val="50810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Big-O Notation</a:t>
            </a:r>
          </a:p>
        </p:txBody>
      </p:sp>
      <p:sp>
        <p:nvSpPr>
          <p:cNvPr id="3" name="Content Placeholder 2"/>
          <p:cNvSpPr>
            <a:spLocks noGrp="1"/>
          </p:cNvSpPr>
          <p:nvPr>
            <p:ph idx="1"/>
          </p:nvPr>
        </p:nvSpPr>
        <p:spPr>
          <a:xfrm>
            <a:off x="1097280" y="1845733"/>
            <a:ext cx="6722185" cy="4454213"/>
          </a:xfrm>
        </p:spPr>
        <p:txBody>
          <a:bodyPr>
            <a:normAutofit/>
          </a:bodyPr>
          <a:lstStyle/>
          <a:p>
            <a:r>
              <a:rPr lang="en-US" sz="3200" b="1" dirty="0">
                <a:solidFill>
                  <a:srgbClr val="0070C0"/>
                </a:solidFill>
              </a:rPr>
              <a:t>Big-O notation </a:t>
            </a:r>
            <a:r>
              <a:rPr lang="en-US" sz="3200" dirty="0"/>
              <a:t>is a mathematical way to describe the </a:t>
            </a:r>
            <a:r>
              <a:rPr lang="en-US" sz="3200" b="1" dirty="0"/>
              <a:t>efficiency class</a:t>
            </a:r>
            <a:r>
              <a:rPr lang="en-US" sz="3200" dirty="0"/>
              <a:t> of an algorithm to some function of n, where n is usually the number of elements in a collection.</a:t>
            </a:r>
          </a:p>
          <a:p>
            <a:r>
              <a:rPr lang="en-US" sz="2800" b="1" dirty="0">
                <a:solidFill>
                  <a:srgbClr val="0070C0"/>
                </a:solidFill>
              </a:rPr>
              <a:t>Example:  </a:t>
            </a:r>
            <a:r>
              <a:rPr lang="en-US" sz="2800" dirty="0"/>
              <a:t>if an algorithm is O(n), it means that the running time of the algorithm is roughly proportional to the number of elements in the collection</a:t>
            </a:r>
            <a:r>
              <a:rPr lang="en-US" dirty="0"/>
              <a:t>.</a:t>
            </a:r>
          </a:p>
          <a:p>
            <a:endParaRPr lang="en-US" dirty="0"/>
          </a:p>
        </p:txBody>
      </p:sp>
      <p:sp>
        <p:nvSpPr>
          <p:cNvPr id="4" name="Explosion 1 3"/>
          <p:cNvSpPr/>
          <p:nvPr/>
        </p:nvSpPr>
        <p:spPr>
          <a:xfrm>
            <a:off x="7711888" y="3092823"/>
            <a:ext cx="4262718" cy="3328147"/>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The ‘O’ in big-O stands for “On the Order Of”</a:t>
            </a:r>
          </a:p>
        </p:txBody>
      </p:sp>
    </p:spTree>
    <p:extLst>
      <p:ext uri="{BB962C8B-B14F-4D97-AF65-F5344CB8AC3E}">
        <p14:creationId xmlns:p14="http://schemas.microsoft.com/office/powerpoint/2010/main" val="15811590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Notations in Algorithm Analysis</a:t>
            </a:r>
          </a:p>
        </p:txBody>
      </p:sp>
      <p:sp>
        <p:nvSpPr>
          <p:cNvPr id="3" name="Content Placeholder 2"/>
          <p:cNvSpPr>
            <a:spLocks noGrp="1"/>
          </p:cNvSpPr>
          <p:nvPr>
            <p:ph idx="1"/>
          </p:nvPr>
        </p:nvSpPr>
        <p:spPr>
          <a:xfrm>
            <a:off x="1097280" y="1845734"/>
            <a:ext cx="10058400" cy="4375772"/>
          </a:xfrm>
        </p:spPr>
        <p:txBody>
          <a:bodyPr>
            <a:normAutofit fontScale="92500"/>
          </a:bodyPr>
          <a:lstStyle/>
          <a:p>
            <a:r>
              <a:rPr lang="en-US" sz="3600" b="1" i="1" dirty="0"/>
              <a:t>O notation</a:t>
            </a:r>
            <a:r>
              <a:rPr lang="en-US" sz="3600" dirty="0"/>
              <a:t> provides a growth rate for an algorithm's upper bound.  </a:t>
            </a:r>
            <a:r>
              <a:rPr lang="en-US" sz="3600" dirty="0">
                <a:solidFill>
                  <a:srgbClr val="FF0000"/>
                </a:solidFill>
              </a:rPr>
              <a:t>This is the absolute worst this algorithm could ever get.</a:t>
            </a:r>
          </a:p>
          <a:p>
            <a:r>
              <a:rPr lang="en-US" sz="3600" b="1" i="1" dirty="0"/>
              <a:t>Ω notation</a:t>
            </a:r>
            <a:r>
              <a:rPr lang="en-US" sz="3600" dirty="0"/>
              <a:t> provides a growth rate for an algorithm's lower bound.  </a:t>
            </a:r>
            <a:r>
              <a:rPr lang="en-US" sz="3600" dirty="0">
                <a:solidFill>
                  <a:srgbClr val="FF0000"/>
                </a:solidFill>
              </a:rPr>
              <a:t>This is the best this algorithm could ever get.</a:t>
            </a:r>
          </a:p>
          <a:p>
            <a:r>
              <a:rPr lang="en-US" sz="3600" b="1" i="1" dirty="0"/>
              <a:t>Θ notation</a:t>
            </a:r>
            <a:r>
              <a:rPr lang="en-US" sz="3600" dirty="0"/>
              <a:t> provides a growth rate that is both an upper and lower bound.  </a:t>
            </a:r>
            <a:r>
              <a:rPr lang="en-US" sz="3600" dirty="0">
                <a:solidFill>
                  <a:srgbClr val="FF0000"/>
                </a:solidFill>
              </a:rPr>
              <a:t>This is the average for this algorithm.</a:t>
            </a:r>
          </a:p>
          <a:p>
            <a:endParaRPr lang="en-US" dirty="0"/>
          </a:p>
        </p:txBody>
      </p:sp>
    </p:spTree>
    <p:extLst>
      <p:ext uri="{BB962C8B-B14F-4D97-AF65-F5344CB8AC3E}">
        <p14:creationId xmlns:p14="http://schemas.microsoft.com/office/powerpoint/2010/main" val="3296408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F8F3-C0BB-5F9D-5B06-ACBC9C15B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D89781-9B90-79B0-CE49-9D707D65EF8E}"/>
              </a:ext>
            </a:extLst>
          </p:cNvPr>
          <p:cNvSpPr>
            <a:spLocks noGrp="1"/>
          </p:cNvSpPr>
          <p:nvPr>
            <p:ph type="title"/>
          </p:nvPr>
        </p:nvSpPr>
        <p:spPr>
          <a:xfrm>
            <a:off x="1097280" y="394977"/>
            <a:ext cx="10058400" cy="1450757"/>
          </a:xfrm>
        </p:spPr>
        <p:txBody>
          <a:bodyPr>
            <a:normAutofit fontScale="90000"/>
          </a:bodyPr>
          <a:lstStyle/>
          <a:p>
            <a:r>
              <a:rPr lang="en-US" b="1" dirty="0"/>
              <a:t>Common Efficiency Classes</a:t>
            </a:r>
            <a:br>
              <a:rPr lang="en-US" dirty="0"/>
            </a:br>
            <a:r>
              <a:rPr lang="en-US" sz="3600" dirty="0"/>
              <a:t>In Order of Growth Rate from </a:t>
            </a:r>
            <a:br>
              <a:rPr lang="en-US" sz="3600" dirty="0"/>
            </a:br>
            <a:r>
              <a:rPr lang="en-US" sz="3600" dirty="0"/>
              <a:t>slowest growth rate (good) to highest growth rate (bad)</a:t>
            </a:r>
            <a:endParaRPr lang="en-US" dirty="0"/>
          </a:p>
        </p:txBody>
      </p:sp>
      <p:sp>
        <p:nvSpPr>
          <p:cNvPr id="3" name="Content Placeholder 2">
            <a:extLst>
              <a:ext uri="{FF2B5EF4-FFF2-40B4-BE49-F238E27FC236}">
                <a16:creationId xmlns:a16="http://schemas.microsoft.com/office/drawing/2014/main" id="{E15269CB-C41D-CC67-1B01-F8F6606EA634}"/>
              </a:ext>
            </a:extLst>
          </p:cNvPr>
          <p:cNvSpPr>
            <a:spLocks noGrp="1"/>
          </p:cNvSpPr>
          <p:nvPr>
            <p:ph idx="1"/>
          </p:nvPr>
        </p:nvSpPr>
        <p:spPr>
          <a:xfrm>
            <a:off x="1097280" y="1845734"/>
            <a:ext cx="3298873" cy="4375772"/>
          </a:xfrm>
        </p:spPr>
        <p:txBody>
          <a:bodyPr>
            <a:normAutofit fontScale="25000" lnSpcReduction="20000"/>
          </a:bodyPr>
          <a:lstStyle/>
          <a:p>
            <a:pPr algn="ctr">
              <a:lnSpc>
                <a:spcPct val="110000"/>
              </a:lnSpc>
            </a:pPr>
            <a:r>
              <a:rPr lang="en-US" sz="7200" b="1" i="1" dirty="0">
                <a:solidFill>
                  <a:schemeClr val="tx1"/>
                </a:solidFill>
              </a:rPr>
              <a:t>(n is the number of items in a list)</a:t>
            </a:r>
          </a:p>
          <a:p>
            <a:pPr marL="0" indent="0" algn="ctr">
              <a:lnSpc>
                <a:spcPct val="110000"/>
              </a:lnSpc>
              <a:buNone/>
            </a:pPr>
            <a:r>
              <a:rPr lang="en-US" sz="11200" b="1" i="1" dirty="0">
                <a:solidFill>
                  <a:schemeClr val="bg1"/>
                </a:solidFill>
                <a:highlight>
                  <a:srgbClr val="0000FF"/>
                </a:highlight>
              </a:rPr>
              <a:t>1</a:t>
            </a:r>
            <a:r>
              <a:rPr lang="en-US" sz="11200" b="1" i="1" dirty="0">
                <a:solidFill>
                  <a:srgbClr val="000000"/>
                </a:solidFill>
                <a:highlight>
                  <a:srgbClr val="0000FF"/>
                </a:highlight>
              </a:rPr>
              <a:t> </a:t>
            </a:r>
          </a:p>
          <a:p>
            <a:pPr marL="0" indent="0" algn="ctr">
              <a:lnSpc>
                <a:spcPct val="110000"/>
              </a:lnSpc>
              <a:buNone/>
            </a:pPr>
            <a:r>
              <a:rPr lang="en-US" sz="11200" b="1" i="1" dirty="0">
                <a:solidFill>
                  <a:schemeClr val="bg1"/>
                </a:solidFill>
                <a:highlight>
                  <a:srgbClr val="008000"/>
                </a:highlight>
              </a:rPr>
              <a:t>log n</a:t>
            </a:r>
          </a:p>
          <a:p>
            <a:pPr marL="0" indent="0" algn="ctr">
              <a:lnSpc>
                <a:spcPct val="110000"/>
              </a:lnSpc>
              <a:buNone/>
            </a:pPr>
            <a:r>
              <a:rPr lang="en-US" sz="11200" b="1" i="1" dirty="0">
                <a:solidFill>
                  <a:schemeClr val="tx1"/>
                </a:solidFill>
                <a:highlight>
                  <a:srgbClr val="FFFF00"/>
                </a:highlight>
              </a:rPr>
              <a:t>n</a:t>
            </a:r>
          </a:p>
          <a:p>
            <a:pPr marL="0" indent="0" algn="ctr">
              <a:lnSpc>
                <a:spcPct val="110000"/>
              </a:lnSpc>
              <a:buNone/>
            </a:pPr>
            <a:r>
              <a:rPr lang="en-US" sz="11200" b="1" i="1" dirty="0">
                <a:solidFill>
                  <a:schemeClr val="tx1"/>
                </a:solidFill>
                <a:highlight>
                  <a:srgbClr val="FFFF00"/>
                </a:highlight>
              </a:rPr>
              <a:t>n log n</a:t>
            </a:r>
          </a:p>
          <a:p>
            <a:pPr marL="0" indent="0" algn="ctr">
              <a:lnSpc>
                <a:spcPct val="110000"/>
              </a:lnSpc>
              <a:buNone/>
            </a:pPr>
            <a:r>
              <a:rPr lang="en-US" sz="11200" b="1" i="1" dirty="0">
                <a:solidFill>
                  <a:schemeClr val="bg1"/>
                </a:solidFill>
                <a:highlight>
                  <a:srgbClr val="FF3300"/>
                </a:highlight>
              </a:rPr>
              <a:t>n</a:t>
            </a:r>
            <a:r>
              <a:rPr lang="en-US" sz="11200" b="1" i="1" baseline="30000" dirty="0">
                <a:solidFill>
                  <a:schemeClr val="bg1"/>
                </a:solidFill>
                <a:highlight>
                  <a:srgbClr val="FF3300"/>
                </a:highlight>
              </a:rPr>
              <a:t>2</a:t>
            </a:r>
          </a:p>
          <a:p>
            <a:pPr marL="0" indent="0" algn="ctr">
              <a:lnSpc>
                <a:spcPct val="110000"/>
              </a:lnSpc>
              <a:buNone/>
            </a:pPr>
            <a:r>
              <a:rPr lang="en-US" sz="11200" b="1" i="1" dirty="0">
                <a:solidFill>
                  <a:schemeClr val="bg1"/>
                </a:solidFill>
                <a:highlight>
                  <a:srgbClr val="FF00FF"/>
                </a:highlight>
              </a:rPr>
              <a:t>2</a:t>
            </a:r>
            <a:r>
              <a:rPr lang="en-US" sz="11200" b="1" i="1" baseline="30000" dirty="0">
                <a:solidFill>
                  <a:schemeClr val="bg1"/>
                </a:solidFill>
                <a:highlight>
                  <a:srgbClr val="FF00FF"/>
                </a:highlight>
              </a:rPr>
              <a:t>n</a:t>
            </a:r>
          </a:p>
          <a:p>
            <a:pPr marL="0" indent="0" algn="ctr">
              <a:lnSpc>
                <a:spcPct val="110000"/>
              </a:lnSpc>
              <a:buNone/>
            </a:pPr>
            <a:r>
              <a:rPr lang="en-US" sz="11200" b="1" i="1" dirty="0">
                <a:solidFill>
                  <a:schemeClr val="bg1"/>
                </a:solidFill>
                <a:highlight>
                  <a:srgbClr val="800080"/>
                </a:highlight>
              </a:rPr>
              <a:t>n!</a:t>
            </a:r>
            <a:endParaRPr lang="en-US" sz="11200" dirty="0">
              <a:solidFill>
                <a:schemeClr val="bg1"/>
              </a:solidFill>
              <a:highlight>
                <a:srgbClr val="800080"/>
              </a:highlight>
            </a:endParaRPr>
          </a:p>
          <a:p>
            <a:endParaRPr lang="en-US" dirty="0"/>
          </a:p>
        </p:txBody>
      </p:sp>
      <p:pic>
        <p:nvPicPr>
          <p:cNvPr id="8194" name="Picture 2">
            <a:extLst>
              <a:ext uri="{FF2B5EF4-FFF2-40B4-BE49-F238E27FC236}">
                <a16:creationId xmlns:a16="http://schemas.microsoft.com/office/drawing/2014/main" id="{94838D29-395C-618A-445D-6B1B67547F6E}"/>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2282" y="2245658"/>
            <a:ext cx="8199717" cy="4612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7535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Big-O Notation – Linear Time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97280" y="1845733"/>
                <a:ext cx="11005960" cy="4454213"/>
              </a:xfrm>
            </p:spPr>
            <p:txBody>
              <a:bodyPr>
                <a:normAutofit fontScale="92500" lnSpcReduction="10000"/>
              </a:bodyPr>
              <a:lstStyle/>
              <a:p>
                <a:pPr marL="0" indent="0">
                  <a:buNone/>
                </a:pPr>
                <a:r>
                  <a:rPr lang="en-US" sz="4800" b="1" dirty="0">
                    <a:solidFill>
                      <a:srgbClr val="0070C0"/>
                    </a:solidFill>
                  </a:rPr>
                  <a:t>Algorithms that are O(n) are said to run in </a:t>
                </a:r>
                <a:r>
                  <a:rPr lang="en-US" sz="4800" b="1" dirty="0">
                    <a:solidFill>
                      <a:srgbClr val="FF0000"/>
                    </a:solidFill>
                  </a:rPr>
                  <a:t>linear time</a:t>
                </a:r>
                <a:r>
                  <a:rPr lang="en-US" sz="4800" b="1" dirty="0">
                    <a:solidFill>
                      <a:srgbClr val="0070C0"/>
                    </a:solidFill>
                  </a:rPr>
                  <a:t>.</a:t>
                </a:r>
              </a:p>
              <a:p>
                <a:pPr marL="0" indent="0">
                  <a:buNone/>
                </a:pPr>
                <a:r>
                  <a:rPr lang="en-US" sz="4800" b="1" dirty="0">
                    <a:solidFill>
                      <a:schemeClr val="tx1"/>
                    </a:solidFill>
                  </a:rPr>
                  <a:t>Example</a:t>
                </a:r>
                <a:r>
                  <a:rPr lang="en-US" sz="4800" dirty="0">
                    <a:solidFill>
                      <a:schemeClr val="tx1"/>
                    </a:solidFill>
                  </a:rPr>
                  <a:t>:  linear search algorithm</a:t>
                </a:r>
              </a:p>
              <a:p>
                <a:pPr marL="0" indent="0">
                  <a:buNone/>
                </a:pPr>
                <a:r>
                  <a:rPr lang="en-US" sz="3200" b="1" dirty="0">
                    <a:solidFill>
                      <a:schemeClr val="tx1"/>
                    </a:solidFill>
                  </a:rPr>
                  <a:t>Best case </a:t>
                </a:r>
                <a:r>
                  <a:rPr lang="en-US" sz="3200" dirty="0">
                    <a:solidFill>
                      <a:schemeClr val="tx1"/>
                    </a:solidFill>
                  </a:rPr>
                  <a:t>(1</a:t>
                </a:r>
                <a:r>
                  <a:rPr lang="en-US" sz="3200" baseline="30000" dirty="0">
                    <a:solidFill>
                      <a:schemeClr val="tx1"/>
                    </a:solidFill>
                  </a:rPr>
                  <a:t>st</a:t>
                </a:r>
                <a:r>
                  <a:rPr lang="en-US" sz="3200" dirty="0">
                    <a:solidFill>
                      <a:schemeClr val="tx1"/>
                    </a:solidFill>
                  </a:rPr>
                  <a:t> item is the one you are searching for) = </a:t>
                </a:r>
                <a:r>
                  <a:rPr lang="en-US" sz="3200" b="1" dirty="0">
                    <a:solidFill>
                      <a:schemeClr val="tx1"/>
                    </a:solidFill>
                  </a:rPr>
                  <a:t>O(1)</a:t>
                </a:r>
              </a:p>
              <a:p>
                <a:pPr marL="0" indent="0">
                  <a:buNone/>
                </a:pPr>
                <a:r>
                  <a:rPr lang="en-US" sz="3200" b="1" dirty="0">
                    <a:solidFill>
                      <a:schemeClr val="tx1"/>
                    </a:solidFill>
                  </a:rPr>
                  <a:t>Worst case </a:t>
                </a:r>
                <a:r>
                  <a:rPr lang="en-US" sz="3200" dirty="0">
                    <a:solidFill>
                      <a:schemeClr val="tx1"/>
                    </a:solidFill>
                  </a:rPr>
                  <a:t>(item isn’t in the list) = </a:t>
                </a:r>
                <a:r>
                  <a:rPr lang="en-US" sz="3200" b="1" dirty="0">
                    <a:solidFill>
                      <a:schemeClr val="tx1"/>
                    </a:solidFill>
                  </a:rPr>
                  <a:t>O(n)</a:t>
                </a:r>
              </a:p>
              <a:p>
                <a:pPr marL="0" indent="0">
                  <a:buNone/>
                </a:pPr>
                <a:r>
                  <a:rPr lang="en-US" sz="3200" b="1" dirty="0">
                    <a:solidFill>
                      <a:schemeClr val="tx1"/>
                    </a:solidFill>
                  </a:rPr>
                  <a:t>Average case  </a:t>
                </a:r>
                <a:r>
                  <a:rPr lang="en-US" sz="3200" dirty="0">
                    <a:solidFill>
                      <a:schemeClr val="tx1"/>
                    </a:solidFill>
                  </a:rPr>
                  <a:t>(look through ½ the list) = n/2 = </a:t>
                </a:r>
                <a:r>
                  <a:rPr lang="en-US" sz="3200" b="1" dirty="0">
                    <a:solidFill>
                      <a:schemeClr val="tx1"/>
                    </a:solidFill>
                  </a:rPr>
                  <a:t>O(n)</a:t>
                </a:r>
                <a:r>
                  <a:rPr lang="en-US" sz="3200" dirty="0">
                    <a:solidFill>
                      <a:schemeClr val="tx1"/>
                    </a:solidFill>
                  </a:rPr>
                  <a:t> </a:t>
                </a:r>
              </a:p>
              <a:p>
                <a:pPr marL="0" indent="0">
                  <a:buNone/>
                </a:pPr>
                <a:r>
                  <a:rPr lang="en-US" sz="3200" b="1" dirty="0">
                    <a:solidFill>
                      <a:srgbClr val="FF0000"/>
                    </a:solidFill>
                    <a:latin typeface="Courier New" panose="02070309020205020404" pitchFamily="49" charset="0"/>
                    <a:cs typeface="Courier New" panose="02070309020205020404" pitchFamily="49" charset="0"/>
                  </a:rPr>
                  <a:t>O(1 + n + </a:t>
                </a:r>
                <a14:m>
                  <m:oMath xmlns:m="http://schemas.openxmlformats.org/officeDocument/2006/math">
                    <m:f>
                      <m:fPr>
                        <m:ctrlPr>
                          <a:rPr lang="en-US" sz="3200" b="1" i="1" dirty="0" smtClean="0">
                            <a:solidFill>
                              <a:srgbClr val="FF0000"/>
                            </a:solidFill>
                            <a:latin typeface="Cambria Math" panose="02040503050406030204" pitchFamily="18" charset="0"/>
                            <a:cs typeface="Courier New" panose="02070309020205020404" pitchFamily="49" charset="0"/>
                          </a:rPr>
                        </m:ctrlPr>
                      </m:fPr>
                      <m:num>
                        <m:r>
                          <a:rPr lang="en-US" sz="3200" b="1" i="1" dirty="0" smtClean="0">
                            <a:solidFill>
                              <a:srgbClr val="FF0000"/>
                            </a:solidFill>
                            <a:latin typeface="Cambria Math" panose="02040503050406030204" pitchFamily="18" charset="0"/>
                            <a:cs typeface="Courier New" panose="02070309020205020404" pitchFamily="49" charset="0"/>
                          </a:rPr>
                          <m:t>𝒏</m:t>
                        </m:r>
                      </m:num>
                      <m:den>
                        <m:r>
                          <a:rPr lang="en-US" sz="3200" b="1" i="1" dirty="0" smtClean="0">
                            <a:solidFill>
                              <a:srgbClr val="FF0000"/>
                            </a:solidFill>
                            <a:latin typeface="Cambria Math" panose="02040503050406030204" pitchFamily="18" charset="0"/>
                            <a:cs typeface="Courier New" panose="02070309020205020404" pitchFamily="49" charset="0"/>
                          </a:rPr>
                          <m:t>𝟐</m:t>
                        </m:r>
                      </m:den>
                    </m:f>
                  </m:oMath>
                </a14:m>
                <a:r>
                  <a:rPr lang="en-US" sz="3200" b="1" dirty="0">
                    <a:solidFill>
                      <a:srgbClr val="FF0000"/>
                    </a:solidFill>
                    <a:latin typeface="Courier New" panose="02070309020205020404" pitchFamily="49" charset="0"/>
                    <a:cs typeface="Courier New" panose="02070309020205020404" pitchFamily="49" charset="0"/>
                  </a:rPr>
                  <a:t>) = </a:t>
                </a:r>
                <a:r>
                  <a:rPr lang="en-US" sz="3200" b="1" dirty="0">
                    <a:solidFill>
                      <a:srgbClr val="0070C0"/>
                    </a:solidFill>
                    <a:latin typeface="Courier New" panose="02070309020205020404" pitchFamily="49" charset="0"/>
                    <a:cs typeface="Courier New" panose="02070309020205020404" pitchFamily="49" charset="0"/>
                  </a:rPr>
                  <a:t>O(n)</a:t>
                </a:r>
              </a:p>
            </p:txBody>
          </p:sp>
        </mc:Choice>
        <mc:Fallback xmlns="">
          <p:sp>
            <p:nvSpPr>
              <p:cNvPr id="3" name="Content Placeholder 2"/>
              <p:cNvSpPr>
                <a:spLocks noAdjustHandles="1" noChangeArrowheads="1" noChangeAspect="1" noChangeShapeType="1" noEditPoints="1" noGrp="1" noMove="1" noResize="1" noRot="1" noTextEdit="1"/>
              </p:cNvSpPr>
              <p:nvPr>
                <p:ph idx="1"/>
              </p:nvPr>
            </p:nvSpPr>
            <p:spPr>
              <a:xfrm>
                <a:off x="1097280" y="1845733"/>
                <a:ext cx="11005960" cy="4454213"/>
              </a:xfrm>
              <a:blipFill>
                <a:blip r:embed="rId3"/>
                <a:stretch>
                  <a:fillRect l="-3047" t="-5616"/>
                </a:stretch>
              </a:blipFill>
            </p:spPr>
            <p:txBody>
              <a:bodyPr/>
              <a:lstStyle/>
              <a:p>
                <a:r>
                  <a:rPr lang="en-US">
                    <a:noFill/>
                  </a:rPr>
                  <a:t> </a:t>
                </a:r>
              </a:p>
            </p:txBody>
          </p:sp>
        </mc:Fallback>
      </mc:AlternateContent>
    </p:spTree>
    <p:extLst>
      <p:ext uri="{BB962C8B-B14F-4D97-AF65-F5344CB8AC3E}">
        <p14:creationId xmlns:p14="http://schemas.microsoft.com/office/powerpoint/2010/main" val="40136340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Big-O Notation – Quadratic Time</a:t>
            </a:r>
          </a:p>
        </p:txBody>
      </p:sp>
      <p:sp>
        <p:nvSpPr>
          <p:cNvPr id="3" name="Content Placeholder 2"/>
          <p:cNvSpPr>
            <a:spLocks noGrp="1"/>
          </p:cNvSpPr>
          <p:nvPr>
            <p:ph idx="1"/>
          </p:nvPr>
        </p:nvSpPr>
        <p:spPr>
          <a:xfrm>
            <a:off x="1097280" y="1845733"/>
            <a:ext cx="10058400" cy="4454213"/>
          </a:xfrm>
        </p:spPr>
        <p:txBody>
          <a:bodyPr>
            <a:normAutofit/>
          </a:bodyPr>
          <a:lstStyle/>
          <a:p>
            <a:r>
              <a:rPr lang="en-US" sz="4400" b="1" dirty="0">
                <a:solidFill>
                  <a:srgbClr val="0070C0"/>
                </a:solidFill>
              </a:rPr>
              <a:t>Algorithms that are O(n</a:t>
            </a:r>
            <a:r>
              <a:rPr lang="en-US" sz="4400" b="1" baseline="30000" dirty="0">
                <a:solidFill>
                  <a:srgbClr val="0070C0"/>
                </a:solidFill>
              </a:rPr>
              <a:t>2</a:t>
            </a:r>
            <a:r>
              <a:rPr lang="en-US" sz="4400" b="1" dirty="0">
                <a:solidFill>
                  <a:srgbClr val="0070C0"/>
                </a:solidFill>
              </a:rPr>
              <a:t>) are said to run in </a:t>
            </a:r>
            <a:r>
              <a:rPr lang="en-US" sz="4400" b="1" dirty="0">
                <a:solidFill>
                  <a:srgbClr val="FF0000"/>
                </a:solidFill>
              </a:rPr>
              <a:t>quadratic time</a:t>
            </a:r>
            <a:r>
              <a:rPr lang="en-US" sz="4400" b="1" dirty="0">
                <a:solidFill>
                  <a:srgbClr val="0070C0"/>
                </a:solidFill>
              </a:rPr>
              <a:t>.</a:t>
            </a:r>
          </a:p>
          <a:p>
            <a:r>
              <a:rPr lang="en-US" sz="4400" b="1" dirty="0">
                <a:solidFill>
                  <a:schemeClr val="tx1"/>
                </a:solidFill>
              </a:rPr>
              <a:t>Example:  bubble sort</a:t>
            </a:r>
          </a:p>
          <a:p>
            <a:r>
              <a:rPr lang="en-US" sz="3200" dirty="0">
                <a:solidFill>
                  <a:schemeClr val="tx1"/>
                </a:solidFill>
              </a:rPr>
              <a:t>Bubble sort (shown in detail later) rearranges the elements of an array in order from smallest to largest.</a:t>
            </a:r>
          </a:p>
        </p:txBody>
      </p:sp>
    </p:spTree>
    <p:extLst>
      <p:ext uri="{BB962C8B-B14F-4D97-AF65-F5344CB8AC3E}">
        <p14:creationId xmlns:p14="http://schemas.microsoft.com/office/powerpoint/2010/main" val="31882999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Big-O Notation – Logarithmic Time</a:t>
            </a:r>
          </a:p>
        </p:txBody>
      </p:sp>
      <p:sp>
        <p:nvSpPr>
          <p:cNvPr id="3" name="Content Placeholder 2"/>
          <p:cNvSpPr>
            <a:spLocks noGrp="1"/>
          </p:cNvSpPr>
          <p:nvPr>
            <p:ph idx="1"/>
          </p:nvPr>
        </p:nvSpPr>
        <p:spPr>
          <a:xfrm>
            <a:off x="1097280" y="1845733"/>
            <a:ext cx="10058400" cy="4454213"/>
          </a:xfrm>
        </p:spPr>
        <p:txBody>
          <a:bodyPr>
            <a:normAutofit/>
          </a:bodyPr>
          <a:lstStyle/>
          <a:p>
            <a:r>
              <a:rPr lang="en-US" sz="4400" b="1" dirty="0">
                <a:solidFill>
                  <a:srgbClr val="0070C0"/>
                </a:solidFill>
              </a:rPr>
              <a:t>Algorithms that are O(log N) are said to run in </a:t>
            </a:r>
            <a:r>
              <a:rPr lang="en-US" sz="4400" b="1" dirty="0">
                <a:solidFill>
                  <a:srgbClr val="FF0000"/>
                </a:solidFill>
              </a:rPr>
              <a:t>logarithmic time</a:t>
            </a:r>
            <a:r>
              <a:rPr lang="en-US" sz="4400" b="1" dirty="0">
                <a:solidFill>
                  <a:srgbClr val="0070C0"/>
                </a:solidFill>
              </a:rPr>
              <a:t>.</a:t>
            </a:r>
          </a:p>
          <a:p>
            <a:r>
              <a:rPr lang="en-US" sz="4400" b="1" dirty="0">
                <a:solidFill>
                  <a:schemeClr val="tx1"/>
                </a:solidFill>
              </a:rPr>
              <a:t>Example:  binary search</a:t>
            </a:r>
          </a:p>
        </p:txBody>
      </p:sp>
    </p:spTree>
    <p:extLst>
      <p:ext uri="{BB962C8B-B14F-4D97-AF65-F5344CB8AC3E}">
        <p14:creationId xmlns:p14="http://schemas.microsoft.com/office/powerpoint/2010/main" val="24250523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Big-O Notation – Exponential Time</a:t>
            </a:r>
          </a:p>
        </p:txBody>
      </p:sp>
      <p:sp>
        <p:nvSpPr>
          <p:cNvPr id="3" name="Content Placeholder 2"/>
          <p:cNvSpPr>
            <a:spLocks noGrp="1"/>
          </p:cNvSpPr>
          <p:nvPr>
            <p:ph idx="1"/>
          </p:nvPr>
        </p:nvSpPr>
        <p:spPr>
          <a:xfrm>
            <a:off x="1097280" y="1845733"/>
            <a:ext cx="10058400" cy="4454213"/>
          </a:xfrm>
        </p:spPr>
        <p:txBody>
          <a:bodyPr>
            <a:normAutofit/>
          </a:bodyPr>
          <a:lstStyle/>
          <a:p>
            <a:r>
              <a:rPr lang="en-US" sz="4400" b="1" dirty="0">
                <a:solidFill>
                  <a:srgbClr val="0070C0"/>
                </a:solidFill>
              </a:rPr>
              <a:t>Algorithms that are O(c </a:t>
            </a:r>
            <a:r>
              <a:rPr lang="en-US" sz="4400" b="1" baseline="30000" dirty="0">
                <a:solidFill>
                  <a:srgbClr val="0070C0"/>
                </a:solidFill>
              </a:rPr>
              <a:t>N</a:t>
            </a:r>
            <a:r>
              <a:rPr lang="en-US" sz="4400" b="1" dirty="0">
                <a:solidFill>
                  <a:srgbClr val="0070C0"/>
                </a:solidFill>
              </a:rPr>
              <a:t>) are said to run in </a:t>
            </a:r>
            <a:r>
              <a:rPr lang="en-US" sz="4400" b="1" dirty="0">
                <a:solidFill>
                  <a:srgbClr val="FF0000"/>
                </a:solidFill>
              </a:rPr>
              <a:t>exponential time</a:t>
            </a:r>
            <a:r>
              <a:rPr lang="en-US" sz="4400" b="1" dirty="0">
                <a:solidFill>
                  <a:srgbClr val="0070C0"/>
                </a:solidFill>
              </a:rPr>
              <a:t>.</a:t>
            </a:r>
          </a:p>
          <a:p>
            <a:pPr algn="ctr"/>
            <a:r>
              <a:rPr lang="en-US" sz="4300" b="1" dirty="0">
                <a:solidFill>
                  <a:schemeClr val="tx1"/>
                </a:solidFill>
              </a:rPr>
              <a:t>(c is a constant)</a:t>
            </a:r>
          </a:p>
          <a:p>
            <a:r>
              <a:rPr lang="en-US" sz="4000" b="1" dirty="0">
                <a:solidFill>
                  <a:schemeClr val="tx1"/>
                </a:solidFill>
              </a:rPr>
              <a:t>Example:  </a:t>
            </a:r>
            <a:r>
              <a:rPr lang="en-US" sz="3900" dirty="0">
                <a:solidFill>
                  <a:schemeClr val="tx1"/>
                </a:solidFill>
              </a:rPr>
              <a:t>any algorithm that prints every possible N-letter combination.  Since there are 26</a:t>
            </a:r>
            <a:r>
              <a:rPr lang="en-US" sz="3900" baseline="30000" dirty="0">
                <a:solidFill>
                  <a:schemeClr val="tx1"/>
                </a:solidFill>
              </a:rPr>
              <a:t>N</a:t>
            </a:r>
            <a:r>
              <a:rPr lang="en-US" sz="3900" dirty="0">
                <a:solidFill>
                  <a:schemeClr val="tx1"/>
                </a:solidFill>
              </a:rPr>
              <a:t> possible N-letter combinations in English any such algorithm would be </a:t>
            </a:r>
            <a:r>
              <a:rPr lang="en-US" sz="3900" b="1" dirty="0">
                <a:solidFill>
                  <a:srgbClr val="0070C0"/>
                </a:solidFill>
              </a:rPr>
              <a:t>O(26</a:t>
            </a:r>
            <a:r>
              <a:rPr lang="en-US" sz="3900" b="1" baseline="30000" dirty="0">
                <a:solidFill>
                  <a:srgbClr val="0070C0"/>
                </a:solidFill>
              </a:rPr>
              <a:t>N</a:t>
            </a:r>
            <a:r>
              <a:rPr lang="en-US" sz="3900" b="1" dirty="0">
                <a:solidFill>
                  <a:srgbClr val="0070C0"/>
                </a:solidFill>
              </a:rPr>
              <a:t> )</a:t>
            </a:r>
          </a:p>
        </p:txBody>
      </p:sp>
    </p:spTree>
    <p:extLst>
      <p:ext uri="{BB962C8B-B14F-4D97-AF65-F5344CB8AC3E}">
        <p14:creationId xmlns:p14="http://schemas.microsoft.com/office/powerpoint/2010/main" val="2239186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Finding Big-O</a:t>
            </a:r>
          </a:p>
        </p:txBody>
      </p:sp>
      <p:pic>
        <p:nvPicPr>
          <p:cNvPr id="4" name="Picture 3">
            <a:extLst>
              <a:ext uri="{C183D7F6-B498-43B3-948B-1728B52AA6E4}">
                <adec:decorative xmlns:adec="http://schemas.microsoft.com/office/drawing/2017/decorative" val="1"/>
              </a:ext>
            </a:extLst>
          </p:cNvPr>
          <p:cNvPicPr>
            <a:picLocks noChangeAspect="1"/>
          </p:cNvPicPr>
          <p:nvPr/>
        </p:nvPicPr>
        <p:blipFill rotWithShape="1">
          <a:blip r:embed="rId3"/>
          <a:srcRect t="3646" r="19494" b="15596"/>
          <a:stretch/>
        </p:blipFill>
        <p:spPr>
          <a:xfrm>
            <a:off x="1743243" y="1777147"/>
            <a:ext cx="9412437" cy="5080853"/>
          </a:xfrm>
          <a:prstGeom prst="rect">
            <a:avLst/>
          </a:prstGeom>
        </p:spPr>
      </p:pic>
    </p:spTree>
    <p:extLst>
      <p:ext uri="{BB962C8B-B14F-4D97-AF65-F5344CB8AC3E}">
        <p14:creationId xmlns:p14="http://schemas.microsoft.com/office/powerpoint/2010/main" val="3697739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Linear Search</a:t>
            </a:r>
            <a:br>
              <a:rPr lang="en-US" b="1" dirty="0"/>
            </a:br>
            <a:r>
              <a:rPr lang="en-US" b="1" dirty="0"/>
              <a:t>Big O Notation</a:t>
            </a:r>
          </a:p>
        </p:txBody>
      </p:sp>
      <p:sp>
        <p:nvSpPr>
          <p:cNvPr id="3" name="Content Placeholder 2"/>
          <p:cNvSpPr>
            <a:spLocks noGrp="1"/>
          </p:cNvSpPr>
          <p:nvPr>
            <p:ph idx="1"/>
          </p:nvPr>
        </p:nvSpPr>
        <p:spPr>
          <a:xfrm>
            <a:off x="232013" y="1845734"/>
            <a:ext cx="11716602" cy="4459532"/>
          </a:xfrm>
        </p:spPr>
        <p:txBody>
          <a:bodyPr>
            <a:normAutofit/>
          </a:bodyPr>
          <a:lstStyle/>
          <a:p>
            <a:pPr marL="0" indent="0">
              <a:buNone/>
            </a:pPr>
            <a:r>
              <a:rPr lang="en-US" sz="3200" dirty="0"/>
              <a:t>Runtime</a:t>
            </a:r>
            <a:r>
              <a:rPr lang="en-US" sz="3200" b="1" dirty="0"/>
              <a:t> Best </a:t>
            </a:r>
            <a:r>
              <a:rPr lang="en-US" sz="3200" dirty="0"/>
              <a:t>Case:</a:t>
            </a:r>
            <a:r>
              <a:rPr lang="en-US" sz="3200" b="1" dirty="0"/>
              <a:t>		</a:t>
            </a:r>
            <a:r>
              <a:rPr lang="en-US" sz="3200" b="1" dirty="0">
                <a:solidFill>
                  <a:schemeClr val="accent3"/>
                </a:solidFill>
              </a:rPr>
              <a:t>O(1)</a:t>
            </a:r>
          </a:p>
          <a:p>
            <a:pPr marL="0" indent="0">
              <a:buNone/>
            </a:pPr>
            <a:r>
              <a:rPr lang="en-US" sz="3200" dirty="0"/>
              <a:t>Runtime</a:t>
            </a:r>
            <a:r>
              <a:rPr lang="en-US" sz="3200" b="1" dirty="0"/>
              <a:t> Average </a:t>
            </a:r>
            <a:r>
              <a:rPr lang="en-US" sz="3200" dirty="0"/>
              <a:t>Case:</a:t>
            </a:r>
            <a:r>
              <a:rPr lang="en-US" sz="3200" b="1" dirty="0"/>
              <a:t>	</a:t>
            </a:r>
            <a:r>
              <a:rPr lang="en-US" sz="3200" b="1" dirty="0">
                <a:solidFill>
                  <a:srgbClr val="0070C0"/>
                </a:solidFill>
              </a:rPr>
              <a:t>O(n)</a:t>
            </a:r>
          </a:p>
          <a:p>
            <a:pPr marL="0" indent="0">
              <a:buNone/>
            </a:pPr>
            <a:r>
              <a:rPr lang="en-US" sz="3200" dirty="0"/>
              <a:t>Runtime</a:t>
            </a:r>
            <a:r>
              <a:rPr lang="en-US" sz="3200" b="1" dirty="0"/>
              <a:t> Worst </a:t>
            </a:r>
            <a:r>
              <a:rPr lang="en-US" sz="3200" dirty="0"/>
              <a:t>Case:</a:t>
            </a:r>
            <a:r>
              <a:rPr lang="en-US" sz="3200" b="1" dirty="0"/>
              <a:t>		</a:t>
            </a:r>
            <a:r>
              <a:rPr lang="en-US" sz="3200" b="1" dirty="0">
                <a:solidFill>
                  <a:srgbClr val="0070C0"/>
                </a:solidFill>
              </a:rPr>
              <a:t>O(n)</a:t>
            </a:r>
          </a:p>
          <a:p>
            <a:pPr marL="0" indent="0">
              <a:buNone/>
            </a:pPr>
            <a:endParaRPr lang="en-US" sz="3200" b="1" dirty="0">
              <a:solidFill>
                <a:srgbClr val="FF0000"/>
              </a:solidFill>
            </a:endParaRPr>
          </a:p>
        </p:txBody>
      </p:sp>
      <p:pic>
        <p:nvPicPr>
          <p:cNvPr id="4" name="Picture 2">
            <a:extLst>
              <a:ext uri="{FF2B5EF4-FFF2-40B4-BE49-F238E27FC236}">
                <a16:creationId xmlns:a16="http://schemas.microsoft.com/office/drawing/2014/main" id="{8059994B-6FDC-D8CB-0502-C26DE771E95D}"/>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0849" y="1399467"/>
            <a:ext cx="5600145" cy="4843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8978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Binary Search</a:t>
            </a:r>
            <a:br>
              <a:rPr lang="en-US" b="1" dirty="0"/>
            </a:br>
            <a:r>
              <a:rPr lang="en-US" b="1" dirty="0"/>
              <a:t>Big O Notation</a:t>
            </a:r>
          </a:p>
        </p:txBody>
      </p:sp>
      <p:sp>
        <p:nvSpPr>
          <p:cNvPr id="3" name="Content Placeholder 2"/>
          <p:cNvSpPr>
            <a:spLocks noGrp="1"/>
          </p:cNvSpPr>
          <p:nvPr>
            <p:ph idx="1"/>
          </p:nvPr>
        </p:nvSpPr>
        <p:spPr>
          <a:xfrm>
            <a:off x="232013" y="1845734"/>
            <a:ext cx="11716602" cy="4459532"/>
          </a:xfrm>
        </p:spPr>
        <p:txBody>
          <a:bodyPr>
            <a:normAutofit/>
          </a:bodyPr>
          <a:lstStyle/>
          <a:p>
            <a:pPr marL="0" indent="0">
              <a:buNone/>
            </a:pPr>
            <a:r>
              <a:rPr lang="en-US" sz="3200" dirty="0">
                <a:solidFill>
                  <a:srgbClr val="2C2B2B"/>
                </a:solidFill>
              </a:rPr>
              <a:t>Runtime</a:t>
            </a:r>
            <a:r>
              <a:rPr lang="en-US" sz="3200" b="1" dirty="0">
                <a:solidFill>
                  <a:srgbClr val="2C2B2B"/>
                </a:solidFill>
              </a:rPr>
              <a:t> Best </a:t>
            </a:r>
            <a:r>
              <a:rPr lang="en-US" sz="3200" dirty="0">
                <a:solidFill>
                  <a:srgbClr val="2C2B2B"/>
                </a:solidFill>
              </a:rPr>
              <a:t>Case:</a:t>
            </a:r>
            <a:r>
              <a:rPr lang="en-US" sz="3200" b="1" dirty="0"/>
              <a:t>		</a:t>
            </a:r>
            <a:r>
              <a:rPr lang="en-US" sz="3200" b="1" dirty="0">
                <a:solidFill>
                  <a:srgbClr val="2C2B2B"/>
                </a:solidFill>
              </a:rPr>
              <a:t>O(1)</a:t>
            </a:r>
          </a:p>
          <a:p>
            <a:pPr marL="0" indent="0">
              <a:buNone/>
            </a:pPr>
            <a:r>
              <a:rPr lang="en-US" sz="3200" dirty="0"/>
              <a:t>Runtime</a:t>
            </a:r>
            <a:r>
              <a:rPr lang="en-US" sz="3200" b="1" dirty="0"/>
              <a:t> Average </a:t>
            </a:r>
            <a:r>
              <a:rPr lang="en-US" sz="3200" dirty="0"/>
              <a:t>Case:</a:t>
            </a:r>
            <a:r>
              <a:rPr lang="en-US" sz="3200" b="1" dirty="0"/>
              <a:t>	</a:t>
            </a:r>
            <a:r>
              <a:rPr lang="en-US" sz="3200" b="1" dirty="0">
                <a:solidFill>
                  <a:srgbClr val="FFFF00"/>
                </a:solidFill>
                <a:highlight>
                  <a:srgbClr val="000000"/>
                </a:highlight>
              </a:rPr>
              <a:t>O(log n)</a:t>
            </a:r>
          </a:p>
          <a:p>
            <a:pPr marL="0" indent="0">
              <a:buNone/>
            </a:pPr>
            <a:r>
              <a:rPr lang="en-US" sz="3200" dirty="0"/>
              <a:t>Runtime</a:t>
            </a:r>
            <a:r>
              <a:rPr lang="en-US" sz="3200" b="1" dirty="0"/>
              <a:t> Worst </a:t>
            </a:r>
            <a:r>
              <a:rPr lang="en-US" sz="3200" dirty="0"/>
              <a:t>Case:</a:t>
            </a:r>
            <a:r>
              <a:rPr lang="en-US" sz="3200" b="1" dirty="0"/>
              <a:t>		</a:t>
            </a:r>
            <a:r>
              <a:rPr lang="en-US" sz="3200" b="1" dirty="0">
                <a:solidFill>
                  <a:srgbClr val="FFFF00"/>
                </a:solidFill>
                <a:highlight>
                  <a:srgbClr val="000000"/>
                </a:highlight>
              </a:rPr>
              <a:t>O(log n)</a:t>
            </a:r>
          </a:p>
          <a:p>
            <a:pPr marL="0" indent="0">
              <a:buNone/>
            </a:pPr>
            <a:endParaRPr lang="en-US" sz="3200" b="1" dirty="0">
              <a:solidFill>
                <a:srgbClr val="FF0000"/>
              </a:solidFill>
            </a:endParaRPr>
          </a:p>
        </p:txBody>
      </p:sp>
      <p:sp>
        <p:nvSpPr>
          <p:cNvPr id="4" name="TextBox 3"/>
          <p:cNvSpPr txBox="1"/>
          <p:nvPr/>
        </p:nvSpPr>
        <p:spPr>
          <a:xfrm>
            <a:off x="197403" y="4075500"/>
            <a:ext cx="5992382" cy="1569660"/>
          </a:xfrm>
          <a:prstGeom prst="rect">
            <a:avLst/>
          </a:prstGeom>
          <a:noFill/>
        </p:spPr>
        <p:txBody>
          <a:bodyPr wrap="square" rtlCol="0">
            <a:spAutoFit/>
          </a:bodyPr>
          <a:lstStyle/>
          <a:p>
            <a:r>
              <a:rPr lang="en-US" sz="2400" dirty="0"/>
              <a:t>Best case is when the item is found in the middle (first comparison)!</a:t>
            </a:r>
          </a:p>
          <a:p>
            <a:endParaRPr lang="en-US" sz="2400" dirty="0"/>
          </a:p>
          <a:p>
            <a:r>
              <a:rPr lang="en-US" sz="2400" dirty="0"/>
              <a:t>Worst case is at most log n + 1 comparisons</a:t>
            </a:r>
          </a:p>
        </p:txBody>
      </p:sp>
      <p:pic>
        <p:nvPicPr>
          <p:cNvPr id="5" name="Picture 2">
            <a:extLst>
              <a:ext uri="{FF2B5EF4-FFF2-40B4-BE49-F238E27FC236}">
                <a16:creationId xmlns:a16="http://schemas.microsoft.com/office/drawing/2014/main" id="{A5A4A163-7572-9B4D-3EB6-2C9BDA94D14B}"/>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4452" y="927194"/>
            <a:ext cx="5600145" cy="4843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00102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771FC-929E-1D56-7D26-781780EDE764}"/>
              </a:ext>
            </a:extLst>
          </p:cNvPr>
          <p:cNvSpPr>
            <a:spLocks noGrp="1"/>
          </p:cNvSpPr>
          <p:nvPr>
            <p:ph type="ctrTitle"/>
          </p:nvPr>
        </p:nvSpPr>
        <p:spPr>
          <a:xfrm>
            <a:off x="1349071" y="-1228874"/>
            <a:ext cx="10058400" cy="1228874"/>
          </a:xfrm>
        </p:spPr>
        <p:txBody>
          <a:bodyPr/>
          <a:lstStyle/>
          <a:p>
            <a:r>
              <a:rPr lang="en-US" dirty="0"/>
              <a:t>Sort Algorithms</a:t>
            </a:r>
          </a:p>
        </p:txBody>
      </p:sp>
      <p:pic>
        <p:nvPicPr>
          <p:cNvPr id="6" name="Picture 5">
            <a:extLst>
              <a:ext uri="{FF2B5EF4-FFF2-40B4-BE49-F238E27FC236}">
                <a16:creationId xmlns:a16="http://schemas.microsoft.com/office/drawing/2014/main" id="{757CE4F8-E164-4631-4F78-1C6263C5AC9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5188417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Sort Algorithm?</a:t>
            </a:r>
          </a:p>
        </p:txBody>
      </p:sp>
      <p:sp>
        <p:nvSpPr>
          <p:cNvPr id="3" name="Content Placeholder 2"/>
          <p:cNvSpPr>
            <a:spLocks noGrp="1"/>
          </p:cNvSpPr>
          <p:nvPr>
            <p:ph idx="1"/>
          </p:nvPr>
        </p:nvSpPr>
        <p:spPr/>
        <p:txBody>
          <a:bodyPr>
            <a:normAutofit/>
          </a:bodyPr>
          <a:lstStyle/>
          <a:p>
            <a:r>
              <a:rPr lang="en-US" sz="4800" dirty="0"/>
              <a:t>A </a:t>
            </a:r>
            <a:r>
              <a:rPr lang="en-US" sz="4800" b="1" dirty="0">
                <a:solidFill>
                  <a:srgbClr val="0070C0"/>
                </a:solidFill>
              </a:rPr>
              <a:t>sort algorithm</a:t>
            </a:r>
            <a:r>
              <a:rPr lang="en-US" sz="4800" dirty="0">
                <a:solidFill>
                  <a:schemeClr val="tx1"/>
                </a:solidFill>
              </a:rPr>
              <a:t> is used to arrange data (or items) in order.</a:t>
            </a:r>
          </a:p>
          <a:p>
            <a:endParaRPr lang="en-US" sz="4800" dirty="0">
              <a:solidFill>
                <a:schemeClr val="tx1"/>
              </a:solidFill>
            </a:endParaRPr>
          </a:p>
          <a:p>
            <a:pPr>
              <a:buFont typeface="Wingdings" panose="05000000000000000000" pitchFamily="2" charset="2"/>
              <a:buChar char="v"/>
            </a:pPr>
            <a:r>
              <a:rPr lang="en-US" sz="4800" b="1" dirty="0">
                <a:solidFill>
                  <a:schemeClr val="tx1"/>
                </a:solidFill>
              </a:rPr>
              <a:t>Alphabetically</a:t>
            </a:r>
            <a:r>
              <a:rPr lang="en-US" sz="4800" dirty="0">
                <a:solidFill>
                  <a:schemeClr val="tx1"/>
                </a:solidFill>
              </a:rPr>
              <a:t> </a:t>
            </a:r>
          </a:p>
          <a:p>
            <a:pPr>
              <a:buFont typeface="Wingdings" panose="05000000000000000000" pitchFamily="2" charset="2"/>
              <a:buChar char="v"/>
            </a:pPr>
            <a:r>
              <a:rPr lang="en-US" sz="4800" b="1" dirty="0">
                <a:solidFill>
                  <a:schemeClr val="tx1"/>
                </a:solidFill>
              </a:rPr>
              <a:t>Numerically</a:t>
            </a:r>
            <a:endParaRPr lang="en-US" sz="4000" dirty="0"/>
          </a:p>
        </p:txBody>
      </p:sp>
      <p:pic>
        <p:nvPicPr>
          <p:cNvPr id="4" name="Picture 2" descr="Image result for sorting algorithms meme">
            <a:extLst>
              <a:ext uri="{FF2B5EF4-FFF2-40B4-BE49-F238E27FC236}">
                <a16:creationId xmlns:a16="http://schemas.microsoft.com/office/drawing/2014/main" id="{197819C2-9984-38FE-6277-B756D02580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3087" y="2694791"/>
            <a:ext cx="4471988" cy="4072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0625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Ascending / Descending Order</a:t>
            </a:r>
          </a:p>
        </p:txBody>
      </p:sp>
      <p:graphicFrame>
        <p:nvGraphicFramePr>
          <p:cNvPr id="4" name="Table 3"/>
          <p:cNvGraphicFramePr>
            <a:graphicFrameLocks noGrp="1"/>
          </p:cNvGraphicFramePr>
          <p:nvPr>
            <p:extLst>
              <p:ext uri="{D42A27DB-BD31-4B8C-83A1-F6EECF244321}">
                <p14:modId xmlns:p14="http://schemas.microsoft.com/office/powerpoint/2010/main" val="1970259706"/>
              </p:ext>
            </p:extLst>
          </p:nvPr>
        </p:nvGraphicFramePr>
        <p:xfrm>
          <a:off x="1840604" y="1879352"/>
          <a:ext cx="8128000" cy="518160"/>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2350671768"/>
                    </a:ext>
                  </a:extLst>
                </a:gridCol>
                <a:gridCol w="1625600">
                  <a:extLst>
                    <a:ext uri="{9D8B030D-6E8A-4147-A177-3AD203B41FA5}">
                      <a16:colId xmlns:a16="http://schemas.microsoft.com/office/drawing/2014/main" val="278782527"/>
                    </a:ext>
                  </a:extLst>
                </a:gridCol>
                <a:gridCol w="1625600">
                  <a:extLst>
                    <a:ext uri="{9D8B030D-6E8A-4147-A177-3AD203B41FA5}">
                      <a16:colId xmlns:a16="http://schemas.microsoft.com/office/drawing/2014/main" val="2309199913"/>
                    </a:ext>
                  </a:extLst>
                </a:gridCol>
                <a:gridCol w="1625600">
                  <a:extLst>
                    <a:ext uri="{9D8B030D-6E8A-4147-A177-3AD203B41FA5}">
                      <a16:colId xmlns:a16="http://schemas.microsoft.com/office/drawing/2014/main" val="351300858"/>
                    </a:ext>
                  </a:extLst>
                </a:gridCol>
                <a:gridCol w="1625600">
                  <a:extLst>
                    <a:ext uri="{9D8B030D-6E8A-4147-A177-3AD203B41FA5}">
                      <a16:colId xmlns:a16="http://schemas.microsoft.com/office/drawing/2014/main" val="740292834"/>
                    </a:ext>
                  </a:extLst>
                </a:gridCol>
              </a:tblGrid>
              <a:tr h="370840">
                <a:tc>
                  <a:txBody>
                    <a:bodyPr/>
                    <a:lstStyle/>
                    <a:p>
                      <a:pPr algn="ctr"/>
                      <a:r>
                        <a:rPr lang="en-US" sz="2800" dirty="0"/>
                        <a:t>85</a:t>
                      </a:r>
                    </a:p>
                  </a:txBody>
                  <a:tcPr/>
                </a:tc>
                <a:tc>
                  <a:txBody>
                    <a:bodyPr/>
                    <a:lstStyle/>
                    <a:p>
                      <a:pPr algn="ctr"/>
                      <a:r>
                        <a:rPr lang="en-US" sz="2800" dirty="0"/>
                        <a:t>42</a:t>
                      </a:r>
                    </a:p>
                  </a:txBody>
                  <a:tcPr/>
                </a:tc>
                <a:tc>
                  <a:txBody>
                    <a:bodyPr/>
                    <a:lstStyle/>
                    <a:p>
                      <a:pPr algn="ctr"/>
                      <a:r>
                        <a:rPr lang="en-US" sz="2800" dirty="0"/>
                        <a:t>7</a:t>
                      </a:r>
                    </a:p>
                  </a:txBody>
                  <a:tcPr/>
                </a:tc>
                <a:tc>
                  <a:txBody>
                    <a:bodyPr/>
                    <a:lstStyle/>
                    <a:p>
                      <a:pPr algn="ctr"/>
                      <a:r>
                        <a:rPr lang="en-US" sz="2800" dirty="0"/>
                        <a:t>186</a:t>
                      </a:r>
                    </a:p>
                  </a:txBody>
                  <a:tcPr/>
                </a:tc>
                <a:tc>
                  <a:txBody>
                    <a:bodyPr/>
                    <a:lstStyle/>
                    <a:p>
                      <a:pPr algn="ctr"/>
                      <a:r>
                        <a:rPr lang="en-US" sz="2800" dirty="0"/>
                        <a:t>18</a:t>
                      </a:r>
                    </a:p>
                  </a:txBody>
                  <a:tcPr/>
                </a:tc>
                <a:extLst>
                  <a:ext uri="{0D108BD9-81ED-4DB2-BD59-A6C34878D82A}">
                    <a16:rowId xmlns:a16="http://schemas.microsoft.com/office/drawing/2014/main" val="81637771"/>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947919893"/>
              </p:ext>
            </p:extLst>
          </p:nvPr>
        </p:nvGraphicFramePr>
        <p:xfrm>
          <a:off x="1840604" y="3749040"/>
          <a:ext cx="8128000" cy="518160"/>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2350671768"/>
                    </a:ext>
                  </a:extLst>
                </a:gridCol>
                <a:gridCol w="1625600">
                  <a:extLst>
                    <a:ext uri="{9D8B030D-6E8A-4147-A177-3AD203B41FA5}">
                      <a16:colId xmlns:a16="http://schemas.microsoft.com/office/drawing/2014/main" val="278782527"/>
                    </a:ext>
                  </a:extLst>
                </a:gridCol>
                <a:gridCol w="1625600">
                  <a:extLst>
                    <a:ext uri="{9D8B030D-6E8A-4147-A177-3AD203B41FA5}">
                      <a16:colId xmlns:a16="http://schemas.microsoft.com/office/drawing/2014/main" val="2309199913"/>
                    </a:ext>
                  </a:extLst>
                </a:gridCol>
                <a:gridCol w="1625600">
                  <a:extLst>
                    <a:ext uri="{9D8B030D-6E8A-4147-A177-3AD203B41FA5}">
                      <a16:colId xmlns:a16="http://schemas.microsoft.com/office/drawing/2014/main" val="351300858"/>
                    </a:ext>
                  </a:extLst>
                </a:gridCol>
                <a:gridCol w="1625600">
                  <a:extLst>
                    <a:ext uri="{9D8B030D-6E8A-4147-A177-3AD203B41FA5}">
                      <a16:colId xmlns:a16="http://schemas.microsoft.com/office/drawing/2014/main" val="740292834"/>
                    </a:ext>
                  </a:extLst>
                </a:gridCol>
              </a:tblGrid>
              <a:tr h="370840">
                <a:tc>
                  <a:txBody>
                    <a:bodyPr/>
                    <a:lstStyle/>
                    <a:p>
                      <a:pPr algn="ctr"/>
                      <a:r>
                        <a:rPr lang="en-US" sz="2800" dirty="0"/>
                        <a:t>7</a:t>
                      </a:r>
                    </a:p>
                  </a:txBody>
                  <a:tcPr/>
                </a:tc>
                <a:tc>
                  <a:txBody>
                    <a:bodyPr/>
                    <a:lstStyle/>
                    <a:p>
                      <a:pPr algn="ctr"/>
                      <a:r>
                        <a:rPr lang="en-US" sz="2800" dirty="0"/>
                        <a:t>18</a:t>
                      </a:r>
                    </a:p>
                  </a:txBody>
                  <a:tcPr/>
                </a:tc>
                <a:tc>
                  <a:txBody>
                    <a:bodyPr/>
                    <a:lstStyle/>
                    <a:p>
                      <a:pPr algn="ctr"/>
                      <a:r>
                        <a:rPr lang="en-US" sz="2800" dirty="0"/>
                        <a:t>42</a:t>
                      </a:r>
                    </a:p>
                  </a:txBody>
                  <a:tcPr/>
                </a:tc>
                <a:tc>
                  <a:txBody>
                    <a:bodyPr/>
                    <a:lstStyle/>
                    <a:p>
                      <a:pPr algn="ctr"/>
                      <a:r>
                        <a:rPr lang="en-US" sz="2800" dirty="0"/>
                        <a:t>85</a:t>
                      </a:r>
                    </a:p>
                  </a:txBody>
                  <a:tcPr/>
                </a:tc>
                <a:tc>
                  <a:txBody>
                    <a:bodyPr/>
                    <a:lstStyle/>
                    <a:p>
                      <a:pPr algn="ctr"/>
                      <a:r>
                        <a:rPr lang="en-US" sz="2800" dirty="0"/>
                        <a:t>186</a:t>
                      </a:r>
                    </a:p>
                  </a:txBody>
                  <a:tcPr/>
                </a:tc>
                <a:extLst>
                  <a:ext uri="{0D108BD9-81ED-4DB2-BD59-A6C34878D82A}">
                    <a16:rowId xmlns:a16="http://schemas.microsoft.com/office/drawing/2014/main" val="8163777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121944622"/>
              </p:ext>
            </p:extLst>
          </p:nvPr>
        </p:nvGraphicFramePr>
        <p:xfrm>
          <a:off x="1840604" y="5618728"/>
          <a:ext cx="8128000" cy="518160"/>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2350671768"/>
                    </a:ext>
                  </a:extLst>
                </a:gridCol>
                <a:gridCol w="1625600">
                  <a:extLst>
                    <a:ext uri="{9D8B030D-6E8A-4147-A177-3AD203B41FA5}">
                      <a16:colId xmlns:a16="http://schemas.microsoft.com/office/drawing/2014/main" val="278782527"/>
                    </a:ext>
                  </a:extLst>
                </a:gridCol>
                <a:gridCol w="1625600">
                  <a:extLst>
                    <a:ext uri="{9D8B030D-6E8A-4147-A177-3AD203B41FA5}">
                      <a16:colId xmlns:a16="http://schemas.microsoft.com/office/drawing/2014/main" val="2309199913"/>
                    </a:ext>
                  </a:extLst>
                </a:gridCol>
                <a:gridCol w="1625600">
                  <a:extLst>
                    <a:ext uri="{9D8B030D-6E8A-4147-A177-3AD203B41FA5}">
                      <a16:colId xmlns:a16="http://schemas.microsoft.com/office/drawing/2014/main" val="351300858"/>
                    </a:ext>
                  </a:extLst>
                </a:gridCol>
                <a:gridCol w="1625600">
                  <a:extLst>
                    <a:ext uri="{9D8B030D-6E8A-4147-A177-3AD203B41FA5}">
                      <a16:colId xmlns:a16="http://schemas.microsoft.com/office/drawing/2014/main" val="740292834"/>
                    </a:ext>
                  </a:extLst>
                </a:gridCol>
              </a:tblGrid>
              <a:tr h="370840">
                <a:tc>
                  <a:txBody>
                    <a:bodyPr/>
                    <a:lstStyle/>
                    <a:p>
                      <a:pPr algn="ctr"/>
                      <a:r>
                        <a:rPr lang="en-US" sz="2800" dirty="0"/>
                        <a:t>186</a:t>
                      </a:r>
                    </a:p>
                  </a:txBody>
                  <a:tcPr/>
                </a:tc>
                <a:tc>
                  <a:txBody>
                    <a:bodyPr/>
                    <a:lstStyle/>
                    <a:p>
                      <a:pPr algn="ctr"/>
                      <a:r>
                        <a:rPr lang="en-US" sz="2800" dirty="0"/>
                        <a:t>85</a:t>
                      </a:r>
                    </a:p>
                  </a:txBody>
                  <a:tcPr/>
                </a:tc>
                <a:tc>
                  <a:txBody>
                    <a:bodyPr/>
                    <a:lstStyle/>
                    <a:p>
                      <a:pPr algn="ctr"/>
                      <a:r>
                        <a:rPr lang="en-US" sz="2800" dirty="0"/>
                        <a:t>42</a:t>
                      </a:r>
                    </a:p>
                  </a:txBody>
                  <a:tcPr/>
                </a:tc>
                <a:tc>
                  <a:txBody>
                    <a:bodyPr/>
                    <a:lstStyle/>
                    <a:p>
                      <a:pPr algn="ctr"/>
                      <a:r>
                        <a:rPr lang="en-US" sz="2800" dirty="0"/>
                        <a:t>18</a:t>
                      </a:r>
                    </a:p>
                  </a:txBody>
                  <a:tcPr/>
                </a:tc>
                <a:tc>
                  <a:txBody>
                    <a:bodyPr/>
                    <a:lstStyle/>
                    <a:p>
                      <a:pPr algn="ctr"/>
                      <a:r>
                        <a:rPr lang="en-US" sz="2800" dirty="0"/>
                        <a:t>7</a:t>
                      </a:r>
                    </a:p>
                  </a:txBody>
                  <a:tcPr/>
                </a:tc>
                <a:extLst>
                  <a:ext uri="{0D108BD9-81ED-4DB2-BD59-A6C34878D82A}">
                    <a16:rowId xmlns:a16="http://schemas.microsoft.com/office/drawing/2014/main" val="81637771"/>
                  </a:ext>
                </a:extLst>
              </a:tr>
            </a:tbl>
          </a:graphicData>
        </a:graphic>
      </p:graphicFrame>
      <p:sp>
        <p:nvSpPr>
          <p:cNvPr id="3" name="Content Placeholder 2">
            <a:extLst>
              <a:ext uri="{C183D7F6-B498-43B3-948B-1728B52AA6E4}">
                <adec:decorative xmlns:adec="http://schemas.microsoft.com/office/drawing/2017/decorative" val="1"/>
              </a:ext>
            </a:extLst>
          </p:cNvPr>
          <p:cNvSpPr>
            <a:spLocks noGrp="1"/>
          </p:cNvSpPr>
          <p:nvPr>
            <p:ph idx="1"/>
          </p:nvPr>
        </p:nvSpPr>
        <p:spPr>
          <a:xfrm>
            <a:off x="1097280" y="1737360"/>
            <a:ext cx="10058400" cy="4023360"/>
          </a:xfrm>
        </p:spPr>
        <p:txBody>
          <a:bodyPr/>
          <a:lstStyle/>
          <a:p>
            <a:endParaRPr lang="en-US" dirty="0"/>
          </a:p>
          <a:p>
            <a:pPr marL="0" indent="0">
              <a:buNone/>
            </a:pPr>
            <a:endParaRPr lang="en-US" dirty="0"/>
          </a:p>
          <a:p>
            <a:pPr marL="0" indent="0">
              <a:buNone/>
            </a:pPr>
            <a:br>
              <a:rPr lang="en-US" sz="3600" b="1" dirty="0">
                <a:solidFill>
                  <a:srgbClr val="0070C0"/>
                </a:solidFill>
              </a:rPr>
            </a:br>
            <a:r>
              <a:rPr lang="en-US" sz="3600" b="1" dirty="0">
                <a:solidFill>
                  <a:srgbClr val="0070C0"/>
                </a:solidFill>
              </a:rPr>
              <a:t>Ascending order </a:t>
            </a:r>
            <a:r>
              <a:rPr lang="en-US" sz="3600" dirty="0"/>
              <a:t>– increasing in size or importance</a:t>
            </a:r>
          </a:p>
          <a:p>
            <a:pPr marL="0" indent="0">
              <a:buNone/>
            </a:pPr>
            <a:endParaRPr lang="en-US" sz="3600" dirty="0"/>
          </a:p>
          <a:p>
            <a:pPr marL="0" indent="0">
              <a:buNone/>
            </a:pPr>
            <a:br>
              <a:rPr lang="en-US" sz="3600" dirty="0"/>
            </a:br>
            <a:r>
              <a:rPr lang="en-US" sz="3600" b="1" dirty="0">
                <a:solidFill>
                  <a:srgbClr val="0070C0"/>
                </a:solidFill>
              </a:rPr>
              <a:t>Descending order </a:t>
            </a:r>
            <a:r>
              <a:rPr lang="en-US" sz="3600" dirty="0"/>
              <a:t>– decreasing in size or importance</a:t>
            </a:r>
          </a:p>
          <a:p>
            <a:pPr marL="0" indent="0">
              <a:buNone/>
            </a:pPr>
            <a:endParaRPr lang="en-US" dirty="0"/>
          </a:p>
          <a:p>
            <a:endParaRPr lang="en-US" dirty="0"/>
          </a:p>
        </p:txBody>
      </p:sp>
    </p:spTree>
    <p:extLst>
      <p:ext uri="{BB962C8B-B14F-4D97-AF65-F5344CB8AC3E}">
        <p14:creationId xmlns:p14="http://schemas.microsoft.com/office/powerpoint/2010/main" val="35155707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76479-83C2-C5F8-E3C3-DD9C89A6E989}"/>
              </a:ext>
            </a:extLst>
          </p:cNvPr>
          <p:cNvSpPr>
            <a:spLocks noGrp="1"/>
          </p:cNvSpPr>
          <p:nvPr>
            <p:ph type="title"/>
          </p:nvPr>
        </p:nvSpPr>
        <p:spPr/>
        <p:txBody>
          <a:bodyPr/>
          <a:lstStyle/>
          <a:p>
            <a:r>
              <a:rPr lang="en-US" b="1" dirty="0"/>
              <a:t>Visualization of 24 Sort Algorithms in 2 Minutes</a:t>
            </a:r>
          </a:p>
        </p:txBody>
      </p:sp>
      <p:sp>
        <p:nvSpPr>
          <p:cNvPr id="3" name="Content Placeholder 2">
            <a:extLst>
              <a:ext uri="{FF2B5EF4-FFF2-40B4-BE49-F238E27FC236}">
                <a16:creationId xmlns:a16="http://schemas.microsoft.com/office/drawing/2014/main" id="{5297CD01-5A2B-6061-E7F4-5F31062C1AD7}"/>
              </a:ext>
            </a:extLst>
          </p:cNvPr>
          <p:cNvSpPr>
            <a:spLocks noGrp="1"/>
          </p:cNvSpPr>
          <p:nvPr>
            <p:ph idx="1"/>
          </p:nvPr>
        </p:nvSpPr>
        <p:spPr/>
        <p:txBody>
          <a:bodyPr>
            <a:normAutofit/>
          </a:bodyPr>
          <a:lstStyle/>
          <a:p>
            <a:r>
              <a:rPr lang="en-US" sz="5400" dirty="0">
                <a:solidFill>
                  <a:srgbClr val="0000FF"/>
                </a:solidFill>
                <a:hlinkClick r:id="rId2">
                  <a:extLst>
                    <a:ext uri="{A12FA001-AC4F-418D-AE19-62706E023703}">
                      <ahyp:hlinkClr xmlns:ahyp="http://schemas.microsoft.com/office/drawing/2018/hyperlinkcolor" val="tx"/>
                    </a:ext>
                  </a:extLst>
                </a:hlinkClick>
              </a:rPr>
              <a:t>https://www.youtube.com/watch?v=BeoCbJPuvSE&amp;t=2s</a:t>
            </a:r>
            <a:r>
              <a:rPr lang="en-US" sz="5400" dirty="0">
                <a:solidFill>
                  <a:srgbClr val="0000FF"/>
                </a:solidFill>
              </a:rPr>
              <a:t> </a:t>
            </a:r>
          </a:p>
        </p:txBody>
      </p:sp>
    </p:spTree>
    <p:extLst>
      <p:ext uri="{BB962C8B-B14F-4D97-AF65-F5344CB8AC3E}">
        <p14:creationId xmlns:p14="http://schemas.microsoft.com/office/powerpoint/2010/main" val="25436155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pic>
        <p:nvPicPr>
          <p:cNvPr id="4" name="Picture 3">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705600" y="168651"/>
            <a:ext cx="5486400" cy="4024338"/>
          </a:xfrm>
          <a:prstGeom prst="rect">
            <a:avLst/>
          </a:prstGeom>
        </p:spPr>
      </p:pic>
    </p:spTree>
    <p:extLst>
      <p:ext uri="{BB962C8B-B14F-4D97-AF65-F5344CB8AC3E}">
        <p14:creationId xmlns:p14="http://schemas.microsoft.com/office/powerpoint/2010/main" val="10407860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Bubble Sort?</a:t>
            </a:r>
          </a:p>
        </p:txBody>
      </p:sp>
      <p:sp>
        <p:nvSpPr>
          <p:cNvPr id="3" name="Content Placeholder 2"/>
          <p:cNvSpPr>
            <a:spLocks noGrp="1"/>
          </p:cNvSpPr>
          <p:nvPr>
            <p:ph idx="1"/>
          </p:nvPr>
        </p:nvSpPr>
        <p:spPr/>
        <p:txBody>
          <a:bodyPr>
            <a:normAutofit lnSpcReduction="10000"/>
          </a:bodyPr>
          <a:lstStyle/>
          <a:p>
            <a:pPr marL="0" indent="0">
              <a:buNone/>
            </a:pPr>
            <a:r>
              <a:rPr lang="en-US" sz="4000" b="1" dirty="0">
                <a:solidFill>
                  <a:srgbClr val="000000"/>
                </a:solidFill>
              </a:rPr>
              <a:t>Bubble sort </a:t>
            </a:r>
            <a:r>
              <a:rPr lang="en-US" sz="4000" dirty="0">
                <a:solidFill>
                  <a:srgbClr val="000000"/>
                </a:solidFill>
              </a:rPr>
              <a:t>is a simple sorting algorithm that repeatedly steps through the list or array to be sorted, compares each pair of </a:t>
            </a:r>
            <a:r>
              <a:rPr lang="en-US" sz="4000" b="1" dirty="0">
                <a:solidFill>
                  <a:srgbClr val="000000"/>
                </a:solidFill>
              </a:rPr>
              <a:t>adjacent items</a:t>
            </a:r>
            <a:r>
              <a:rPr lang="en-US" sz="4000" dirty="0">
                <a:solidFill>
                  <a:srgbClr val="000000"/>
                </a:solidFill>
              </a:rPr>
              <a:t>, and </a:t>
            </a:r>
            <a:r>
              <a:rPr lang="en-US" sz="4000" b="1" dirty="0">
                <a:solidFill>
                  <a:srgbClr val="000000"/>
                </a:solidFill>
              </a:rPr>
              <a:t>swaps</a:t>
            </a:r>
            <a:r>
              <a:rPr lang="en-US" sz="4000" dirty="0">
                <a:solidFill>
                  <a:srgbClr val="000000"/>
                </a:solidFill>
              </a:rPr>
              <a:t> them if they are in the wrong order.</a:t>
            </a:r>
          </a:p>
          <a:p>
            <a:pPr marL="0" indent="0">
              <a:buNone/>
            </a:pPr>
            <a:endParaRPr lang="en-US" sz="4000" dirty="0"/>
          </a:p>
          <a:p>
            <a:pPr marL="0" indent="0" algn="ctr">
              <a:buNone/>
            </a:pPr>
            <a:r>
              <a:rPr lang="en-US" sz="4000" b="1" dirty="0">
                <a:solidFill>
                  <a:schemeClr val="tx1"/>
                </a:solidFill>
              </a:rPr>
              <a:t>REPEATEDLY </a:t>
            </a:r>
            <a:r>
              <a:rPr lang="en-US" sz="4000" b="1" dirty="0">
                <a:solidFill>
                  <a:schemeClr val="tx1"/>
                </a:solidFill>
                <a:highlight>
                  <a:srgbClr val="FFFF00"/>
                </a:highlight>
              </a:rPr>
              <a:t>COMPARE NEIGHBOR </a:t>
            </a:r>
            <a:r>
              <a:rPr lang="en-US" sz="4000" b="1" dirty="0">
                <a:solidFill>
                  <a:schemeClr val="tx1"/>
                </a:solidFill>
              </a:rPr>
              <a:t>PAIRS AND </a:t>
            </a:r>
            <a:r>
              <a:rPr lang="en-US" sz="4000" b="1" dirty="0">
                <a:solidFill>
                  <a:schemeClr val="tx1"/>
                </a:solidFill>
                <a:highlight>
                  <a:srgbClr val="FFFF00"/>
                </a:highlight>
              </a:rPr>
              <a:t>SWAP</a:t>
            </a:r>
            <a:r>
              <a:rPr lang="en-US" sz="4000" b="1" dirty="0">
                <a:solidFill>
                  <a:schemeClr val="tx1"/>
                </a:solidFill>
              </a:rPr>
              <a:t> IF NECESSARY</a:t>
            </a:r>
          </a:p>
        </p:txBody>
      </p:sp>
    </p:spTree>
    <p:extLst>
      <p:ext uri="{BB962C8B-B14F-4D97-AF65-F5344CB8AC3E}">
        <p14:creationId xmlns:p14="http://schemas.microsoft.com/office/powerpoint/2010/main" val="42143998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10058400" cy="756285"/>
          </a:xfrm>
        </p:spPr>
        <p:txBody>
          <a:bodyPr/>
          <a:lstStyle/>
          <a:p>
            <a:r>
              <a:rPr lang="en-US" b="1" dirty="0"/>
              <a:t>Bubble Sort Example with an Array, slide 1</a:t>
            </a:r>
          </a:p>
        </p:txBody>
      </p:sp>
      <p:pic>
        <p:nvPicPr>
          <p:cNvPr id="10" name="Picture 9" descr="bubble sort example">
            <a:extLst>
              <a:ext uri="{FF2B5EF4-FFF2-40B4-BE49-F238E27FC236}">
                <a16:creationId xmlns:a16="http://schemas.microsoft.com/office/drawing/2014/main" id="{78FEC8D3-B2ED-2D9B-0DB3-4BDDDC5C1E35}"/>
              </a:ext>
            </a:extLst>
          </p:cNvPr>
          <p:cNvPicPr>
            <a:picLocks noChangeAspect="1"/>
          </p:cNvPicPr>
          <p:nvPr/>
        </p:nvPicPr>
        <p:blipFill>
          <a:blip r:embed="rId3"/>
          <a:srcRect t="5523"/>
          <a:stretch/>
        </p:blipFill>
        <p:spPr>
          <a:xfrm>
            <a:off x="260050" y="756285"/>
            <a:ext cx="5835950" cy="1625902"/>
          </a:xfrm>
          <a:prstGeom prst="rect">
            <a:avLst/>
          </a:prstGeom>
        </p:spPr>
      </p:pic>
      <p:pic>
        <p:nvPicPr>
          <p:cNvPr id="12" name="Picture 11" descr="bubble sort example">
            <a:extLst>
              <a:ext uri="{FF2B5EF4-FFF2-40B4-BE49-F238E27FC236}">
                <a16:creationId xmlns:a16="http://schemas.microsoft.com/office/drawing/2014/main" id="{0EC15582-B870-2288-C77B-996E6A31CB61}"/>
              </a:ext>
            </a:extLst>
          </p:cNvPr>
          <p:cNvPicPr>
            <a:picLocks noChangeAspect="1"/>
          </p:cNvPicPr>
          <p:nvPr/>
        </p:nvPicPr>
        <p:blipFill>
          <a:blip r:embed="rId4"/>
          <a:stretch>
            <a:fillRect/>
          </a:stretch>
        </p:blipFill>
        <p:spPr>
          <a:xfrm>
            <a:off x="305768" y="2350279"/>
            <a:ext cx="5893103" cy="1263715"/>
          </a:xfrm>
          <a:prstGeom prst="rect">
            <a:avLst/>
          </a:prstGeom>
        </p:spPr>
      </p:pic>
      <p:pic>
        <p:nvPicPr>
          <p:cNvPr id="14" name="Picture 13" descr="bubble sort example">
            <a:extLst>
              <a:ext uri="{FF2B5EF4-FFF2-40B4-BE49-F238E27FC236}">
                <a16:creationId xmlns:a16="http://schemas.microsoft.com/office/drawing/2014/main" id="{4EECFBD6-A0F2-0865-0C14-2E2D5E2AD4CA}"/>
              </a:ext>
            </a:extLst>
          </p:cNvPr>
          <p:cNvPicPr>
            <a:picLocks noChangeAspect="1"/>
          </p:cNvPicPr>
          <p:nvPr/>
        </p:nvPicPr>
        <p:blipFill>
          <a:blip r:embed="rId5"/>
          <a:stretch>
            <a:fillRect/>
          </a:stretch>
        </p:blipFill>
        <p:spPr>
          <a:xfrm>
            <a:off x="260050" y="3490067"/>
            <a:ext cx="6769448" cy="1435174"/>
          </a:xfrm>
          <a:prstGeom prst="rect">
            <a:avLst/>
          </a:prstGeom>
        </p:spPr>
      </p:pic>
      <p:pic>
        <p:nvPicPr>
          <p:cNvPr id="17" name="Picture 16" descr="bubble sort example">
            <a:extLst>
              <a:ext uri="{FF2B5EF4-FFF2-40B4-BE49-F238E27FC236}">
                <a16:creationId xmlns:a16="http://schemas.microsoft.com/office/drawing/2014/main" id="{FB8E7DD7-BAAB-F888-F988-8957F5908501}"/>
              </a:ext>
            </a:extLst>
          </p:cNvPr>
          <p:cNvPicPr>
            <a:picLocks noChangeAspect="1"/>
          </p:cNvPicPr>
          <p:nvPr/>
        </p:nvPicPr>
        <p:blipFill>
          <a:blip r:embed="rId6"/>
          <a:stretch>
            <a:fillRect/>
          </a:stretch>
        </p:blipFill>
        <p:spPr>
          <a:xfrm>
            <a:off x="298152" y="4925241"/>
            <a:ext cx="6731346" cy="1200212"/>
          </a:xfrm>
          <a:prstGeom prst="rect">
            <a:avLst/>
          </a:prstGeom>
        </p:spPr>
      </p:pic>
      <p:pic>
        <p:nvPicPr>
          <p:cNvPr id="32" name="Picture 31" descr="bubble sort code">
            <a:extLst>
              <a:ext uri="{FF2B5EF4-FFF2-40B4-BE49-F238E27FC236}">
                <a16:creationId xmlns:a16="http://schemas.microsoft.com/office/drawing/2014/main" id="{4B024DF0-58D3-0811-CEFA-D1E80F35B99A}"/>
              </a:ext>
            </a:extLst>
          </p:cNvPr>
          <p:cNvPicPr>
            <a:picLocks noChangeAspect="1"/>
          </p:cNvPicPr>
          <p:nvPr/>
        </p:nvPicPr>
        <p:blipFill>
          <a:blip r:embed="rId7"/>
          <a:stretch>
            <a:fillRect/>
          </a:stretch>
        </p:blipFill>
        <p:spPr>
          <a:xfrm>
            <a:off x="6964769" y="1526626"/>
            <a:ext cx="4811264" cy="317848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32242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10058400" cy="756285"/>
          </a:xfrm>
        </p:spPr>
        <p:txBody>
          <a:bodyPr/>
          <a:lstStyle/>
          <a:p>
            <a:r>
              <a:rPr lang="en-US" b="1" dirty="0"/>
              <a:t>Bubble Sort Example with an Array, slide 2</a:t>
            </a:r>
          </a:p>
        </p:txBody>
      </p:sp>
      <p:pic>
        <p:nvPicPr>
          <p:cNvPr id="5" name="Picture 4" descr="bubble sort example">
            <a:extLst>
              <a:ext uri="{FF2B5EF4-FFF2-40B4-BE49-F238E27FC236}">
                <a16:creationId xmlns:a16="http://schemas.microsoft.com/office/drawing/2014/main" id="{4774110D-A1A1-A221-7362-70B5BE12EFFC}"/>
              </a:ext>
            </a:extLst>
          </p:cNvPr>
          <p:cNvPicPr>
            <a:picLocks noChangeAspect="1"/>
          </p:cNvPicPr>
          <p:nvPr/>
        </p:nvPicPr>
        <p:blipFill>
          <a:blip r:embed="rId3"/>
          <a:stretch>
            <a:fillRect/>
          </a:stretch>
        </p:blipFill>
        <p:spPr>
          <a:xfrm>
            <a:off x="0" y="692060"/>
            <a:ext cx="6731346" cy="1200212"/>
          </a:xfrm>
          <a:prstGeom prst="rect">
            <a:avLst/>
          </a:prstGeom>
        </p:spPr>
      </p:pic>
      <p:pic>
        <p:nvPicPr>
          <p:cNvPr id="7" name="Picture 6" descr="bubble sort example">
            <a:extLst>
              <a:ext uri="{FF2B5EF4-FFF2-40B4-BE49-F238E27FC236}">
                <a16:creationId xmlns:a16="http://schemas.microsoft.com/office/drawing/2014/main" id="{50811F54-FB92-E2B9-09DA-C88EEA416FA9}"/>
              </a:ext>
            </a:extLst>
          </p:cNvPr>
          <p:cNvPicPr>
            <a:picLocks noChangeAspect="1"/>
          </p:cNvPicPr>
          <p:nvPr/>
        </p:nvPicPr>
        <p:blipFill>
          <a:blip r:embed="rId4"/>
          <a:stretch>
            <a:fillRect/>
          </a:stretch>
        </p:blipFill>
        <p:spPr>
          <a:xfrm>
            <a:off x="0" y="1835058"/>
            <a:ext cx="6763098" cy="1257365"/>
          </a:xfrm>
          <a:prstGeom prst="rect">
            <a:avLst/>
          </a:prstGeom>
        </p:spPr>
      </p:pic>
      <p:pic>
        <p:nvPicPr>
          <p:cNvPr id="9" name="Picture 8" descr="bubble sort example">
            <a:extLst>
              <a:ext uri="{FF2B5EF4-FFF2-40B4-BE49-F238E27FC236}">
                <a16:creationId xmlns:a16="http://schemas.microsoft.com/office/drawing/2014/main" id="{E15F5EB9-24E3-588B-9A79-59A21588D47D}"/>
              </a:ext>
            </a:extLst>
          </p:cNvPr>
          <p:cNvPicPr>
            <a:picLocks noChangeAspect="1"/>
          </p:cNvPicPr>
          <p:nvPr/>
        </p:nvPicPr>
        <p:blipFill>
          <a:blip r:embed="rId5"/>
          <a:stretch>
            <a:fillRect/>
          </a:stretch>
        </p:blipFill>
        <p:spPr>
          <a:xfrm>
            <a:off x="12701" y="3092423"/>
            <a:ext cx="6750397" cy="1390721"/>
          </a:xfrm>
          <a:prstGeom prst="rect">
            <a:avLst/>
          </a:prstGeom>
        </p:spPr>
      </p:pic>
      <p:pic>
        <p:nvPicPr>
          <p:cNvPr id="13" name="Picture 12" descr="bubble sort example">
            <a:extLst>
              <a:ext uri="{FF2B5EF4-FFF2-40B4-BE49-F238E27FC236}">
                <a16:creationId xmlns:a16="http://schemas.microsoft.com/office/drawing/2014/main" id="{07F4B465-B120-5195-B247-8709569A863B}"/>
              </a:ext>
            </a:extLst>
          </p:cNvPr>
          <p:cNvPicPr>
            <a:picLocks noChangeAspect="1"/>
          </p:cNvPicPr>
          <p:nvPr/>
        </p:nvPicPr>
        <p:blipFill>
          <a:blip r:embed="rId6"/>
          <a:stretch>
            <a:fillRect/>
          </a:stretch>
        </p:blipFill>
        <p:spPr>
          <a:xfrm>
            <a:off x="12701" y="4397419"/>
            <a:ext cx="6744047" cy="1371670"/>
          </a:xfrm>
          <a:prstGeom prst="rect">
            <a:avLst/>
          </a:prstGeom>
        </p:spPr>
      </p:pic>
      <p:pic>
        <p:nvPicPr>
          <p:cNvPr id="16" name="Picture 15" descr="bubble sort example">
            <a:extLst>
              <a:ext uri="{FF2B5EF4-FFF2-40B4-BE49-F238E27FC236}">
                <a16:creationId xmlns:a16="http://schemas.microsoft.com/office/drawing/2014/main" id="{0917BEAC-B80B-97C2-9726-5FDD7C1D1E8A}"/>
              </a:ext>
            </a:extLst>
          </p:cNvPr>
          <p:cNvPicPr>
            <a:picLocks noChangeAspect="1"/>
          </p:cNvPicPr>
          <p:nvPr/>
        </p:nvPicPr>
        <p:blipFill>
          <a:blip r:embed="rId7"/>
          <a:stretch>
            <a:fillRect/>
          </a:stretch>
        </p:blipFill>
        <p:spPr>
          <a:xfrm>
            <a:off x="22226" y="5765744"/>
            <a:ext cx="6750397" cy="1092256"/>
          </a:xfrm>
          <a:prstGeom prst="rect">
            <a:avLst/>
          </a:prstGeom>
        </p:spPr>
      </p:pic>
      <p:pic>
        <p:nvPicPr>
          <p:cNvPr id="19" name="Picture 18" descr="bubble sort code">
            <a:extLst>
              <a:ext uri="{FF2B5EF4-FFF2-40B4-BE49-F238E27FC236}">
                <a16:creationId xmlns:a16="http://schemas.microsoft.com/office/drawing/2014/main" id="{AB978B89-02BE-6ADF-B3D8-E08EC7388E2F}"/>
              </a:ext>
            </a:extLst>
          </p:cNvPr>
          <p:cNvPicPr>
            <a:picLocks noChangeAspect="1"/>
          </p:cNvPicPr>
          <p:nvPr/>
        </p:nvPicPr>
        <p:blipFill>
          <a:blip r:embed="rId8"/>
          <a:stretch>
            <a:fillRect/>
          </a:stretch>
        </p:blipFill>
        <p:spPr>
          <a:xfrm>
            <a:off x="7079931" y="1671773"/>
            <a:ext cx="4811264" cy="317848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23771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10058400" cy="756285"/>
          </a:xfrm>
        </p:spPr>
        <p:txBody>
          <a:bodyPr/>
          <a:lstStyle/>
          <a:p>
            <a:r>
              <a:rPr lang="en-US" b="1" dirty="0"/>
              <a:t>Bubble Sort Example with an Array, slide 3</a:t>
            </a:r>
          </a:p>
        </p:txBody>
      </p:sp>
      <p:pic>
        <p:nvPicPr>
          <p:cNvPr id="16" name="Picture 15" descr="bubble sort example">
            <a:extLst>
              <a:ext uri="{FF2B5EF4-FFF2-40B4-BE49-F238E27FC236}">
                <a16:creationId xmlns:a16="http://schemas.microsoft.com/office/drawing/2014/main" id="{0917BEAC-B80B-97C2-9726-5FDD7C1D1E8A}"/>
              </a:ext>
            </a:extLst>
          </p:cNvPr>
          <p:cNvPicPr>
            <a:picLocks noChangeAspect="1"/>
          </p:cNvPicPr>
          <p:nvPr/>
        </p:nvPicPr>
        <p:blipFill>
          <a:blip r:embed="rId3"/>
          <a:stretch>
            <a:fillRect/>
          </a:stretch>
        </p:blipFill>
        <p:spPr>
          <a:xfrm>
            <a:off x="19051" y="1539209"/>
            <a:ext cx="6750397" cy="1092256"/>
          </a:xfrm>
          <a:prstGeom prst="rect">
            <a:avLst/>
          </a:prstGeom>
        </p:spPr>
      </p:pic>
      <p:pic>
        <p:nvPicPr>
          <p:cNvPr id="4" name="Picture 3" descr="bubble sort example">
            <a:extLst>
              <a:ext uri="{FF2B5EF4-FFF2-40B4-BE49-F238E27FC236}">
                <a16:creationId xmlns:a16="http://schemas.microsoft.com/office/drawing/2014/main" id="{58C9BD49-2C73-BC1D-1B68-F49128C0E7F4}"/>
              </a:ext>
            </a:extLst>
          </p:cNvPr>
          <p:cNvPicPr>
            <a:picLocks noChangeAspect="1"/>
          </p:cNvPicPr>
          <p:nvPr/>
        </p:nvPicPr>
        <p:blipFill>
          <a:blip r:embed="rId4"/>
          <a:stretch>
            <a:fillRect/>
          </a:stretch>
        </p:blipFill>
        <p:spPr>
          <a:xfrm>
            <a:off x="0" y="2501291"/>
            <a:ext cx="6769448" cy="1397072"/>
          </a:xfrm>
          <a:prstGeom prst="rect">
            <a:avLst/>
          </a:prstGeom>
        </p:spPr>
      </p:pic>
      <p:pic>
        <p:nvPicPr>
          <p:cNvPr id="8" name="Picture 7" descr="bubble sort example">
            <a:extLst>
              <a:ext uri="{FF2B5EF4-FFF2-40B4-BE49-F238E27FC236}">
                <a16:creationId xmlns:a16="http://schemas.microsoft.com/office/drawing/2014/main" id="{24B43B4D-4ACD-3BE6-5B3B-B27E81F89534}"/>
              </a:ext>
            </a:extLst>
          </p:cNvPr>
          <p:cNvPicPr>
            <a:picLocks noChangeAspect="1"/>
          </p:cNvPicPr>
          <p:nvPr/>
        </p:nvPicPr>
        <p:blipFill>
          <a:blip r:embed="rId5"/>
          <a:stretch>
            <a:fillRect/>
          </a:stretch>
        </p:blipFill>
        <p:spPr>
          <a:xfrm>
            <a:off x="0" y="3898363"/>
            <a:ext cx="6769448" cy="1047804"/>
          </a:xfrm>
          <a:prstGeom prst="rect">
            <a:avLst/>
          </a:prstGeom>
        </p:spPr>
      </p:pic>
      <p:pic>
        <p:nvPicPr>
          <p:cNvPr id="12" name="Picture 11" descr="bubble sort code">
            <a:extLst>
              <a:ext uri="{FF2B5EF4-FFF2-40B4-BE49-F238E27FC236}">
                <a16:creationId xmlns:a16="http://schemas.microsoft.com/office/drawing/2014/main" id="{867E0DAE-CCB8-C0EC-032F-1CE4CF2DC917}"/>
              </a:ext>
            </a:extLst>
          </p:cNvPr>
          <p:cNvPicPr>
            <a:picLocks noChangeAspect="1"/>
          </p:cNvPicPr>
          <p:nvPr/>
        </p:nvPicPr>
        <p:blipFill>
          <a:blip r:embed="rId6"/>
          <a:stretch>
            <a:fillRect/>
          </a:stretch>
        </p:blipFill>
        <p:spPr>
          <a:xfrm>
            <a:off x="6964769" y="1526626"/>
            <a:ext cx="4811264" cy="317848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60932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10058400" cy="756285"/>
          </a:xfrm>
        </p:spPr>
        <p:txBody>
          <a:bodyPr/>
          <a:lstStyle/>
          <a:p>
            <a:r>
              <a:rPr lang="en-US" b="1" dirty="0"/>
              <a:t>Bubble Sort Example with an Array, slide 4</a:t>
            </a:r>
          </a:p>
        </p:txBody>
      </p:sp>
      <p:pic>
        <p:nvPicPr>
          <p:cNvPr id="8" name="Picture 7" descr="bubble sort example">
            <a:extLst>
              <a:ext uri="{FF2B5EF4-FFF2-40B4-BE49-F238E27FC236}">
                <a16:creationId xmlns:a16="http://schemas.microsoft.com/office/drawing/2014/main" id="{24B43B4D-4ACD-3BE6-5B3B-B27E81F89534}"/>
              </a:ext>
            </a:extLst>
          </p:cNvPr>
          <p:cNvPicPr>
            <a:picLocks noChangeAspect="1"/>
          </p:cNvPicPr>
          <p:nvPr/>
        </p:nvPicPr>
        <p:blipFill>
          <a:blip r:embed="rId3"/>
          <a:stretch>
            <a:fillRect/>
          </a:stretch>
        </p:blipFill>
        <p:spPr>
          <a:xfrm>
            <a:off x="19051" y="1421518"/>
            <a:ext cx="6769448" cy="1047804"/>
          </a:xfrm>
          <a:prstGeom prst="rect">
            <a:avLst/>
          </a:prstGeom>
        </p:spPr>
      </p:pic>
      <p:pic>
        <p:nvPicPr>
          <p:cNvPr id="5" name="Picture 4" descr="bubble sort example">
            <a:extLst>
              <a:ext uri="{FF2B5EF4-FFF2-40B4-BE49-F238E27FC236}">
                <a16:creationId xmlns:a16="http://schemas.microsoft.com/office/drawing/2014/main" id="{92B492B2-BFBD-1489-C699-96A073DFB93A}"/>
              </a:ext>
            </a:extLst>
          </p:cNvPr>
          <p:cNvPicPr>
            <a:picLocks noChangeAspect="1"/>
          </p:cNvPicPr>
          <p:nvPr/>
        </p:nvPicPr>
        <p:blipFill>
          <a:blip r:embed="rId4"/>
          <a:stretch>
            <a:fillRect/>
          </a:stretch>
        </p:blipFill>
        <p:spPr>
          <a:xfrm>
            <a:off x="0" y="2382745"/>
            <a:ext cx="6788499" cy="1358970"/>
          </a:xfrm>
          <a:prstGeom prst="rect">
            <a:avLst/>
          </a:prstGeom>
        </p:spPr>
      </p:pic>
      <p:pic>
        <p:nvPicPr>
          <p:cNvPr id="7" name="Picture 6" descr="bubble sort example">
            <a:extLst>
              <a:ext uri="{FF2B5EF4-FFF2-40B4-BE49-F238E27FC236}">
                <a16:creationId xmlns:a16="http://schemas.microsoft.com/office/drawing/2014/main" id="{30880F38-C21E-B431-751D-BD8F84539363}"/>
              </a:ext>
            </a:extLst>
          </p:cNvPr>
          <p:cNvPicPr>
            <a:picLocks noChangeAspect="1"/>
          </p:cNvPicPr>
          <p:nvPr/>
        </p:nvPicPr>
        <p:blipFill>
          <a:blip r:embed="rId5"/>
          <a:stretch>
            <a:fillRect/>
          </a:stretch>
        </p:blipFill>
        <p:spPr>
          <a:xfrm>
            <a:off x="12700" y="3741715"/>
            <a:ext cx="6763098" cy="2159111"/>
          </a:xfrm>
          <a:prstGeom prst="rect">
            <a:avLst/>
          </a:prstGeom>
        </p:spPr>
      </p:pic>
      <p:pic>
        <p:nvPicPr>
          <p:cNvPr id="9" name="Picture 8" descr="bubble sort code">
            <a:extLst>
              <a:ext uri="{FF2B5EF4-FFF2-40B4-BE49-F238E27FC236}">
                <a16:creationId xmlns:a16="http://schemas.microsoft.com/office/drawing/2014/main" id="{FF402E06-5A03-6593-CFFD-F8683F33199A}"/>
              </a:ext>
            </a:extLst>
          </p:cNvPr>
          <p:cNvPicPr>
            <a:picLocks noChangeAspect="1"/>
          </p:cNvPicPr>
          <p:nvPr/>
        </p:nvPicPr>
        <p:blipFill>
          <a:blip r:embed="rId6"/>
          <a:stretch>
            <a:fillRect/>
          </a:stretch>
        </p:blipFill>
        <p:spPr>
          <a:xfrm>
            <a:off x="7008837" y="1592727"/>
            <a:ext cx="4811264" cy="317848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84102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33333-50E4-5CE7-37E4-DE8411166C8D}"/>
              </a:ext>
            </a:extLst>
          </p:cNvPr>
          <p:cNvSpPr>
            <a:spLocks noGrp="1"/>
          </p:cNvSpPr>
          <p:nvPr>
            <p:ph type="title"/>
          </p:nvPr>
        </p:nvSpPr>
        <p:spPr/>
        <p:txBody>
          <a:bodyPr/>
          <a:lstStyle/>
          <a:p>
            <a:r>
              <a:rPr lang="en-US" dirty="0"/>
              <a:t>Bubble Sort 3D Animation </a:t>
            </a:r>
          </a:p>
        </p:txBody>
      </p:sp>
      <p:sp>
        <p:nvSpPr>
          <p:cNvPr id="3" name="Content Placeholder 2">
            <a:extLst>
              <a:ext uri="{FF2B5EF4-FFF2-40B4-BE49-F238E27FC236}">
                <a16:creationId xmlns:a16="http://schemas.microsoft.com/office/drawing/2014/main" id="{AD21DE4B-50F5-3455-03E1-4B2F0E6D3706}"/>
              </a:ext>
            </a:extLst>
          </p:cNvPr>
          <p:cNvSpPr>
            <a:spLocks noGrp="1"/>
          </p:cNvSpPr>
          <p:nvPr>
            <p:ph idx="1"/>
          </p:nvPr>
        </p:nvSpPr>
        <p:spPr/>
        <p:txBody>
          <a:bodyPr>
            <a:normAutofit/>
          </a:bodyPr>
          <a:lstStyle/>
          <a:p>
            <a:r>
              <a:rPr kumimoji="0" lang="en-US" sz="5400" b="1" i="0" u="none" strike="noStrike" kern="1200" cap="none" spc="0" normalizeH="0" baseline="0" noProof="0" dirty="0">
                <a:ln>
                  <a:noFill/>
                </a:ln>
                <a:solidFill>
                  <a:srgbClr val="0000FF"/>
                </a:solidFill>
                <a:effectLst/>
                <a:uLnTx/>
                <a:uFillTx/>
                <a:latin typeface="+mn-lt"/>
                <a:ea typeface="+mn-ea"/>
                <a:cs typeface="+mn-cs"/>
              </a:rPr>
              <a:t>https://www.youtube.com/watch?v=NiyEqLZmngY</a:t>
            </a:r>
            <a:endParaRPr lang="en-US" sz="5400" dirty="0"/>
          </a:p>
        </p:txBody>
      </p:sp>
      <p:pic>
        <p:nvPicPr>
          <p:cNvPr id="5" name="Picture 4" descr="Poorly animated guy doing bubble sort.">
            <a:extLst>
              <a:ext uri="{FF2B5EF4-FFF2-40B4-BE49-F238E27FC236}">
                <a16:creationId xmlns:a16="http://schemas.microsoft.com/office/drawing/2014/main" id="{2AA045CE-560A-D1B3-D7D2-A2BD1C52C202}"/>
              </a:ext>
            </a:extLst>
          </p:cNvPr>
          <p:cNvPicPr>
            <a:picLocks noChangeAspect="1"/>
          </p:cNvPicPr>
          <p:nvPr/>
        </p:nvPicPr>
        <p:blipFill>
          <a:blip r:embed="rId2"/>
          <a:stretch>
            <a:fillRect/>
          </a:stretch>
        </p:blipFill>
        <p:spPr>
          <a:xfrm>
            <a:off x="6939989" y="2879743"/>
            <a:ext cx="3960622" cy="2989351"/>
          </a:xfrm>
          <a:prstGeom prst="rect">
            <a:avLst/>
          </a:prstGeom>
        </p:spPr>
      </p:pic>
    </p:spTree>
    <p:extLst>
      <p:ext uri="{BB962C8B-B14F-4D97-AF65-F5344CB8AC3E}">
        <p14:creationId xmlns:p14="http://schemas.microsoft.com/office/powerpoint/2010/main" val="18172749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33333-50E4-5CE7-37E4-DE8411166C8D}"/>
              </a:ext>
            </a:extLst>
          </p:cNvPr>
          <p:cNvSpPr>
            <a:spLocks noGrp="1"/>
          </p:cNvSpPr>
          <p:nvPr>
            <p:ph type="title"/>
          </p:nvPr>
        </p:nvSpPr>
        <p:spPr/>
        <p:txBody>
          <a:bodyPr/>
          <a:lstStyle/>
          <a:p>
            <a:r>
              <a:rPr lang="en-US" dirty="0"/>
              <a:t>Bubble Sort with Hungarian, Folk Dance</a:t>
            </a:r>
          </a:p>
        </p:txBody>
      </p:sp>
      <p:sp>
        <p:nvSpPr>
          <p:cNvPr id="3" name="Content Placeholder 2">
            <a:extLst>
              <a:ext uri="{FF2B5EF4-FFF2-40B4-BE49-F238E27FC236}">
                <a16:creationId xmlns:a16="http://schemas.microsoft.com/office/drawing/2014/main" id="{AD21DE4B-50F5-3455-03E1-4B2F0E6D3706}"/>
              </a:ext>
            </a:extLst>
          </p:cNvPr>
          <p:cNvSpPr>
            <a:spLocks noGrp="1"/>
          </p:cNvSpPr>
          <p:nvPr>
            <p:ph idx="1"/>
          </p:nvPr>
        </p:nvSpPr>
        <p:spPr/>
        <p:txBody>
          <a:bodyPr>
            <a:normAutofit/>
          </a:bodyPr>
          <a:lstStyle/>
          <a:p>
            <a:r>
              <a:rPr kumimoji="0" lang="en-US" sz="5400" b="1" i="0" u="none" strike="noStrike" kern="1200" cap="none" spc="0" normalizeH="0" baseline="0" noProof="0" dirty="0">
                <a:ln>
                  <a:noFill/>
                </a:ln>
                <a:solidFill>
                  <a:srgbClr val="0000FF"/>
                </a:solidFill>
                <a:effectLst/>
                <a:uLnTx/>
                <a:uFillTx/>
                <a:latin typeface="+mn-lt"/>
                <a:ea typeface="+mn-ea"/>
                <a:cs typeface="+mn-cs"/>
              </a:rPr>
              <a:t>https://www.youtube.com/watch?v=Iv3vgjM8Pv4</a:t>
            </a:r>
            <a:endParaRPr lang="en-US" sz="5400" dirty="0"/>
          </a:p>
        </p:txBody>
      </p:sp>
      <p:pic>
        <p:nvPicPr>
          <p:cNvPr id="6" name="Picture 5" descr="hungarian folk dance">
            <a:extLst>
              <a:ext uri="{FF2B5EF4-FFF2-40B4-BE49-F238E27FC236}">
                <a16:creationId xmlns:a16="http://schemas.microsoft.com/office/drawing/2014/main" id="{1CDDF3BD-C231-C923-4342-F2EB63AAA6F2}"/>
              </a:ext>
            </a:extLst>
          </p:cNvPr>
          <p:cNvPicPr>
            <a:picLocks noChangeAspect="1"/>
          </p:cNvPicPr>
          <p:nvPr/>
        </p:nvPicPr>
        <p:blipFill>
          <a:blip r:embed="rId2"/>
          <a:stretch>
            <a:fillRect/>
          </a:stretch>
        </p:blipFill>
        <p:spPr>
          <a:xfrm>
            <a:off x="5146192" y="3405167"/>
            <a:ext cx="5797848" cy="2463927"/>
          </a:xfrm>
          <a:prstGeom prst="rect">
            <a:avLst/>
          </a:prstGeom>
        </p:spPr>
      </p:pic>
    </p:spTree>
    <p:extLst>
      <p:ext uri="{BB962C8B-B14F-4D97-AF65-F5344CB8AC3E}">
        <p14:creationId xmlns:p14="http://schemas.microsoft.com/office/powerpoint/2010/main" val="42838209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2337"/>
            <a:ext cx="10058400" cy="432849"/>
          </a:xfrm>
        </p:spPr>
        <p:txBody>
          <a:bodyPr>
            <a:normAutofit fontScale="90000"/>
          </a:bodyPr>
          <a:lstStyle/>
          <a:p>
            <a:r>
              <a:rPr lang="en-US" b="1" dirty="0"/>
              <a:t>Bubble Sort Code</a:t>
            </a:r>
          </a:p>
        </p:txBody>
      </p:sp>
      <p:pic>
        <p:nvPicPr>
          <p:cNvPr id="7" name="Picture 6">
            <a:extLst>
              <a:ext uri="{FF2B5EF4-FFF2-40B4-BE49-F238E27FC236}">
                <a16:creationId xmlns:a16="http://schemas.microsoft.com/office/drawing/2014/main" id="{211515FE-70D3-ACAF-C682-BB895DF7F30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556332"/>
            <a:ext cx="8352102" cy="6301668"/>
          </a:xfrm>
          <a:prstGeom prst="rect">
            <a:avLst/>
          </a:prstGeom>
        </p:spPr>
      </p:pic>
      <p:sp>
        <p:nvSpPr>
          <p:cNvPr id="9" name="Speech Bubble: Rectangle 8">
            <a:extLst>
              <a:ext uri="{FF2B5EF4-FFF2-40B4-BE49-F238E27FC236}">
                <a16:creationId xmlns:a16="http://schemas.microsoft.com/office/drawing/2014/main" id="{7EE323FA-17D8-BDCF-2F04-543644DF07B9}"/>
              </a:ext>
            </a:extLst>
          </p:cNvPr>
          <p:cNvSpPr/>
          <p:nvPr/>
        </p:nvSpPr>
        <p:spPr>
          <a:xfrm>
            <a:off x="8596365" y="919425"/>
            <a:ext cx="3547068" cy="3421464"/>
          </a:xfrm>
          <a:prstGeom prst="wedgeRectCallout">
            <a:avLst>
              <a:gd name="adj1" fmla="val -103389"/>
              <a:gd name="adj2" fmla="val 2620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Compare adjacent elements.</a:t>
            </a:r>
          </a:p>
          <a:p>
            <a:pPr algn="ctr"/>
            <a:endParaRPr lang="en-US" sz="2800" dirty="0">
              <a:solidFill>
                <a:schemeClr val="tx1"/>
              </a:solidFill>
            </a:endParaRPr>
          </a:p>
          <a:p>
            <a:pPr algn="ctr"/>
            <a:r>
              <a:rPr lang="en-US" sz="2800" dirty="0">
                <a:solidFill>
                  <a:schemeClr val="tx1"/>
                </a:solidFill>
              </a:rPr>
              <a:t>If the one on the left is larger than the one on the right, they should be swapped.</a:t>
            </a:r>
          </a:p>
        </p:txBody>
      </p:sp>
      <p:sp>
        <p:nvSpPr>
          <p:cNvPr id="10" name="Rectangle 9">
            <a:extLst>
              <a:ext uri="{FF2B5EF4-FFF2-40B4-BE49-F238E27FC236}">
                <a16:creationId xmlns:a16="http://schemas.microsoft.com/office/drawing/2014/main" id="{583121B2-6AB5-FC69-80BE-90F62B987FB9}"/>
              </a:ext>
              <a:ext uri="{C183D7F6-B498-43B3-948B-1728B52AA6E4}">
                <adec:decorative xmlns:adec="http://schemas.microsoft.com/office/drawing/2017/decorative" val="1"/>
              </a:ext>
            </a:extLst>
          </p:cNvPr>
          <p:cNvSpPr/>
          <p:nvPr/>
        </p:nvSpPr>
        <p:spPr>
          <a:xfrm>
            <a:off x="8073851" y="5918479"/>
            <a:ext cx="4160017" cy="979714"/>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0629189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B1C85-B990-A169-FA01-FB79EB22E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E229B-85C8-7999-55FC-FA46D492C873}"/>
              </a:ext>
            </a:extLst>
          </p:cNvPr>
          <p:cNvSpPr>
            <a:spLocks noGrp="1"/>
          </p:cNvSpPr>
          <p:nvPr>
            <p:ph type="title"/>
          </p:nvPr>
        </p:nvSpPr>
        <p:spPr>
          <a:xfrm>
            <a:off x="0" y="212337"/>
            <a:ext cx="10058400" cy="432849"/>
          </a:xfrm>
        </p:spPr>
        <p:txBody>
          <a:bodyPr>
            <a:normAutofit fontScale="90000"/>
          </a:bodyPr>
          <a:lstStyle/>
          <a:p>
            <a:r>
              <a:rPr lang="en-US" b="1" dirty="0">
                <a:highlight>
                  <a:srgbClr val="FFFF00"/>
                </a:highlight>
              </a:rPr>
              <a:t>IMPROVED</a:t>
            </a:r>
            <a:r>
              <a:rPr lang="en-US" b="1" dirty="0"/>
              <a:t> Bubble Sort Code</a:t>
            </a:r>
          </a:p>
        </p:txBody>
      </p:sp>
      <p:pic>
        <p:nvPicPr>
          <p:cNvPr id="5" name="Picture 4">
            <a:extLst>
              <a:ext uri="{FF2B5EF4-FFF2-40B4-BE49-F238E27FC236}">
                <a16:creationId xmlns:a16="http://schemas.microsoft.com/office/drawing/2014/main" id="{BFE1103E-14FB-8BAB-7CDB-AFEEE29F722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62846" y="645186"/>
            <a:ext cx="5982460" cy="6181048"/>
          </a:xfrm>
          <a:prstGeom prst="rect">
            <a:avLst/>
          </a:prstGeom>
        </p:spPr>
      </p:pic>
      <p:sp>
        <p:nvSpPr>
          <p:cNvPr id="3" name="Speech Bubble: Rectangle 2">
            <a:extLst>
              <a:ext uri="{FF2B5EF4-FFF2-40B4-BE49-F238E27FC236}">
                <a16:creationId xmlns:a16="http://schemas.microsoft.com/office/drawing/2014/main" id="{B99DFD97-18B1-F53D-F74D-C5F5478AF83E}"/>
              </a:ext>
            </a:extLst>
          </p:cNvPr>
          <p:cNvSpPr/>
          <p:nvPr/>
        </p:nvSpPr>
        <p:spPr>
          <a:xfrm>
            <a:off x="8420519" y="879231"/>
            <a:ext cx="3722913" cy="5335673"/>
          </a:xfrm>
          <a:prstGeom prst="wedgeRectCallout">
            <a:avLst>
              <a:gd name="adj1" fmla="val -186925"/>
              <a:gd name="adj2" fmla="val 4889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Improved code will check to see if any elements were swapped in the current pass through the array. If not, then break.</a:t>
            </a:r>
          </a:p>
          <a:p>
            <a:pPr algn="ctr"/>
            <a:endParaRPr lang="en-US" sz="2800" dirty="0">
              <a:solidFill>
                <a:schemeClr val="tx1"/>
              </a:solidFill>
            </a:endParaRPr>
          </a:p>
          <a:p>
            <a:pPr algn="ctr"/>
            <a:r>
              <a:rPr lang="en-US" sz="2800" dirty="0">
                <a:solidFill>
                  <a:schemeClr val="tx1"/>
                </a:solidFill>
              </a:rPr>
              <a:t>Will reduce the number of passes through the array.</a:t>
            </a:r>
          </a:p>
        </p:txBody>
      </p:sp>
      <p:sp>
        <p:nvSpPr>
          <p:cNvPr id="4" name="Rectangle 3">
            <a:extLst>
              <a:ext uri="{FF2B5EF4-FFF2-40B4-BE49-F238E27FC236}">
                <a16:creationId xmlns:a16="http://schemas.microsoft.com/office/drawing/2014/main" id="{8F3668AB-0F3B-92D8-D230-A41B2F6F3BF1}"/>
              </a:ext>
              <a:ext uri="{C183D7F6-B498-43B3-948B-1728B52AA6E4}">
                <adec:decorative xmlns:adec="http://schemas.microsoft.com/office/drawing/2017/decorative" val="1"/>
              </a:ext>
            </a:extLst>
          </p:cNvPr>
          <p:cNvSpPr/>
          <p:nvPr/>
        </p:nvSpPr>
        <p:spPr>
          <a:xfrm>
            <a:off x="6096000" y="5878286"/>
            <a:ext cx="6137868" cy="979714"/>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22742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 Examples</a:t>
            </a:r>
          </a:p>
        </p:txBody>
      </p:sp>
      <p:sp>
        <p:nvSpPr>
          <p:cNvPr id="3" name="Content Placeholder 2"/>
          <p:cNvSpPr>
            <a:spLocks noGrp="1"/>
          </p:cNvSpPr>
          <p:nvPr>
            <p:ph idx="1"/>
          </p:nvPr>
        </p:nvSpPr>
        <p:spPr/>
        <p:txBody>
          <a:bodyPr>
            <a:normAutofit/>
          </a:bodyPr>
          <a:lstStyle/>
          <a:p>
            <a:pPr marL="458788" indent="-458788">
              <a:buFont typeface="Wingdings" panose="05000000000000000000" pitchFamily="2" charset="2"/>
              <a:buChar char="v"/>
            </a:pPr>
            <a:r>
              <a:rPr lang="en-US" sz="4000" b="1" dirty="0">
                <a:solidFill>
                  <a:srgbClr val="0070C0"/>
                </a:solidFill>
              </a:rPr>
              <a:t>bubbleSort.cpp </a:t>
            </a:r>
            <a:r>
              <a:rPr lang="en-US" sz="2800" b="1" dirty="0">
                <a:solidFill>
                  <a:schemeClr val="tx1"/>
                </a:solidFill>
              </a:rPr>
              <a:t>– original (inefficient) version of bubble sort</a:t>
            </a:r>
          </a:p>
          <a:p>
            <a:pPr marL="458788" indent="-458788">
              <a:buFont typeface="Wingdings" panose="05000000000000000000" pitchFamily="2" charset="2"/>
              <a:buChar char="v"/>
            </a:pPr>
            <a:r>
              <a:rPr lang="en-US" sz="4000" b="1" dirty="0">
                <a:solidFill>
                  <a:srgbClr val="0070C0"/>
                </a:solidFill>
              </a:rPr>
              <a:t>bubbleSortEfficient.cpp </a:t>
            </a:r>
            <a:r>
              <a:rPr lang="en-US" sz="2800" b="1" dirty="0">
                <a:solidFill>
                  <a:schemeClr val="tx1"/>
                </a:solidFill>
              </a:rPr>
              <a:t>– improved, more efficient version of bubble sort</a:t>
            </a:r>
          </a:p>
          <a:p>
            <a:pPr marL="458788" indent="-458788">
              <a:buFont typeface="Wingdings" panose="05000000000000000000" pitchFamily="2" charset="2"/>
              <a:buChar char="v"/>
            </a:pPr>
            <a:r>
              <a:rPr lang="en-US" sz="4000" b="1" dirty="0">
                <a:solidFill>
                  <a:srgbClr val="0070C0"/>
                </a:solidFill>
              </a:rPr>
              <a:t>bubbleSortExamine.cpp </a:t>
            </a:r>
            <a:r>
              <a:rPr lang="en-US" sz="2800" b="1" dirty="0">
                <a:solidFill>
                  <a:schemeClr val="tx1"/>
                </a:solidFill>
              </a:rPr>
              <a:t>– also the improved version of bubble sort and prints out everything it is doing</a:t>
            </a:r>
            <a:endParaRPr lang="en-US" sz="4000" b="1" dirty="0">
              <a:solidFill>
                <a:schemeClr val="tx1"/>
              </a:solidFill>
            </a:endParaRPr>
          </a:p>
        </p:txBody>
      </p:sp>
    </p:spTree>
    <p:extLst>
      <p:ext uri="{BB962C8B-B14F-4D97-AF65-F5344CB8AC3E}">
        <p14:creationId xmlns:p14="http://schemas.microsoft.com/office/powerpoint/2010/main" val="41094184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739678" cy="1450757"/>
          </a:xfrm>
        </p:spPr>
        <p:txBody>
          <a:bodyPr/>
          <a:lstStyle/>
          <a:p>
            <a:r>
              <a:rPr lang="en-US" dirty="0"/>
              <a:t>Bubble Sort: best &amp; worst-case efficiency</a:t>
            </a:r>
          </a:p>
        </p:txBody>
      </p:sp>
      <p:sp>
        <p:nvSpPr>
          <p:cNvPr id="3" name="Content Placeholder 2"/>
          <p:cNvSpPr>
            <a:spLocks noGrp="1"/>
          </p:cNvSpPr>
          <p:nvPr>
            <p:ph idx="1"/>
          </p:nvPr>
        </p:nvSpPr>
        <p:spPr/>
        <p:txBody>
          <a:bodyPr>
            <a:normAutofit/>
          </a:bodyPr>
          <a:lstStyle/>
          <a:p>
            <a:r>
              <a:rPr lang="en-US" sz="3200" b="1" dirty="0">
                <a:solidFill>
                  <a:srgbClr val="000000"/>
                </a:solidFill>
              </a:rPr>
              <a:t>BEST</a:t>
            </a:r>
            <a:r>
              <a:rPr lang="en-US" sz="3200" dirty="0">
                <a:solidFill>
                  <a:srgbClr val="000000"/>
                </a:solidFill>
              </a:rPr>
              <a:t> – when the array is already sorted!  You would only have to pass through the array one time and compare each array element once, so there would be n comparisons where n is the number of elements!</a:t>
            </a:r>
          </a:p>
          <a:p>
            <a:endParaRPr lang="en-US" sz="3200" dirty="0"/>
          </a:p>
          <a:p>
            <a:r>
              <a:rPr lang="en-US" sz="3200" b="1" dirty="0">
                <a:solidFill>
                  <a:srgbClr val="FF0000"/>
                </a:solidFill>
              </a:rPr>
              <a:t>WORST</a:t>
            </a:r>
            <a:r>
              <a:rPr lang="en-US" sz="3200" dirty="0"/>
              <a:t> – when the array is in the completely decreasing order – maximum number of comparisons, which is n</a:t>
            </a:r>
            <a:r>
              <a:rPr lang="en-US" sz="3200" baseline="30000" dirty="0"/>
              <a:t>2</a:t>
            </a:r>
          </a:p>
        </p:txBody>
      </p:sp>
    </p:spTree>
    <p:extLst>
      <p:ext uri="{BB962C8B-B14F-4D97-AF65-F5344CB8AC3E}">
        <p14:creationId xmlns:p14="http://schemas.microsoft.com/office/powerpoint/2010/main" val="4345893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Bubble Sort </a:t>
            </a:r>
            <a:br>
              <a:rPr lang="en-US" b="1" dirty="0"/>
            </a:br>
            <a:r>
              <a:rPr lang="en-US" b="1" dirty="0"/>
              <a:t>Big O Notation</a:t>
            </a:r>
          </a:p>
        </p:txBody>
      </p:sp>
      <p:sp>
        <p:nvSpPr>
          <p:cNvPr id="3" name="Content Placeholder 2"/>
          <p:cNvSpPr>
            <a:spLocks noGrp="1"/>
          </p:cNvSpPr>
          <p:nvPr>
            <p:ph idx="1"/>
          </p:nvPr>
        </p:nvSpPr>
        <p:spPr>
          <a:xfrm>
            <a:off x="232013" y="1845734"/>
            <a:ext cx="11716602" cy="4459532"/>
          </a:xfrm>
        </p:spPr>
        <p:txBody>
          <a:bodyPr>
            <a:normAutofit fontScale="92500" lnSpcReduction="10000"/>
          </a:bodyPr>
          <a:lstStyle/>
          <a:p>
            <a:pPr marL="0" indent="0">
              <a:buNone/>
            </a:pPr>
            <a:r>
              <a:rPr lang="en-US" sz="3200" dirty="0"/>
              <a:t>Runtime</a:t>
            </a:r>
            <a:r>
              <a:rPr lang="en-US" sz="3200" b="1" dirty="0"/>
              <a:t> Best </a:t>
            </a:r>
            <a:r>
              <a:rPr lang="en-US" sz="3200" dirty="0"/>
              <a:t>Case:</a:t>
            </a:r>
            <a:r>
              <a:rPr lang="en-US" sz="3200" b="1" dirty="0"/>
              <a:t>		</a:t>
            </a:r>
            <a:r>
              <a:rPr lang="en-US" sz="3200" b="1" dirty="0">
                <a:solidFill>
                  <a:srgbClr val="0070C0"/>
                </a:solidFill>
              </a:rPr>
              <a:t>O(n)</a:t>
            </a:r>
          </a:p>
          <a:p>
            <a:pPr marL="0" indent="0">
              <a:buNone/>
            </a:pPr>
            <a:r>
              <a:rPr lang="en-US" sz="3200" dirty="0"/>
              <a:t>Runtime</a:t>
            </a:r>
            <a:r>
              <a:rPr lang="en-US" sz="3200" b="1" dirty="0"/>
              <a:t> Average </a:t>
            </a:r>
            <a:r>
              <a:rPr lang="en-US" sz="3200" dirty="0"/>
              <a:t>Case:</a:t>
            </a:r>
            <a:r>
              <a:rPr lang="en-US" sz="3200" b="1" dirty="0"/>
              <a:t>	          </a:t>
            </a:r>
            <a:r>
              <a:rPr lang="en-US" sz="3200" b="1" dirty="0">
                <a:solidFill>
                  <a:srgbClr val="C00000"/>
                </a:solidFill>
              </a:rPr>
              <a:t>O(n</a:t>
            </a:r>
            <a:r>
              <a:rPr lang="en-US" sz="3200" b="1" baseline="30000" dirty="0">
                <a:solidFill>
                  <a:srgbClr val="C00000"/>
                </a:solidFill>
              </a:rPr>
              <a:t>2</a:t>
            </a:r>
            <a:r>
              <a:rPr lang="en-US" sz="3200" b="1" dirty="0">
                <a:solidFill>
                  <a:srgbClr val="C00000"/>
                </a:solidFill>
              </a:rPr>
              <a:t>)</a:t>
            </a:r>
          </a:p>
          <a:p>
            <a:pPr marL="0" indent="0">
              <a:buNone/>
            </a:pPr>
            <a:r>
              <a:rPr lang="en-US" sz="3200" dirty="0"/>
              <a:t>Runtime</a:t>
            </a:r>
            <a:r>
              <a:rPr lang="en-US" sz="3200" b="1" dirty="0"/>
              <a:t> Worst </a:t>
            </a:r>
            <a:r>
              <a:rPr lang="en-US" sz="3200" dirty="0"/>
              <a:t>Case:</a:t>
            </a:r>
            <a:r>
              <a:rPr lang="en-US" sz="3200" b="1" dirty="0"/>
              <a:t>		</a:t>
            </a:r>
            <a:r>
              <a:rPr lang="en-US" sz="3200" b="1" dirty="0">
                <a:solidFill>
                  <a:srgbClr val="C00000"/>
                </a:solidFill>
              </a:rPr>
              <a:t>O(n</a:t>
            </a:r>
            <a:r>
              <a:rPr lang="en-US" sz="3200" b="1" baseline="30000" dirty="0">
                <a:solidFill>
                  <a:srgbClr val="C00000"/>
                </a:solidFill>
              </a:rPr>
              <a:t>2</a:t>
            </a:r>
            <a:r>
              <a:rPr lang="en-US" sz="3200" b="1" dirty="0">
                <a:solidFill>
                  <a:srgbClr val="C00000"/>
                </a:solidFill>
              </a:rPr>
              <a:t>)</a:t>
            </a:r>
          </a:p>
          <a:p>
            <a:pPr marL="0" indent="0">
              <a:buNone/>
            </a:pPr>
            <a:r>
              <a:rPr lang="en-US" sz="3200" dirty="0">
                <a:solidFill>
                  <a:schemeClr val="tx1"/>
                </a:solidFill>
              </a:rPr>
              <a:t>Space Complexity :</a:t>
            </a:r>
            <a:r>
              <a:rPr lang="en-US" sz="3200" b="1" dirty="0">
                <a:solidFill>
                  <a:srgbClr val="FF0000"/>
                </a:solidFill>
              </a:rPr>
              <a:t>		</a:t>
            </a:r>
            <a:r>
              <a:rPr lang="en-US" sz="3200" b="1" dirty="0">
                <a:solidFill>
                  <a:schemeClr val="accent3"/>
                </a:solidFill>
              </a:rPr>
              <a:t>O(1)</a:t>
            </a:r>
          </a:p>
          <a:p>
            <a:pPr marL="0" indent="0">
              <a:buNone/>
            </a:pPr>
            <a:endParaRPr lang="en-US" sz="3200" b="1" dirty="0">
              <a:solidFill>
                <a:srgbClr val="FF0000"/>
              </a:solidFill>
            </a:endParaRPr>
          </a:p>
          <a:p>
            <a:pPr marL="0" indent="0">
              <a:buNone/>
            </a:pPr>
            <a:endParaRPr lang="en-US" sz="3200" b="1" dirty="0">
              <a:solidFill>
                <a:srgbClr val="FF0000"/>
              </a:solidFill>
            </a:endParaRPr>
          </a:p>
          <a:p>
            <a:pPr marL="0" indent="0">
              <a:buNone/>
            </a:pPr>
            <a:r>
              <a:rPr lang="en-US" sz="3200" dirty="0"/>
              <a:t>Bubble sort is not a practical sorting algorithm when </a:t>
            </a:r>
            <a:r>
              <a:rPr lang="en-US" sz="3200" b="1" dirty="0"/>
              <a:t>n</a:t>
            </a:r>
            <a:r>
              <a:rPr lang="en-US" sz="3200" dirty="0"/>
              <a:t> is large.  </a:t>
            </a:r>
            <a:br>
              <a:rPr lang="en-US" sz="3200" dirty="0"/>
            </a:br>
            <a:r>
              <a:rPr lang="en-US" sz="3200" dirty="0"/>
              <a:t>However, an o.k. algorithm if n is small and you need to write something quick.</a:t>
            </a:r>
          </a:p>
        </p:txBody>
      </p:sp>
      <p:pic>
        <p:nvPicPr>
          <p:cNvPr id="1026" name="Picture 2">
            <a:extLst>
              <a:ext uri="{FF2B5EF4-FFF2-40B4-BE49-F238E27FC236}">
                <a16:creationId xmlns:a16="http://schemas.microsoft.com/office/drawing/2014/main" id="{72311E67-EB40-D18A-C964-8B10B17E5269}"/>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4084" y="88157"/>
            <a:ext cx="5600145" cy="4843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9828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 Visualizations</a:t>
            </a:r>
          </a:p>
        </p:txBody>
      </p:sp>
      <p:sp>
        <p:nvSpPr>
          <p:cNvPr id="3" name="Content Placeholder 2"/>
          <p:cNvSpPr>
            <a:spLocks noGrp="1"/>
          </p:cNvSpPr>
          <p:nvPr>
            <p:ph idx="1"/>
          </p:nvPr>
        </p:nvSpPr>
        <p:spPr/>
        <p:txBody>
          <a:bodyPr/>
          <a:lstStyle/>
          <a:p>
            <a:pPr marL="0" indent="0">
              <a:buNone/>
            </a:pPr>
            <a:r>
              <a:rPr lang="en-US" sz="4000" b="1" dirty="0">
                <a:solidFill>
                  <a:srgbClr val="0000FF"/>
                </a:solidFill>
                <a:hlinkClick r:id="rId3">
                  <a:extLst>
                    <a:ext uri="{A12FA001-AC4F-418D-AE19-62706E023703}">
                      <ahyp:hlinkClr xmlns:ahyp="http://schemas.microsoft.com/office/drawing/2018/hyperlinkcolor" val="tx"/>
                    </a:ext>
                  </a:extLst>
                </a:hlinkClick>
              </a:rPr>
              <a:t>https://visualgo.net/bn/sorting?slide=6</a:t>
            </a:r>
            <a:endParaRPr lang="en-US" sz="4000" b="1" dirty="0">
              <a:solidFill>
                <a:srgbClr val="0000FF"/>
              </a:solidFill>
            </a:endParaRPr>
          </a:p>
          <a:p>
            <a:pPr marL="0" indent="0">
              <a:buNone/>
            </a:pPr>
            <a:endParaRPr lang="en-US" sz="4000" b="1" dirty="0">
              <a:solidFill>
                <a:srgbClr val="0000FF"/>
              </a:solidFill>
            </a:endParaRPr>
          </a:p>
          <a:p>
            <a:pPr marL="0" indent="0">
              <a:buNone/>
            </a:pPr>
            <a:r>
              <a:rPr lang="en-US" sz="4000" b="1" dirty="0">
                <a:solidFill>
                  <a:srgbClr val="0000FF"/>
                </a:solidFill>
                <a:hlinkClick r:id="rId4">
                  <a:extLst>
                    <a:ext uri="{A12FA001-AC4F-418D-AE19-62706E023703}">
                      <ahyp:hlinkClr xmlns:ahyp="http://schemas.microsoft.com/office/drawing/2018/hyperlinkcolor" val="tx"/>
                    </a:ext>
                  </a:extLst>
                </a:hlinkClick>
              </a:rPr>
              <a:t>https://www.cs.usfca.edu/~galles/visualization/ComparisonSort.html</a:t>
            </a:r>
            <a:r>
              <a:rPr lang="en-US" sz="4000" b="1" dirty="0">
                <a:solidFill>
                  <a:srgbClr val="0000FF"/>
                </a:solidFill>
              </a:rPr>
              <a:t> </a:t>
            </a:r>
          </a:p>
          <a:p>
            <a:endParaRPr lang="en-US" dirty="0"/>
          </a:p>
          <a:p>
            <a:endParaRPr lang="en-US" dirty="0"/>
          </a:p>
        </p:txBody>
      </p:sp>
    </p:spTree>
    <p:extLst>
      <p:ext uri="{BB962C8B-B14F-4D97-AF65-F5344CB8AC3E}">
        <p14:creationId xmlns:p14="http://schemas.microsoft.com/office/powerpoint/2010/main" val="37906861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451A6-4E82-BFC5-0F68-BD6DD425B42B}"/>
              </a:ext>
            </a:extLst>
          </p:cNvPr>
          <p:cNvSpPr>
            <a:spLocks noGrp="1"/>
          </p:cNvSpPr>
          <p:nvPr>
            <p:ph type="title"/>
          </p:nvPr>
        </p:nvSpPr>
        <p:spPr>
          <a:solidFill>
            <a:srgbClr val="FFFF00"/>
          </a:solidFill>
        </p:spPr>
        <p:txBody>
          <a:bodyPr/>
          <a:lstStyle/>
          <a:p>
            <a:r>
              <a:rPr lang="en-US" dirty="0"/>
              <a:t>Your Turn  (Module 4 Practice)</a:t>
            </a:r>
          </a:p>
        </p:txBody>
      </p:sp>
      <p:sp>
        <p:nvSpPr>
          <p:cNvPr id="3" name="Content Placeholder 2">
            <a:extLst>
              <a:ext uri="{FF2B5EF4-FFF2-40B4-BE49-F238E27FC236}">
                <a16:creationId xmlns:a16="http://schemas.microsoft.com/office/drawing/2014/main" id="{8163CDC0-0920-ABE2-4800-453469FDE4B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296092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a:t>
            </a:r>
          </a:p>
        </p:txBody>
      </p:sp>
    </p:spTree>
    <p:extLst>
      <p:ext uri="{BB962C8B-B14F-4D97-AF65-F5344CB8AC3E}">
        <p14:creationId xmlns:p14="http://schemas.microsoft.com/office/powerpoint/2010/main" val="9525528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Selection Sort?</a:t>
            </a:r>
          </a:p>
        </p:txBody>
      </p:sp>
      <p:sp>
        <p:nvSpPr>
          <p:cNvPr id="3" name="Content Placeholder 2"/>
          <p:cNvSpPr>
            <a:spLocks noGrp="1"/>
          </p:cNvSpPr>
          <p:nvPr>
            <p:ph idx="1"/>
          </p:nvPr>
        </p:nvSpPr>
        <p:spPr>
          <a:xfrm>
            <a:off x="1236980" y="1845734"/>
            <a:ext cx="10058400" cy="4023360"/>
          </a:xfrm>
        </p:spPr>
        <p:txBody>
          <a:bodyPr>
            <a:normAutofit/>
          </a:bodyPr>
          <a:lstStyle/>
          <a:p>
            <a:pPr marL="0" indent="0">
              <a:buNone/>
            </a:pPr>
            <a:r>
              <a:rPr lang="en-US" sz="4000" b="1" dirty="0">
                <a:solidFill>
                  <a:srgbClr val="0070C0"/>
                </a:solidFill>
              </a:rPr>
              <a:t>Selection sort </a:t>
            </a:r>
            <a:r>
              <a:rPr lang="en-US" sz="4000" dirty="0"/>
              <a:t>is a sort algorithm that repeatedly searches remaining items to find the smallest one and moves it to its final location.  </a:t>
            </a:r>
          </a:p>
          <a:p>
            <a:pPr marL="0" indent="0">
              <a:buNone/>
            </a:pPr>
            <a:endParaRPr lang="en-US" sz="4000" dirty="0"/>
          </a:p>
          <a:p>
            <a:pPr marL="0" indent="0" algn="ctr">
              <a:buNone/>
            </a:pPr>
            <a:r>
              <a:rPr lang="en-US" sz="4000" b="1" dirty="0">
                <a:solidFill>
                  <a:schemeClr val="tx1"/>
                </a:solidFill>
              </a:rPr>
              <a:t>REPEATEDLY </a:t>
            </a:r>
            <a:r>
              <a:rPr lang="en-US" sz="4000" b="1" dirty="0">
                <a:solidFill>
                  <a:schemeClr val="tx1"/>
                </a:solidFill>
                <a:highlight>
                  <a:srgbClr val="FFFF00"/>
                </a:highlight>
              </a:rPr>
              <a:t>SELECT</a:t>
            </a:r>
            <a:r>
              <a:rPr lang="en-US" sz="4000" b="1" dirty="0">
                <a:solidFill>
                  <a:schemeClr val="tx1"/>
                </a:solidFill>
              </a:rPr>
              <a:t> THE SMALLEST ELEMENT TO PLACE IN SORTED LOCATION</a:t>
            </a:r>
          </a:p>
        </p:txBody>
      </p:sp>
    </p:spTree>
    <p:extLst>
      <p:ext uri="{BB962C8B-B14F-4D97-AF65-F5344CB8AC3E}">
        <p14:creationId xmlns:p14="http://schemas.microsoft.com/office/powerpoint/2010/main" val="15976799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 </a:t>
            </a:r>
            <a:br>
              <a:rPr lang="en-US" dirty="0"/>
            </a:br>
            <a:endParaRPr lang="en-US" dirty="0"/>
          </a:p>
        </p:txBody>
      </p:sp>
      <p:pic>
        <p:nvPicPr>
          <p:cNvPr id="2052" name="Picture 4" descr="Image result for selection so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9779" y="503774"/>
            <a:ext cx="6800346" cy="635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45424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3D701-3BE5-7567-4A95-AD814ACD4A08}"/>
              </a:ext>
            </a:extLst>
          </p:cNvPr>
          <p:cNvSpPr>
            <a:spLocks noGrp="1"/>
          </p:cNvSpPr>
          <p:nvPr>
            <p:ph type="title"/>
          </p:nvPr>
        </p:nvSpPr>
        <p:spPr/>
        <p:txBody>
          <a:bodyPr/>
          <a:lstStyle/>
          <a:p>
            <a:r>
              <a:rPr lang="en-US" dirty="0"/>
              <a:t>Selection Sort 3D Animation</a:t>
            </a:r>
          </a:p>
        </p:txBody>
      </p:sp>
      <p:sp>
        <p:nvSpPr>
          <p:cNvPr id="3" name="Content Placeholder 2">
            <a:extLst>
              <a:ext uri="{FF2B5EF4-FFF2-40B4-BE49-F238E27FC236}">
                <a16:creationId xmlns:a16="http://schemas.microsoft.com/office/drawing/2014/main" id="{0C2C2CD7-BE30-743A-8A00-5E18AADF79D5}"/>
              </a:ext>
            </a:extLst>
          </p:cNvPr>
          <p:cNvSpPr>
            <a:spLocks noGrp="1"/>
          </p:cNvSpPr>
          <p:nvPr>
            <p:ph idx="1"/>
          </p:nvPr>
        </p:nvSpPr>
        <p:spPr/>
        <p:txBody>
          <a:bodyPr>
            <a:normAutofit/>
          </a:bodyPr>
          <a:lstStyle/>
          <a:p>
            <a:r>
              <a:rPr kumimoji="0" lang="en-US" sz="5400" b="1" i="0" u="none" strike="noStrike" kern="1200" cap="none" spc="0" normalizeH="0" baseline="0" noProof="0" dirty="0">
                <a:ln>
                  <a:noFill/>
                </a:ln>
                <a:solidFill>
                  <a:srgbClr val="0000FF"/>
                </a:solidFill>
                <a:effectLst/>
                <a:uLnTx/>
                <a:uFillTx/>
                <a:latin typeface="+mn-lt"/>
                <a:ea typeface="+mn-ea"/>
                <a:cs typeface="+mn-cs"/>
              </a:rPr>
              <a:t>https://www.youtube.com/watch?v=EdUWyka7kpI</a:t>
            </a:r>
            <a:endParaRPr lang="en-US" sz="5400" dirty="0"/>
          </a:p>
        </p:txBody>
      </p:sp>
      <p:pic>
        <p:nvPicPr>
          <p:cNvPr id="5" name="Picture 4" descr="poorly animated guy doing selection sort">
            <a:extLst>
              <a:ext uri="{FF2B5EF4-FFF2-40B4-BE49-F238E27FC236}">
                <a16:creationId xmlns:a16="http://schemas.microsoft.com/office/drawing/2014/main" id="{8A78786B-2B88-6281-50AF-FF3108B1CC62}"/>
              </a:ext>
            </a:extLst>
          </p:cNvPr>
          <p:cNvPicPr>
            <a:picLocks noChangeAspect="1"/>
          </p:cNvPicPr>
          <p:nvPr/>
        </p:nvPicPr>
        <p:blipFill>
          <a:blip r:embed="rId2"/>
          <a:stretch>
            <a:fillRect/>
          </a:stretch>
        </p:blipFill>
        <p:spPr>
          <a:xfrm>
            <a:off x="6656729" y="2726425"/>
            <a:ext cx="4111533" cy="3467989"/>
          </a:xfrm>
          <a:prstGeom prst="rect">
            <a:avLst/>
          </a:prstGeom>
        </p:spPr>
      </p:pic>
    </p:spTree>
    <p:extLst>
      <p:ext uri="{BB962C8B-B14F-4D97-AF65-F5344CB8AC3E}">
        <p14:creationId xmlns:p14="http://schemas.microsoft.com/office/powerpoint/2010/main" val="764015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3771"/>
            <a:ext cx="10058400" cy="414282"/>
          </a:xfrm>
        </p:spPr>
        <p:txBody>
          <a:bodyPr>
            <a:normAutofit fontScale="90000"/>
          </a:bodyPr>
          <a:lstStyle/>
          <a:p>
            <a:r>
              <a:rPr lang="en-US" b="1" dirty="0"/>
              <a:t>Selection Sort Code</a:t>
            </a:r>
          </a:p>
        </p:txBody>
      </p:sp>
      <p:sp>
        <p:nvSpPr>
          <p:cNvPr id="6" name="Rectangle 5">
            <a:extLst>
              <a:ext uri="{FF2B5EF4-FFF2-40B4-BE49-F238E27FC236}">
                <a16:creationId xmlns:a16="http://schemas.microsoft.com/office/drawing/2014/main" id="{E420740E-EEC7-3CF1-456A-FA3C41A82E6E}"/>
              </a:ext>
              <a:ext uri="{C183D7F6-B498-43B3-948B-1728B52AA6E4}">
                <adec:decorative xmlns:adec="http://schemas.microsoft.com/office/drawing/2017/decorative" val="1"/>
              </a:ext>
            </a:extLst>
          </p:cNvPr>
          <p:cNvSpPr/>
          <p:nvPr/>
        </p:nvSpPr>
        <p:spPr>
          <a:xfrm>
            <a:off x="0" y="5466230"/>
            <a:ext cx="12192000" cy="139177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4" name="Picture 3">
            <a:extLst>
              <a:ext uri="{FF2B5EF4-FFF2-40B4-BE49-F238E27FC236}">
                <a16:creationId xmlns:a16="http://schemas.microsoft.com/office/drawing/2014/main" id="{D8B4D3F0-2152-83B4-5496-F0A17A1D4C6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369617" y="504266"/>
            <a:ext cx="6019868" cy="6353734"/>
          </a:xfrm>
          <a:prstGeom prst="rect">
            <a:avLst/>
          </a:prstGeom>
        </p:spPr>
      </p:pic>
    </p:spTree>
    <p:extLst>
      <p:ext uri="{BB962C8B-B14F-4D97-AF65-F5344CB8AC3E}">
        <p14:creationId xmlns:p14="http://schemas.microsoft.com/office/powerpoint/2010/main" val="11251974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Selection Sort Examples</a:t>
            </a:r>
          </a:p>
        </p:txBody>
      </p:sp>
      <p:sp>
        <p:nvSpPr>
          <p:cNvPr id="3" name="Content Placeholder 2"/>
          <p:cNvSpPr>
            <a:spLocks noGrp="1"/>
          </p:cNvSpPr>
          <p:nvPr>
            <p:ph idx="1"/>
          </p:nvPr>
        </p:nvSpPr>
        <p:spPr/>
        <p:txBody>
          <a:bodyPr>
            <a:normAutofit/>
          </a:bodyPr>
          <a:lstStyle/>
          <a:p>
            <a:pPr marL="458788" indent="-458788">
              <a:buFont typeface="Wingdings" panose="05000000000000000000" pitchFamily="2" charset="2"/>
              <a:buChar char="v"/>
            </a:pPr>
            <a:r>
              <a:rPr lang="en-US" sz="4000" b="1" dirty="0">
                <a:solidFill>
                  <a:srgbClr val="0070C0"/>
                </a:solidFill>
              </a:rPr>
              <a:t>selectionSort.cpp</a:t>
            </a:r>
          </a:p>
          <a:p>
            <a:pPr marL="458788" indent="-458788">
              <a:buFont typeface="Wingdings" panose="05000000000000000000" pitchFamily="2" charset="2"/>
              <a:buChar char="v"/>
            </a:pPr>
            <a:r>
              <a:rPr lang="en-US" sz="4000" b="1" dirty="0">
                <a:solidFill>
                  <a:srgbClr val="0070C0"/>
                </a:solidFill>
              </a:rPr>
              <a:t>selectionSortExamine.cpp</a:t>
            </a:r>
          </a:p>
        </p:txBody>
      </p:sp>
    </p:spTree>
    <p:extLst>
      <p:ext uri="{BB962C8B-B14F-4D97-AF65-F5344CB8AC3E}">
        <p14:creationId xmlns:p14="http://schemas.microsoft.com/office/powerpoint/2010/main" val="30245409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Selection Sort </a:t>
            </a:r>
            <a:br>
              <a:rPr lang="en-US" b="1" dirty="0"/>
            </a:br>
            <a:r>
              <a:rPr lang="en-US" b="1" dirty="0"/>
              <a:t>Big O Notation</a:t>
            </a:r>
          </a:p>
        </p:txBody>
      </p:sp>
      <p:sp>
        <p:nvSpPr>
          <p:cNvPr id="3" name="Content Placeholder 2"/>
          <p:cNvSpPr>
            <a:spLocks noGrp="1"/>
          </p:cNvSpPr>
          <p:nvPr>
            <p:ph idx="1"/>
          </p:nvPr>
        </p:nvSpPr>
        <p:spPr>
          <a:xfrm>
            <a:off x="170597" y="1845733"/>
            <a:ext cx="11675659" cy="4480003"/>
          </a:xfrm>
        </p:spPr>
        <p:txBody>
          <a:bodyPr>
            <a:normAutofit/>
          </a:bodyPr>
          <a:lstStyle/>
          <a:p>
            <a:pPr marL="0" indent="0">
              <a:buNone/>
            </a:pPr>
            <a:r>
              <a:rPr lang="en-US" sz="3200" dirty="0"/>
              <a:t>Runtime</a:t>
            </a:r>
            <a:r>
              <a:rPr lang="en-US" sz="3200" b="1" dirty="0"/>
              <a:t> Best </a:t>
            </a:r>
            <a:r>
              <a:rPr lang="en-US" sz="3200" dirty="0"/>
              <a:t>Case:</a:t>
            </a:r>
            <a:r>
              <a:rPr lang="en-US" sz="3200" b="1" dirty="0"/>
              <a:t>		</a:t>
            </a:r>
            <a:r>
              <a:rPr lang="en-US" sz="3200" b="1" dirty="0">
                <a:solidFill>
                  <a:srgbClr val="C00000"/>
                </a:solidFill>
              </a:rPr>
              <a:t>O(n</a:t>
            </a:r>
            <a:r>
              <a:rPr lang="en-US" sz="3200" b="1" baseline="30000" dirty="0">
                <a:solidFill>
                  <a:srgbClr val="C00000"/>
                </a:solidFill>
              </a:rPr>
              <a:t>2</a:t>
            </a:r>
            <a:r>
              <a:rPr lang="en-US" sz="3200" b="1" dirty="0">
                <a:solidFill>
                  <a:srgbClr val="C00000"/>
                </a:solidFill>
              </a:rPr>
              <a:t>)</a:t>
            </a:r>
          </a:p>
          <a:p>
            <a:pPr marL="0" indent="0">
              <a:buNone/>
            </a:pPr>
            <a:r>
              <a:rPr lang="en-US" sz="3200" dirty="0"/>
              <a:t>Runtime</a:t>
            </a:r>
            <a:r>
              <a:rPr lang="en-US" sz="3200" b="1" dirty="0"/>
              <a:t> Average </a:t>
            </a:r>
            <a:r>
              <a:rPr lang="en-US" sz="3200" dirty="0"/>
              <a:t>Case:</a:t>
            </a:r>
            <a:r>
              <a:rPr lang="en-US" sz="3200" b="1" dirty="0"/>
              <a:t>	</a:t>
            </a:r>
            <a:r>
              <a:rPr lang="en-US" sz="3200" b="1" dirty="0">
                <a:solidFill>
                  <a:srgbClr val="C00000"/>
                </a:solidFill>
              </a:rPr>
              <a:t>O(n</a:t>
            </a:r>
            <a:r>
              <a:rPr lang="en-US" sz="3200" b="1" baseline="30000" dirty="0">
                <a:solidFill>
                  <a:srgbClr val="C00000"/>
                </a:solidFill>
              </a:rPr>
              <a:t>2</a:t>
            </a:r>
            <a:r>
              <a:rPr lang="en-US" sz="3200" b="1" dirty="0">
                <a:solidFill>
                  <a:srgbClr val="C00000"/>
                </a:solidFill>
              </a:rPr>
              <a:t>)</a:t>
            </a:r>
          </a:p>
          <a:p>
            <a:pPr marL="0" indent="0">
              <a:buNone/>
            </a:pPr>
            <a:r>
              <a:rPr lang="en-US" sz="3200" dirty="0"/>
              <a:t>Runtime</a:t>
            </a:r>
            <a:r>
              <a:rPr lang="en-US" sz="3200" b="1" dirty="0"/>
              <a:t> Worst </a:t>
            </a:r>
            <a:r>
              <a:rPr lang="en-US" sz="3200" dirty="0"/>
              <a:t>Case:</a:t>
            </a:r>
            <a:r>
              <a:rPr lang="en-US" sz="3200" b="1" dirty="0"/>
              <a:t>		</a:t>
            </a:r>
            <a:r>
              <a:rPr lang="en-US" sz="3200" b="1" dirty="0">
                <a:solidFill>
                  <a:srgbClr val="C00000"/>
                </a:solidFill>
              </a:rPr>
              <a:t>O(n</a:t>
            </a:r>
            <a:r>
              <a:rPr lang="en-US" sz="3200" b="1" baseline="30000" dirty="0">
                <a:solidFill>
                  <a:srgbClr val="C00000"/>
                </a:solidFill>
              </a:rPr>
              <a:t>2</a:t>
            </a:r>
            <a:r>
              <a:rPr lang="en-US" sz="3200" b="1" dirty="0">
                <a:solidFill>
                  <a:srgbClr val="C00000"/>
                </a:solidFill>
              </a:rPr>
              <a:t>)</a:t>
            </a:r>
          </a:p>
          <a:p>
            <a:pPr marL="0" indent="0">
              <a:buNone/>
            </a:pPr>
            <a:r>
              <a:rPr lang="en-US" sz="3200" dirty="0">
                <a:solidFill>
                  <a:schemeClr val="tx1"/>
                </a:solidFill>
              </a:rPr>
              <a:t>Space Complexity :</a:t>
            </a:r>
            <a:r>
              <a:rPr lang="en-US" sz="3200" b="1" dirty="0">
                <a:solidFill>
                  <a:srgbClr val="FF0000"/>
                </a:solidFill>
              </a:rPr>
              <a:t>		</a:t>
            </a:r>
            <a:r>
              <a:rPr lang="en-US" sz="3200" b="1" dirty="0">
                <a:solidFill>
                  <a:schemeClr val="accent3"/>
                </a:solidFill>
              </a:rPr>
              <a:t>O(1)</a:t>
            </a:r>
          </a:p>
          <a:p>
            <a:pPr marL="0" indent="0">
              <a:buNone/>
            </a:pPr>
            <a:endParaRPr lang="en-US" sz="3200" b="1" dirty="0">
              <a:hlinkClick r:id="rId3"/>
            </a:endParaRPr>
          </a:p>
          <a:p>
            <a:pPr marL="0" indent="0">
              <a:buNone/>
            </a:pPr>
            <a:r>
              <a:rPr lang="en-US" sz="3200" dirty="0">
                <a:solidFill>
                  <a:schemeClr val="tx1"/>
                </a:solidFill>
              </a:rPr>
              <a:t>Selection sort usually </a:t>
            </a:r>
            <a:r>
              <a:rPr lang="en-US" sz="3200" b="1" dirty="0">
                <a:solidFill>
                  <a:schemeClr val="tx1"/>
                </a:solidFill>
              </a:rPr>
              <a:t>performs fewer swaps </a:t>
            </a:r>
            <a:r>
              <a:rPr lang="en-US" sz="3200" dirty="0">
                <a:solidFill>
                  <a:schemeClr val="tx1"/>
                </a:solidFill>
              </a:rPr>
              <a:t>then bubble sort because it moves items immediately to their final position in the array.</a:t>
            </a:r>
            <a:endParaRPr lang="en-US" sz="3200" dirty="0">
              <a:hlinkClick r:id="rId3"/>
            </a:endParaRPr>
          </a:p>
        </p:txBody>
      </p:sp>
      <p:pic>
        <p:nvPicPr>
          <p:cNvPr id="4" name="Picture 2">
            <a:extLst>
              <a:ext uri="{FF2B5EF4-FFF2-40B4-BE49-F238E27FC236}">
                <a16:creationId xmlns:a16="http://schemas.microsoft.com/office/drawing/2014/main" id="{134F4FEF-0BDC-1E22-D4AB-A3E315720ACD}"/>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4084" y="88157"/>
            <a:ext cx="5600145" cy="4843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3440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 Visualizations</a:t>
            </a:r>
          </a:p>
        </p:txBody>
      </p:sp>
      <p:sp>
        <p:nvSpPr>
          <p:cNvPr id="3" name="Content Placeholder 2"/>
          <p:cNvSpPr>
            <a:spLocks noGrp="1"/>
          </p:cNvSpPr>
          <p:nvPr>
            <p:ph idx="1"/>
          </p:nvPr>
        </p:nvSpPr>
        <p:spPr/>
        <p:txBody>
          <a:bodyPr/>
          <a:lstStyle/>
          <a:p>
            <a:pPr marL="0" indent="0">
              <a:buNone/>
            </a:pPr>
            <a:r>
              <a:rPr lang="en-US" sz="4000" b="1" dirty="0">
                <a:solidFill>
                  <a:srgbClr val="0000FF"/>
                </a:solidFill>
                <a:hlinkClick r:id="rId3">
                  <a:extLst>
                    <a:ext uri="{A12FA001-AC4F-418D-AE19-62706E023703}">
                      <ahyp:hlinkClr xmlns:ahyp="http://schemas.microsoft.com/office/drawing/2018/hyperlinkcolor" val="tx"/>
                    </a:ext>
                  </a:extLst>
                </a:hlinkClick>
              </a:rPr>
              <a:t>https://visualgo.net/bn/sorting?slide=7</a:t>
            </a:r>
            <a:r>
              <a:rPr lang="en-US" sz="4000" b="1" dirty="0">
                <a:solidFill>
                  <a:srgbClr val="0000FF"/>
                </a:solidFill>
              </a:rPr>
              <a:t> </a:t>
            </a:r>
          </a:p>
          <a:p>
            <a:pPr marL="0" indent="0">
              <a:buNone/>
            </a:pPr>
            <a:endParaRPr lang="en-US" sz="4000" b="1" dirty="0">
              <a:solidFill>
                <a:srgbClr val="0000FF"/>
              </a:solidFill>
            </a:endParaRPr>
          </a:p>
          <a:p>
            <a:pPr marL="0" indent="0">
              <a:buNone/>
            </a:pPr>
            <a:r>
              <a:rPr lang="en-US" sz="4000" b="1" dirty="0">
                <a:solidFill>
                  <a:srgbClr val="0000FF"/>
                </a:solidFill>
                <a:hlinkClick r:id="rId4">
                  <a:extLst>
                    <a:ext uri="{A12FA001-AC4F-418D-AE19-62706E023703}">
                      <ahyp:hlinkClr xmlns:ahyp="http://schemas.microsoft.com/office/drawing/2018/hyperlinkcolor" val="tx"/>
                    </a:ext>
                  </a:extLst>
                </a:hlinkClick>
              </a:rPr>
              <a:t>https://www.cs.usfca.edu/~galles/visualization/ComparisonSort.html</a:t>
            </a:r>
            <a:r>
              <a:rPr lang="en-US" sz="4000" b="1" dirty="0">
                <a:solidFill>
                  <a:srgbClr val="0000FF"/>
                </a:solidFill>
              </a:rPr>
              <a:t> </a:t>
            </a:r>
          </a:p>
          <a:p>
            <a:endParaRPr lang="en-US" dirty="0"/>
          </a:p>
        </p:txBody>
      </p:sp>
    </p:spTree>
    <p:extLst>
      <p:ext uri="{BB962C8B-B14F-4D97-AF65-F5344CB8AC3E}">
        <p14:creationId xmlns:p14="http://schemas.microsoft.com/office/powerpoint/2010/main" val="36016440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CFB25-96DA-A5B2-4184-35FC9A070E63}"/>
              </a:ext>
            </a:extLst>
          </p:cNvPr>
          <p:cNvSpPr>
            <a:spLocks noGrp="1"/>
          </p:cNvSpPr>
          <p:nvPr>
            <p:ph type="title"/>
          </p:nvPr>
        </p:nvSpPr>
        <p:spPr/>
        <p:txBody>
          <a:bodyPr>
            <a:normAutofit/>
          </a:bodyPr>
          <a:lstStyle/>
          <a:p>
            <a:r>
              <a:rPr lang="en-US" b="1" dirty="0"/>
              <a:t>Selection Sort Explained with Animation |</a:t>
            </a:r>
            <a:br>
              <a:rPr lang="en-US" b="1" dirty="0"/>
            </a:br>
            <a:r>
              <a:rPr lang="en-US" b="1" dirty="0"/>
              <a:t>Step-by-Step for Interviews and Beginners</a:t>
            </a:r>
          </a:p>
        </p:txBody>
      </p:sp>
      <p:sp>
        <p:nvSpPr>
          <p:cNvPr id="3" name="Content Placeholder 2">
            <a:extLst>
              <a:ext uri="{FF2B5EF4-FFF2-40B4-BE49-F238E27FC236}">
                <a16:creationId xmlns:a16="http://schemas.microsoft.com/office/drawing/2014/main" id="{2B0E6F08-DA41-3EFE-DB25-41615ED8D756}"/>
              </a:ext>
            </a:extLst>
          </p:cNvPr>
          <p:cNvSpPr>
            <a:spLocks noGrp="1"/>
          </p:cNvSpPr>
          <p:nvPr>
            <p:ph idx="1"/>
          </p:nvPr>
        </p:nvSpPr>
        <p:spPr/>
        <p:txBody>
          <a:bodyPr>
            <a:normAutofit/>
          </a:bodyPr>
          <a:lstStyle/>
          <a:p>
            <a:r>
              <a:rPr kumimoji="0" lang="en-US" sz="5400" b="1" i="0" u="none" strike="noStrike" kern="1200" cap="none" spc="0" normalizeH="0" baseline="0" noProof="0" dirty="0">
                <a:ln>
                  <a:noFill/>
                </a:ln>
                <a:solidFill>
                  <a:srgbClr val="0000FF"/>
                </a:solidFill>
                <a:effectLst/>
                <a:uLnTx/>
                <a:uFillTx/>
                <a:latin typeface="+mn-lt"/>
                <a:ea typeface="+mn-ea"/>
                <a:cs typeface="+mn-cs"/>
              </a:rPr>
              <a:t>https://www.youtube.com/watch?v=3hpTzpvSzfg</a:t>
            </a:r>
            <a:endParaRPr lang="en-US" sz="5400" dirty="0"/>
          </a:p>
        </p:txBody>
      </p:sp>
      <p:pic>
        <p:nvPicPr>
          <p:cNvPr id="5" name="Picture 4" descr="screenshot of selection sort video">
            <a:extLst>
              <a:ext uri="{FF2B5EF4-FFF2-40B4-BE49-F238E27FC236}">
                <a16:creationId xmlns:a16="http://schemas.microsoft.com/office/drawing/2014/main" id="{10EEB18F-E437-C6EC-1400-AF7E9F004B6D}"/>
              </a:ext>
            </a:extLst>
          </p:cNvPr>
          <p:cNvPicPr>
            <a:picLocks noChangeAspect="1"/>
          </p:cNvPicPr>
          <p:nvPr/>
        </p:nvPicPr>
        <p:blipFill>
          <a:blip r:embed="rId2"/>
          <a:stretch>
            <a:fillRect/>
          </a:stretch>
        </p:blipFill>
        <p:spPr>
          <a:xfrm>
            <a:off x="6126480" y="2924342"/>
            <a:ext cx="5218041" cy="2649378"/>
          </a:xfrm>
          <a:prstGeom prst="rect">
            <a:avLst/>
          </a:prstGeom>
        </p:spPr>
      </p:pic>
    </p:spTree>
    <p:extLst>
      <p:ext uri="{BB962C8B-B14F-4D97-AF65-F5344CB8AC3E}">
        <p14:creationId xmlns:p14="http://schemas.microsoft.com/office/powerpoint/2010/main" val="17731466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CFB25-96DA-A5B2-4184-35FC9A070E63}"/>
              </a:ext>
            </a:extLst>
          </p:cNvPr>
          <p:cNvSpPr>
            <a:spLocks noGrp="1"/>
          </p:cNvSpPr>
          <p:nvPr>
            <p:ph type="title"/>
          </p:nvPr>
        </p:nvSpPr>
        <p:spPr/>
        <p:txBody>
          <a:bodyPr>
            <a:normAutofit/>
          </a:bodyPr>
          <a:lstStyle/>
          <a:p>
            <a:r>
              <a:rPr lang="en-US" b="1" dirty="0"/>
              <a:t>Selection Sort with Gypsy Folk Dance</a:t>
            </a:r>
          </a:p>
        </p:txBody>
      </p:sp>
      <p:sp>
        <p:nvSpPr>
          <p:cNvPr id="3" name="Content Placeholder 2">
            <a:extLst>
              <a:ext uri="{FF2B5EF4-FFF2-40B4-BE49-F238E27FC236}">
                <a16:creationId xmlns:a16="http://schemas.microsoft.com/office/drawing/2014/main" id="{2B0E6F08-DA41-3EFE-DB25-41615ED8D756}"/>
              </a:ext>
            </a:extLst>
          </p:cNvPr>
          <p:cNvSpPr>
            <a:spLocks noGrp="1"/>
          </p:cNvSpPr>
          <p:nvPr>
            <p:ph idx="1"/>
          </p:nvPr>
        </p:nvSpPr>
        <p:spPr/>
        <p:txBody>
          <a:bodyPr>
            <a:normAutofit/>
          </a:bodyPr>
          <a:lstStyle/>
          <a:p>
            <a:r>
              <a:rPr kumimoji="0" lang="en-US" sz="5400" b="1" i="0" u="none" strike="noStrike" kern="1200" cap="none" spc="0" normalizeH="0" baseline="0" noProof="0" dirty="0">
                <a:ln>
                  <a:noFill/>
                </a:ln>
                <a:solidFill>
                  <a:srgbClr val="0000FF"/>
                </a:solidFill>
                <a:effectLst/>
                <a:uLnTx/>
                <a:uFillTx/>
                <a:latin typeface="+mn-lt"/>
                <a:ea typeface="+mn-ea"/>
                <a:cs typeface="+mn-cs"/>
              </a:rPr>
              <a:t>https://www.youtube.com/watch?v=hFhf9djnM5A</a:t>
            </a:r>
            <a:endParaRPr lang="en-US" sz="5400" dirty="0"/>
          </a:p>
        </p:txBody>
      </p:sp>
      <p:pic>
        <p:nvPicPr>
          <p:cNvPr id="6" name="Picture 5" descr="gypsy folk dance">
            <a:extLst>
              <a:ext uri="{FF2B5EF4-FFF2-40B4-BE49-F238E27FC236}">
                <a16:creationId xmlns:a16="http://schemas.microsoft.com/office/drawing/2014/main" id="{907E44D2-428D-3581-C099-F1272795187A}"/>
              </a:ext>
            </a:extLst>
          </p:cNvPr>
          <p:cNvPicPr>
            <a:picLocks noChangeAspect="1"/>
          </p:cNvPicPr>
          <p:nvPr/>
        </p:nvPicPr>
        <p:blipFill>
          <a:blip r:embed="rId2"/>
          <a:stretch>
            <a:fillRect/>
          </a:stretch>
        </p:blipFill>
        <p:spPr>
          <a:xfrm>
            <a:off x="5443137" y="3455301"/>
            <a:ext cx="5829600" cy="2425825"/>
          </a:xfrm>
          <a:prstGeom prst="rect">
            <a:avLst/>
          </a:prstGeom>
        </p:spPr>
      </p:pic>
    </p:spTree>
    <p:extLst>
      <p:ext uri="{BB962C8B-B14F-4D97-AF65-F5344CB8AC3E}">
        <p14:creationId xmlns:p14="http://schemas.microsoft.com/office/powerpoint/2010/main" val="29307128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Tree>
    <p:extLst>
      <p:ext uri="{BB962C8B-B14F-4D97-AF65-F5344CB8AC3E}">
        <p14:creationId xmlns:p14="http://schemas.microsoft.com/office/powerpoint/2010/main" val="42804403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Insertion Sort?</a:t>
            </a:r>
          </a:p>
        </p:txBody>
      </p:sp>
      <p:sp>
        <p:nvSpPr>
          <p:cNvPr id="3" name="Content Placeholder 2"/>
          <p:cNvSpPr>
            <a:spLocks noGrp="1"/>
          </p:cNvSpPr>
          <p:nvPr>
            <p:ph idx="1"/>
          </p:nvPr>
        </p:nvSpPr>
        <p:spPr>
          <a:xfrm>
            <a:off x="1097280" y="1845734"/>
            <a:ext cx="10058400" cy="4453466"/>
          </a:xfrm>
        </p:spPr>
        <p:txBody>
          <a:bodyPr>
            <a:normAutofit lnSpcReduction="10000"/>
          </a:bodyPr>
          <a:lstStyle/>
          <a:p>
            <a:pPr marL="0" indent="0">
              <a:buNone/>
            </a:pPr>
            <a:r>
              <a:rPr lang="en-US" sz="4000" b="1" dirty="0">
                <a:solidFill>
                  <a:srgbClr val="0070C0"/>
                </a:solidFill>
              </a:rPr>
              <a:t>Insertion sort </a:t>
            </a:r>
            <a:r>
              <a:rPr lang="en-US" sz="4000" dirty="0"/>
              <a:t>is a simple sort algorithm that builds the final sorted array (or list) </a:t>
            </a:r>
            <a:r>
              <a:rPr lang="en-US" sz="4000" b="1" dirty="0"/>
              <a:t>one item at a time</a:t>
            </a:r>
            <a:r>
              <a:rPr lang="en-US" sz="4000" dirty="0"/>
              <a:t>.  The values to the left of the one item are sorted and the items to the right are not sorted.  There is </a:t>
            </a:r>
            <a:r>
              <a:rPr lang="en-US" sz="4000" b="1" dirty="0"/>
              <a:t>no swapping</a:t>
            </a:r>
            <a:r>
              <a:rPr lang="en-US" sz="4000" dirty="0"/>
              <a:t>.</a:t>
            </a:r>
          </a:p>
          <a:p>
            <a:pPr marL="0" indent="0">
              <a:buNone/>
            </a:pPr>
            <a:endParaRPr lang="en-US" sz="4000" b="1" dirty="0">
              <a:solidFill>
                <a:srgbClr val="FF0000"/>
              </a:solidFill>
            </a:endParaRPr>
          </a:p>
          <a:p>
            <a:pPr marL="0" indent="0" algn="ctr">
              <a:buNone/>
            </a:pPr>
            <a:r>
              <a:rPr lang="en-US" sz="4000" b="1" dirty="0">
                <a:solidFill>
                  <a:schemeClr val="tx1"/>
                </a:solidFill>
              </a:rPr>
              <a:t>REPEATEDLY </a:t>
            </a:r>
            <a:r>
              <a:rPr lang="en-US" sz="4000" b="1" dirty="0">
                <a:solidFill>
                  <a:schemeClr val="tx1"/>
                </a:solidFill>
                <a:highlight>
                  <a:srgbClr val="FFFF00"/>
                </a:highlight>
              </a:rPr>
              <a:t>INSERT</a:t>
            </a:r>
            <a:r>
              <a:rPr lang="en-US" sz="4000" b="1" dirty="0">
                <a:solidFill>
                  <a:schemeClr val="tx1"/>
                </a:solidFill>
              </a:rPr>
              <a:t> NEW ELEMENT TO THE SORTED RESULT</a:t>
            </a:r>
          </a:p>
        </p:txBody>
      </p:sp>
    </p:spTree>
    <p:extLst>
      <p:ext uri="{BB962C8B-B14F-4D97-AF65-F5344CB8AC3E}">
        <p14:creationId xmlns:p14="http://schemas.microsoft.com/office/powerpoint/2010/main" val="39826100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 Example</a:t>
            </a:r>
          </a:p>
        </p:txBody>
      </p:sp>
      <p:pic>
        <p:nvPicPr>
          <p:cNvPr id="4" name="Picture 3">
            <a:extLst>
              <a:ext uri="{C183D7F6-B498-43B3-948B-1728B52AA6E4}">
                <adec:decorative xmlns:adec="http://schemas.microsoft.com/office/drawing/2017/decorative" val="1"/>
              </a:ext>
            </a:extLst>
          </p:cNvPr>
          <p:cNvPicPr/>
          <p:nvPr/>
        </p:nvPicPr>
        <p:blipFill>
          <a:blip r:embed="rId3"/>
          <a:stretch>
            <a:fillRect/>
          </a:stretch>
        </p:blipFill>
        <p:spPr>
          <a:xfrm>
            <a:off x="4471083" y="336732"/>
            <a:ext cx="6086719" cy="6184535"/>
          </a:xfrm>
          <a:prstGeom prst="rect">
            <a:avLst/>
          </a:prstGeom>
        </p:spPr>
      </p:pic>
    </p:spTree>
    <p:extLst>
      <p:ext uri="{BB962C8B-B14F-4D97-AF65-F5344CB8AC3E}">
        <p14:creationId xmlns:p14="http://schemas.microsoft.com/office/powerpoint/2010/main" val="33985323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810C0-E6A3-FF62-3DF6-D6EFD779ECED}"/>
              </a:ext>
            </a:extLst>
          </p:cNvPr>
          <p:cNvSpPr>
            <a:spLocks noGrp="1"/>
          </p:cNvSpPr>
          <p:nvPr>
            <p:ph type="title"/>
          </p:nvPr>
        </p:nvSpPr>
        <p:spPr/>
        <p:txBody>
          <a:bodyPr/>
          <a:lstStyle/>
          <a:p>
            <a:r>
              <a:rPr lang="en-US" dirty="0"/>
              <a:t>Insertion Sort in 2 minutes</a:t>
            </a:r>
          </a:p>
        </p:txBody>
      </p:sp>
      <p:sp>
        <p:nvSpPr>
          <p:cNvPr id="3" name="Content Placeholder 2">
            <a:extLst>
              <a:ext uri="{FF2B5EF4-FFF2-40B4-BE49-F238E27FC236}">
                <a16:creationId xmlns:a16="http://schemas.microsoft.com/office/drawing/2014/main" id="{AE8354FC-8B51-112E-F903-E1E5FBA828B3}"/>
              </a:ext>
            </a:extLst>
          </p:cNvPr>
          <p:cNvSpPr>
            <a:spLocks noGrp="1"/>
          </p:cNvSpPr>
          <p:nvPr>
            <p:ph idx="1"/>
          </p:nvPr>
        </p:nvSpPr>
        <p:spPr/>
        <p:txBody>
          <a:bodyPr>
            <a:normAutofit/>
          </a:bodyPr>
          <a:lstStyle/>
          <a:p>
            <a:r>
              <a:rPr lang="en-US" sz="5400" b="1" dirty="0">
                <a:solidFill>
                  <a:srgbClr val="0000FF"/>
                </a:solidFill>
              </a:rPr>
              <a:t>https://www.youtube.com/watch?v=JU767SDMDvA</a:t>
            </a:r>
          </a:p>
        </p:txBody>
      </p:sp>
    </p:spTree>
    <p:extLst>
      <p:ext uri="{BB962C8B-B14F-4D97-AF65-F5344CB8AC3E}">
        <p14:creationId xmlns:p14="http://schemas.microsoft.com/office/powerpoint/2010/main" val="17097588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3771"/>
            <a:ext cx="10058400" cy="414282"/>
          </a:xfrm>
        </p:spPr>
        <p:txBody>
          <a:bodyPr>
            <a:normAutofit fontScale="90000"/>
          </a:bodyPr>
          <a:lstStyle/>
          <a:p>
            <a:r>
              <a:rPr lang="en-US" b="1" dirty="0"/>
              <a:t>Insertion Sort Code</a:t>
            </a:r>
          </a:p>
        </p:txBody>
      </p:sp>
      <p:pic>
        <p:nvPicPr>
          <p:cNvPr id="5" name="Picture 4">
            <a:extLst>
              <a:ext uri="{FF2B5EF4-FFF2-40B4-BE49-F238E27FC236}">
                <a16:creationId xmlns:a16="http://schemas.microsoft.com/office/drawing/2014/main" id="{2BFA796E-99CA-1AB5-B00F-5FE0206891B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6270" y="855001"/>
            <a:ext cx="12672002" cy="4687059"/>
          </a:xfrm>
          <a:prstGeom prst="rect">
            <a:avLst/>
          </a:prstGeom>
        </p:spPr>
      </p:pic>
    </p:spTree>
    <p:extLst>
      <p:ext uri="{BB962C8B-B14F-4D97-AF65-F5344CB8AC3E}">
        <p14:creationId xmlns:p14="http://schemas.microsoft.com/office/powerpoint/2010/main" val="34695880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Insertion Sort Examples</a:t>
            </a:r>
          </a:p>
        </p:txBody>
      </p:sp>
      <p:sp>
        <p:nvSpPr>
          <p:cNvPr id="3" name="Content Placeholder 2"/>
          <p:cNvSpPr>
            <a:spLocks noGrp="1"/>
          </p:cNvSpPr>
          <p:nvPr>
            <p:ph idx="1"/>
          </p:nvPr>
        </p:nvSpPr>
        <p:spPr/>
        <p:txBody>
          <a:bodyPr>
            <a:normAutofit/>
          </a:bodyPr>
          <a:lstStyle/>
          <a:p>
            <a:pPr marL="458788" indent="-458788">
              <a:buFont typeface="Wingdings" panose="05000000000000000000" pitchFamily="2" charset="2"/>
              <a:buChar char="v"/>
            </a:pPr>
            <a:r>
              <a:rPr lang="en-US" sz="4000" b="1" dirty="0">
                <a:solidFill>
                  <a:srgbClr val="0070C0"/>
                </a:solidFill>
              </a:rPr>
              <a:t>insertionSort.cpp</a:t>
            </a:r>
          </a:p>
          <a:p>
            <a:pPr marL="458788" indent="-458788">
              <a:buFont typeface="Wingdings" panose="05000000000000000000" pitchFamily="2" charset="2"/>
              <a:buChar char="v"/>
            </a:pPr>
            <a:r>
              <a:rPr lang="en-US" sz="4000" b="1" dirty="0">
                <a:solidFill>
                  <a:srgbClr val="0070C0"/>
                </a:solidFill>
              </a:rPr>
              <a:t>insertionSortExamine.cpp</a:t>
            </a:r>
          </a:p>
        </p:txBody>
      </p:sp>
    </p:spTree>
    <p:extLst>
      <p:ext uri="{BB962C8B-B14F-4D97-AF65-F5344CB8AC3E}">
        <p14:creationId xmlns:p14="http://schemas.microsoft.com/office/powerpoint/2010/main" val="22911397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 </a:t>
            </a:r>
            <a:br>
              <a:rPr lang="en-US" dirty="0"/>
            </a:br>
            <a:r>
              <a:rPr lang="en-US" dirty="0"/>
              <a:t>Worst, Best &amp; Average Case</a:t>
            </a:r>
          </a:p>
        </p:txBody>
      </p:sp>
      <p:sp>
        <p:nvSpPr>
          <p:cNvPr id="3" name="Content Placeholder 2"/>
          <p:cNvSpPr>
            <a:spLocks noGrp="1"/>
          </p:cNvSpPr>
          <p:nvPr>
            <p:ph idx="1"/>
          </p:nvPr>
        </p:nvSpPr>
        <p:spPr/>
        <p:txBody>
          <a:bodyPr>
            <a:normAutofit/>
          </a:bodyPr>
          <a:lstStyle/>
          <a:p>
            <a:r>
              <a:rPr lang="en-US" sz="2800" b="1" dirty="0">
                <a:solidFill>
                  <a:srgbClr val="000000"/>
                </a:solidFill>
              </a:rPr>
              <a:t>BEST</a:t>
            </a:r>
            <a:r>
              <a:rPr lang="en-US" sz="2800" dirty="0">
                <a:solidFill>
                  <a:srgbClr val="000000"/>
                </a:solidFill>
              </a:rPr>
              <a:t> – when there is an array that is already sorted!</a:t>
            </a:r>
          </a:p>
          <a:p>
            <a:r>
              <a:rPr lang="en-US" sz="2800" b="1" dirty="0">
                <a:solidFill>
                  <a:srgbClr val="FF0000"/>
                </a:solidFill>
              </a:rPr>
              <a:t>WORST</a:t>
            </a:r>
            <a:r>
              <a:rPr lang="en-US" sz="2800" dirty="0"/>
              <a:t> – when there is an array of strictly decreasing values.</a:t>
            </a:r>
          </a:p>
          <a:p>
            <a:r>
              <a:rPr lang="en-US" sz="2800" b="1" dirty="0"/>
              <a:t>AVERAGE</a:t>
            </a:r>
            <a:r>
              <a:rPr lang="en-US" sz="2800" dirty="0"/>
              <a:t> – based on how many elements are out of order – the result is that on average there are ½ as many comparisons than worst case.</a:t>
            </a:r>
          </a:p>
          <a:p>
            <a:endParaRPr lang="en-US" sz="2800" dirty="0"/>
          </a:p>
        </p:txBody>
      </p:sp>
    </p:spTree>
    <p:extLst>
      <p:ext uri="{BB962C8B-B14F-4D97-AF65-F5344CB8AC3E}">
        <p14:creationId xmlns:p14="http://schemas.microsoft.com/office/powerpoint/2010/main" val="11865128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Insertion Sort </a:t>
            </a:r>
            <a:br>
              <a:rPr lang="en-US" b="1" dirty="0"/>
            </a:br>
            <a:r>
              <a:rPr lang="en-US" b="1" dirty="0"/>
              <a:t>Big O Notation</a:t>
            </a:r>
          </a:p>
        </p:txBody>
      </p:sp>
      <p:sp>
        <p:nvSpPr>
          <p:cNvPr id="3" name="Content Placeholder 2"/>
          <p:cNvSpPr>
            <a:spLocks noGrp="1"/>
          </p:cNvSpPr>
          <p:nvPr>
            <p:ph idx="1"/>
          </p:nvPr>
        </p:nvSpPr>
        <p:spPr>
          <a:xfrm>
            <a:off x="170597" y="1845733"/>
            <a:ext cx="11757545" cy="4480003"/>
          </a:xfrm>
        </p:spPr>
        <p:txBody>
          <a:bodyPr>
            <a:normAutofit/>
          </a:bodyPr>
          <a:lstStyle/>
          <a:p>
            <a:pPr marL="0" indent="0">
              <a:buNone/>
            </a:pPr>
            <a:r>
              <a:rPr lang="en-US" sz="3200" dirty="0"/>
              <a:t>Runtime</a:t>
            </a:r>
            <a:r>
              <a:rPr lang="en-US" sz="3200" b="1" dirty="0"/>
              <a:t> Best </a:t>
            </a:r>
            <a:r>
              <a:rPr lang="en-US" sz="3200" dirty="0"/>
              <a:t>Case:</a:t>
            </a:r>
            <a:r>
              <a:rPr lang="en-US" sz="3200" b="1" dirty="0"/>
              <a:t>		</a:t>
            </a:r>
            <a:r>
              <a:rPr lang="en-US" sz="3200" b="1" dirty="0">
                <a:solidFill>
                  <a:srgbClr val="0070C0"/>
                </a:solidFill>
              </a:rPr>
              <a:t>O(n)</a:t>
            </a:r>
          </a:p>
          <a:p>
            <a:pPr marL="0" indent="0">
              <a:buNone/>
            </a:pPr>
            <a:r>
              <a:rPr lang="en-US" sz="3200" dirty="0"/>
              <a:t>Runtime</a:t>
            </a:r>
            <a:r>
              <a:rPr lang="en-US" sz="3200" b="1" dirty="0"/>
              <a:t> Average </a:t>
            </a:r>
            <a:r>
              <a:rPr lang="en-US" sz="3200" dirty="0"/>
              <a:t>Case:</a:t>
            </a:r>
            <a:r>
              <a:rPr lang="en-US" sz="3200" b="1" dirty="0"/>
              <a:t>	</a:t>
            </a:r>
            <a:r>
              <a:rPr lang="en-US" sz="3200" b="1" dirty="0">
                <a:solidFill>
                  <a:srgbClr val="C00000"/>
                </a:solidFill>
              </a:rPr>
              <a:t>O(n</a:t>
            </a:r>
            <a:r>
              <a:rPr lang="en-US" sz="3200" b="1" baseline="30000" dirty="0">
                <a:solidFill>
                  <a:srgbClr val="C00000"/>
                </a:solidFill>
              </a:rPr>
              <a:t>2</a:t>
            </a:r>
            <a:r>
              <a:rPr lang="en-US" sz="3200" b="1" dirty="0">
                <a:solidFill>
                  <a:srgbClr val="C00000"/>
                </a:solidFill>
              </a:rPr>
              <a:t>)</a:t>
            </a:r>
          </a:p>
          <a:p>
            <a:pPr marL="0" indent="0">
              <a:buNone/>
            </a:pPr>
            <a:r>
              <a:rPr lang="en-US" sz="3200" dirty="0"/>
              <a:t>Runtime</a:t>
            </a:r>
            <a:r>
              <a:rPr lang="en-US" sz="3200" b="1" dirty="0"/>
              <a:t> Worst </a:t>
            </a:r>
            <a:r>
              <a:rPr lang="en-US" sz="3200" dirty="0"/>
              <a:t>Case:</a:t>
            </a:r>
            <a:r>
              <a:rPr lang="en-US" sz="3200" b="1" dirty="0"/>
              <a:t>		</a:t>
            </a:r>
            <a:r>
              <a:rPr lang="en-US" sz="3200" b="1" dirty="0">
                <a:solidFill>
                  <a:srgbClr val="C00000"/>
                </a:solidFill>
              </a:rPr>
              <a:t>O(n</a:t>
            </a:r>
            <a:r>
              <a:rPr lang="en-US" sz="3200" b="1" baseline="30000" dirty="0">
                <a:solidFill>
                  <a:srgbClr val="C00000"/>
                </a:solidFill>
              </a:rPr>
              <a:t>2</a:t>
            </a:r>
            <a:r>
              <a:rPr lang="en-US" sz="3200" b="1" dirty="0">
                <a:solidFill>
                  <a:srgbClr val="C00000"/>
                </a:solidFill>
              </a:rPr>
              <a:t>)</a:t>
            </a:r>
          </a:p>
          <a:p>
            <a:pPr marL="0" indent="0">
              <a:buNone/>
            </a:pPr>
            <a:r>
              <a:rPr lang="en-US" sz="3200" dirty="0">
                <a:solidFill>
                  <a:schemeClr val="tx1"/>
                </a:solidFill>
              </a:rPr>
              <a:t>Space Complexity :</a:t>
            </a:r>
            <a:r>
              <a:rPr lang="en-US" sz="3200" b="1" dirty="0">
                <a:solidFill>
                  <a:srgbClr val="FF0000"/>
                </a:solidFill>
              </a:rPr>
              <a:t>		</a:t>
            </a:r>
            <a:r>
              <a:rPr lang="en-US" sz="3200" b="1" dirty="0">
                <a:solidFill>
                  <a:schemeClr val="accent3"/>
                </a:solidFill>
              </a:rPr>
              <a:t>O(1)</a:t>
            </a:r>
          </a:p>
          <a:p>
            <a:pPr marL="0" indent="0">
              <a:buNone/>
            </a:pPr>
            <a:endParaRPr lang="en-US" sz="3200" dirty="0"/>
          </a:p>
          <a:p>
            <a:pPr marL="0" indent="0">
              <a:buNone/>
            </a:pPr>
            <a:endParaRPr lang="en-US" sz="3200" dirty="0"/>
          </a:p>
        </p:txBody>
      </p:sp>
      <p:pic>
        <p:nvPicPr>
          <p:cNvPr id="4" name="Picture 2">
            <a:extLst>
              <a:ext uri="{FF2B5EF4-FFF2-40B4-BE49-F238E27FC236}">
                <a16:creationId xmlns:a16="http://schemas.microsoft.com/office/drawing/2014/main" id="{4631F468-7BBC-13B5-3683-C66F5FC4CA84}"/>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258" y="1434636"/>
            <a:ext cx="5600145" cy="4843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4348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 Comparison</a:t>
            </a:r>
          </a:p>
        </p:txBody>
      </p:sp>
      <p:sp>
        <p:nvSpPr>
          <p:cNvPr id="3" name="Content Placeholder 2"/>
          <p:cNvSpPr>
            <a:spLocks noGrp="1"/>
          </p:cNvSpPr>
          <p:nvPr>
            <p:ph idx="1"/>
          </p:nvPr>
        </p:nvSpPr>
        <p:spPr/>
        <p:txBody>
          <a:bodyPr>
            <a:normAutofit/>
          </a:bodyPr>
          <a:lstStyle/>
          <a:p>
            <a:r>
              <a:rPr lang="en-US" sz="3200" b="1" dirty="0"/>
              <a:t>Although the average case efficiency is the same for Bubble Sort, Selection Sort &amp; Insertion sort, the average number of comparisons for insertion sort is usually smaller in practice.  </a:t>
            </a:r>
          </a:p>
          <a:p>
            <a:endParaRPr lang="en-US" sz="3200" b="1" dirty="0"/>
          </a:p>
          <a:p>
            <a:pPr algn="ctr"/>
            <a:r>
              <a:rPr lang="en-US" sz="4000" b="1" dirty="0">
                <a:solidFill>
                  <a:srgbClr val="FF0000"/>
                </a:solidFill>
              </a:rPr>
              <a:t>Insertion Sort is the </a:t>
            </a:r>
            <a:r>
              <a:rPr lang="en-US" sz="4000" b="1" dirty="0">
                <a:solidFill>
                  <a:srgbClr val="C00000"/>
                </a:solidFill>
              </a:rPr>
              <a:t>preferred</a:t>
            </a:r>
            <a:r>
              <a:rPr lang="en-US" sz="4000" b="1" dirty="0">
                <a:solidFill>
                  <a:srgbClr val="FF0000"/>
                </a:solidFill>
              </a:rPr>
              <a:t> </a:t>
            </a:r>
            <a:r>
              <a:rPr lang="en-US" sz="4000" b="1" i="1" u="sng" dirty="0">
                <a:solidFill>
                  <a:srgbClr val="FF0000"/>
                </a:solidFill>
              </a:rPr>
              <a:t>SIMPLE</a:t>
            </a:r>
            <a:r>
              <a:rPr lang="en-US" sz="4000" b="1" dirty="0">
                <a:solidFill>
                  <a:srgbClr val="FF0000"/>
                </a:solidFill>
              </a:rPr>
              <a:t> sorting algorithm.</a:t>
            </a:r>
          </a:p>
        </p:txBody>
      </p:sp>
    </p:spTree>
    <p:extLst>
      <p:ext uri="{BB962C8B-B14F-4D97-AF65-F5344CB8AC3E}">
        <p14:creationId xmlns:p14="http://schemas.microsoft.com/office/powerpoint/2010/main" val="3169037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 Visualization</a:t>
            </a:r>
          </a:p>
        </p:txBody>
      </p:sp>
      <p:sp>
        <p:nvSpPr>
          <p:cNvPr id="3" name="Content Placeholder 2"/>
          <p:cNvSpPr>
            <a:spLocks noGrp="1"/>
          </p:cNvSpPr>
          <p:nvPr>
            <p:ph idx="1"/>
          </p:nvPr>
        </p:nvSpPr>
        <p:spPr/>
        <p:txBody>
          <a:bodyPr/>
          <a:lstStyle/>
          <a:p>
            <a:pPr marL="0" indent="0">
              <a:buNone/>
            </a:pPr>
            <a:r>
              <a:rPr lang="en-US" sz="4000" b="1" dirty="0">
                <a:solidFill>
                  <a:srgbClr val="0000FF"/>
                </a:solidFill>
                <a:hlinkClick r:id="rId3">
                  <a:extLst>
                    <a:ext uri="{A12FA001-AC4F-418D-AE19-62706E023703}">
                      <ahyp:hlinkClr xmlns:ahyp="http://schemas.microsoft.com/office/drawing/2018/hyperlinkcolor" val="tx"/>
                    </a:ext>
                  </a:extLst>
                </a:hlinkClick>
              </a:rPr>
              <a:t>https://visualgo.net/bn/sorting?slide=8</a:t>
            </a:r>
            <a:r>
              <a:rPr lang="en-US" sz="4000" b="1" dirty="0">
                <a:solidFill>
                  <a:srgbClr val="0000FF"/>
                </a:solidFill>
              </a:rPr>
              <a:t> </a:t>
            </a:r>
            <a:br>
              <a:rPr lang="en-US" sz="4000" b="1" dirty="0">
                <a:solidFill>
                  <a:srgbClr val="0000FF"/>
                </a:solidFill>
              </a:rPr>
            </a:br>
            <a:endParaRPr lang="en-US" sz="4000" b="1" dirty="0">
              <a:solidFill>
                <a:srgbClr val="0000FF"/>
              </a:solidFill>
            </a:endParaRPr>
          </a:p>
          <a:p>
            <a:pPr marL="0" indent="0">
              <a:buNone/>
            </a:pPr>
            <a:r>
              <a:rPr lang="en-US" sz="4000" b="1" dirty="0">
                <a:solidFill>
                  <a:srgbClr val="0000FF"/>
                </a:solidFill>
                <a:hlinkClick r:id="rId4">
                  <a:extLst>
                    <a:ext uri="{A12FA001-AC4F-418D-AE19-62706E023703}">
                      <ahyp:hlinkClr xmlns:ahyp="http://schemas.microsoft.com/office/drawing/2018/hyperlinkcolor" val="tx"/>
                    </a:ext>
                  </a:extLst>
                </a:hlinkClick>
              </a:rPr>
              <a:t>https://www.cs.usfca.edu/~galles/visualization/ComparisonSort.html</a:t>
            </a:r>
            <a:r>
              <a:rPr lang="en-US" sz="4000" b="1" dirty="0">
                <a:solidFill>
                  <a:srgbClr val="0000FF"/>
                </a:solidFill>
              </a:rPr>
              <a:t> </a:t>
            </a:r>
          </a:p>
        </p:txBody>
      </p:sp>
    </p:spTree>
    <p:extLst>
      <p:ext uri="{BB962C8B-B14F-4D97-AF65-F5344CB8AC3E}">
        <p14:creationId xmlns:p14="http://schemas.microsoft.com/office/powerpoint/2010/main" val="35874124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4A8FFEA1-1B69-4F42-B552-0CCF72596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81" name="Rectangle 3080">
            <a:extLst>
              <a:ext uri="{FF2B5EF4-FFF2-40B4-BE49-F238E27FC236}">
                <a16:creationId xmlns:a16="http://schemas.microsoft.com/office/drawing/2014/main" id="{AA3C9226-5EC8-460B-82D7-72AA994DF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083" name="Straight Connector 3082">
            <a:extLst>
              <a:ext uri="{FF2B5EF4-FFF2-40B4-BE49-F238E27FC236}">
                <a16:creationId xmlns:a16="http://schemas.microsoft.com/office/drawing/2014/main" id="{62A90A9D-33DF-408E-BF4C-F82588935C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085" name="Rectangle 3084">
            <a:extLst>
              <a:ext uri="{FF2B5EF4-FFF2-40B4-BE49-F238E27FC236}">
                <a16:creationId xmlns:a16="http://schemas.microsoft.com/office/drawing/2014/main" id="{B7D1EFAA-7858-42D7-9544-98A552ADF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730000" y="639097"/>
            <a:ext cx="4813072" cy="3686015"/>
          </a:xfrm>
        </p:spPr>
        <p:txBody>
          <a:bodyPr vert="horz" lIns="91440" tIns="45720" rIns="91440" bIns="45720" rtlCol="0" anchor="b">
            <a:normAutofit/>
          </a:bodyPr>
          <a:lstStyle/>
          <a:p>
            <a:r>
              <a:rPr lang="en-US" dirty="0"/>
              <a:t>Quick Sort</a:t>
            </a:r>
          </a:p>
        </p:txBody>
      </p:sp>
      <p:cxnSp>
        <p:nvCxnSpPr>
          <p:cNvPr id="3087" name="Straight Connector 3086">
            <a:extLst>
              <a:ext uri="{FF2B5EF4-FFF2-40B4-BE49-F238E27FC236}">
                <a16:creationId xmlns:a16="http://schemas.microsoft.com/office/drawing/2014/main" id="{F04961BF-6DD2-4525-8611-2B21957DBE1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343400"/>
            <a:ext cx="43891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3089" name="Rectangle 3088">
            <a:extLst>
              <a:ext uri="{FF2B5EF4-FFF2-40B4-BE49-F238E27FC236}">
                <a16:creationId xmlns:a16="http://schemas.microsoft.com/office/drawing/2014/main" id="{8F34D2C8-D65B-47C7-91F2-331661DBC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91" name="Rectangle 3090">
            <a:extLst>
              <a:ext uri="{FF2B5EF4-FFF2-40B4-BE49-F238E27FC236}">
                <a16:creationId xmlns:a16="http://schemas.microsoft.com/office/drawing/2014/main" id="{B0064D8A-32C8-44B3-9941-291A5A21C3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076" name="Picture 4" descr="Yeah..bad ass : r/ProgrammerHumor">
            <a:extLst>
              <a:ext uri="{FF2B5EF4-FFF2-40B4-BE49-F238E27FC236}">
                <a16:creationId xmlns:a16="http://schemas.microsoft.com/office/drawing/2014/main" id="{E7E0896A-7271-85D2-BC26-58C443AF8B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02" y="328327"/>
            <a:ext cx="6564797" cy="5677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67895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Quick Sort?</a:t>
            </a:r>
          </a:p>
        </p:txBody>
      </p:sp>
      <p:sp>
        <p:nvSpPr>
          <p:cNvPr id="3" name="Content Placeholder 2"/>
          <p:cNvSpPr>
            <a:spLocks noGrp="1"/>
          </p:cNvSpPr>
          <p:nvPr>
            <p:ph idx="1"/>
          </p:nvPr>
        </p:nvSpPr>
        <p:spPr/>
        <p:txBody>
          <a:bodyPr>
            <a:normAutofit/>
          </a:bodyPr>
          <a:lstStyle/>
          <a:p>
            <a:pPr marL="0" indent="0">
              <a:buNone/>
            </a:pPr>
            <a:r>
              <a:rPr lang="en-US" sz="4000" b="1" dirty="0">
                <a:solidFill>
                  <a:srgbClr val="0070C0"/>
                </a:solidFill>
              </a:rPr>
              <a:t>Quicksort </a:t>
            </a:r>
            <a:r>
              <a:rPr lang="en-US" sz="4000" dirty="0"/>
              <a:t>is a sort algorithm that utilizes a </a:t>
            </a:r>
            <a:r>
              <a:rPr lang="en-US" sz="4000" b="1" dirty="0"/>
              <a:t>divide-and-conquer</a:t>
            </a:r>
            <a:r>
              <a:rPr lang="en-US" sz="4000" dirty="0"/>
              <a:t> strategy to quickly sort data items by dividing a large array into two smaller arrays using partitioning.</a:t>
            </a:r>
          </a:p>
        </p:txBody>
      </p:sp>
    </p:spTree>
    <p:extLst>
      <p:ext uri="{BB962C8B-B14F-4D97-AF65-F5344CB8AC3E}">
        <p14:creationId xmlns:p14="http://schemas.microsoft.com/office/powerpoint/2010/main" val="9866766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7A05EFA-A424-44A1-1A80-32637679F29C}"/>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4573" y="193177"/>
            <a:ext cx="4906061" cy="150367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Quick Sort Explained</a:t>
            </a:r>
          </a:p>
        </p:txBody>
      </p:sp>
      <p:sp>
        <p:nvSpPr>
          <p:cNvPr id="3" name="Content Placeholder 2"/>
          <p:cNvSpPr>
            <a:spLocks noGrp="1"/>
          </p:cNvSpPr>
          <p:nvPr>
            <p:ph idx="1"/>
          </p:nvPr>
        </p:nvSpPr>
        <p:spPr>
          <a:xfrm>
            <a:off x="1097280" y="1889625"/>
            <a:ext cx="10226650" cy="4023360"/>
          </a:xfrm>
        </p:spPr>
        <p:txBody>
          <a:bodyPr>
            <a:normAutofit lnSpcReduction="10000"/>
          </a:bodyPr>
          <a:lstStyle/>
          <a:p>
            <a:r>
              <a:rPr lang="en-US" sz="2800" b="1" dirty="0"/>
              <a:t>Quicksort finds the element called the </a:t>
            </a:r>
            <a:r>
              <a:rPr lang="en-US" sz="2800" b="1" dirty="0">
                <a:solidFill>
                  <a:srgbClr val="FF0000"/>
                </a:solidFill>
              </a:rPr>
              <a:t>pivot</a:t>
            </a:r>
            <a:r>
              <a:rPr lang="en-US" sz="2800" b="1" dirty="0"/>
              <a:t>, which divides the array into two parts in such a way that </a:t>
            </a:r>
          </a:p>
          <a:p>
            <a:pPr marL="914400" indent="-457200">
              <a:buFont typeface="Wingdings" panose="05000000000000000000" pitchFamily="2" charset="2"/>
              <a:buChar char="v"/>
            </a:pPr>
            <a:r>
              <a:rPr lang="en-US" sz="2600" dirty="0"/>
              <a:t>elements in the left half are smaller than pivot and </a:t>
            </a:r>
          </a:p>
          <a:p>
            <a:pPr marL="914400" indent="-457200">
              <a:buFont typeface="Wingdings" panose="05000000000000000000" pitchFamily="2" charset="2"/>
              <a:buChar char="v"/>
            </a:pPr>
            <a:r>
              <a:rPr lang="en-US" sz="2600" dirty="0"/>
              <a:t>elements in the right half are greater than pivot.</a:t>
            </a:r>
          </a:p>
          <a:p>
            <a:r>
              <a:rPr lang="en-US" sz="2800" b="1" dirty="0"/>
              <a:t>Follow three steps recursively:</a:t>
            </a:r>
          </a:p>
          <a:p>
            <a:pPr marL="914400" indent="-457200">
              <a:buFont typeface="Wingdings" panose="05000000000000000000" pitchFamily="2" charset="2"/>
              <a:buChar char="v"/>
            </a:pPr>
            <a:r>
              <a:rPr lang="en-US" sz="2800" dirty="0"/>
              <a:t>Find pivot that divides the array into two parts.</a:t>
            </a:r>
          </a:p>
          <a:p>
            <a:pPr marL="914400" indent="-457200">
              <a:buFont typeface="Wingdings" panose="05000000000000000000" pitchFamily="2" charset="2"/>
              <a:buChar char="v"/>
            </a:pPr>
            <a:r>
              <a:rPr lang="en-US" sz="2800" dirty="0"/>
              <a:t>Quick sort the left part.</a:t>
            </a:r>
          </a:p>
          <a:p>
            <a:pPr marL="914400" indent="-457200">
              <a:buFont typeface="Wingdings" panose="05000000000000000000" pitchFamily="2" charset="2"/>
              <a:buChar char="v"/>
            </a:pPr>
            <a:r>
              <a:rPr lang="en-US" sz="2800" dirty="0"/>
              <a:t>Quick sort the right part.</a:t>
            </a:r>
          </a:p>
          <a:p>
            <a:endParaRPr lang="en-US" dirty="0"/>
          </a:p>
        </p:txBody>
      </p:sp>
    </p:spTree>
    <p:extLst>
      <p:ext uri="{BB962C8B-B14F-4D97-AF65-F5344CB8AC3E}">
        <p14:creationId xmlns:p14="http://schemas.microsoft.com/office/powerpoint/2010/main" val="2528390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3771"/>
            <a:ext cx="10058400" cy="414282"/>
          </a:xfrm>
        </p:spPr>
        <p:txBody>
          <a:bodyPr>
            <a:normAutofit fontScale="90000"/>
          </a:bodyPr>
          <a:lstStyle/>
          <a:p>
            <a:r>
              <a:rPr lang="en-US" b="1" dirty="0"/>
              <a:t>Quick Sort Code</a:t>
            </a:r>
          </a:p>
        </p:txBody>
      </p:sp>
      <p:pic>
        <p:nvPicPr>
          <p:cNvPr id="5" name="Picture 4">
            <a:extLst>
              <a:ext uri="{FF2B5EF4-FFF2-40B4-BE49-F238E27FC236}">
                <a16:creationId xmlns:a16="http://schemas.microsoft.com/office/drawing/2014/main" id="{8D4492B6-C215-ECDE-597F-C6B0E2BECD9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26335" y="822834"/>
            <a:ext cx="12011609" cy="3551656"/>
          </a:xfrm>
          <a:prstGeom prst="rect">
            <a:avLst/>
          </a:prstGeom>
        </p:spPr>
      </p:pic>
    </p:spTree>
    <p:extLst>
      <p:ext uri="{BB962C8B-B14F-4D97-AF65-F5344CB8AC3E}">
        <p14:creationId xmlns:p14="http://schemas.microsoft.com/office/powerpoint/2010/main" val="37992970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CA9010-02F9-21A3-C869-CD7CB0AC590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077105" y="127642"/>
            <a:ext cx="8886198" cy="6602715"/>
          </a:xfrm>
          <a:prstGeom prst="rect">
            <a:avLst/>
          </a:prstGeom>
        </p:spPr>
      </p:pic>
      <p:sp>
        <p:nvSpPr>
          <p:cNvPr id="2" name="Title 1">
            <a:extLst>
              <a:ext uri="{FF2B5EF4-FFF2-40B4-BE49-F238E27FC236}">
                <a16:creationId xmlns:a16="http://schemas.microsoft.com/office/drawing/2014/main" id="{2A78E513-5CA9-BA4D-D1C8-8EA6E317F176}"/>
              </a:ext>
            </a:extLst>
          </p:cNvPr>
          <p:cNvSpPr>
            <a:spLocks noGrp="1"/>
          </p:cNvSpPr>
          <p:nvPr>
            <p:ph type="title" idx="4294967295"/>
          </p:nvPr>
        </p:nvSpPr>
        <p:spPr>
          <a:xfrm>
            <a:off x="925001" y="-1661467"/>
            <a:ext cx="10058400" cy="1450757"/>
          </a:xfrm>
        </p:spPr>
        <p:txBody>
          <a:bodyPr/>
          <a:lstStyle/>
          <a:p>
            <a:r>
              <a:rPr lang="en-US" dirty="0"/>
              <a:t>Hoare Partition Algorithm</a:t>
            </a:r>
          </a:p>
        </p:txBody>
      </p:sp>
    </p:spTree>
    <p:extLst>
      <p:ext uri="{BB962C8B-B14F-4D97-AF65-F5344CB8AC3E}">
        <p14:creationId xmlns:p14="http://schemas.microsoft.com/office/powerpoint/2010/main" val="304865247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97560-AF4B-8113-8B5C-749EBFC5850B}"/>
              </a:ext>
            </a:extLst>
          </p:cNvPr>
          <p:cNvSpPr>
            <a:spLocks noGrp="1"/>
          </p:cNvSpPr>
          <p:nvPr>
            <p:ph type="title"/>
          </p:nvPr>
        </p:nvSpPr>
        <p:spPr/>
        <p:txBody>
          <a:bodyPr/>
          <a:lstStyle/>
          <a:p>
            <a:r>
              <a:rPr lang="en-US" b="1" dirty="0"/>
              <a:t>Quick sort in 4 minutes</a:t>
            </a:r>
          </a:p>
        </p:txBody>
      </p:sp>
      <p:sp>
        <p:nvSpPr>
          <p:cNvPr id="3" name="Content Placeholder 2">
            <a:extLst>
              <a:ext uri="{FF2B5EF4-FFF2-40B4-BE49-F238E27FC236}">
                <a16:creationId xmlns:a16="http://schemas.microsoft.com/office/drawing/2014/main" id="{61D47332-C9CC-715C-1077-8A94B8F1EEB5}"/>
              </a:ext>
            </a:extLst>
          </p:cNvPr>
          <p:cNvSpPr>
            <a:spLocks noGrp="1"/>
          </p:cNvSpPr>
          <p:nvPr>
            <p:ph idx="1"/>
          </p:nvPr>
        </p:nvSpPr>
        <p:spPr/>
        <p:txBody>
          <a:bodyPr>
            <a:normAutofit/>
          </a:bodyPr>
          <a:lstStyle/>
          <a:p>
            <a:r>
              <a:rPr lang="en-US" sz="5400" dirty="0">
                <a:solidFill>
                  <a:srgbClr val="0000FF"/>
                </a:solidFill>
                <a:hlinkClick r:id="rId2">
                  <a:extLst>
                    <a:ext uri="{A12FA001-AC4F-418D-AE19-62706E023703}">
                      <ahyp:hlinkClr xmlns:ahyp="http://schemas.microsoft.com/office/drawing/2018/hyperlinkcolor" val="tx"/>
                    </a:ext>
                  </a:extLst>
                </a:hlinkClick>
              </a:rPr>
              <a:t>https://www.youtube.com/watch?v=Hoixgm4-P4M&amp;t=19s</a:t>
            </a:r>
            <a:r>
              <a:rPr lang="en-US" sz="5400" dirty="0">
                <a:solidFill>
                  <a:srgbClr val="0000FF"/>
                </a:solidFill>
              </a:rPr>
              <a:t> </a:t>
            </a:r>
          </a:p>
        </p:txBody>
      </p:sp>
      <p:pic>
        <p:nvPicPr>
          <p:cNvPr id="5" name="Picture 4" descr="screenshot from video ">
            <a:extLst>
              <a:ext uri="{FF2B5EF4-FFF2-40B4-BE49-F238E27FC236}">
                <a16:creationId xmlns:a16="http://schemas.microsoft.com/office/drawing/2014/main" id="{31697F60-9D48-3895-5BC3-6FCC4A661969}"/>
              </a:ext>
            </a:extLst>
          </p:cNvPr>
          <p:cNvPicPr>
            <a:picLocks noChangeAspect="1"/>
          </p:cNvPicPr>
          <p:nvPr/>
        </p:nvPicPr>
        <p:blipFill>
          <a:blip r:embed="rId3"/>
          <a:stretch>
            <a:fillRect/>
          </a:stretch>
        </p:blipFill>
        <p:spPr>
          <a:xfrm>
            <a:off x="6419045" y="3664908"/>
            <a:ext cx="5321573" cy="2482978"/>
          </a:xfrm>
          <a:prstGeom prst="rect">
            <a:avLst/>
          </a:prstGeom>
        </p:spPr>
      </p:pic>
    </p:spTree>
    <p:extLst>
      <p:ext uri="{BB962C8B-B14F-4D97-AF65-F5344CB8AC3E}">
        <p14:creationId xmlns:p14="http://schemas.microsoft.com/office/powerpoint/2010/main" val="8221675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EFDA1-A6C1-DBCD-659B-3F29B8F6A760}"/>
              </a:ext>
            </a:extLst>
          </p:cNvPr>
          <p:cNvSpPr>
            <a:spLocks noGrp="1"/>
          </p:cNvSpPr>
          <p:nvPr>
            <p:ph type="title"/>
          </p:nvPr>
        </p:nvSpPr>
        <p:spPr>
          <a:xfrm>
            <a:off x="1097280" y="286603"/>
            <a:ext cx="10344752" cy="1450757"/>
          </a:xfrm>
        </p:spPr>
        <p:txBody>
          <a:bodyPr/>
          <a:lstStyle/>
          <a:p>
            <a:r>
              <a:rPr lang="en-US" dirty="0"/>
              <a:t>Quicksort: </a:t>
            </a:r>
            <a:br>
              <a:rPr lang="en-US" dirty="0"/>
            </a:br>
            <a:r>
              <a:rPr lang="en-US" b="1" dirty="0"/>
              <a:t>Partitioning an Array with Pivot</a:t>
            </a:r>
          </a:p>
        </p:txBody>
      </p:sp>
      <p:sp>
        <p:nvSpPr>
          <p:cNvPr id="3" name="Content Placeholder 2">
            <a:extLst>
              <a:ext uri="{FF2B5EF4-FFF2-40B4-BE49-F238E27FC236}">
                <a16:creationId xmlns:a16="http://schemas.microsoft.com/office/drawing/2014/main" id="{A5D13CC7-2A05-FE48-2498-9464A10DA42A}"/>
              </a:ext>
            </a:extLst>
          </p:cNvPr>
          <p:cNvSpPr>
            <a:spLocks noGrp="1"/>
          </p:cNvSpPr>
          <p:nvPr>
            <p:ph idx="1"/>
          </p:nvPr>
        </p:nvSpPr>
        <p:spPr/>
        <p:txBody>
          <a:bodyPr>
            <a:normAutofit/>
          </a:bodyPr>
          <a:lstStyle/>
          <a:p>
            <a:r>
              <a:rPr kumimoji="0" lang="en-US" sz="5400" b="1" i="0" u="none" strike="noStrike" kern="1200" cap="none" spc="0" normalizeH="0" baseline="0" noProof="0" dirty="0">
                <a:ln>
                  <a:noFill/>
                </a:ln>
                <a:solidFill>
                  <a:srgbClr val="0000FF"/>
                </a:solidFill>
                <a:effectLst/>
                <a:uLnTx/>
                <a:uFillTx/>
                <a:latin typeface="+mn-lt"/>
                <a:ea typeface="+mn-ea"/>
                <a:cs typeface="+mn-cs"/>
              </a:rPr>
              <a:t>https://www.youtube.com/watch?v=MZaf_9IZCrc</a:t>
            </a:r>
            <a:endParaRPr lang="en-US" sz="5400" dirty="0"/>
          </a:p>
        </p:txBody>
      </p:sp>
      <p:pic>
        <p:nvPicPr>
          <p:cNvPr id="5" name="Picture 4" descr="video finding pivot">
            <a:extLst>
              <a:ext uri="{FF2B5EF4-FFF2-40B4-BE49-F238E27FC236}">
                <a16:creationId xmlns:a16="http://schemas.microsoft.com/office/drawing/2014/main" id="{0B001FB5-8DFD-4E9C-2DC0-6FD0BB92D3CE}"/>
              </a:ext>
            </a:extLst>
          </p:cNvPr>
          <p:cNvPicPr>
            <a:picLocks noChangeAspect="1"/>
          </p:cNvPicPr>
          <p:nvPr/>
        </p:nvPicPr>
        <p:blipFill>
          <a:blip r:embed="rId2"/>
          <a:stretch>
            <a:fillRect/>
          </a:stretch>
        </p:blipFill>
        <p:spPr>
          <a:xfrm>
            <a:off x="5914206" y="2712732"/>
            <a:ext cx="5874052" cy="3276768"/>
          </a:xfrm>
          <a:prstGeom prst="rect">
            <a:avLst/>
          </a:prstGeom>
        </p:spPr>
      </p:pic>
    </p:spTree>
    <p:extLst>
      <p:ext uri="{BB962C8B-B14F-4D97-AF65-F5344CB8AC3E}">
        <p14:creationId xmlns:p14="http://schemas.microsoft.com/office/powerpoint/2010/main" val="28786114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Quick Sort Examples</a:t>
            </a:r>
          </a:p>
        </p:txBody>
      </p:sp>
      <p:sp>
        <p:nvSpPr>
          <p:cNvPr id="3" name="Content Placeholder 2"/>
          <p:cNvSpPr>
            <a:spLocks noGrp="1"/>
          </p:cNvSpPr>
          <p:nvPr>
            <p:ph idx="1"/>
          </p:nvPr>
        </p:nvSpPr>
        <p:spPr/>
        <p:txBody>
          <a:bodyPr>
            <a:normAutofit/>
          </a:bodyPr>
          <a:lstStyle/>
          <a:p>
            <a:pPr marL="458788" indent="-458788">
              <a:buFont typeface="Wingdings" panose="05000000000000000000" pitchFamily="2" charset="2"/>
              <a:buChar char="v"/>
            </a:pPr>
            <a:r>
              <a:rPr lang="en-US" sz="4000" b="1" dirty="0">
                <a:solidFill>
                  <a:srgbClr val="0070C0"/>
                </a:solidFill>
              </a:rPr>
              <a:t>quicksort.cpp</a:t>
            </a:r>
          </a:p>
        </p:txBody>
      </p:sp>
    </p:spTree>
    <p:extLst>
      <p:ext uri="{BB962C8B-B14F-4D97-AF65-F5344CB8AC3E}">
        <p14:creationId xmlns:p14="http://schemas.microsoft.com/office/powerpoint/2010/main" val="25408553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Quick Sort </a:t>
            </a:r>
            <a:br>
              <a:rPr lang="en-US" b="1" dirty="0"/>
            </a:br>
            <a:r>
              <a:rPr lang="en-US" b="1" dirty="0"/>
              <a:t>Big O Notation</a:t>
            </a:r>
          </a:p>
        </p:txBody>
      </p:sp>
      <p:sp>
        <p:nvSpPr>
          <p:cNvPr id="3" name="Content Placeholder 2"/>
          <p:cNvSpPr>
            <a:spLocks noGrp="1"/>
          </p:cNvSpPr>
          <p:nvPr>
            <p:ph idx="1"/>
          </p:nvPr>
        </p:nvSpPr>
        <p:spPr>
          <a:xfrm>
            <a:off x="177421" y="1845733"/>
            <a:ext cx="11907672" cy="4493651"/>
          </a:xfrm>
        </p:spPr>
        <p:txBody>
          <a:bodyPr>
            <a:normAutofit/>
          </a:bodyPr>
          <a:lstStyle/>
          <a:p>
            <a:pPr marL="0" indent="0">
              <a:buNone/>
            </a:pPr>
            <a:r>
              <a:rPr lang="en-US" sz="3200" dirty="0"/>
              <a:t>Runtime</a:t>
            </a:r>
            <a:r>
              <a:rPr lang="en-US" sz="3200" b="1" dirty="0"/>
              <a:t> Best </a:t>
            </a:r>
            <a:r>
              <a:rPr lang="en-US" sz="3200" dirty="0"/>
              <a:t>Case:</a:t>
            </a:r>
            <a:r>
              <a:rPr lang="en-US" sz="3200" b="1" dirty="0"/>
              <a:t>	  </a:t>
            </a:r>
            <a:r>
              <a:rPr lang="en-US" sz="3200" b="1" dirty="0">
                <a:solidFill>
                  <a:srgbClr val="FFC000"/>
                </a:solidFill>
                <a:highlight>
                  <a:srgbClr val="000000"/>
                </a:highlight>
              </a:rPr>
              <a:t>O(n log n)</a:t>
            </a:r>
          </a:p>
          <a:p>
            <a:pPr marL="0" indent="0">
              <a:buNone/>
            </a:pPr>
            <a:r>
              <a:rPr lang="en-US" sz="3200" dirty="0"/>
              <a:t>Runtime</a:t>
            </a:r>
            <a:r>
              <a:rPr lang="en-US" sz="3200" b="1" dirty="0"/>
              <a:t> Average </a:t>
            </a:r>
            <a:r>
              <a:rPr lang="en-US" sz="3200" dirty="0"/>
              <a:t>Case:</a:t>
            </a:r>
            <a:r>
              <a:rPr lang="en-US" sz="3200" b="1" dirty="0"/>
              <a:t> </a:t>
            </a:r>
            <a:r>
              <a:rPr lang="en-US" sz="3200" b="1" dirty="0">
                <a:solidFill>
                  <a:srgbClr val="FFC000"/>
                </a:solidFill>
                <a:highlight>
                  <a:srgbClr val="000000"/>
                </a:highlight>
              </a:rPr>
              <a:t>O(n log n)</a:t>
            </a:r>
          </a:p>
          <a:p>
            <a:pPr marL="0" indent="0">
              <a:buNone/>
            </a:pPr>
            <a:r>
              <a:rPr lang="en-US" sz="3200" dirty="0"/>
              <a:t>Runtime</a:t>
            </a:r>
            <a:r>
              <a:rPr lang="en-US" sz="3200" b="1" dirty="0"/>
              <a:t> Worst </a:t>
            </a:r>
            <a:r>
              <a:rPr lang="en-US" sz="3200" dirty="0"/>
              <a:t>Case:</a:t>
            </a:r>
            <a:r>
              <a:rPr lang="en-US" sz="3200" b="1" dirty="0"/>
              <a:t>	   </a:t>
            </a:r>
            <a:r>
              <a:rPr lang="en-US" sz="3200" b="1" dirty="0">
                <a:solidFill>
                  <a:srgbClr val="FF0000"/>
                </a:solidFill>
              </a:rPr>
              <a:t>O(n</a:t>
            </a:r>
            <a:r>
              <a:rPr lang="en-US" sz="3200" b="1" baseline="30000" dirty="0">
                <a:solidFill>
                  <a:srgbClr val="FF0000"/>
                </a:solidFill>
              </a:rPr>
              <a:t>2</a:t>
            </a:r>
            <a:r>
              <a:rPr lang="en-US" sz="3200" b="1" dirty="0">
                <a:solidFill>
                  <a:srgbClr val="FF0000"/>
                </a:solidFill>
              </a:rPr>
              <a:t>)</a:t>
            </a:r>
          </a:p>
          <a:p>
            <a:pPr marL="0" indent="0">
              <a:buNone/>
            </a:pPr>
            <a:r>
              <a:rPr lang="en-US" sz="3200" dirty="0">
                <a:solidFill>
                  <a:schemeClr val="tx1"/>
                </a:solidFill>
              </a:rPr>
              <a:t>Space Complexity :</a:t>
            </a:r>
            <a:r>
              <a:rPr lang="en-US" sz="3200" b="1" dirty="0">
                <a:solidFill>
                  <a:srgbClr val="FF0000"/>
                </a:solidFill>
              </a:rPr>
              <a:t>	</a:t>
            </a:r>
            <a:r>
              <a:rPr lang="en-US" sz="3200" b="1" dirty="0">
                <a:solidFill>
                  <a:schemeClr val="accent5">
                    <a:lumMod val="75000"/>
                  </a:schemeClr>
                </a:solidFill>
              </a:rPr>
              <a:t>   O(log n)</a:t>
            </a:r>
          </a:p>
          <a:p>
            <a:endParaRPr lang="en-US" sz="3200" dirty="0"/>
          </a:p>
          <a:p>
            <a:r>
              <a:rPr lang="en-US" sz="3200" dirty="0"/>
              <a:t>Fast in practice, more complex to write, requires more space then other simpler algorithms.</a:t>
            </a:r>
          </a:p>
          <a:p>
            <a:pPr marL="0" indent="0">
              <a:buNone/>
            </a:pPr>
            <a:endParaRPr lang="en-US" sz="3200" dirty="0"/>
          </a:p>
        </p:txBody>
      </p:sp>
      <p:pic>
        <p:nvPicPr>
          <p:cNvPr id="2050" name="Picture 2">
            <a:extLst>
              <a:ext uri="{FF2B5EF4-FFF2-40B4-BE49-F238E27FC236}">
                <a16:creationId xmlns:a16="http://schemas.microsoft.com/office/drawing/2014/main" id="{18179FC9-0DEF-7AB1-A4AB-CC22BE103AEF}"/>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74" t="14256" r="5665"/>
          <a:stretch/>
        </p:blipFill>
        <p:spPr bwMode="auto">
          <a:xfrm>
            <a:off x="5921875" y="286603"/>
            <a:ext cx="6092704" cy="4356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58594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A8FFEA1-1B69-4F42-B552-0CCF72596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AA3C9226-5EC8-460B-82D7-72AA994DF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62A90A9D-33DF-408E-BF4C-F82588935C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B7D1EFAA-7858-42D7-9544-98A552ADF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730000" y="639097"/>
            <a:ext cx="4813072" cy="3686015"/>
          </a:xfrm>
        </p:spPr>
        <p:txBody>
          <a:bodyPr vert="horz" lIns="91440" tIns="45720" rIns="91440" bIns="45720" rtlCol="0" anchor="b">
            <a:normAutofit/>
          </a:bodyPr>
          <a:lstStyle/>
          <a:p>
            <a:r>
              <a:rPr lang="en-US" sz="6800">
                <a:solidFill>
                  <a:schemeClr val="tx1">
                    <a:lumMod val="85000"/>
                    <a:lumOff val="15000"/>
                  </a:schemeClr>
                </a:solidFill>
              </a:rPr>
              <a:t>Quick Sort at VisualGo.net</a:t>
            </a:r>
          </a:p>
        </p:txBody>
      </p:sp>
      <p:sp>
        <p:nvSpPr>
          <p:cNvPr id="3" name="Content Placeholder 2"/>
          <p:cNvSpPr>
            <a:spLocks noGrp="1"/>
          </p:cNvSpPr>
          <p:nvPr>
            <p:ph idx="1"/>
          </p:nvPr>
        </p:nvSpPr>
        <p:spPr>
          <a:xfrm>
            <a:off x="6729999" y="4455621"/>
            <a:ext cx="4829101" cy="1238616"/>
          </a:xfrm>
        </p:spPr>
        <p:txBody>
          <a:bodyPr vert="horz" lIns="91440" tIns="45720" rIns="91440" bIns="45720" rtlCol="0">
            <a:normAutofit/>
          </a:bodyPr>
          <a:lstStyle/>
          <a:p>
            <a:pPr marL="0" indent="0">
              <a:buNone/>
            </a:pPr>
            <a:r>
              <a:rPr lang="en-US" sz="2400" b="1" cap="all" spc="200" dirty="0">
                <a:solidFill>
                  <a:srgbClr val="0000FF"/>
                </a:solidFill>
                <a:latin typeface="+mj-lt"/>
                <a:hlinkClick r:id="rId3">
                  <a:extLst>
                    <a:ext uri="{A12FA001-AC4F-418D-AE19-62706E023703}">
                      <ahyp:hlinkClr xmlns:ahyp="http://schemas.microsoft.com/office/drawing/2018/hyperlinkcolor" val="tx"/>
                    </a:ext>
                  </a:extLst>
                </a:hlinkClick>
              </a:rPr>
              <a:t>https://visualgo.net/bn/sorting?slide=11</a:t>
            </a:r>
            <a:r>
              <a:rPr lang="en-US" sz="2400" b="1" cap="all" spc="200" dirty="0">
                <a:solidFill>
                  <a:srgbClr val="0000FF"/>
                </a:solidFill>
                <a:latin typeface="+mj-lt"/>
              </a:rPr>
              <a:t> </a:t>
            </a:r>
          </a:p>
        </p:txBody>
      </p:sp>
      <p:pic>
        <p:nvPicPr>
          <p:cNvPr id="4" name="Picture 2">
            <a:extLst>
              <a:ext uri="{FF2B5EF4-FFF2-40B4-BE49-F238E27FC236}">
                <a16:creationId xmlns:a16="http://schemas.microsoft.com/office/drawing/2014/main" id="{4E5D9436-3FEA-2387-15B3-FABA049A123F}"/>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4860" y="386641"/>
            <a:ext cx="6620278" cy="5561034"/>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F04961BF-6DD2-4525-8611-2B21957DBE1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343400"/>
            <a:ext cx="43891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8F34D2C8-D65B-47C7-91F2-331661DBC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B0064D8A-32C8-44B3-9941-291A5A21C3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7547690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Merge Sort</a:t>
            </a:r>
          </a:p>
        </p:txBody>
      </p:sp>
      <p:pic>
        <p:nvPicPr>
          <p:cNvPr id="1026" name="Picture 2" descr="r/ProgrammerHumor - Marge Sort">
            <a:extLst>
              <a:ext uri="{FF2B5EF4-FFF2-40B4-BE49-F238E27FC236}">
                <a16:creationId xmlns:a16="http://schemas.microsoft.com/office/drawing/2014/main" id="{991EB69B-4F3C-EB1B-C852-8CC08AFD66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0"/>
            <a:ext cx="6096000" cy="678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642715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Merge Sort?</a:t>
            </a:r>
          </a:p>
        </p:txBody>
      </p:sp>
      <p:sp>
        <p:nvSpPr>
          <p:cNvPr id="3" name="Content Placeholder 2"/>
          <p:cNvSpPr>
            <a:spLocks noGrp="1"/>
          </p:cNvSpPr>
          <p:nvPr>
            <p:ph idx="1"/>
          </p:nvPr>
        </p:nvSpPr>
        <p:spPr/>
        <p:txBody>
          <a:bodyPr>
            <a:normAutofit/>
          </a:bodyPr>
          <a:lstStyle/>
          <a:p>
            <a:pPr marL="0" indent="0">
              <a:buNone/>
            </a:pPr>
            <a:r>
              <a:rPr lang="en-US" sz="3600" b="1" i="1" dirty="0">
                <a:solidFill>
                  <a:srgbClr val="0070C0"/>
                </a:solidFill>
              </a:rPr>
              <a:t>Merge sort</a:t>
            </a:r>
            <a:r>
              <a:rPr lang="en-US" sz="3600" dirty="0">
                <a:solidFill>
                  <a:srgbClr val="0070C0"/>
                </a:solidFill>
              </a:rPr>
              <a:t> </a:t>
            </a:r>
            <a:r>
              <a:rPr lang="en-US" sz="3600" dirty="0"/>
              <a:t>is a </a:t>
            </a:r>
            <a:r>
              <a:rPr lang="en-US" sz="3600" b="1" dirty="0"/>
              <a:t>divide-and-conquer </a:t>
            </a:r>
            <a:r>
              <a:rPr lang="en-US" sz="3600" dirty="0"/>
              <a:t>sorting algorithm that divides a list into </a:t>
            </a:r>
            <a:r>
              <a:rPr lang="en-US" sz="3600" b="1" dirty="0"/>
              <a:t>two halves</a:t>
            </a:r>
            <a:r>
              <a:rPr lang="en-US" sz="3600" dirty="0"/>
              <a:t>, recursively </a:t>
            </a:r>
            <a:r>
              <a:rPr lang="en-US" sz="3600" b="1" dirty="0"/>
              <a:t>sorts each half</a:t>
            </a:r>
            <a:r>
              <a:rPr lang="en-US" sz="3600" dirty="0"/>
              <a:t>, and then </a:t>
            </a:r>
            <a:r>
              <a:rPr lang="en-US" sz="3600" b="1" dirty="0"/>
              <a:t>merges</a:t>
            </a:r>
            <a:r>
              <a:rPr lang="en-US" sz="3600" dirty="0"/>
              <a:t> the sorted halves to produce a sorted list.  It is implemented as a recursive function.</a:t>
            </a:r>
            <a:endParaRPr lang="en-US" sz="6000" dirty="0"/>
          </a:p>
        </p:txBody>
      </p:sp>
    </p:spTree>
    <p:extLst>
      <p:ext uri="{BB962C8B-B14F-4D97-AF65-F5344CB8AC3E}">
        <p14:creationId xmlns:p14="http://schemas.microsoft.com/office/powerpoint/2010/main" val="8127858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ADFDB-CD1A-D990-78F9-14DEE67B5CD2}"/>
              </a:ext>
            </a:extLst>
          </p:cNvPr>
          <p:cNvSpPr>
            <a:spLocks noGrp="1"/>
          </p:cNvSpPr>
          <p:nvPr>
            <p:ph type="title"/>
          </p:nvPr>
        </p:nvSpPr>
        <p:spPr/>
        <p:txBody>
          <a:bodyPr/>
          <a:lstStyle/>
          <a:p>
            <a:r>
              <a:rPr lang="en-US" dirty="0"/>
              <a:t>Merge Sort 3D Animation</a:t>
            </a:r>
          </a:p>
        </p:txBody>
      </p:sp>
      <p:sp>
        <p:nvSpPr>
          <p:cNvPr id="3" name="Content Placeholder 2">
            <a:extLst>
              <a:ext uri="{FF2B5EF4-FFF2-40B4-BE49-F238E27FC236}">
                <a16:creationId xmlns:a16="http://schemas.microsoft.com/office/drawing/2014/main" id="{1729697B-4B91-E5EC-9E9A-7A8516069DBA}"/>
              </a:ext>
            </a:extLst>
          </p:cNvPr>
          <p:cNvSpPr>
            <a:spLocks noGrp="1"/>
          </p:cNvSpPr>
          <p:nvPr>
            <p:ph idx="1"/>
          </p:nvPr>
        </p:nvSpPr>
        <p:spPr/>
        <p:txBody>
          <a:bodyPr>
            <a:normAutofit/>
          </a:bodyPr>
          <a:lstStyle/>
          <a:p>
            <a:r>
              <a:rPr lang="en-US" sz="5400" b="1" dirty="0">
                <a:solidFill>
                  <a:srgbClr val="0000FF"/>
                </a:solidFill>
                <a:hlinkClick r:id="rId2">
                  <a:extLst>
                    <a:ext uri="{A12FA001-AC4F-418D-AE19-62706E023703}">
                      <ahyp:hlinkClr xmlns:ahyp="http://schemas.microsoft.com/office/drawing/2018/hyperlinkcolor" val="tx"/>
                    </a:ext>
                  </a:extLst>
                </a:hlinkClick>
              </a:rPr>
              <a:t>https://www.youtube.com/watch?v=HsZ-YRQM8sE&amp;t=41s</a:t>
            </a:r>
            <a:r>
              <a:rPr lang="en-US" sz="5400" b="1" dirty="0">
                <a:solidFill>
                  <a:srgbClr val="0000FF"/>
                </a:solidFill>
              </a:rPr>
              <a:t> </a:t>
            </a:r>
          </a:p>
        </p:txBody>
      </p:sp>
      <p:pic>
        <p:nvPicPr>
          <p:cNvPr id="5" name="Picture 4" descr="merge sort animation screenshot ">
            <a:extLst>
              <a:ext uri="{FF2B5EF4-FFF2-40B4-BE49-F238E27FC236}">
                <a16:creationId xmlns:a16="http://schemas.microsoft.com/office/drawing/2014/main" id="{AA4B3F24-376C-76D3-5E48-F6B35565EB95}"/>
              </a:ext>
            </a:extLst>
          </p:cNvPr>
          <p:cNvPicPr>
            <a:picLocks noChangeAspect="1"/>
          </p:cNvPicPr>
          <p:nvPr/>
        </p:nvPicPr>
        <p:blipFill>
          <a:blip r:embed="rId3"/>
          <a:stretch>
            <a:fillRect/>
          </a:stretch>
        </p:blipFill>
        <p:spPr>
          <a:xfrm>
            <a:off x="6619579" y="3524014"/>
            <a:ext cx="5016758" cy="2673487"/>
          </a:xfrm>
          <a:prstGeom prst="rect">
            <a:avLst/>
          </a:prstGeom>
        </p:spPr>
      </p:pic>
    </p:spTree>
    <p:extLst>
      <p:ext uri="{BB962C8B-B14F-4D97-AF65-F5344CB8AC3E}">
        <p14:creationId xmlns:p14="http://schemas.microsoft.com/office/powerpoint/2010/main" val="323429357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ADFDB-CD1A-D990-78F9-14DEE67B5CD2}"/>
              </a:ext>
            </a:extLst>
          </p:cNvPr>
          <p:cNvSpPr>
            <a:spLocks noGrp="1"/>
          </p:cNvSpPr>
          <p:nvPr>
            <p:ph type="title"/>
          </p:nvPr>
        </p:nvSpPr>
        <p:spPr/>
        <p:txBody>
          <a:bodyPr/>
          <a:lstStyle/>
          <a:p>
            <a:r>
              <a:rPr lang="en-US" dirty="0"/>
              <a:t>Merge Sort Algorithm – Animated Explanation in 5 minutes</a:t>
            </a:r>
          </a:p>
        </p:txBody>
      </p:sp>
      <p:sp>
        <p:nvSpPr>
          <p:cNvPr id="3" name="Content Placeholder 2">
            <a:extLst>
              <a:ext uri="{FF2B5EF4-FFF2-40B4-BE49-F238E27FC236}">
                <a16:creationId xmlns:a16="http://schemas.microsoft.com/office/drawing/2014/main" id="{1729697B-4B91-E5EC-9E9A-7A8516069DBA}"/>
              </a:ext>
            </a:extLst>
          </p:cNvPr>
          <p:cNvSpPr>
            <a:spLocks noGrp="1"/>
          </p:cNvSpPr>
          <p:nvPr>
            <p:ph idx="1"/>
          </p:nvPr>
        </p:nvSpPr>
        <p:spPr/>
        <p:txBody>
          <a:bodyPr>
            <a:normAutofit/>
          </a:bodyPr>
          <a:lstStyle/>
          <a:p>
            <a:r>
              <a:rPr lang="en-US" sz="5400" b="1" dirty="0">
                <a:solidFill>
                  <a:srgbClr val="0000FF"/>
                </a:solidFill>
              </a:rPr>
              <a:t>https://www.youtube.com/watch?v=cdqmX8wz4H4</a:t>
            </a:r>
          </a:p>
        </p:txBody>
      </p:sp>
      <p:pic>
        <p:nvPicPr>
          <p:cNvPr id="6" name="Picture 5" descr="screenshot">
            <a:extLst>
              <a:ext uri="{FF2B5EF4-FFF2-40B4-BE49-F238E27FC236}">
                <a16:creationId xmlns:a16="http://schemas.microsoft.com/office/drawing/2014/main" id="{C9E54558-68C8-1B47-7E22-1BF0B102ACD8}"/>
              </a:ext>
            </a:extLst>
          </p:cNvPr>
          <p:cNvPicPr>
            <a:picLocks noChangeAspect="1"/>
          </p:cNvPicPr>
          <p:nvPr/>
        </p:nvPicPr>
        <p:blipFill>
          <a:blip r:embed="rId2"/>
          <a:stretch>
            <a:fillRect/>
          </a:stretch>
        </p:blipFill>
        <p:spPr>
          <a:xfrm>
            <a:off x="6978316" y="3241194"/>
            <a:ext cx="4617788" cy="2627900"/>
          </a:xfrm>
          <a:prstGeom prst="rect">
            <a:avLst/>
          </a:prstGeom>
        </p:spPr>
      </p:pic>
    </p:spTree>
    <p:extLst>
      <p:ext uri="{BB962C8B-B14F-4D97-AF65-F5344CB8AC3E}">
        <p14:creationId xmlns:p14="http://schemas.microsoft.com/office/powerpoint/2010/main" val="21044346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3771"/>
            <a:ext cx="10058400" cy="414282"/>
          </a:xfrm>
        </p:spPr>
        <p:txBody>
          <a:bodyPr>
            <a:normAutofit fontScale="90000"/>
          </a:bodyPr>
          <a:lstStyle/>
          <a:p>
            <a:r>
              <a:rPr lang="en-US" b="1" dirty="0"/>
              <a:t>Merge Sort Code</a:t>
            </a:r>
          </a:p>
        </p:txBody>
      </p:sp>
      <p:pic>
        <p:nvPicPr>
          <p:cNvPr id="4" name="Picture 3">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43624" y="893929"/>
            <a:ext cx="11429275" cy="4676419"/>
          </a:xfrm>
          <a:prstGeom prst="rect">
            <a:avLst/>
          </a:prstGeom>
        </p:spPr>
      </p:pic>
    </p:spTree>
    <p:extLst>
      <p:ext uri="{BB962C8B-B14F-4D97-AF65-F5344CB8AC3E}">
        <p14:creationId xmlns:p14="http://schemas.microsoft.com/office/powerpoint/2010/main" val="24117262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Merge Sort Examples</a:t>
            </a:r>
          </a:p>
        </p:txBody>
      </p:sp>
      <p:sp>
        <p:nvSpPr>
          <p:cNvPr id="3" name="Content Placeholder 2"/>
          <p:cNvSpPr>
            <a:spLocks noGrp="1"/>
          </p:cNvSpPr>
          <p:nvPr>
            <p:ph idx="1"/>
          </p:nvPr>
        </p:nvSpPr>
        <p:spPr/>
        <p:txBody>
          <a:bodyPr>
            <a:normAutofit/>
          </a:bodyPr>
          <a:lstStyle/>
          <a:p>
            <a:pPr marL="458788" indent="-458788">
              <a:buFont typeface="Wingdings" panose="05000000000000000000" pitchFamily="2" charset="2"/>
              <a:buChar char="v"/>
            </a:pPr>
            <a:r>
              <a:rPr lang="en-US" sz="4000" b="1" dirty="0">
                <a:solidFill>
                  <a:srgbClr val="0070C0"/>
                </a:solidFill>
              </a:rPr>
              <a:t>mergeSort.cpp</a:t>
            </a:r>
          </a:p>
        </p:txBody>
      </p:sp>
    </p:spTree>
    <p:extLst>
      <p:ext uri="{BB962C8B-B14F-4D97-AF65-F5344CB8AC3E}">
        <p14:creationId xmlns:p14="http://schemas.microsoft.com/office/powerpoint/2010/main" val="18977990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Merge Sort </a:t>
            </a:r>
            <a:br>
              <a:rPr lang="en-US" b="1" dirty="0"/>
            </a:br>
            <a:r>
              <a:rPr lang="en-US" b="1" dirty="0"/>
              <a:t>Big O Notation</a:t>
            </a:r>
          </a:p>
        </p:txBody>
      </p:sp>
      <p:sp>
        <p:nvSpPr>
          <p:cNvPr id="3" name="Content Placeholder 2"/>
          <p:cNvSpPr>
            <a:spLocks noGrp="1"/>
          </p:cNvSpPr>
          <p:nvPr>
            <p:ph idx="1"/>
          </p:nvPr>
        </p:nvSpPr>
        <p:spPr>
          <a:xfrm>
            <a:off x="81887" y="1845733"/>
            <a:ext cx="11218459" cy="4480003"/>
          </a:xfrm>
        </p:spPr>
        <p:txBody>
          <a:bodyPr>
            <a:normAutofit lnSpcReduction="10000"/>
          </a:bodyPr>
          <a:lstStyle/>
          <a:p>
            <a:pPr marL="0" indent="0">
              <a:buNone/>
            </a:pPr>
            <a:r>
              <a:rPr lang="en-US" sz="3200" dirty="0"/>
              <a:t>Runtime</a:t>
            </a:r>
            <a:r>
              <a:rPr lang="en-US" sz="3200" b="1" dirty="0"/>
              <a:t> Best </a:t>
            </a:r>
            <a:r>
              <a:rPr lang="en-US" sz="3200" dirty="0"/>
              <a:t>Case:</a:t>
            </a:r>
            <a:r>
              <a:rPr lang="en-US" sz="3200" b="1" dirty="0"/>
              <a:t>		</a:t>
            </a:r>
            <a:r>
              <a:rPr lang="en-US" sz="3200" b="1" dirty="0">
                <a:solidFill>
                  <a:srgbClr val="FFC000"/>
                </a:solidFill>
                <a:highlight>
                  <a:srgbClr val="000000"/>
                </a:highlight>
              </a:rPr>
              <a:t>O(n log n)</a:t>
            </a:r>
          </a:p>
          <a:p>
            <a:pPr marL="0" indent="0">
              <a:buNone/>
            </a:pPr>
            <a:r>
              <a:rPr lang="en-US" sz="3200" dirty="0"/>
              <a:t>Runtime</a:t>
            </a:r>
            <a:r>
              <a:rPr lang="en-US" sz="3200" b="1" dirty="0"/>
              <a:t> Average </a:t>
            </a:r>
            <a:r>
              <a:rPr lang="en-US" sz="3200" dirty="0"/>
              <a:t>Case:	</a:t>
            </a:r>
            <a:r>
              <a:rPr lang="en-US" sz="3200" b="1" dirty="0">
                <a:solidFill>
                  <a:srgbClr val="FFC000"/>
                </a:solidFill>
                <a:highlight>
                  <a:srgbClr val="000000"/>
                </a:highlight>
              </a:rPr>
              <a:t>O(n log n)</a:t>
            </a:r>
          </a:p>
          <a:p>
            <a:pPr marL="0" indent="0">
              <a:buNone/>
            </a:pPr>
            <a:r>
              <a:rPr lang="en-US" sz="3200" dirty="0"/>
              <a:t>Runtime</a:t>
            </a:r>
            <a:r>
              <a:rPr lang="en-US" sz="3200" b="1" dirty="0"/>
              <a:t> Worst </a:t>
            </a:r>
            <a:r>
              <a:rPr lang="en-US" sz="3200" dirty="0"/>
              <a:t>Case:</a:t>
            </a:r>
            <a:r>
              <a:rPr lang="en-US" sz="3200" b="1" dirty="0"/>
              <a:t>		</a:t>
            </a:r>
            <a:r>
              <a:rPr lang="en-US" sz="3200" b="1" dirty="0">
                <a:solidFill>
                  <a:srgbClr val="FFC000"/>
                </a:solidFill>
                <a:highlight>
                  <a:srgbClr val="000000"/>
                </a:highlight>
              </a:rPr>
              <a:t>O(n log n)</a:t>
            </a:r>
          </a:p>
          <a:p>
            <a:pPr marL="0" indent="0">
              <a:buNone/>
            </a:pPr>
            <a:r>
              <a:rPr lang="en-US" sz="3200" dirty="0">
                <a:solidFill>
                  <a:schemeClr val="tx1"/>
                </a:solidFill>
              </a:rPr>
              <a:t>Space Complexity :</a:t>
            </a:r>
            <a:r>
              <a:rPr lang="en-US" sz="3200" b="1" dirty="0">
                <a:solidFill>
                  <a:srgbClr val="FF0000"/>
                </a:solidFill>
              </a:rPr>
              <a:t>		</a:t>
            </a:r>
            <a:r>
              <a:rPr lang="en-US" sz="3200" b="1" dirty="0">
                <a:solidFill>
                  <a:srgbClr val="0070C0"/>
                </a:solidFill>
              </a:rPr>
              <a:t>O(n)</a:t>
            </a:r>
          </a:p>
          <a:p>
            <a:endParaRPr lang="en-US" sz="3200" dirty="0"/>
          </a:p>
          <a:p>
            <a:r>
              <a:rPr lang="en-US" sz="3200" dirty="0"/>
              <a:t>Fast in practice – faster then quick/selection/insertion/bubble.  Requires more space.</a:t>
            </a:r>
          </a:p>
          <a:p>
            <a:pPr marL="0" indent="0">
              <a:buNone/>
            </a:pPr>
            <a:r>
              <a:rPr lang="en-US" sz="3200" b="1" dirty="0">
                <a:hlinkClick r:id="rId3"/>
              </a:rPr>
              <a:t>https://en.wikipedia.org/wiki/Merge_sort</a:t>
            </a:r>
            <a:r>
              <a:rPr lang="en-US" sz="3200" b="1" dirty="0"/>
              <a:t> </a:t>
            </a:r>
            <a:endParaRPr lang="en-US" sz="3200" dirty="0"/>
          </a:p>
        </p:txBody>
      </p:sp>
      <p:pic>
        <p:nvPicPr>
          <p:cNvPr id="7170" name="Picture 2">
            <a:extLst>
              <a:ext uri="{FF2B5EF4-FFF2-40B4-BE49-F238E27FC236}">
                <a16:creationId xmlns:a16="http://schemas.microsoft.com/office/drawing/2014/main" id="{CC2CE9EB-63FE-4BB1-32A8-EF90027723BB}"/>
              </a:ext>
              <a:ext uri="{C183D7F6-B498-43B3-948B-1728B52AA6E4}">
                <adec:decorative xmlns:adec="http://schemas.microsoft.com/office/drawing/2017/decorative" val="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944" t="14881" r="4479"/>
          <a:stretch/>
        </p:blipFill>
        <p:spPr bwMode="auto">
          <a:xfrm>
            <a:off x="6672105" y="272385"/>
            <a:ext cx="5350747" cy="3813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634136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Merge Sort at VisualGo.net</a:t>
            </a:r>
          </a:p>
        </p:txBody>
      </p:sp>
      <p:sp>
        <p:nvSpPr>
          <p:cNvPr id="3" name="Content Placeholder 2"/>
          <p:cNvSpPr>
            <a:spLocks noGrp="1"/>
          </p:cNvSpPr>
          <p:nvPr>
            <p:ph idx="1"/>
          </p:nvPr>
        </p:nvSpPr>
        <p:spPr>
          <a:xfrm>
            <a:off x="1097280" y="1845734"/>
            <a:ext cx="10607040" cy="4023360"/>
          </a:xfrm>
        </p:spPr>
        <p:txBody>
          <a:bodyPr/>
          <a:lstStyle/>
          <a:p>
            <a:r>
              <a:rPr lang="en-US" sz="4000" b="1" dirty="0">
                <a:solidFill>
                  <a:srgbClr val="FF0000"/>
                </a:solidFill>
                <a:hlinkClick r:id="rId3"/>
              </a:rPr>
              <a:t>https://visualgo.net/bn/sorting?slide=10</a:t>
            </a:r>
            <a:r>
              <a:rPr lang="en-US" sz="4000" b="1" dirty="0">
                <a:solidFill>
                  <a:srgbClr val="FF0000"/>
                </a:solidFill>
              </a:rPr>
              <a:t> </a:t>
            </a:r>
          </a:p>
        </p:txBody>
      </p:sp>
    </p:spTree>
    <p:extLst>
      <p:ext uri="{BB962C8B-B14F-4D97-AF65-F5344CB8AC3E}">
        <p14:creationId xmlns:p14="http://schemas.microsoft.com/office/powerpoint/2010/main" val="41438916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1D53CA0-FDE7-4B62-AE74-A671E6B82D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06FA22A8-DAD2-4DBF-BCF6-AA00E9D83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38CF2381-9166-48DC-8859-93B6A58939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13E26C-3BA2-2780-7738-5949076F7612}"/>
              </a:ext>
            </a:extLst>
          </p:cNvPr>
          <p:cNvSpPr>
            <a:spLocks noGrp="1"/>
          </p:cNvSpPr>
          <p:nvPr>
            <p:ph type="title"/>
          </p:nvPr>
        </p:nvSpPr>
        <p:spPr>
          <a:xfrm>
            <a:off x="5289754" y="639097"/>
            <a:ext cx="6253317" cy="3686015"/>
          </a:xfrm>
        </p:spPr>
        <p:txBody>
          <a:bodyPr vert="horz" lIns="91440" tIns="45720" rIns="91440" bIns="45720" rtlCol="0" anchor="b">
            <a:normAutofit/>
          </a:bodyPr>
          <a:lstStyle/>
          <a:p>
            <a:r>
              <a:rPr lang="en-US" sz="6800" dirty="0">
                <a:latin typeface="Berlin Sans FB Demi" panose="020E0802020502020306" pitchFamily="34" charset="0"/>
              </a:rPr>
              <a:t>Writing Parallel Algorithms </a:t>
            </a:r>
            <a:br>
              <a:rPr lang="en-US" sz="6800" dirty="0"/>
            </a:br>
            <a:r>
              <a:rPr lang="en-US" sz="4800" dirty="0"/>
              <a:t>(instead of Sequential)</a:t>
            </a:r>
            <a:endParaRPr lang="en-US" sz="6800" dirty="0"/>
          </a:p>
        </p:txBody>
      </p:sp>
      <p:pic>
        <p:nvPicPr>
          <p:cNvPr id="4" name="Picture 3" descr="A dog wearing glasses and a bow tie sitting at a computer">
            <a:extLst>
              <a:ext uri="{FF2B5EF4-FFF2-40B4-BE49-F238E27FC236}">
                <a16:creationId xmlns:a16="http://schemas.microsoft.com/office/drawing/2014/main" id="{81DB94CE-3C6B-534B-19BF-0D7C2CAB6C27}"/>
              </a:ext>
            </a:extLst>
          </p:cNvPr>
          <p:cNvPicPr>
            <a:picLocks noChangeAspect="1"/>
          </p:cNvPicPr>
          <p:nvPr/>
        </p:nvPicPr>
        <p:blipFill>
          <a:blip r:embed="rId2"/>
          <a:srcRect r="2" b="1244"/>
          <a:stretch>
            <a:fillRect/>
          </a:stretch>
        </p:blipFill>
        <p:spPr>
          <a:xfrm>
            <a:off x="-1" y="10"/>
            <a:ext cx="4635315" cy="6857989"/>
          </a:xfrm>
          <a:prstGeom prst="rect">
            <a:avLst/>
          </a:prstGeom>
        </p:spPr>
      </p:pic>
      <p:cxnSp>
        <p:nvCxnSpPr>
          <p:cNvPr id="17" name="Straight Connector 16">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9943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EB7AE9-B5FB-0446-B5D5-1993FC9480B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5A42EF-68E6-4808-81CD-E5ABD0ED92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EE567F-D55F-8458-8735-D802C5C968FB}"/>
              </a:ext>
            </a:extLst>
          </p:cNvPr>
          <p:cNvSpPr>
            <a:spLocks noGrp="1"/>
          </p:cNvSpPr>
          <p:nvPr>
            <p:ph type="title"/>
          </p:nvPr>
        </p:nvSpPr>
        <p:spPr>
          <a:xfrm>
            <a:off x="6411685" y="634946"/>
            <a:ext cx="5127171" cy="1450757"/>
          </a:xfrm>
        </p:spPr>
        <p:txBody>
          <a:bodyPr>
            <a:normAutofit fontScale="90000"/>
          </a:bodyPr>
          <a:lstStyle/>
          <a:p>
            <a:pPr algn="ctr"/>
            <a:r>
              <a:rPr lang="en-US" sz="3400" b="1" dirty="0">
                <a:latin typeface="Berlin Sans FB Demi" panose="020E0802020502020306" pitchFamily="34" charset="0"/>
              </a:rPr>
              <a:t>In-Class Pre-Quiz </a:t>
            </a:r>
            <a:br>
              <a:rPr lang="en-US" sz="3400" b="1" dirty="0"/>
            </a:br>
            <a:r>
              <a:rPr lang="en-US" sz="3400" b="1" dirty="0"/>
              <a:t>What do you know about writing parallel programs in C++?</a:t>
            </a:r>
            <a:br>
              <a:rPr lang="en-US" sz="3400" b="1" dirty="0"/>
            </a:br>
            <a:r>
              <a:rPr lang="en-US" sz="3400" b="1" dirty="0"/>
              <a:t>(11 multiple choice questions)</a:t>
            </a:r>
          </a:p>
        </p:txBody>
      </p:sp>
      <p:cxnSp>
        <p:nvCxnSpPr>
          <p:cNvPr id="11" name="Straight Connector 10">
            <a:extLst>
              <a:ext uri="{FF2B5EF4-FFF2-40B4-BE49-F238E27FC236}">
                <a16:creationId xmlns:a16="http://schemas.microsoft.com/office/drawing/2014/main" id="{3C4A154E-1950-4755-A5FC-5998EE0CC1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3FE9C285-56FB-4B36-8ECA-C2D6596AA9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937C076B-00B1-4629-B27F-A86F9885FB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6" name="Picture 5">
            <a:extLst>
              <a:ext uri="{FF2B5EF4-FFF2-40B4-BE49-F238E27FC236}">
                <a16:creationId xmlns:a16="http://schemas.microsoft.com/office/drawing/2014/main" id="{2720AE4A-2903-A8D5-9963-51712DD9713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4222877" cy="6334315"/>
          </a:xfrm>
          <a:prstGeom prst="rect">
            <a:avLst/>
          </a:prstGeom>
        </p:spPr>
      </p:pic>
      <p:pic>
        <p:nvPicPr>
          <p:cNvPr id="12" name="Picture 11" descr="A qr code with black squares">
            <a:extLst>
              <a:ext uri="{FF2B5EF4-FFF2-40B4-BE49-F238E27FC236}">
                <a16:creationId xmlns:a16="http://schemas.microsoft.com/office/drawing/2014/main" id="{B4611FBF-29FB-B933-BAC5-A54D73D11B25}"/>
              </a:ext>
            </a:extLst>
          </p:cNvPr>
          <p:cNvPicPr>
            <a:picLocks noChangeAspect="1"/>
          </p:cNvPicPr>
          <p:nvPr/>
        </p:nvPicPr>
        <p:blipFill>
          <a:blip r:embed="rId3"/>
          <a:stretch>
            <a:fillRect/>
          </a:stretch>
        </p:blipFill>
        <p:spPr>
          <a:xfrm>
            <a:off x="7323029" y="2464697"/>
            <a:ext cx="3299042" cy="3299042"/>
          </a:xfrm>
          <a:prstGeom prst="rect">
            <a:avLst/>
          </a:prstGeom>
        </p:spPr>
      </p:pic>
      <p:sp>
        <p:nvSpPr>
          <p:cNvPr id="8" name="TextBox 7">
            <a:extLst>
              <a:ext uri="{FF2B5EF4-FFF2-40B4-BE49-F238E27FC236}">
                <a16:creationId xmlns:a16="http://schemas.microsoft.com/office/drawing/2014/main" id="{953FBFF2-E54F-C2AA-5FA7-70804ACB3E46}"/>
              </a:ext>
            </a:extLst>
          </p:cNvPr>
          <p:cNvSpPr txBox="1"/>
          <p:nvPr/>
        </p:nvSpPr>
        <p:spPr>
          <a:xfrm>
            <a:off x="5072121" y="5964983"/>
            <a:ext cx="7427934" cy="369332"/>
          </a:xfrm>
          <a:prstGeom prst="rect">
            <a:avLst/>
          </a:prstGeom>
          <a:noFill/>
        </p:spPr>
        <p:txBody>
          <a:bodyPr wrap="square" rtlCol="0">
            <a:spAutoFit/>
          </a:bodyPr>
          <a:lstStyle/>
          <a:p>
            <a:r>
              <a:rPr lang="en-US" sz="1800" u="sng" dirty="0">
                <a:solidFill>
                  <a:srgbClr val="0000FF"/>
                </a:solidFill>
                <a:effectLst/>
                <a:latin typeface="Aptos" panose="020B0004020202020204" pitchFamily="34" charset="0"/>
                <a:ea typeface="Aptos" panose="020B000402020202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https://tntech.co1.qualtrics.com/jfe/form/SV_3UyI7vqTj8Od6aq</a:t>
            </a:r>
            <a:r>
              <a:rPr lang="en-US" sz="1800" u="sng" dirty="0">
                <a:solidFill>
                  <a:srgbClr val="0000FF"/>
                </a:solidFill>
                <a:effectLst/>
                <a:latin typeface="Aptos" panose="020B0004020202020204" pitchFamily="34" charset="0"/>
                <a:ea typeface="Aptos" panose="020B0004020202020204" pitchFamily="34" charset="0"/>
                <a:cs typeface="Times New Roman" panose="02020603050405020304" pitchFamily="18" charset="0"/>
              </a:rPr>
              <a:t> </a:t>
            </a:r>
            <a:endParaRPr lang="en-US" dirty="0">
              <a:solidFill>
                <a:srgbClr val="0000FF"/>
              </a:solidFill>
            </a:endParaRPr>
          </a:p>
        </p:txBody>
      </p:sp>
    </p:spTree>
    <p:extLst>
      <p:ext uri="{BB962C8B-B14F-4D97-AF65-F5344CB8AC3E}">
        <p14:creationId xmlns:p14="http://schemas.microsoft.com/office/powerpoint/2010/main" val="383176883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61532-0AED-12B9-B2C3-89A3E8B0BC5A}"/>
              </a:ext>
            </a:extLst>
          </p:cNvPr>
          <p:cNvSpPr>
            <a:spLocks noGrp="1"/>
          </p:cNvSpPr>
          <p:nvPr>
            <p:ph type="title"/>
          </p:nvPr>
        </p:nvSpPr>
        <p:spPr/>
        <p:txBody>
          <a:bodyPr/>
          <a:lstStyle/>
          <a:p>
            <a:r>
              <a:rPr lang="en-US" b="1" dirty="0"/>
              <a:t>Parallel Searching (Data Parallelism)</a:t>
            </a:r>
          </a:p>
        </p:txBody>
      </p:sp>
      <p:sp>
        <p:nvSpPr>
          <p:cNvPr id="3" name="Content Placeholder 2">
            <a:extLst>
              <a:ext uri="{FF2B5EF4-FFF2-40B4-BE49-F238E27FC236}">
                <a16:creationId xmlns:a16="http://schemas.microsoft.com/office/drawing/2014/main" id="{339B9CD5-E563-9B33-C0DB-79FAE618C90A}"/>
              </a:ext>
            </a:extLst>
          </p:cNvPr>
          <p:cNvSpPr>
            <a:spLocks noGrp="1"/>
          </p:cNvSpPr>
          <p:nvPr>
            <p:ph idx="1"/>
          </p:nvPr>
        </p:nvSpPr>
        <p:spPr>
          <a:xfrm>
            <a:off x="1097280" y="1845734"/>
            <a:ext cx="9770745" cy="4023360"/>
          </a:xfrm>
        </p:spPr>
        <p:txBody>
          <a:bodyPr>
            <a:normAutofit fontScale="92500" lnSpcReduction="20000"/>
          </a:bodyPr>
          <a:lstStyle/>
          <a:p>
            <a:pPr marL="457200" indent="-457200">
              <a:buFont typeface="Wingdings" panose="05000000000000000000" pitchFamily="2" charset="2"/>
              <a:buChar char="Ø"/>
            </a:pPr>
            <a:r>
              <a:rPr lang="en-US" sz="2800" dirty="0"/>
              <a:t>We can take advantage of modern architecture having multiple cores (processors) when writing code.</a:t>
            </a:r>
          </a:p>
          <a:p>
            <a:pPr marL="457200" indent="-457200">
              <a:buFont typeface="Wingdings" panose="05000000000000000000" pitchFamily="2" charset="2"/>
              <a:buChar char="Ø"/>
            </a:pPr>
            <a:r>
              <a:rPr lang="en-US" sz="2800" dirty="0"/>
              <a:t>Remember </a:t>
            </a:r>
            <a:r>
              <a:rPr lang="en-US" sz="2800" b="1" dirty="0"/>
              <a:t>linear search </a:t>
            </a:r>
            <a:r>
              <a:rPr lang="en-US" sz="2800" dirty="0"/>
              <a:t>is slower than </a:t>
            </a:r>
            <a:r>
              <a:rPr lang="en-US" sz="2800" b="1" dirty="0"/>
              <a:t>binary search</a:t>
            </a:r>
            <a:r>
              <a:rPr lang="en-US" sz="2800" dirty="0"/>
              <a:t>.</a:t>
            </a:r>
          </a:p>
          <a:p>
            <a:pPr marL="457200" indent="-457200">
              <a:buFont typeface="Wingdings" panose="05000000000000000000" pitchFamily="2" charset="2"/>
              <a:buChar char="Ø"/>
            </a:pPr>
            <a:r>
              <a:rPr lang="en-US" sz="2800" dirty="0"/>
              <a:t>However, You can parallelize the linear search algorithm easily in C++ to improve efficiency.</a:t>
            </a:r>
          </a:p>
          <a:p>
            <a:pPr marL="457200" indent="-457200">
              <a:buFont typeface="Wingdings" panose="05000000000000000000" pitchFamily="2" charset="2"/>
              <a:buChar char="Ø"/>
            </a:pPr>
            <a:r>
              <a:rPr lang="en-US" sz="2800" dirty="0"/>
              <a:t>Each processer searches through it’s own sub-section of the array. This is called </a:t>
            </a:r>
            <a:r>
              <a:rPr lang="en-US" sz="2800" b="1" dirty="0">
                <a:solidFill>
                  <a:srgbClr val="0000FF"/>
                </a:solidFill>
              </a:rPr>
              <a:t>data parallelism </a:t>
            </a:r>
            <a:r>
              <a:rPr lang="en-US" sz="2800" dirty="0"/>
              <a:t>because the processors are dividing the data.</a:t>
            </a:r>
          </a:p>
          <a:p>
            <a:pPr marL="457200" indent="-457200">
              <a:buFont typeface="Wingdings" panose="05000000000000000000" pitchFamily="2" charset="2"/>
              <a:buChar char="Ø"/>
            </a:pPr>
            <a:r>
              <a:rPr lang="en-US" sz="2800" dirty="0"/>
              <a:t>Here is a visualization: </a:t>
            </a:r>
            <a:r>
              <a:rPr lang="en-US" sz="2800" dirty="0">
                <a:solidFill>
                  <a:srgbClr val="0000FF"/>
                </a:solidFill>
                <a:hlinkClick r:id="rId2">
                  <a:extLst>
                    <a:ext uri="{A12FA001-AC4F-418D-AE19-62706E023703}">
                      <ahyp:hlinkClr xmlns:ahyp="http://schemas.microsoft.com/office/drawing/2018/hyperlinkcolor" val="tx"/>
                    </a:ext>
                  </a:extLst>
                </a:hlinkClick>
              </a:rPr>
              <a:t>https://raw.githack.com/xiaoyuansuo51-webster/Flag_Coloring_Activity/refs/heads/main/parallel_search.html</a:t>
            </a:r>
            <a:r>
              <a:rPr lang="en-US" sz="2800" dirty="0">
                <a:solidFill>
                  <a:srgbClr val="0000FF"/>
                </a:solidFill>
              </a:rPr>
              <a:t> </a:t>
            </a:r>
          </a:p>
        </p:txBody>
      </p:sp>
    </p:spTree>
    <p:extLst>
      <p:ext uri="{BB962C8B-B14F-4D97-AF65-F5344CB8AC3E}">
        <p14:creationId xmlns:p14="http://schemas.microsoft.com/office/powerpoint/2010/main" val="38732701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6CC74-953B-2A50-120D-BC9297A77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34A22-2567-BB9B-34AF-B16F15889CB7}"/>
              </a:ext>
            </a:extLst>
          </p:cNvPr>
          <p:cNvSpPr>
            <a:spLocks noGrp="1"/>
          </p:cNvSpPr>
          <p:nvPr>
            <p:ph type="title"/>
          </p:nvPr>
        </p:nvSpPr>
        <p:spPr/>
        <p:txBody>
          <a:bodyPr/>
          <a:lstStyle/>
          <a:p>
            <a:r>
              <a:rPr lang="en-US" b="1" dirty="0"/>
              <a:t>Task Parallelism</a:t>
            </a:r>
          </a:p>
        </p:txBody>
      </p:sp>
      <p:sp>
        <p:nvSpPr>
          <p:cNvPr id="3" name="Content Placeholder 2">
            <a:extLst>
              <a:ext uri="{FF2B5EF4-FFF2-40B4-BE49-F238E27FC236}">
                <a16:creationId xmlns:a16="http://schemas.microsoft.com/office/drawing/2014/main" id="{E02EF7DE-5F4A-3317-5933-7609DE98F1EC}"/>
              </a:ext>
            </a:extLst>
          </p:cNvPr>
          <p:cNvSpPr>
            <a:spLocks noGrp="1"/>
          </p:cNvSpPr>
          <p:nvPr>
            <p:ph idx="1"/>
          </p:nvPr>
        </p:nvSpPr>
        <p:spPr>
          <a:xfrm>
            <a:off x="1097280" y="1845734"/>
            <a:ext cx="9770745" cy="4023360"/>
          </a:xfrm>
        </p:spPr>
        <p:txBody>
          <a:bodyPr>
            <a:normAutofit fontScale="92500" lnSpcReduction="20000"/>
          </a:bodyPr>
          <a:lstStyle/>
          <a:p>
            <a:pPr marL="457200" indent="-457200">
              <a:buFont typeface="Wingdings" panose="05000000000000000000" pitchFamily="2" charset="2"/>
              <a:buChar char="Ø"/>
            </a:pPr>
            <a:r>
              <a:rPr lang="en-US" sz="2800" dirty="0"/>
              <a:t>Dividing data across processors but doing the same task with that data is data parallelism.</a:t>
            </a:r>
          </a:p>
          <a:p>
            <a:pPr marL="457200" indent="-457200">
              <a:buFont typeface="Wingdings" panose="05000000000000000000" pitchFamily="2" charset="2"/>
              <a:buChar char="Ø"/>
            </a:pPr>
            <a:r>
              <a:rPr lang="en-US" sz="2800" dirty="0"/>
              <a:t>If you instead divide different tasks across processors, it is called </a:t>
            </a:r>
            <a:br>
              <a:rPr lang="en-US" sz="2800" dirty="0"/>
            </a:br>
            <a:r>
              <a:rPr lang="en-US" sz="2800" b="1" dirty="0">
                <a:solidFill>
                  <a:srgbClr val="0000FF"/>
                </a:solidFill>
              </a:rPr>
              <a:t>task parallelism</a:t>
            </a:r>
            <a:r>
              <a:rPr lang="en-US" sz="2800" dirty="0"/>
              <a:t>.</a:t>
            </a:r>
          </a:p>
          <a:p>
            <a:pPr marL="457200" indent="-457200">
              <a:buFont typeface="Wingdings" panose="05000000000000000000" pitchFamily="2" charset="2"/>
              <a:buChar char="Ø"/>
            </a:pPr>
            <a:r>
              <a:rPr lang="en-US" sz="2800" dirty="0"/>
              <a:t>For example, say you want to do three things in a linked list: </a:t>
            </a:r>
            <a:br>
              <a:rPr lang="en-US" sz="2800" dirty="0"/>
            </a:br>
            <a:r>
              <a:rPr lang="en-US" sz="2800" dirty="0"/>
              <a:t>add a node, delete a node, and search for a value in a node. You could do these </a:t>
            </a:r>
            <a:r>
              <a:rPr lang="en-US" sz="2800" u="sng" dirty="0"/>
              <a:t>tasks</a:t>
            </a:r>
            <a:r>
              <a:rPr lang="en-US" sz="2800" dirty="0"/>
              <a:t> one-at-a-time (sequentially) or in parallel.</a:t>
            </a:r>
          </a:p>
          <a:p>
            <a:pPr marL="457200" indent="-457200">
              <a:buFont typeface="Wingdings" panose="05000000000000000000" pitchFamily="2" charset="2"/>
              <a:buChar char="Ø"/>
            </a:pPr>
            <a:r>
              <a:rPr lang="en-US" sz="2800" dirty="0"/>
              <a:t>Example visualizations: </a:t>
            </a:r>
          </a:p>
          <a:p>
            <a:pPr marL="749808" lvl="1" indent="-457200">
              <a:buFont typeface="Wingdings" panose="05000000000000000000" pitchFamily="2" charset="2"/>
              <a:buChar char="Ø"/>
            </a:pPr>
            <a:r>
              <a:rPr lang="en-US" sz="2600" dirty="0">
                <a:solidFill>
                  <a:srgbClr val="0000FF"/>
                </a:solidFill>
                <a:hlinkClick r:id="rId2">
                  <a:extLst>
                    <a:ext uri="{A12FA001-AC4F-418D-AE19-62706E023703}">
                      <ahyp:hlinkClr xmlns:ahyp="http://schemas.microsoft.com/office/drawing/2018/hyperlinkcolor" val="tx"/>
                    </a:ext>
                  </a:extLst>
                </a:hlinkClick>
              </a:rPr>
              <a:t>https://cse.unl.edu/~cbourke/PDCatUNL/module-parallel-visual.html</a:t>
            </a:r>
            <a:r>
              <a:rPr lang="en-US" sz="2600" dirty="0">
                <a:solidFill>
                  <a:srgbClr val="0000FF"/>
                </a:solidFill>
              </a:rPr>
              <a:t> </a:t>
            </a:r>
            <a:endParaRPr lang="en-US" sz="2600" dirty="0">
              <a:solidFill>
                <a:srgbClr val="6B9F25"/>
              </a:solidFill>
              <a:hlinkClick r:id="rId3">
                <a:extLst>
                  <a:ext uri="{A12FA001-AC4F-418D-AE19-62706E023703}">
                    <ahyp:hlinkClr xmlns:ahyp="http://schemas.microsoft.com/office/drawing/2018/hyperlinkcolor" val="tx"/>
                  </a:ext>
                </a:extLst>
              </a:hlinkClick>
            </a:endParaRPr>
          </a:p>
          <a:p>
            <a:pPr marL="749808" lvl="1" indent="-457200">
              <a:buFont typeface="Wingdings" panose="05000000000000000000" pitchFamily="2" charset="2"/>
              <a:buChar char="Ø"/>
            </a:pPr>
            <a:r>
              <a:rPr lang="en-US" sz="2600" dirty="0">
                <a:solidFill>
                  <a:srgbClr val="0000FF"/>
                </a:solidFill>
                <a:hlinkClick r:id="rId3">
                  <a:extLst>
                    <a:ext uri="{A12FA001-AC4F-418D-AE19-62706E023703}">
                      <ahyp:hlinkClr xmlns:ahyp="http://schemas.microsoft.com/office/drawing/2018/hyperlinkcolor" val="tx"/>
                    </a:ext>
                  </a:extLst>
                </a:hlinkClick>
              </a:rPr>
              <a:t>https://raw.githack.com/xiaoyuansuo51-webster/Flag_Coloring_Activity/refs/heads/main/parallel_linked_list.html</a:t>
            </a:r>
            <a:r>
              <a:rPr lang="en-US" sz="2600" dirty="0">
                <a:solidFill>
                  <a:srgbClr val="0000FF"/>
                </a:solidFill>
              </a:rPr>
              <a:t> </a:t>
            </a:r>
          </a:p>
        </p:txBody>
      </p:sp>
    </p:spTree>
    <p:extLst>
      <p:ext uri="{BB962C8B-B14F-4D97-AF65-F5344CB8AC3E}">
        <p14:creationId xmlns:p14="http://schemas.microsoft.com/office/powerpoint/2010/main" val="470000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09C70-C912-DAAC-4B8F-A91223DCF9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1B0F0-44A8-71CF-DA2B-2FDF2FD6BA43}"/>
              </a:ext>
            </a:extLst>
          </p:cNvPr>
          <p:cNvSpPr>
            <a:spLocks noGrp="1"/>
          </p:cNvSpPr>
          <p:nvPr>
            <p:ph type="title"/>
          </p:nvPr>
        </p:nvSpPr>
        <p:spPr/>
        <p:txBody>
          <a:bodyPr/>
          <a:lstStyle/>
          <a:p>
            <a:r>
              <a:rPr lang="en-US" b="1" dirty="0"/>
              <a:t>Parallel Sorting</a:t>
            </a:r>
          </a:p>
        </p:txBody>
      </p:sp>
      <p:sp>
        <p:nvSpPr>
          <p:cNvPr id="3" name="Content Placeholder 2">
            <a:extLst>
              <a:ext uri="{FF2B5EF4-FFF2-40B4-BE49-F238E27FC236}">
                <a16:creationId xmlns:a16="http://schemas.microsoft.com/office/drawing/2014/main" id="{24EDAF62-EA26-5F62-B35A-48F79E13BD37}"/>
              </a:ext>
            </a:extLst>
          </p:cNvPr>
          <p:cNvSpPr>
            <a:spLocks noGrp="1"/>
          </p:cNvSpPr>
          <p:nvPr>
            <p:ph idx="1"/>
          </p:nvPr>
        </p:nvSpPr>
        <p:spPr>
          <a:xfrm>
            <a:off x="1097280" y="1845734"/>
            <a:ext cx="9770745" cy="4023360"/>
          </a:xfrm>
        </p:spPr>
        <p:txBody>
          <a:bodyPr>
            <a:normAutofit/>
          </a:bodyPr>
          <a:lstStyle/>
          <a:p>
            <a:pPr marL="457200" indent="-457200">
              <a:buFont typeface="Wingdings" panose="05000000000000000000" pitchFamily="2" charset="2"/>
              <a:buChar char="Ø"/>
            </a:pPr>
            <a:r>
              <a:rPr lang="en-US" sz="2800" dirty="0"/>
              <a:t>Sorting can be </a:t>
            </a:r>
            <a:r>
              <a:rPr lang="en-US" sz="2800" b="1" dirty="0">
                <a:highlight>
                  <a:srgbClr val="FFFF00"/>
                </a:highlight>
              </a:rPr>
              <a:t>parallelized</a:t>
            </a:r>
            <a:r>
              <a:rPr lang="en-US" sz="2800" dirty="0"/>
              <a:t> by breaking data into chunks, sorting them independently, and then merging results. This is another example of data parallelism.</a:t>
            </a:r>
          </a:p>
          <a:p>
            <a:pPr marL="457200" indent="-457200">
              <a:buFont typeface="Wingdings" panose="05000000000000000000" pitchFamily="2" charset="2"/>
              <a:buChar char="Ø"/>
            </a:pPr>
            <a:r>
              <a:rPr lang="en-US" sz="2800" dirty="0" err="1"/>
              <a:t>Flagmaker</a:t>
            </a:r>
            <a:r>
              <a:rPr lang="en-US" sz="2800" dirty="0"/>
              <a:t> activity visualization showing parallelizing loops to draw a flag: </a:t>
            </a:r>
            <a:r>
              <a:rPr lang="en-US" u="sng" dirty="0">
                <a:solidFill>
                  <a:srgbClr val="0000FF"/>
                </a:solidFill>
                <a:hlinkClick r:id="rId2">
                  <a:extLst>
                    <a:ext uri="{A12FA001-AC4F-418D-AE19-62706E023703}">
                      <ahyp:hlinkClr xmlns:ahyp="http://schemas.microsoft.com/office/drawing/2018/hyperlinkcolor" val="tx"/>
                    </a:ext>
                  </a:extLst>
                </a:hlinkClick>
              </a:rPr>
              <a:t>https://raw.githack.com/xiaoyuansuo51-webster/Flag_Coloring_Activity/refs/heads/main/parallel_flag_color_XSUO.html</a:t>
            </a:r>
            <a:endParaRPr lang="en-US" sz="2800" dirty="0">
              <a:solidFill>
                <a:srgbClr val="0000FF"/>
              </a:solidFill>
            </a:endParaRPr>
          </a:p>
          <a:p>
            <a:pPr marL="457200" indent="-457200">
              <a:buFont typeface="Wingdings" panose="05000000000000000000" pitchFamily="2" charset="2"/>
              <a:buChar char="Ø"/>
            </a:pPr>
            <a:r>
              <a:rPr lang="en-US" sz="2800" b="1" dirty="0"/>
              <a:t>Divide-and-conquer</a:t>
            </a:r>
            <a:r>
              <a:rPr lang="en-US" sz="2800" dirty="0"/>
              <a:t> algorithms such as </a:t>
            </a:r>
            <a:r>
              <a:rPr lang="en-US" sz="2800" b="1" dirty="0"/>
              <a:t>Merge Sort</a:t>
            </a:r>
            <a:r>
              <a:rPr lang="en-US" sz="2800" dirty="0"/>
              <a:t> and </a:t>
            </a:r>
            <a:r>
              <a:rPr lang="en-US" sz="2800" b="1" dirty="0" err="1"/>
              <a:t>QuickSort</a:t>
            </a:r>
            <a:r>
              <a:rPr lang="en-US" sz="2800" dirty="0"/>
              <a:t> are well-suited for parallelization because each subproblem can be sorted independently in different threads.</a:t>
            </a:r>
          </a:p>
        </p:txBody>
      </p:sp>
    </p:spTree>
    <p:extLst>
      <p:ext uri="{BB962C8B-B14F-4D97-AF65-F5344CB8AC3E}">
        <p14:creationId xmlns:p14="http://schemas.microsoft.com/office/powerpoint/2010/main" val="359243812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0D391-D20B-AFB5-0DD4-2E0B5AA42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D5010-59C8-7B6A-4EA5-6B809B464FB9}"/>
              </a:ext>
            </a:extLst>
          </p:cNvPr>
          <p:cNvSpPr>
            <a:spLocks noGrp="1"/>
          </p:cNvSpPr>
          <p:nvPr>
            <p:ph type="title"/>
          </p:nvPr>
        </p:nvSpPr>
        <p:spPr/>
        <p:txBody>
          <a:bodyPr/>
          <a:lstStyle/>
          <a:p>
            <a:r>
              <a:rPr lang="en-US" b="1" dirty="0"/>
              <a:t>Parallel Processing in C++ with OpenMP</a:t>
            </a:r>
            <a:endParaRPr lang="en-US" b="1" dirty="0">
              <a:highlight>
                <a:srgbClr val="FFFF00"/>
              </a:highlight>
            </a:endParaRPr>
          </a:p>
        </p:txBody>
      </p:sp>
      <p:sp>
        <p:nvSpPr>
          <p:cNvPr id="3" name="Content Placeholder 2">
            <a:extLst>
              <a:ext uri="{FF2B5EF4-FFF2-40B4-BE49-F238E27FC236}">
                <a16:creationId xmlns:a16="http://schemas.microsoft.com/office/drawing/2014/main" id="{FE1F3E9A-3E47-AA57-9BA2-998CBF7A24B3}"/>
              </a:ext>
            </a:extLst>
          </p:cNvPr>
          <p:cNvSpPr>
            <a:spLocks noGrp="1"/>
          </p:cNvSpPr>
          <p:nvPr>
            <p:ph idx="1"/>
          </p:nvPr>
        </p:nvSpPr>
        <p:spPr>
          <a:xfrm>
            <a:off x="1097280" y="1845734"/>
            <a:ext cx="9770745" cy="4023360"/>
          </a:xfrm>
        </p:spPr>
        <p:txBody>
          <a:bodyPr>
            <a:normAutofit/>
          </a:bodyPr>
          <a:lstStyle/>
          <a:p>
            <a:pPr marL="457200" indent="-457200">
              <a:buFont typeface="Arial" panose="020B0604020202020204" pitchFamily="34" charset="0"/>
              <a:buChar char="•"/>
            </a:pPr>
            <a:r>
              <a:rPr lang="en-US" sz="2400" dirty="0"/>
              <a:t>We will use </a:t>
            </a:r>
            <a:r>
              <a:rPr lang="en-US" sz="2400" b="1" dirty="0">
                <a:solidFill>
                  <a:srgbClr val="0000FF"/>
                </a:solidFill>
              </a:rPr>
              <a:t>OpenMP</a:t>
            </a:r>
            <a:r>
              <a:rPr lang="en-US" sz="2400" dirty="0"/>
              <a:t> to write parallel programs in C++</a:t>
            </a:r>
          </a:p>
          <a:p>
            <a:pPr marL="457200" indent="-457200">
              <a:buFont typeface="Arial" panose="020B0604020202020204" pitchFamily="34" charset="0"/>
              <a:buChar char="•"/>
            </a:pPr>
            <a:r>
              <a:rPr lang="en-US" sz="2400" dirty="0"/>
              <a:t>Details are in </a:t>
            </a:r>
            <a:r>
              <a:rPr lang="en-US" sz="2400" b="1" dirty="0"/>
              <a:t>[PRESENTATION SLIDES] CS2 OpenMP Introduction</a:t>
            </a:r>
          </a:p>
          <a:p>
            <a:pPr marL="457200" indent="-457200">
              <a:buFont typeface="Wingdings" panose="05000000000000000000" pitchFamily="2" charset="2"/>
              <a:buChar char="Ø"/>
            </a:pPr>
            <a:endParaRPr lang="en-US" sz="2800" dirty="0"/>
          </a:p>
        </p:txBody>
      </p:sp>
      <p:pic>
        <p:nvPicPr>
          <p:cNvPr id="5" name="Picture 4">
            <a:extLst>
              <a:ext uri="{FF2B5EF4-FFF2-40B4-BE49-F238E27FC236}">
                <a16:creationId xmlns:a16="http://schemas.microsoft.com/office/drawing/2014/main" id="{2E36706D-1933-3CB2-9085-F714F3C5531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010789" y="2908197"/>
            <a:ext cx="8258292" cy="3309723"/>
          </a:xfrm>
          <a:prstGeom prst="rect">
            <a:avLst/>
          </a:prstGeom>
        </p:spPr>
      </p:pic>
    </p:spTree>
    <p:extLst>
      <p:ext uri="{BB962C8B-B14F-4D97-AF65-F5344CB8AC3E}">
        <p14:creationId xmlns:p14="http://schemas.microsoft.com/office/powerpoint/2010/main" val="3377818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932B7C-EB4B-C18A-C98E-289688BCD8D3}"/>
            </a:ext>
          </a:extLst>
        </p:cNvPr>
        <p:cNvGrpSpPr/>
        <p:nvPr/>
      </p:nvGrpSpPr>
      <p:grpSpPr>
        <a:xfrm>
          <a:off x="0" y="0"/>
          <a:ext cx="0" cy="0"/>
          <a:chOff x="0" y="0"/>
          <a:chExt cx="0" cy="0"/>
        </a:xfrm>
      </p:grpSpPr>
      <p:sp>
        <p:nvSpPr>
          <p:cNvPr id="2055" name="Rectangle 2054">
            <a:extLst>
              <a:ext uri="{FF2B5EF4-FFF2-40B4-BE49-F238E27FC236}">
                <a16:creationId xmlns:a16="http://schemas.microsoft.com/office/drawing/2014/main" id="{C115BEBD-8C94-2520-020E-45AA2A3ACE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57" name="Rectangle 2056">
            <a:extLst>
              <a:ext uri="{FF2B5EF4-FFF2-40B4-BE49-F238E27FC236}">
                <a16:creationId xmlns:a16="http://schemas.microsoft.com/office/drawing/2014/main" id="{F360BE4D-82C2-B177-F34F-F999099DE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059" name="Straight Connector 2058">
            <a:extLst>
              <a:ext uri="{FF2B5EF4-FFF2-40B4-BE49-F238E27FC236}">
                <a16:creationId xmlns:a16="http://schemas.microsoft.com/office/drawing/2014/main" id="{044671BA-9625-611D-18E9-BC1595AE76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061" name="Rectangle 2060">
            <a:extLst>
              <a:ext uri="{FF2B5EF4-FFF2-40B4-BE49-F238E27FC236}">
                <a16:creationId xmlns:a16="http://schemas.microsoft.com/office/drawing/2014/main" id="{B4231B97-1FA3-44D6-509C-488206054A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7AB45B-D4D3-FD72-5EBD-655084FBCB99}"/>
              </a:ext>
            </a:extLst>
          </p:cNvPr>
          <p:cNvSpPr>
            <a:spLocks noGrp="1"/>
          </p:cNvSpPr>
          <p:nvPr>
            <p:ph type="title"/>
          </p:nvPr>
        </p:nvSpPr>
        <p:spPr>
          <a:xfrm>
            <a:off x="5289754" y="639097"/>
            <a:ext cx="6253317" cy="3686015"/>
          </a:xfrm>
        </p:spPr>
        <p:txBody>
          <a:bodyPr vert="horz" lIns="91440" tIns="45720" rIns="91440" bIns="45720" rtlCol="0" anchor="b">
            <a:normAutofit/>
          </a:bodyPr>
          <a:lstStyle/>
          <a:p>
            <a:r>
              <a:rPr lang="en-US" dirty="0"/>
              <a:t>Radix Sort</a:t>
            </a:r>
          </a:p>
        </p:txBody>
      </p:sp>
      <p:pic>
        <p:nvPicPr>
          <p:cNvPr id="2050" name="Picture 2" descr="If you're so smart, why *I'm* the one they introduce first in CS? :  r/ProgrammerHumor">
            <a:extLst>
              <a:ext uri="{FF2B5EF4-FFF2-40B4-BE49-F238E27FC236}">
                <a16:creationId xmlns:a16="http://schemas.microsoft.com/office/drawing/2014/main" id="{0B99C613-B334-920E-3FF9-676092F801A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8834" y="117800"/>
            <a:ext cx="4541989" cy="6039427"/>
          </a:xfrm>
          <a:prstGeom prst="rect">
            <a:avLst/>
          </a:prstGeom>
          <a:noFill/>
          <a:extLst>
            <a:ext uri="{909E8E84-426E-40DD-AFC4-6F175D3DCCD1}">
              <a14:hiddenFill xmlns:a14="http://schemas.microsoft.com/office/drawing/2010/main">
                <a:solidFill>
                  <a:srgbClr val="FFFFFF"/>
                </a:solidFill>
              </a14:hiddenFill>
            </a:ext>
          </a:extLst>
        </p:spPr>
      </p:pic>
      <p:cxnSp>
        <p:nvCxnSpPr>
          <p:cNvPr id="2063" name="Straight Connector 2062">
            <a:extLst>
              <a:ext uri="{FF2B5EF4-FFF2-40B4-BE49-F238E27FC236}">
                <a16:creationId xmlns:a16="http://schemas.microsoft.com/office/drawing/2014/main" id="{5CF7C1B9-1DC1-FAA3-36BA-5898B6D5451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065" name="Rectangle 2064">
            <a:extLst>
              <a:ext uri="{FF2B5EF4-FFF2-40B4-BE49-F238E27FC236}">
                <a16:creationId xmlns:a16="http://schemas.microsoft.com/office/drawing/2014/main" id="{EE297880-4917-8519-C9B4-C4B19C052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67" name="Rectangle 2066">
            <a:extLst>
              <a:ext uri="{FF2B5EF4-FFF2-40B4-BE49-F238E27FC236}">
                <a16:creationId xmlns:a16="http://schemas.microsoft.com/office/drawing/2014/main" id="{6D5A6797-73AC-291C-BF5F-F9FB901E0E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21237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Radix Sort?</a:t>
            </a:r>
          </a:p>
        </p:txBody>
      </p:sp>
      <p:sp>
        <p:nvSpPr>
          <p:cNvPr id="3" name="Content Placeholder 2"/>
          <p:cNvSpPr>
            <a:spLocks noGrp="1"/>
          </p:cNvSpPr>
          <p:nvPr>
            <p:ph idx="1"/>
          </p:nvPr>
        </p:nvSpPr>
        <p:spPr/>
        <p:txBody>
          <a:bodyPr>
            <a:normAutofit/>
          </a:bodyPr>
          <a:lstStyle/>
          <a:p>
            <a:pPr marL="0" indent="0">
              <a:buNone/>
            </a:pPr>
            <a:r>
              <a:rPr lang="en-US" sz="4000" b="1" dirty="0">
                <a:solidFill>
                  <a:srgbClr val="0070C0"/>
                </a:solidFill>
              </a:rPr>
              <a:t>Radix sort </a:t>
            </a:r>
            <a:r>
              <a:rPr lang="en-US" sz="4000" dirty="0"/>
              <a:t>is a </a:t>
            </a:r>
            <a:r>
              <a:rPr lang="en-US" sz="4000" u="sng" dirty="0"/>
              <a:t>non-comparative</a:t>
            </a:r>
            <a:r>
              <a:rPr lang="en-US" sz="4000" dirty="0"/>
              <a:t> sorting algorithm that sorts data by treating all data as character strings and then by grouping strings by the individual digits (characters) which share the same significant position and value.</a:t>
            </a:r>
          </a:p>
        </p:txBody>
      </p:sp>
    </p:spTree>
    <p:extLst>
      <p:ext uri="{BB962C8B-B14F-4D97-AF65-F5344CB8AC3E}">
        <p14:creationId xmlns:p14="http://schemas.microsoft.com/office/powerpoint/2010/main" val="129093080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Radix Sort Info</a:t>
            </a:r>
          </a:p>
        </p:txBody>
      </p:sp>
      <p:sp>
        <p:nvSpPr>
          <p:cNvPr id="3" name="Content Placeholder 2"/>
          <p:cNvSpPr>
            <a:spLocks noGrp="1"/>
          </p:cNvSpPr>
          <p:nvPr>
            <p:ph idx="1"/>
          </p:nvPr>
        </p:nvSpPr>
        <p:spPr/>
        <p:txBody>
          <a:bodyPr>
            <a:normAutofit/>
          </a:bodyPr>
          <a:lstStyle/>
          <a:p>
            <a:pPr marL="465138" indent="-465138">
              <a:buFont typeface="Wingdings" panose="05000000000000000000" pitchFamily="2" charset="2"/>
              <a:buChar char="v"/>
            </a:pPr>
            <a:r>
              <a:rPr lang="en-US" sz="3200" dirty="0"/>
              <a:t>Different from all the other sorts so far because it does not compare the array’s entries.</a:t>
            </a:r>
            <a:br>
              <a:rPr lang="en-US" sz="3200" dirty="0"/>
            </a:br>
            <a:endParaRPr lang="en-US" sz="3200" dirty="0"/>
          </a:p>
          <a:p>
            <a:pPr marL="465138" indent="-465138">
              <a:buFont typeface="Wingdings" panose="05000000000000000000" pitchFamily="2" charset="2"/>
              <a:buChar char="v"/>
            </a:pPr>
            <a:r>
              <a:rPr lang="en-US" sz="3200" dirty="0"/>
              <a:t>Two kinds of radix sort</a:t>
            </a:r>
          </a:p>
          <a:p>
            <a:pPr marL="757746" lvl="1" indent="-465138">
              <a:buFont typeface="Wingdings" panose="05000000000000000000" pitchFamily="2" charset="2"/>
              <a:buChar char="v"/>
            </a:pPr>
            <a:r>
              <a:rPr lang="en-US" sz="2800" dirty="0"/>
              <a:t>LSD – least significant digit</a:t>
            </a:r>
          </a:p>
          <a:p>
            <a:pPr marL="757746" lvl="1" indent="-465138">
              <a:buFont typeface="Wingdings" panose="05000000000000000000" pitchFamily="2" charset="2"/>
              <a:buChar char="v"/>
            </a:pPr>
            <a:r>
              <a:rPr lang="en-US" sz="2800" dirty="0"/>
              <a:t>MSD – most significant digit</a:t>
            </a:r>
            <a:br>
              <a:rPr lang="en-US" sz="2800" dirty="0"/>
            </a:br>
            <a:endParaRPr lang="en-US" sz="2800" dirty="0"/>
          </a:p>
          <a:p>
            <a:pPr marL="465138" indent="-465138">
              <a:buFont typeface="Wingdings" panose="05000000000000000000" pitchFamily="2" charset="2"/>
              <a:buChar char="v"/>
            </a:pPr>
            <a:r>
              <a:rPr lang="en-US" sz="3200" dirty="0"/>
              <a:t>I am going to focus on LSD Radix sort</a:t>
            </a:r>
          </a:p>
        </p:txBody>
      </p:sp>
    </p:spTree>
    <p:extLst>
      <p:ext uri="{BB962C8B-B14F-4D97-AF65-F5344CB8AC3E}">
        <p14:creationId xmlns:p14="http://schemas.microsoft.com/office/powerpoint/2010/main" val="225194890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Radix Sort Example, slide 1</a:t>
            </a:r>
          </a:p>
        </p:txBody>
      </p:sp>
      <p:sp>
        <p:nvSpPr>
          <p:cNvPr id="5" name="TextBox 4"/>
          <p:cNvSpPr txBox="1"/>
          <p:nvPr/>
        </p:nvSpPr>
        <p:spPr>
          <a:xfrm>
            <a:off x="1194179" y="1849272"/>
            <a:ext cx="10133463" cy="3908762"/>
          </a:xfrm>
          <a:prstGeom prst="rect">
            <a:avLst/>
          </a:prstGeom>
          <a:noFill/>
        </p:spPr>
        <p:txBody>
          <a:bodyPr wrap="square" rtlCol="0">
            <a:spAutoFit/>
          </a:bodyPr>
          <a:lstStyle/>
          <a:p>
            <a:r>
              <a:rPr lang="en-US" sz="2800" b="1" dirty="0"/>
              <a:t>Step 1:  </a:t>
            </a:r>
            <a:r>
              <a:rPr lang="en-US" sz="2800" dirty="0"/>
              <a:t>Original, unsorted list or array:</a:t>
            </a:r>
            <a:endParaRPr lang="en-US" dirty="0"/>
          </a:p>
          <a:p>
            <a:endParaRPr lang="en-US" dirty="0"/>
          </a:p>
          <a:p>
            <a:endParaRPr lang="en-US" dirty="0"/>
          </a:p>
          <a:p>
            <a:endParaRPr lang="en-US" dirty="0"/>
          </a:p>
          <a:p>
            <a:endParaRPr lang="en-US" dirty="0"/>
          </a:p>
          <a:p>
            <a:r>
              <a:rPr lang="en-US" sz="2800" b="1" dirty="0"/>
              <a:t>Step 2:  </a:t>
            </a:r>
            <a:r>
              <a:rPr lang="en-US" sz="2800" dirty="0"/>
              <a:t>Treat each of these numbers as character strings and make all “strings” of equal length.  With numbers, you would want to add zeros to the front of all which are not 3 digits so that they are all 3 digits (characters)</a:t>
            </a:r>
          </a:p>
          <a:p>
            <a:endParaRPr lang="en-US" dirty="0"/>
          </a:p>
          <a:p>
            <a:endParaRPr lang="en-US" dirty="0"/>
          </a:p>
        </p:txBody>
      </p:sp>
      <p:graphicFrame>
        <p:nvGraphicFramePr>
          <p:cNvPr id="4" name="Content Placeholder 3"/>
          <p:cNvGraphicFramePr>
            <a:graphicFrameLocks noGrp="1"/>
          </p:cNvGraphicFramePr>
          <p:nvPr>
            <p:ph idx="1"/>
          </p:nvPr>
        </p:nvGraphicFramePr>
        <p:xfrm>
          <a:off x="1097280" y="2747015"/>
          <a:ext cx="10058400" cy="57912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1920397348"/>
                    </a:ext>
                  </a:extLst>
                </a:gridCol>
                <a:gridCol w="1257300">
                  <a:extLst>
                    <a:ext uri="{9D8B030D-6E8A-4147-A177-3AD203B41FA5}">
                      <a16:colId xmlns:a16="http://schemas.microsoft.com/office/drawing/2014/main" val="3524114769"/>
                    </a:ext>
                  </a:extLst>
                </a:gridCol>
                <a:gridCol w="1257300">
                  <a:extLst>
                    <a:ext uri="{9D8B030D-6E8A-4147-A177-3AD203B41FA5}">
                      <a16:colId xmlns:a16="http://schemas.microsoft.com/office/drawing/2014/main" val="2695024088"/>
                    </a:ext>
                  </a:extLst>
                </a:gridCol>
                <a:gridCol w="1257300">
                  <a:extLst>
                    <a:ext uri="{9D8B030D-6E8A-4147-A177-3AD203B41FA5}">
                      <a16:colId xmlns:a16="http://schemas.microsoft.com/office/drawing/2014/main" val="2195160812"/>
                    </a:ext>
                  </a:extLst>
                </a:gridCol>
                <a:gridCol w="1257300">
                  <a:extLst>
                    <a:ext uri="{9D8B030D-6E8A-4147-A177-3AD203B41FA5}">
                      <a16:colId xmlns:a16="http://schemas.microsoft.com/office/drawing/2014/main" val="246579557"/>
                    </a:ext>
                  </a:extLst>
                </a:gridCol>
                <a:gridCol w="1257300">
                  <a:extLst>
                    <a:ext uri="{9D8B030D-6E8A-4147-A177-3AD203B41FA5}">
                      <a16:colId xmlns:a16="http://schemas.microsoft.com/office/drawing/2014/main" val="3629415840"/>
                    </a:ext>
                  </a:extLst>
                </a:gridCol>
                <a:gridCol w="1257300">
                  <a:extLst>
                    <a:ext uri="{9D8B030D-6E8A-4147-A177-3AD203B41FA5}">
                      <a16:colId xmlns:a16="http://schemas.microsoft.com/office/drawing/2014/main" val="527822308"/>
                    </a:ext>
                  </a:extLst>
                </a:gridCol>
                <a:gridCol w="1257300">
                  <a:extLst>
                    <a:ext uri="{9D8B030D-6E8A-4147-A177-3AD203B41FA5}">
                      <a16:colId xmlns:a16="http://schemas.microsoft.com/office/drawing/2014/main" val="3987635505"/>
                    </a:ext>
                  </a:extLst>
                </a:gridCol>
              </a:tblGrid>
              <a:tr h="370840">
                <a:tc>
                  <a:txBody>
                    <a:bodyPr/>
                    <a:lstStyle/>
                    <a:p>
                      <a:r>
                        <a:rPr lang="en-US" sz="3200" dirty="0">
                          <a:solidFill>
                            <a:schemeClr val="bg1"/>
                          </a:solidFill>
                        </a:rPr>
                        <a:t>170</a:t>
                      </a:r>
                    </a:p>
                  </a:txBody>
                  <a:tcPr>
                    <a:solidFill>
                      <a:schemeClr val="tx1"/>
                    </a:solidFill>
                  </a:tcPr>
                </a:tc>
                <a:tc>
                  <a:txBody>
                    <a:bodyPr/>
                    <a:lstStyle/>
                    <a:p>
                      <a:r>
                        <a:rPr lang="en-US" sz="3200" dirty="0">
                          <a:solidFill>
                            <a:schemeClr val="bg1"/>
                          </a:solidFill>
                        </a:rPr>
                        <a:t>45</a:t>
                      </a:r>
                    </a:p>
                  </a:txBody>
                  <a:tcPr>
                    <a:solidFill>
                      <a:schemeClr val="tx1"/>
                    </a:solidFill>
                  </a:tcPr>
                </a:tc>
                <a:tc>
                  <a:txBody>
                    <a:bodyPr/>
                    <a:lstStyle/>
                    <a:p>
                      <a:r>
                        <a:rPr lang="en-US" sz="3200" dirty="0">
                          <a:solidFill>
                            <a:schemeClr val="bg1"/>
                          </a:solidFill>
                        </a:rPr>
                        <a:t>75</a:t>
                      </a:r>
                    </a:p>
                  </a:txBody>
                  <a:tcPr>
                    <a:solidFill>
                      <a:schemeClr val="tx1"/>
                    </a:solidFill>
                  </a:tcPr>
                </a:tc>
                <a:tc>
                  <a:txBody>
                    <a:bodyPr/>
                    <a:lstStyle/>
                    <a:p>
                      <a:r>
                        <a:rPr lang="en-US" sz="3200" dirty="0">
                          <a:solidFill>
                            <a:schemeClr val="bg1"/>
                          </a:solidFill>
                        </a:rPr>
                        <a:t>90</a:t>
                      </a:r>
                    </a:p>
                  </a:txBody>
                  <a:tcPr>
                    <a:solidFill>
                      <a:schemeClr val="tx1"/>
                    </a:solidFill>
                  </a:tcPr>
                </a:tc>
                <a:tc>
                  <a:txBody>
                    <a:bodyPr/>
                    <a:lstStyle/>
                    <a:p>
                      <a:r>
                        <a:rPr lang="en-US" sz="3200" dirty="0">
                          <a:solidFill>
                            <a:schemeClr val="bg1"/>
                          </a:solidFill>
                        </a:rPr>
                        <a:t>02</a:t>
                      </a:r>
                    </a:p>
                  </a:txBody>
                  <a:tcPr>
                    <a:solidFill>
                      <a:schemeClr val="tx1"/>
                    </a:solidFill>
                  </a:tcPr>
                </a:tc>
                <a:tc>
                  <a:txBody>
                    <a:bodyPr/>
                    <a:lstStyle/>
                    <a:p>
                      <a:r>
                        <a:rPr lang="en-US" sz="3200" dirty="0">
                          <a:solidFill>
                            <a:schemeClr val="bg1"/>
                          </a:solidFill>
                        </a:rPr>
                        <a:t>802</a:t>
                      </a:r>
                    </a:p>
                  </a:txBody>
                  <a:tcPr>
                    <a:solidFill>
                      <a:schemeClr val="tx1"/>
                    </a:solidFill>
                  </a:tcPr>
                </a:tc>
                <a:tc>
                  <a:txBody>
                    <a:bodyPr/>
                    <a:lstStyle/>
                    <a:p>
                      <a:r>
                        <a:rPr lang="en-US" sz="3200" dirty="0">
                          <a:solidFill>
                            <a:schemeClr val="bg1"/>
                          </a:solidFill>
                        </a:rPr>
                        <a:t>2</a:t>
                      </a:r>
                    </a:p>
                  </a:txBody>
                  <a:tcPr>
                    <a:solidFill>
                      <a:schemeClr val="tx1"/>
                    </a:solidFill>
                  </a:tcPr>
                </a:tc>
                <a:tc>
                  <a:txBody>
                    <a:bodyPr/>
                    <a:lstStyle/>
                    <a:p>
                      <a:r>
                        <a:rPr lang="en-US" sz="3200" dirty="0">
                          <a:solidFill>
                            <a:schemeClr val="bg1"/>
                          </a:solidFill>
                        </a:rPr>
                        <a:t>66</a:t>
                      </a:r>
                    </a:p>
                  </a:txBody>
                  <a:tcPr>
                    <a:solidFill>
                      <a:schemeClr val="tx1"/>
                    </a:solidFill>
                  </a:tcPr>
                </a:tc>
                <a:extLst>
                  <a:ext uri="{0D108BD9-81ED-4DB2-BD59-A6C34878D82A}">
                    <a16:rowId xmlns:a16="http://schemas.microsoft.com/office/drawing/2014/main" val="2201540731"/>
                  </a:ext>
                </a:extLst>
              </a:tr>
            </a:tbl>
          </a:graphicData>
        </a:graphic>
      </p:graphicFrame>
      <p:graphicFrame>
        <p:nvGraphicFramePr>
          <p:cNvPr id="6" name="Content Placeholder 3"/>
          <p:cNvGraphicFramePr>
            <a:graphicFrameLocks/>
          </p:cNvGraphicFramePr>
          <p:nvPr/>
        </p:nvGraphicFramePr>
        <p:xfrm>
          <a:off x="1097280" y="5417427"/>
          <a:ext cx="10058400" cy="57912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1920397348"/>
                    </a:ext>
                  </a:extLst>
                </a:gridCol>
                <a:gridCol w="1257300">
                  <a:extLst>
                    <a:ext uri="{9D8B030D-6E8A-4147-A177-3AD203B41FA5}">
                      <a16:colId xmlns:a16="http://schemas.microsoft.com/office/drawing/2014/main" val="3524114769"/>
                    </a:ext>
                  </a:extLst>
                </a:gridCol>
                <a:gridCol w="1257300">
                  <a:extLst>
                    <a:ext uri="{9D8B030D-6E8A-4147-A177-3AD203B41FA5}">
                      <a16:colId xmlns:a16="http://schemas.microsoft.com/office/drawing/2014/main" val="2695024088"/>
                    </a:ext>
                  </a:extLst>
                </a:gridCol>
                <a:gridCol w="1257300">
                  <a:extLst>
                    <a:ext uri="{9D8B030D-6E8A-4147-A177-3AD203B41FA5}">
                      <a16:colId xmlns:a16="http://schemas.microsoft.com/office/drawing/2014/main" val="2195160812"/>
                    </a:ext>
                  </a:extLst>
                </a:gridCol>
                <a:gridCol w="1257300">
                  <a:extLst>
                    <a:ext uri="{9D8B030D-6E8A-4147-A177-3AD203B41FA5}">
                      <a16:colId xmlns:a16="http://schemas.microsoft.com/office/drawing/2014/main" val="246579557"/>
                    </a:ext>
                  </a:extLst>
                </a:gridCol>
                <a:gridCol w="1257300">
                  <a:extLst>
                    <a:ext uri="{9D8B030D-6E8A-4147-A177-3AD203B41FA5}">
                      <a16:colId xmlns:a16="http://schemas.microsoft.com/office/drawing/2014/main" val="3629415840"/>
                    </a:ext>
                  </a:extLst>
                </a:gridCol>
                <a:gridCol w="1257300">
                  <a:extLst>
                    <a:ext uri="{9D8B030D-6E8A-4147-A177-3AD203B41FA5}">
                      <a16:colId xmlns:a16="http://schemas.microsoft.com/office/drawing/2014/main" val="527822308"/>
                    </a:ext>
                  </a:extLst>
                </a:gridCol>
                <a:gridCol w="1257300">
                  <a:extLst>
                    <a:ext uri="{9D8B030D-6E8A-4147-A177-3AD203B41FA5}">
                      <a16:colId xmlns:a16="http://schemas.microsoft.com/office/drawing/2014/main" val="3987635505"/>
                    </a:ext>
                  </a:extLst>
                </a:gridCol>
              </a:tblGrid>
              <a:tr h="370840">
                <a:tc>
                  <a:txBody>
                    <a:bodyPr/>
                    <a:lstStyle/>
                    <a:p>
                      <a:r>
                        <a:rPr lang="en-US" sz="3200" dirty="0">
                          <a:solidFill>
                            <a:schemeClr val="bg1"/>
                          </a:solidFill>
                        </a:rPr>
                        <a:t>170</a:t>
                      </a:r>
                    </a:p>
                  </a:txBody>
                  <a:tcPr>
                    <a:solidFill>
                      <a:schemeClr val="tx1"/>
                    </a:solidFill>
                  </a:tcPr>
                </a:tc>
                <a:tc>
                  <a:txBody>
                    <a:bodyPr/>
                    <a:lstStyle/>
                    <a:p>
                      <a:r>
                        <a:rPr lang="en-US" sz="3200" dirty="0">
                          <a:solidFill>
                            <a:schemeClr val="bg1"/>
                          </a:solidFill>
                        </a:rPr>
                        <a:t>045</a:t>
                      </a:r>
                    </a:p>
                  </a:txBody>
                  <a:tcPr>
                    <a:solidFill>
                      <a:schemeClr val="tx1"/>
                    </a:solidFill>
                  </a:tcPr>
                </a:tc>
                <a:tc>
                  <a:txBody>
                    <a:bodyPr/>
                    <a:lstStyle/>
                    <a:p>
                      <a:r>
                        <a:rPr lang="en-US" sz="3200" dirty="0">
                          <a:solidFill>
                            <a:schemeClr val="bg1"/>
                          </a:solidFill>
                        </a:rPr>
                        <a:t>075</a:t>
                      </a:r>
                    </a:p>
                  </a:txBody>
                  <a:tcPr>
                    <a:solidFill>
                      <a:schemeClr val="tx1"/>
                    </a:solidFill>
                  </a:tcPr>
                </a:tc>
                <a:tc>
                  <a:txBody>
                    <a:bodyPr/>
                    <a:lstStyle/>
                    <a:p>
                      <a:r>
                        <a:rPr lang="en-US" sz="3200" dirty="0">
                          <a:solidFill>
                            <a:schemeClr val="bg1"/>
                          </a:solidFill>
                        </a:rPr>
                        <a:t>090</a:t>
                      </a:r>
                    </a:p>
                  </a:txBody>
                  <a:tcPr>
                    <a:solidFill>
                      <a:schemeClr val="tx1"/>
                    </a:solidFill>
                  </a:tcPr>
                </a:tc>
                <a:tc>
                  <a:txBody>
                    <a:bodyPr/>
                    <a:lstStyle/>
                    <a:p>
                      <a:r>
                        <a:rPr lang="en-US" sz="3200" dirty="0">
                          <a:solidFill>
                            <a:schemeClr val="bg1"/>
                          </a:solidFill>
                        </a:rPr>
                        <a:t>002</a:t>
                      </a:r>
                    </a:p>
                  </a:txBody>
                  <a:tcPr>
                    <a:solidFill>
                      <a:schemeClr val="tx1"/>
                    </a:solidFill>
                  </a:tcPr>
                </a:tc>
                <a:tc>
                  <a:txBody>
                    <a:bodyPr/>
                    <a:lstStyle/>
                    <a:p>
                      <a:r>
                        <a:rPr lang="en-US" sz="3200" dirty="0">
                          <a:solidFill>
                            <a:schemeClr val="bg1"/>
                          </a:solidFill>
                        </a:rPr>
                        <a:t>802</a:t>
                      </a:r>
                    </a:p>
                  </a:txBody>
                  <a:tcPr>
                    <a:solidFill>
                      <a:schemeClr val="tx1"/>
                    </a:solidFill>
                  </a:tcPr>
                </a:tc>
                <a:tc>
                  <a:txBody>
                    <a:bodyPr/>
                    <a:lstStyle/>
                    <a:p>
                      <a:r>
                        <a:rPr lang="en-US" sz="3200" dirty="0">
                          <a:solidFill>
                            <a:schemeClr val="bg1"/>
                          </a:solidFill>
                        </a:rPr>
                        <a:t>002</a:t>
                      </a:r>
                    </a:p>
                  </a:txBody>
                  <a:tcPr>
                    <a:solidFill>
                      <a:schemeClr val="tx1"/>
                    </a:solidFill>
                  </a:tcPr>
                </a:tc>
                <a:tc>
                  <a:txBody>
                    <a:bodyPr/>
                    <a:lstStyle/>
                    <a:p>
                      <a:r>
                        <a:rPr lang="en-US" sz="3200" dirty="0">
                          <a:solidFill>
                            <a:schemeClr val="bg1"/>
                          </a:solidFill>
                        </a:rPr>
                        <a:t>066</a:t>
                      </a:r>
                    </a:p>
                  </a:txBody>
                  <a:tcPr>
                    <a:solidFill>
                      <a:schemeClr val="tx1"/>
                    </a:solidFill>
                  </a:tcPr>
                </a:tc>
                <a:extLst>
                  <a:ext uri="{0D108BD9-81ED-4DB2-BD59-A6C34878D82A}">
                    <a16:rowId xmlns:a16="http://schemas.microsoft.com/office/drawing/2014/main" val="2201540731"/>
                  </a:ext>
                </a:extLst>
              </a:tr>
            </a:tbl>
          </a:graphicData>
        </a:graphic>
      </p:graphicFrame>
      <p:sp>
        <p:nvSpPr>
          <p:cNvPr id="7" name="TextBox 6">
            <a:extLst>
              <a:ext uri="{C183D7F6-B498-43B3-948B-1728B52AA6E4}">
                <adec:decorative xmlns:adec="http://schemas.microsoft.com/office/drawing/2017/decorative" val="1"/>
              </a:ext>
            </a:extLst>
          </p:cNvPr>
          <p:cNvSpPr txBox="1"/>
          <p:nvPr/>
        </p:nvSpPr>
        <p:spPr>
          <a:xfrm>
            <a:off x="538404" y="2679804"/>
            <a:ext cx="607325" cy="646331"/>
          </a:xfrm>
          <a:prstGeom prst="rect">
            <a:avLst/>
          </a:prstGeom>
          <a:noFill/>
        </p:spPr>
        <p:txBody>
          <a:bodyPr wrap="square" rtlCol="0">
            <a:spAutoFit/>
          </a:bodyPr>
          <a:lstStyle/>
          <a:p>
            <a:r>
              <a:rPr lang="en-US" sz="3600" b="1" dirty="0">
                <a:solidFill>
                  <a:srgbClr val="FF0000"/>
                </a:solidFill>
              </a:rPr>
              <a:t>1</a:t>
            </a:r>
          </a:p>
        </p:txBody>
      </p:sp>
      <p:sp>
        <p:nvSpPr>
          <p:cNvPr id="8" name="TextBox 7">
            <a:extLst>
              <a:ext uri="{C183D7F6-B498-43B3-948B-1728B52AA6E4}">
                <adec:decorative xmlns:adec="http://schemas.microsoft.com/office/drawing/2017/decorative" val="1"/>
              </a:ext>
            </a:extLst>
          </p:cNvPr>
          <p:cNvSpPr txBox="1"/>
          <p:nvPr/>
        </p:nvSpPr>
        <p:spPr>
          <a:xfrm>
            <a:off x="538404" y="5434868"/>
            <a:ext cx="607325" cy="646331"/>
          </a:xfrm>
          <a:prstGeom prst="rect">
            <a:avLst/>
          </a:prstGeom>
          <a:noFill/>
        </p:spPr>
        <p:txBody>
          <a:bodyPr wrap="square" rtlCol="0">
            <a:spAutoFit/>
          </a:bodyPr>
          <a:lstStyle/>
          <a:p>
            <a:r>
              <a:rPr lang="en-US" sz="3600" b="1" dirty="0">
                <a:solidFill>
                  <a:srgbClr val="FF0000"/>
                </a:solidFill>
              </a:rPr>
              <a:t>2</a:t>
            </a:r>
          </a:p>
        </p:txBody>
      </p:sp>
    </p:spTree>
    <p:extLst>
      <p:ext uri="{BB962C8B-B14F-4D97-AF65-F5344CB8AC3E}">
        <p14:creationId xmlns:p14="http://schemas.microsoft.com/office/powerpoint/2010/main" val="244379388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Radix Sort Example, slide 2</a:t>
            </a:r>
          </a:p>
        </p:txBody>
      </p:sp>
      <p:sp>
        <p:nvSpPr>
          <p:cNvPr id="5" name="TextBox 4">
            <a:extLst>
              <a:ext uri="{C183D7F6-B498-43B3-948B-1728B52AA6E4}">
                <adec:decorative xmlns:adec="http://schemas.microsoft.com/office/drawing/2017/decorative" val="1"/>
              </a:ext>
            </a:extLst>
          </p:cNvPr>
          <p:cNvSpPr txBox="1"/>
          <p:nvPr/>
        </p:nvSpPr>
        <p:spPr>
          <a:xfrm>
            <a:off x="1194179" y="1849272"/>
            <a:ext cx="10133463" cy="646331"/>
          </a:xfrm>
          <a:prstGeom prst="rect">
            <a:avLst/>
          </a:prstGeom>
          <a:noFill/>
        </p:spPr>
        <p:txBody>
          <a:bodyPr wrap="square" rtlCol="0">
            <a:spAutoFit/>
          </a:bodyPr>
          <a:lstStyle/>
          <a:p>
            <a:endParaRPr lang="en-US" dirty="0"/>
          </a:p>
          <a:p>
            <a:endParaRPr lang="en-US" dirty="0"/>
          </a:p>
        </p:txBody>
      </p:sp>
      <p:graphicFrame>
        <p:nvGraphicFramePr>
          <p:cNvPr id="6" name="Content Placeholder 3"/>
          <p:cNvGraphicFramePr>
            <a:graphicFrameLocks/>
          </p:cNvGraphicFramePr>
          <p:nvPr/>
        </p:nvGraphicFramePr>
        <p:xfrm>
          <a:off x="1097280" y="3615923"/>
          <a:ext cx="10058400" cy="57912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1920397348"/>
                    </a:ext>
                  </a:extLst>
                </a:gridCol>
                <a:gridCol w="1257300">
                  <a:extLst>
                    <a:ext uri="{9D8B030D-6E8A-4147-A177-3AD203B41FA5}">
                      <a16:colId xmlns:a16="http://schemas.microsoft.com/office/drawing/2014/main" val="3524114769"/>
                    </a:ext>
                  </a:extLst>
                </a:gridCol>
                <a:gridCol w="1257300">
                  <a:extLst>
                    <a:ext uri="{9D8B030D-6E8A-4147-A177-3AD203B41FA5}">
                      <a16:colId xmlns:a16="http://schemas.microsoft.com/office/drawing/2014/main" val="2695024088"/>
                    </a:ext>
                  </a:extLst>
                </a:gridCol>
                <a:gridCol w="1257300">
                  <a:extLst>
                    <a:ext uri="{9D8B030D-6E8A-4147-A177-3AD203B41FA5}">
                      <a16:colId xmlns:a16="http://schemas.microsoft.com/office/drawing/2014/main" val="2195160812"/>
                    </a:ext>
                  </a:extLst>
                </a:gridCol>
                <a:gridCol w="1257300">
                  <a:extLst>
                    <a:ext uri="{9D8B030D-6E8A-4147-A177-3AD203B41FA5}">
                      <a16:colId xmlns:a16="http://schemas.microsoft.com/office/drawing/2014/main" val="246579557"/>
                    </a:ext>
                  </a:extLst>
                </a:gridCol>
                <a:gridCol w="1257300">
                  <a:extLst>
                    <a:ext uri="{9D8B030D-6E8A-4147-A177-3AD203B41FA5}">
                      <a16:colId xmlns:a16="http://schemas.microsoft.com/office/drawing/2014/main" val="3629415840"/>
                    </a:ext>
                  </a:extLst>
                </a:gridCol>
                <a:gridCol w="1257300">
                  <a:extLst>
                    <a:ext uri="{9D8B030D-6E8A-4147-A177-3AD203B41FA5}">
                      <a16:colId xmlns:a16="http://schemas.microsoft.com/office/drawing/2014/main" val="527822308"/>
                    </a:ext>
                  </a:extLst>
                </a:gridCol>
                <a:gridCol w="1257300">
                  <a:extLst>
                    <a:ext uri="{9D8B030D-6E8A-4147-A177-3AD203B41FA5}">
                      <a16:colId xmlns:a16="http://schemas.microsoft.com/office/drawing/2014/main" val="3987635505"/>
                    </a:ext>
                  </a:extLst>
                </a:gridCol>
              </a:tblGrid>
              <a:tr h="370840">
                <a:tc>
                  <a:txBody>
                    <a:bodyPr/>
                    <a:lstStyle/>
                    <a:p>
                      <a:r>
                        <a:rPr lang="en-US" sz="3200" dirty="0">
                          <a:solidFill>
                            <a:schemeClr val="bg1"/>
                          </a:solidFill>
                        </a:rPr>
                        <a:t>17</a:t>
                      </a:r>
                      <a:r>
                        <a:rPr lang="en-US" sz="3200" dirty="0">
                          <a:solidFill>
                            <a:srgbClr val="FF0000"/>
                          </a:solidFill>
                        </a:rPr>
                        <a:t>0</a:t>
                      </a:r>
                    </a:p>
                  </a:txBody>
                  <a:tcPr>
                    <a:solidFill>
                      <a:schemeClr val="tx1"/>
                    </a:solidFill>
                  </a:tcPr>
                </a:tc>
                <a:tc>
                  <a:txBody>
                    <a:bodyPr/>
                    <a:lstStyle/>
                    <a:p>
                      <a:r>
                        <a:rPr lang="en-US" sz="3200" dirty="0">
                          <a:solidFill>
                            <a:schemeClr val="bg1"/>
                          </a:solidFill>
                        </a:rPr>
                        <a:t>04</a:t>
                      </a:r>
                      <a:r>
                        <a:rPr lang="en-US" sz="3200" dirty="0">
                          <a:solidFill>
                            <a:schemeClr val="accent6"/>
                          </a:solidFill>
                        </a:rPr>
                        <a:t>5</a:t>
                      </a:r>
                    </a:p>
                  </a:txBody>
                  <a:tcPr>
                    <a:solidFill>
                      <a:schemeClr val="tx1"/>
                    </a:solidFill>
                  </a:tcPr>
                </a:tc>
                <a:tc>
                  <a:txBody>
                    <a:bodyPr/>
                    <a:lstStyle/>
                    <a:p>
                      <a:r>
                        <a:rPr lang="en-US" sz="3200" dirty="0">
                          <a:solidFill>
                            <a:schemeClr val="bg1"/>
                          </a:solidFill>
                        </a:rPr>
                        <a:t>07</a:t>
                      </a:r>
                      <a:r>
                        <a:rPr lang="en-US" sz="3200" dirty="0">
                          <a:solidFill>
                            <a:schemeClr val="accent6"/>
                          </a:solidFill>
                        </a:rPr>
                        <a:t>5</a:t>
                      </a:r>
                    </a:p>
                  </a:txBody>
                  <a:tcPr>
                    <a:solidFill>
                      <a:schemeClr val="tx1"/>
                    </a:solidFill>
                  </a:tcPr>
                </a:tc>
                <a:tc>
                  <a:txBody>
                    <a:bodyPr/>
                    <a:lstStyle/>
                    <a:p>
                      <a:r>
                        <a:rPr lang="en-US" sz="3200" dirty="0">
                          <a:solidFill>
                            <a:schemeClr val="bg1"/>
                          </a:solidFill>
                        </a:rPr>
                        <a:t>09</a:t>
                      </a:r>
                      <a:r>
                        <a:rPr lang="en-US" sz="3200" dirty="0">
                          <a:solidFill>
                            <a:srgbClr val="FF0000"/>
                          </a:solidFill>
                        </a:rPr>
                        <a:t>0</a:t>
                      </a:r>
                    </a:p>
                  </a:txBody>
                  <a:tcPr>
                    <a:solidFill>
                      <a:schemeClr val="tx1"/>
                    </a:solidFill>
                  </a:tcPr>
                </a:tc>
                <a:tc>
                  <a:txBody>
                    <a:bodyPr/>
                    <a:lstStyle/>
                    <a:p>
                      <a:r>
                        <a:rPr lang="en-US" sz="3200" dirty="0">
                          <a:solidFill>
                            <a:schemeClr val="bg1"/>
                          </a:solidFill>
                        </a:rPr>
                        <a:t>00</a:t>
                      </a:r>
                      <a:r>
                        <a:rPr lang="en-US" sz="3200" dirty="0">
                          <a:solidFill>
                            <a:schemeClr val="accent1"/>
                          </a:solidFill>
                        </a:rPr>
                        <a:t>2</a:t>
                      </a:r>
                    </a:p>
                  </a:txBody>
                  <a:tcPr>
                    <a:solidFill>
                      <a:schemeClr val="tx1"/>
                    </a:solidFill>
                  </a:tcPr>
                </a:tc>
                <a:tc>
                  <a:txBody>
                    <a:bodyPr/>
                    <a:lstStyle/>
                    <a:p>
                      <a:r>
                        <a:rPr lang="en-US" sz="3200" dirty="0">
                          <a:solidFill>
                            <a:schemeClr val="bg1"/>
                          </a:solidFill>
                        </a:rPr>
                        <a:t>80</a:t>
                      </a:r>
                      <a:r>
                        <a:rPr lang="en-US" sz="3200" dirty="0">
                          <a:solidFill>
                            <a:schemeClr val="accent1"/>
                          </a:solidFill>
                        </a:rPr>
                        <a:t>2</a:t>
                      </a:r>
                    </a:p>
                  </a:txBody>
                  <a:tcPr>
                    <a:solidFill>
                      <a:schemeClr val="tx1"/>
                    </a:solidFill>
                  </a:tcPr>
                </a:tc>
                <a:tc>
                  <a:txBody>
                    <a:bodyPr/>
                    <a:lstStyle/>
                    <a:p>
                      <a:r>
                        <a:rPr lang="en-US" sz="3200" dirty="0">
                          <a:solidFill>
                            <a:schemeClr val="bg1"/>
                          </a:solidFill>
                        </a:rPr>
                        <a:t>00</a:t>
                      </a:r>
                      <a:r>
                        <a:rPr lang="en-US" sz="3200" dirty="0">
                          <a:solidFill>
                            <a:schemeClr val="accent1"/>
                          </a:solidFill>
                        </a:rPr>
                        <a:t>2</a:t>
                      </a:r>
                    </a:p>
                  </a:txBody>
                  <a:tcPr>
                    <a:solidFill>
                      <a:schemeClr val="tx1"/>
                    </a:solidFill>
                  </a:tcPr>
                </a:tc>
                <a:tc>
                  <a:txBody>
                    <a:bodyPr/>
                    <a:lstStyle/>
                    <a:p>
                      <a:r>
                        <a:rPr lang="en-US" sz="3200" dirty="0">
                          <a:solidFill>
                            <a:schemeClr val="bg1"/>
                          </a:solidFill>
                        </a:rPr>
                        <a:t>06</a:t>
                      </a:r>
                      <a:r>
                        <a:rPr lang="en-US" sz="3200" dirty="0">
                          <a:solidFill>
                            <a:srgbClr val="FFFF00"/>
                          </a:solidFill>
                        </a:rPr>
                        <a:t>6</a:t>
                      </a:r>
                    </a:p>
                  </a:txBody>
                  <a:tcPr>
                    <a:solidFill>
                      <a:schemeClr val="tx1"/>
                    </a:solidFill>
                  </a:tcPr>
                </a:tc>
                <a:extLst>
                  <a:ext uri="{0D108BD9-81ED-4DB2-BD59-A6C34878D82A}">
                    <a16:rowId xmlns:a16="http://schemas.microsoft.com/office/drawing/2014/main" val="2201540731"/>
                  </a:ext>
                </a:extLst>
              </a:tr>
            </a:tbl>
          </a:graphicData>
        </a:graphic>
      </p:graphicFrame>
      <p:sp>
        <p:nvSpPr>
          <p:cNvPr id="3" name="Content Placeholder 2"/>
          <p:cNvSpPr>
            <a:spLocks noGrp="1"/>
          </p:cNvSpPr>
          <p:nvPr>
            <p:ph idx="1"/>
          </p:nvPr>
        </p:nvSpPr>
        <p:spPr>
          <a:xfrm>
            <a:off x="1097280" y="1845734"/>
            <a:ext cx="10058400" cy="2726266"/>
          </a:xfrm>
        </p:spPr>
        <p:txBody>
          <a:bodyPr/>
          <a:lstStyle/>
          <a:p>
            <a:r>
              <a:rPr lang="en-US" b="1" dirty="0"/>
              <a:t>STEP 3:  </a:t>
            </a:r>
            <a:r>
              <a:rPr lang="en-US" dirty="0"/>
              <a:t>You will now create “buckets” to group these numbers in.  </a:t>
            </a:r>
          </a:p>
          <a:p>
            <a:r>
              <a:rPr lang="en-US" dirty="0"/>
              <a:t>You will go from left to right &amp; sort the list by LEAST SIGNIFICANT DIGIT (LSD), which is the 1’s place.</a:t>
            </a:r>
          </a:p>
          <a:p>
            <a:r>
              <a:rPr lang="en-US" dirty="0"/>
              <a:t>You will have 9 buckets, 1 for each digit, but I only show the buckets we need – a 0 bucket, a 2 bucket, a 5 bucket, and a 6 bucket.</a:t>
            </a:r>
          </a:p>
        </p:txBody>
      </p:sp>
      <p:sp>
        <p:nvSpPr>
          <p:cNvPr id="9" name="Flowchart: Magnetic Disk 8"/>
          <p:cNvSpPr/>
          <p:nvPr/>
        </p:nvSpPr>
        <p:spPr>
          <a:xfrm>
            <a:off x="1261053" y="4572000"/>
            <a:ext cx="1564033" cy="1692323"/>
          </a:xfrm>
          <a:prstGeom prst="flowChartMagneticDisk">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0</a:t>
            </a:r>
          </a:p>
        </p:txBody>
      </p:sp>
      <p:sp>
        <p:nvSpPr>
          <p:cNvPr id="10" name="Flowchart: Magnetic Disk 9"/>
          <p:cNvSpPr/>
          <p:nvPr/>
        </p:nvSpPr>
        <p:spPr>
          <a:xfrm>
            <a:off x="3876874" y="4585706"/>
            <a:ext cx="1564033" cy="1692323"/>
          </a:xfrm>
          <a:prstGeom prst="flowChartMagneticDisk">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2</a:t>
            </a:r>
          </a:p>
        </p:txBody>
      </p:sp>
      <p:sp>
        <p:nvSpPr>
          <p:cNvPr id="11" name="Flowchart: Magnetic Disk 10"/>
          <p:cNvSpPr/>
          <p:nvPr/>
        </p:nvSpPr>
        <p:spPr>
          <a:xfrm>
            <a:off x="6531363" y="4585705"/>
            <a:ext cx="1564033" cy="1692323"/>
          </a:xfrm>
          <a:prstGeom prst="flowChartMagneticDisk">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5</a:t>
            </a:r>
          </a:p>
        </p:txBody>
      </p:sp>
      <p:sp>
        <p:nvSpPr>
          <p:cNvPr id="12" name="Flowchart: Magnetic Disk 11"/>
          <p:cNvSpPr/>
          <p:nvPr/>
        </p:nvSpPr>
        <p:spPr>
          <a:xfrm>
            <a:off x="9185853" y="4585706"/>
            <a:ext cx="1564033" cy="1692323"/>
          </a:xfrm>
          <a:prstGeom prst="flowChartMagneticDisk">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6</a:t>
            </a:r>
          </a:p>
        </p:txBody>
      </p:sp>
      <p:cxnSp>
        <p:nvCxnSpPr>
          <p:cNvPr id="15" name="Straight Arrow Connector 14">
            <a:extLst>
              <a:ext uri="{C183D7F6-B498-43B3-948B-1728B52AA6E4}">
                <adec:decorative xmlns:adec="http://schemas.microsoft.com/office/drawing/2017/decorative" val="1"/>
              </a:ext>
            </a:extLst>
          </p:cNvPr>
          <p:cNvCxnSpPr/>
          <p:nvPr/>
        </p:nvCxnSpPr>
        <p:spPr>
          <a:xfrm>
            <a:off x="1705970" y="4101153"/>
            <a:ext cx="68239" cy="764274"/>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C183D7F6-B498-43B3-948B-1728B52AA6E4}">
                <adec:decorative xmlns:adec="http://schemas.microsoft.com/office/drawing/2017/decorative" val="1"/>
              </a:ext>
            </a:extLst>
          </p:cNvPr>
          <p:cNvCxnSpPr/>
          <p:nvPr/>
        </p:nvCxnSpPr>
        <p:spPr>
          <a:xfrm flipH="1">
            <a:off x="2593075" y="4101153"/>
            <a:ext cx="2847832" cy="764274"/>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C183D7F6-B498-43B3-948B-1728B52AA6E4}">
                <adec:decorative xmlns:adec="http://schemas.microsoft.com/office/drawing/2017/decorative" val="1"/>
              </a:ext>
            </a:extLst>
          </p:cNvPr>
          <p:cNvCxnSpPr/>
          <p:nvPr/>
        </p:nvCxnSpPr>
        <p:spPr>
          <a:xfrm flipH="1">
            <a:off x="4906370" y="4114801"/>
            <a:ext cx="1756012" cy="75062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C183D7F6-B498-43B3-948B-1728B52AA6E4}">
                <adec:decorative xmlns:adec="http://schemas.microsoft.com/office/drawing/2017/decorative" val="1"/>
              </a:ext>
            </a:extLst>
          </p:cNvPr>
          <p:cNvCxnSpPr/>
          <p:nvPr/>
        </p:nvCxnSpPr>
        <p:spPr>
          <a:xfrm>
            <a:off x="3256355" y="4125037"/>
            <a:ext cx="3697179" cy="62498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C183D7F6-B498-43B3-948B-1728B52AA6E4}">
                <adec:decorative xmlns:adec="http://schemas.microsoft.com/office/drawing/2017/decorative" val="1"/>
              </a:ext>
            </a:extLst>
          </p:cNvPr>
          <p:cNvCxnSpPr/>
          <p:nvPr/>
        </p:nvCxnSpPr>
        <p:spPr>
          <a:xfrm>
            <a:off x="4162567" y="4101153"/>
            <a:ext cx="2681785" cy="64887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C183D7F6-B498-43B3-948B-1728B52AA6E4}">
                <adec:decorative xmlns:adec="http://schemas.microsoft.com/office/drawing/2017/decorative" val="1"/>
              </a:ext>
            </a:extLst>
          </p:cNvPr>
          <p:cNvCxnSpPr/>
          <p:nvPr/>
        </p:nvCxnSpPr>
        <p:spPr>
          <a:xfrm flipH="1">
            <a:off x="4906370" y="4125037"/>
            <a:ext cx="3112600" cy="74039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C183D7F6-B498-43B3-948B-1728B52AA6E4}">
                <adec:decorative xmlns:adec="http://schemas.microsoft.com/office/drawing/2017/decorative" val="1"/>
              </a:ext>
            </a:extLst>
          </p:cNvPr>
          <p:cNvCxnSpPr/>
          <p:nvPr/>
        </p:nvCxnSpPr>
        <p:spPr>
          <a:xfrm flipH="1">
            <a:off x="4734408" y="4125037"/>
            <a:ext cx="4451444" cy="692623"/>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C183D7F6-B498-43B3-948B-1728B52AA6E4}">
                <adec:decorative xmlns:adec="http://schemas.microsoft.com/office/drawing/2017/decorative" val="1"/>
              </a:ext>
            </a:extLst>
          </p:cNvPr>
          <p:cNvCxnSpPr/>
          <p:nvPr/>
        </p:nvCxnSpPr>
        <p:spPr>
          <a:xfrm flipH="1">
            <a:off x="9929655" y="4125037"/>
            <a:ext cx="477673" cy="794981"/>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3098664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Radix Sort Example, slide 3</a:t>
            </a:r>
          </a:p>
        </p:txBody>
      </p:sp>
      <p:sp>
        <p:nvSpPr>
          <p:cNvPr id="5" name="TextBox 4"/>
          <p:cNvSpPr txBox="1"/>
          <p:nvPr/>
        </p:nvSpPr>
        <p:spPr>
          <a:xfrm>
            <a:off x="1364776" y="1658203"/>
            <a:ext cx="10706669" cy="2246769"/>
          </a:xfrm>
          <a:prstGeom prst="rect">
            <a:avLst/>
          </a:prstGeom>
          <a:noFill/>
        </p:spPr>
        <p:txBody>
          <a:bodyPr wrap="square" rtlCol="0">
            <a:spAutoFit/>
          </a:bodyPr>
          <a:lstStyle/>
          <a:p>
            <a:r>
              <a:rPr lang="en-US" sz="2800" b="1" dirty="0"/>
              <a:t>Step 3 Result:</a:t>
            </a:r>
          </a:p>
          <a:p>
            <a:endParaRPr lang="en-US" sz="2800" b="1" dirty="0"/>
          </a:p>
          <a:p>
            <a:endParaRPr lang="en-US" sz="2800" b="1" dirty="0"/>
          </a:p>
          <a:p>
            <a:r>
              <a:rPr lang="en-US" sz="2800" b="1" dirty="0">
                <a:solidFill>
                  <a:srgbClr val="000000"/>
                </a:solidFill>
              </a:rPr>
              <a:t>Step 4: </a:t>
            </a:r>
            <a:r>
              <a:rPr lang="en-US" sz="2800" dirty="0">
                <a:solidFill>
                  <a:srgbClr val="000000"/>
                </a:solidFill>
              </a:rPr>
              <a:t>Go from left to right &amp; group list into buckets by next LSD, which is the </a:t>
            </a:r>
            <a:r>
              <a:rPr lang="en-US" sz="2800" b="1" dirty="0">
                <a:solidFill>
                  <a:srgbClr val="000000"/>
                </a:solidFill>
              </a:rPr>
              <a:t>10’s place</a:t>
            </a:r>
            <a:r>
              <a:rPr lang="en-US" sz="2800" dirty="0">
                <a:solidFill>
                  <a:srgbClr val="000000"/>
                </a:solidFill>
              </a:rPr>
              <a:t>:</a:t>
            </a:r>
          </a:p>
        </p:txBody>
      </p:sp>
      <p:graphicFrame>
        <p:nvGraphicFramePr>
          <p:cNvPr id="9" name="Content Placeholder 3"/>
          <p:cNvGraphicFramePr>
            <a:graphicFrameLocks/>
          </p:cNvGraphicFramePr>
          <p:nvPr/>
        </p:nvGraphicFramePr>
        <p:xfrm>
          <a:off x="1181437" y="2189763"/>
          <a:ext cx="10058400" cy="57912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1920397348"/>
                    </a:ext>
                  </a:extLst>
                </a:gridCol>
                <a:gridCol w="1257300">
                  <a:extLst>
                    <a:ext uri="{9D8B030D-6E8A-4147-A177-3AD203B41FA5}">
                      <a16:colId xmlns:a16="http://schemas.microsoft.com/office/drawing/2014/main" val="3524114769"/>
                    </a:ext>
                  </a:extLst>
                </a:gridCol>
                <a:gridCol w="1257300">
                  <a:extLst>
                    <a:ext uri="{9D8B030D-6E8A-4147-A177-3AD203B41FA5}">
                      <a16:colId xmlns:a16="http://schemas.microsoft.com/office/drawing/2014/main" val="2695024088"/>
                    </a:ext>
                  </a:extLst>
                </a:gridCol>
                <a:gridCol w="1257300">
                  <a:extLst>
                    <a:ext uri="{9D8B030D-6E8A-4147-A177-3AD203B41FA5}">
                      <a16:colId xmlns:a16="http://schemas.microsoft.com/office/drawing/2014/main" val="2195160812"/>
                    </a:ext>
                  </a:extLst>
                </a:gridCol>
                <a:gridCol w="1257300">
                  <a:extLst>
                    <a:ext uri="{9D8B030D-6E8A-4147-A177-3AD203B41FA5}">
                      <a16:colId xmlns:a16="http://schemas.microsoft.com/office/drawing/2014/main" val="246579557"/>
                    </a:ext>
                  </a:extLst>
                </a:gridCol>
                <a:gridCol w="1257300">
                  <a:extLst>
                    <a:ext uri="{9D8B030D-6E8A-4147-A177-3AD203B41FA5}">
                      <a16:colId xmlns:a16="http://schemas.microsoft.com/office/drawing/2014/main" val="3629415840"/>
                    </a:ext>
                  </a:extLst>
                </a:gridCol>
                <a:gridCol w="1257300">
                  <a:extLst>
                    <a:ext uri="{9D8B030D-6E8A-4147-A177-3AD203B41FA5}">
                      <a16:colId xmlns:a16="http://schemas.microsoft.com/office/drawing/2014/main" val="527822308"/>
                    </a:ext>
                  </a:extLst>
                </a:gridCol>
                <a:gridCol w="1257300">
                  <a:extLst>
                    <a:ext uri="{9D8B030D-6E8A-4147-A177-3AD203B41FA5}">
                      <a16:colId xmlns:a16="http://schemas.microsoft.com/office/drawing/2014/main" val="3987635505"/>
                    </a:ext>
                  </a:extLst>
                </a:gridCol>
              </a:tblGrid>
              <a:tr h="370840">
                <a:tc>
                  <a:txBody>
                    <a:bodyPr/>
                    <a:lstStyle/>
                    <a:p>
                      <a:r>
                        <a:rPr lang="en-US" sz="3200" u="none" dirty="0">
                          <a:solidFill>
                            <a:schemeClr val="bg1"/>
                          </a:solidFill>
                        </a:rPr>
                        <a:t>17</a:t>
                      </a:r>
                      <a:r>
                        <a:rPr lang="en-US" sz="3200" u="none" dirty="0">
                          <a:solidFill>
                            <a:srgbClr val="FF0000"/>
                          </a:solidFill>
                        </a:rPr>
                        <a:t>0</a:t>
                      </a:r>
                    </a:p>
                  </a:txBody>
                  <a:tcPr>
                    <a:solidFill>
                      <a:schemeClr val="tx1"/>
                    </a:solidFill>
                  </a:tcPr>
                </a:tc>
                <a:tc>
                  <a:txBody>
                    <a:bodyPr/>
                    <a:lstStyle/>
                    <a:p>
                      <a:r>
                        <a:rPr lang="en-US" sz="3200" dirty="0">
                          <a:solidFill>
                            <a:schemeClr val="bg1"/>
                          </a:solidFill>
                        </a:rPr>
                        <a:t>09</a:t>
                      </a:r>
                      <a:r>
                        <a:rPr lang="en-US" sz="3200" dirty="0">
                          <a:solidFill>
                            <a:srgbClr val="FF0000"/>
                          </a:solidFill>
                        </a:rPr>
                        <a:t>0</a:t>
                      </a:r>
                    </a:p>
                  </a:txBody>
                  <a:tcPr>
                    <a:solidFill>
                      <a:schemeClr val="tx1"/>
                    </a:solidFill>
                  </a:tcPr>
                </a:tc>
                <a:tc>
                  <a:txBody>
                    <a:bodyPr/>
                    <a:lstStyle/>
                    <a:p>
                      <a:r>
                        <a:rPr lang="en-US" sz="3200" dirty="0">
                          <a:solidFill>
                            <a:schemeClr val="bg1"/>
                          </a:solidFill>
                        </a:rPr>
                        <a:t>00</a:t>
                      </a:r>
                      <a:r>
                        <a:rPr lang="en-US" sz="3200" dirty="0">
                          <a:solidFill>
                            <a:schemeClr val="accent1"/>
                          </a:solidFill>
                        </a:rPr>
                        <a:t>2</a:t>
                      </a:r>
                    </a:p>
                  </a:txBody>
                  <a:tcPr>
                    <a:solidFill>
                      <a:schemeClr val="tx1"/>
                    </a:solidFill>
                  </a:tcPr>
                </a:tc>
                <a:tc>
                  <a:txBody>
                    <a:bodyPr/>
                    <a:lstStyle/>
                    <a:p>
                      <a:r>
                        <a:rPr lang="en-US" sz="3200" dirty="0">
                          <a:solidFill>
                            <a:schemeClr val="bg1"/>
                          </a:solidFill>
                        </a:rPr>
                        <a:t>80</a:t>
                      </a:r>
                      <a:r>
                        <a:rPr lang="en-US" sz="3200" dirty="0">
                          <a:solidFill>
                            <a:schemeClr val="accent1"/>
                          </a:solidFill>
                        </a:rPr>
                        <a:t>2</a:t>
                      </a:r>
                    </a:p>
                  </a:txBody>
                  <a:tcPr>
                    <a:solidFill>
                      <a:schemeClr val="tx1"/>
                    </a:solidFill>
                  </a:tcPr>
                </a:tc>
                <a:tc>
                  <a:txBody>
                    <a:bodyPr/>
                    <a:lstStyle/>
                    <a:p>
                      <a:r>
                        <a:rPr lang="en-US" sz="3200" dirty="0">
                          <a:solidFill>
                            <a:schemeClr val="bg1"/>
                          </a:solidFill>
                        </a:rPr>
                        <a:t>00</a:t>
                      </a:r>
                      <a:r>
                        <a:rPr lang="en-US" sz="3200" dirty="0">
                          <a:solidFill>
                            <a:schemeClr val="accent1"/>
                          </a:solidFill>
                        </a:rPr>
                        <a:t>2</a:t>
                      </a:r>
                    </a:p>
                  </a:txBody>
                  <a:tcPr>
                    <a:solidFill>
                      <a:schemeClr val="tx1"/>
                    </a:solidFill>
                  </a:tcPr>
                </a:tc>
                <a:tc>
                  <a:txBody>
                    <a:bodyPr/>
                    <a:lstStyle/>
                    <a:p>
                      <a:r>
                        <a:rPr lang="en-US" sz="3200" dirty="0">
                          <a:solidFill>
                            <a:schemeClr val="bg1"/>
                          </a:solidFill>
                        </a:rPr>
                        <a:t>04</a:t>
                      </a:r>
                      <a:r>
                        <a:rPr lang="en-US" sz="3200" dirty="0">
                          <a:solidFill>
                            <a:srgbClr val="00B0F0"/>
                          </a:solidFill>
                        </a:rPr>
                        <a:t>5</a:t>
                      </a:r>
                    </a:p>
                  </a:txBody>
                  <a:tcPr>
                    <a:solidFill>
                      <a:schemeClr val="tx1"/>
                    </a:solidFill>
                  </a:tcPr>
                </a:tc>
                <a:tc>
                  <a:txBody>
                    <a:bodyPr/>
                    <a:lstStyle/>
                    <a:p>
                      <a:r>
                        <a:rPr lang="en-US" sz="3200" dirty="0">
                          <a:solidFill>
                            <a:schemeClr val="bg1"/>
                          </a:solidFill>
                        </a:rPr>
                        <a:t>07</a:t>
                      </a:r>
                      <a:r>
                        <a:rPr lang="en-US" sz="3200" dirty="0">
                          <a:solidFill>
                            <a:srgbClr val="00B0F0"/>
                          </a:solidFill>
                        </a:rPr>
                        <a:t>5</a:t>
                      </a:r>
                    </a:p>
                  </a:txBody>
                  <a:tcPr>
                    <a:solidFill>
                      <a:schemeClr val="tx1"/>
                    </a:solidFill>
                  </a:tcPr>
                </a:tc>
                <a:tc>
                  <a:txBody>
                    <a:bodyPr/>
                    <a:lstStyle/>
                    <a:p>
                      <a:r>
                        <a:rPr lang="en-US" sz="3200" dirty="0">
                          <a:solidFill>
                            <a:schemeClr val="bg1"/>
                          </a:solidFill>
                        </a:rPr>
                        <a:t>06</a:t>
                      </a:r>
                      <a:r>
                        <a:rPr lang="en-US" sz="3200" dirty="0">
                          <a:solidFill>
                            <a:srgbClr val="FFFF00"/>
                          </a:solidFill>
                        </a:rPr>
                        <a:t>6</a:t>
                      </a:r>
                    </a:p>
                  </a:txBody>
                  <a:tcPr>
                    <a:solidFill>
                      <a:schemeClr val="tx1"/>
                    </a:solidFill>
                  </a:tcPr>
                </a:tc>
                <a:extLst>
                  <a:ext uri="{0D108BD9-81ED-4DB2-BD59-A6C34878D82A}">
                    <a16:rowId xmlns:a16="http://schemas.microsoft.com/office/drawing/2014/main" val="2201540731"/>
                  </a:ext>
                </a:extLst>
              </a:tr>
            </a:tbl>
          </a:graphicData>
        </a:graphic>
      </p:graphicFrame>
      <p:graphicFrame>
        <p:nvGraphicFramePr>
          <p:cNvPr id="6" name="Content Placeholder 3"/>
          <p:cNvGraphicFramePr>
            <a:graphicFrameLocks/>
          </p:cNvGraphicFramePr>
          <p:nvPr/>
        </p:nvGraphicFramePr>
        <p:xfrm>
          <a:off x="1187803" y="3849703"/>
          <a:ext cx="10058400" cy="57912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1920397348"/>
                    </a:ext>
                  </a:extLst>
                </a:gridCol>
                <a:gridCol w="1257300">
                  <a:extLst>
                    <a:ext uri="{9D8B030D-6E8A-4147-A177-3AD203B41FA5}">
                      <a16:colId xmlns:a16="http://schemas.microsoft.com/office/drawing/2014/main" val="3524114769"/>
                    </a:ext>
                  </a:extLst>
                </a:gridCol>
                <a:gridCol w="1257300">
                  <a:extLst>
                    <a:ext uri="{9D8B030D-6E8A-4147-A177-3AD203B41FA5}">
                      <a16:colId xmlns:a16="http://schemas.microsoft.com/office/drawing/2014/main" val="2695024088"/>
                    </a:ext>
                  </a:extLst>
                </a:gridCol>
                <a:gridCol w="1257300">
                  <a:extLst>
                    <a:ext uri="{9D8B030D-6E8A-4147-A177-3AD203B41FA5}">
                      <a16:colId xmlns:a16="http://schemas.microsoft.com/office/drawing/2014/main" val="2195160812"/>
                    </a:ext>
                  </a:extLst>
                </a:gridCol>
                <a:gridCol w="1257300">
                  <a:extLst>
                    <a:ext uri="{9D8B030D-6E8A-4147-A177-3AD203B41FA5}">
                      <a16:colId xmlns:a16="http://schemas.microsoft.com/office/drawing/2014/main" val="246579557"/>
                    </a:ext>
                  </a:extLst>
                </a:gridCol>
                <a:gridCol w="1257300">
                  <a:extLst>
                    <a:ext uri="{9D8B030D-6E8A-4147-A177-3AD203B41FA5}">
                      <a16:colId xmlns:a16="http://schemas.microsoft.com/office/drawing/2014/main" val="3629415840"/>
                    </a:ext>
                  </a:extLst>
                </a:gridCol>
                <a:gridCol w="1257300">
                  <a:extLst>
                    <a:ext uri="{9D8B030D-6E8A-4147-A177-3AD203B41FA5}">
                      <a16:colId xmlns:a16="http://schemas.microsoft.com/office/drawing/2014/main" val="527822308"/>
                    </a:ext>
                  </a:extLst>
                </a:gridCol>
                <a:gridCol w="1257300">
                  <a:extLst>
                    <a:ext uri="{9D8B030D-6E8A-4147-A177-3AD203B41FA5}">
                      <a16:colId xmlns:a16="http://schemas.microsoft.com/office/drawing/2014/main" val="3987635505"/>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chemeClr val="bg1"/>
                          </a:solidFill>
                        </a:rPr>
                        <a:t>1</a:t>
                      </a:r>
                      <a:r>
                        <a:rPr lang="en-US" sz="3200" dirty="0">
                          <a:solidFill>
                            <a:srgbClr val="00B0F0"/>
                          </a:solidFill>
                        </a:rPr>
                        <a:t>7</a:t>
                      </a:r>
                      <a:r>
                        <a:rPr lang="en-US" sz="3200" dirty="0">
                          <a:solidFill>
                            <a:schemeClr val="bg1"/>
                          </a:solidFill>
                        </a:rPr>
                        <a:t>0</a:t>
                      </a:r>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chemeClr val="bg1"/>
                          </a:solidFill>
                        </a:rPr>
                        <a:t>0</a:t>
                      </a:r>
                      <a:r>
                        <a:rPr lang="en-US" sz="3200" dirty="0">
                          <a:solidFill>
                            <a:srgbClr val="ED5DE3"/>
                          </a:solidFill>
                        </a:rPr>
                        <a:t>9</a:t>
                      </a:r>
                      <a:r>
                        <a:rPr lang="en-US" sz="3200" dirty="0">
                          <a:solidFill>
                            <a:schemeClr val="bg1"/>
                          </a:solidFill>
                        </a:rPr>
                        <a:t>0</a:t>
                      </a:r>
                    </a:p>
                  </a:txBody>
                  <a:tcPr>
                    <a:solidFill>
                      <a:schemeClr val="tx1"/>
                    </a:solidFill>
                  </a:tcPr>
                </a:tc>
                <a:tc>
                  <a:txBody>
                    <a:bodyPr/>
                    <a:lstStyle/>
                    <a:p>
                      <a:r>
                        <a:rPr lang="en-US" sz="3200" dirty="0">
                          <a:solidFill>
                            <a:schemeClr val="bg1"/>
                          </a:solidFill>
                        </a:rPr>
                        <a:t>0</a:t>
                      </a:r>
                      <a:r>
                        <a:rPr lang="en-US" sz="3200" dirty="0">
                          <a:solidFill>
                            <a:srgbClr val="FF0000"/>
                          </a:solidFill>
                        </a:rPr>
                        <a:t>0</a:t>
                      </a:r>
                      <a:r>
                        <a:rPr lang="en-US" sz="3200" dirty="0">
                          <a:solidFill>
                            <a:schemeClr val="bg1"/>
                          </a:solidFill>
                        </a:rPr>
                        <a:t>2</a:t>
                      </a:r>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chemeClr val="bg1"/>
                          </a:solidFill>
                        </a:rPr>
                        <a:t>8</a:t>
                      </a:r>
                      <a:r>
                        <a:rPr lang="en-US" sz="3200" dirty="0">
                          <a:solidFill>
                            <a:srgbClr val="FF0000"/>
                          </a:solidFill>
                        </a:rPr>
                        <a:t>0</a:t>
                      </a:r>
                      <a:r>
                        <a:rPr lang="en-US" sz="3200" dirty="0">
                          <a:solidFill>
                            <a:schemeClr val="bg1"/>
                          </a:solidFill>
                        </a:rPr>
                        <a:t>2</a:t>
                      </a:r>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chemeClr val="bg1"/>
                          </a:solidFill>
                        </a:rPr>
                        <a:t>0</a:t>
                      </a:r>
                      <a:r>
                        <a:rPr lang="en-US" sz="3200" dirty="0">
                          <a:solidFill>
                            <a:srgbClr val="FF0000"/>
                          </a:solidFill>
                        </a:rPr>
                        <a:t>0</a:t>
                      </a:r>
                      <a:r>
                        <a:rPr lang="en-US" sz="3200" dirty="0">
                          <a:solidFill>
                            <a:schemeClr val="bg1"/>
                          </a:solidFill>
                        </a:rPr>
                        <a:t>2</a:t>
                      </a:r>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chemeClr val="bg1"/>
                          </a:solidFill>
                        </a:rPr>
                        <a:t>0</a:t>
                      </a:r>
                      <a:r>
                        <a:rPr lang="en-US" sz="3200" dirty="0">
                          <a:solidFill>
                            <a:schemeClr val="accent1"/>
                          </a:solidFill>
                        </a:rPr>
                        <a:t>4</a:t>
                      </a:r>
                      <a:r>
                        <a:rPr lang="en-US" sz="3200" dirty="0">
                          <a:solidFill>
                            <a:schemeClr val="bg1"/>
                          </a:solidFill>
                        </a:rPr>
                        <a:t>5</a:t>
                      </a:r>
                    </a:p>
                  </a:txBody>
                  <a:tcPr>
                    <a:solidFill>
                      <a:schemeClr val="tx1"/>
                    </a:solidFill>
                  </a:tcPr>
                </a:tc>
                <a:tc>
                  <a:txBody>
                    <a:bodyPr/>
                    <a:lstStyle/>
                    <a:p>
                      <a:r>
                        <a:rPr lang="en-US" sz="3200" dirty="0">
                          <a:solidFill>
                            <a:schemeClr val="bg1"/>
                          </a:solidFill>
                        </a:rPr>
                        <a:t>0</a:t>
                      </a:r>
                      <a:r>
                        <a:rPr lang="en-US" sz="3200" dirty="0">
                          <a:solidFill>
                            <a:srgbClr val="00B0F0"/>
                          </a:solidFill>
                        </a:rPr>
                        <a:t>7</a:t>
                      </a:r>
                      <a:r>
                        <a:rPr lang="en-US" sz="3200" dirty="0">
                          <a:solidFill>
                            <a:schemeClr val="bg1"/>
                          </a:solidFill>
                        </a:rPr>
                        <a:t>5</a:t>
                      </a:r>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chemeClr val="bg1"/>
                          </a:solidFill>
                        </a:rPr>
                        <a:t>0</a:t>
                      </a:r>
                      <a:r>
                        <a:rPr lang="en-US" sz="3200" dirty="0">
                          <a:solidFill>
                            <a:srgbClr val="FFFF00"/>
                          </a:solidFill>
                        </a:rPr>
                        <a:t>6</a:t>
                      </a:r>
                      <a:r>
                        <a:rPr lang="en-US" sz="3200" dirty="0">
                          <a:solidFill>
                            <a:schemeClr val="bg1"/>
                          </a:solidFill>
                        </a:rPr>
                        <a:t>6</a:t>
                      </a:r>
                    </a:p>
                  </a:txBody>
                  <a:tcPr>
                    <a:solidFill>
                      <a:schemeClr val="tx1"/>
                    </a:solidFill>
                  </a:tcPr>
                </a:tc>
                <a:extLst>
                  <a:ext uri="{0D108BD9-81ED-4DB2-BD59-A6C34878D82A}">
                    <a16:rowId xmlns:a16="http://schemas.microsoft.com/office/drawing/2014/main" val="2201540731"/>
                  </a:ext>
                </a:extLst>
              </a:tr>
            </a:tbl>
          </a:graphicData>
        </a:graphic>
      </p:graphicFrame>
      <p:sp>
        <p:nvSpPr>
          <p:cNvPr id="12" name="Flowchart: Magnetic Disk 11">
            <a:extLst>
              <a:ext uri="{C183D7F6-B498-43B3-948B-1728B52AA6E4}">
                <adec:decorative xmlns:adec="http://schemas.microsoft.com/office/drawing/2017/decorative" val="1"/>
              </a:ext>
            </a:extLst>
          </p:cNvPr>
          <p:cNvSpPr/>
          <p:nvPr/>
        </p:nvSpPr>
        <p:spPr>
          <a:xfrm>
            <a:off x="1324111" y="4799442"/>
            <a:ext cx="1564033" cy="1692323"/>
          </a:xfrm>
          <a:prstGeom prst="flowChartMagneticDisk">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0</a:t>
            </a:r>
          </a:p>
        </p:txBody>
      </p:sp>
      <p:sp>
        <p:nvSpPr>
          <p:cNvPr id="13" name="Flowchart: Magnetic Disk 12">
            <a:extLst>
              <a:ext uri="{C183D7F6-B498-43B3-948B-1728B52AA6E4}">
                <adec:decorative xmlns:adec="http://schemas.microsoft.com/office/drawing/2017/decorative" val="1"/>
              </a:ext>
            </a:extLst>
          </p:cNvPr>
          <p:cNvSpPr/>
          <p:nvPr/>
        </p:nvSpPr>
        <p:spPr>
          <a:xfrm>
            <a:off x="3444919" y="4799442"/>
            <a:ext cx="1564033" cy="1692323"/>
          </a:xfrm>
          <a:prstGeom prst="flowChartMagneticDisk">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4</a:t>
            </a:r>
          </a:p>
        </p:txBody>
      </p:sp>
      <p:sp>
        <p:nvSpPr>
          <p:cNvPr id="14" name="Flowchart: Magnetic Disk 13">
            <a:extLst>
              <a:ext uri="{C183D7F6-B498-43B3-948B-1728B52AA6E4}">
                <adec:decorative xmlns:adec="http://schemas.microsoft.com/office/drawing/2017/decorative" val="1"/>
              </a:ext>
            </a:extLst>
          </p:cNvPr>
          <p:cNvSpPr/>
          <p:nvPr/>
        </p:nvSpPr>
        <p:spPr>
          <a:xfrm>
            <a:off x="7627622" y="4825467"/>
            <a:ext cx="1564033" cy="1692323"/>
          </a:xfrm>
          <a:prstGeom prst="flowChartMagneticDisk">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7</a:t>
            </a:r>
          </a:p>
        </p:txBody>
      </p:sp>
      <p:sp>
        <p:nvSpPr>
          <p:cNvPr id="15" name="Flowchart: Magnetic Disk 14">
            <a:extLst>
              <a:ext uri="{C183D7F6-B498-43B3-948B-1728B52AA6E4}">
                <adec:decorative xmlns:adec="http://schemas.microsoft.com/office/drawing/2017/decorative" val="1"/>
              </a:ext>
            </a:extLst>
          </p:cNvPr>
          <p:cNvSpPr/>
          <p:nvPr/>
        </p:nvSpPr>
        <p:spPr>
          <a:xfrm>
            <a:off x="5565727" y="4804010"/>
            <a:ext cx="1564033" cy="1692323"/>
          </a:xfrm>
          <a:prstGeom prst="flowChartMagneticDisk">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6</a:t>
            </a:r>
          </a:p>
        </p:txBody>
      </p:sp>
      <p:cxnSp>
        <p:nvCxnSpPr>
          <p:cNvPr id="16" name="Straight Arrow Connector 15">
            <a:extLst>
              <a:ext uri="{C183D7F6-B498-43B3-948B-1728B52AA6E4}">
                <adec:decorative xmlns:adec="http://schemas.microsoft.com/office/drawing/2017/decorative" val="1"/>
              </a:ext>
            </a:extLst>
          </p:cNvPr>
          <p:cNvCxnSpPr/>
          <p:nvPr/>
        </p:nvCxnSpPr>
        <p:spPr>
          <a:xfrm flipH="1">
            <a:off x="2255744" y="4357375"/>
            <a:ext cx="1873188" cy="761631"/>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C183D7F6-B498-43B3-948B-1728B52AA6E4}">
                <adec:decorative xmlns:adec="http://schemas.microsoft.com/office/drawing/2017/decorative" val="1"/>
              </a:ext>
            </a:extLst>
          </p:cNvPr>
          <p:cNvCxnSpPr/>
          <p:nvPr/>
        </p:nvCxnSpPr>
        <p:spPr>
          <a:xfrm flipH="1">
            <a:off x="2280086" y="4342034"/>
            <a:ext cx="3089692" cy="826371"/>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C183D7F6-B498-43B3-948B-1728B52AA6E4}">
                <adec:decorative xmlns:adec="http://schemas.microsoft.com/office/drawing/2017/decorative" val="1"/>
              </a:ext>
            </a:extLst>
          </p:cNvPr>
          <p:cNvCxnSpPr/>
          <p:nvPr/>
        </p:nvCxnSpPr>
        <p:spPr>
          <a:xfrm flipH="1">
            <a:off x="2305927" y="4342034"/>
            <a:ext cx="4356258" cy="801671"/>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C183D7F6-B498-43B3-948B-1728B52AA6E4}">
                <adec:decorative xmlns:adec="http://schemas.microsoft.com/office/drawing/2017/decorative" val="1"/>
              </a:ext>
            </a:extLst>
          </p:cNvPr>
          <p:cNvCxnSpPr/>
          <p:nvPr/>
        </p:nvCxnSpPr>
        <p:spPr>
          <a:xfrm flipH="1">
            <a:off x="4030838" y="4342034"/>
            <a:ext cx="3823449" cy="75663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C183D7F6-B498-43B3-948B-1728B52AA6E4}">
                <adec:decorative xmlns:adec="http://schemas.microsoft.com/office/drawing/2017/decorative" val="1"/>
              </a:ext>
            </a:extLst>
          </p:cNvPr>
          <p:cNvCxnSpPr/>
          <p:nvPr/>
        </p:nvCxnSpPr>
        <p:spPr>
          <a:xfrm flipH="1">
            <a:off x="6295712" y="4342034"/>
            <a:ext cx="4162108" cy="803752"/>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C183D7F6-B498-43B3-948B-1728B52AA6E4}">
                <adec:decorative xmlns:adec="http://schemas.microsoft.com/office/drawing/2017/decorative" val="1"/>
              </a:ext>
            </a:extLst>
          </p:cNvPr>
          <p:cNvCxnSpPr/>
          <p:nvPr/>
        </p:nvCxnSpPr>
        <p:spPr>
          <a:xfrm flipH="1">
            <a:off x="8338436" y="4357375"/>
            <a:ext cx="658545" cy="74129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31" name="Flowchart: Magnetic Disk 30">
            <a:extLst>
              <a:ext uri="{C183D7F6-B498-43B3-948B-1728B52AA6E4}">
                <adec:decorative xmlns:adec="http://schemas.microsoft.com/office/drawing/2017/decorative" val="1"/>
              </a:ext>
            </a:extLst>
          </p:cNvPr>
          <p:cNvSpPr/>
          <p:nvPr/>
        </p:nvSpPr>
        <p:spPr>
          <a:xfrm>
            <a:off x="9675804" y="4804010"/>
            <a:ext cx="1564033" cy="1692323"/>
          </a:xfrm>
          <a:prstGeom prst="flowChartMagneticDisk">
            <a:avLst/>
          </a:prstGeom>
          <a:solidFill>
            <a:srgbClr val="ED5DE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9</a:t>
            </a:r>
          </a:p>
        </p:txBody>
      </p:sp>
      <p:cxnSp>
        <p:nvCxnSpPr>
          <p:cNvPr id="38" name="Straight Arrow Connector 37">
            <a:extLst>
              <a:ext uri="{C183D7F6-B498-43B3-948B-1728B52AA6E4}">
                <adec:decorative xmlns:adec="http://schemas.microsoft.com/office/drawing/2017/decorative" val="1"/>
              </a:ext>
            </a:extLst>
          </p:cNvPr>
          <p:cNvCxnSpPr/>
          <p:nvPr/>
        </p:nvCxnSpPr>
        <p:spPr>
          <a:xfrm>
            <a:off x="1585821" y="4393099"/>
            <a:ext cx="6753726" cy="68043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C183D7F6-B498-43B3-948B-1728B52AA6E4}">
                <adec:decorative xmlns:adec="http://schemas.microsoft.com/office/drawing/2017/decorative" val="1"/>
              </a:ext>
            </a:extLst>
          </p:cNvPr>
          <p:cNvCxnSpPr/>
          <p:nvPr/>
        </p:nvCxnSpPr>
        <p:spPr>
          <a:xfrm>
            <a:off x="2822687" y="4357375"/>
            <a:ext cx="7548354" cy="768492"/>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3670255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Radix Sort Example, slide 4</a:t>
            </a:r>
          </a:p>
        </p:txBody>
      </p:sp>
      <p:sp>
        <p:nvSpPr>
          <p:cNvPr id="5" name="TextBox 4"/>
          <p:cNvSpPr txBox="1"/>
          <p:nvPr/>
        </p:nvSpPr>
        <p:spPr>
          <a:xfrm>
            <a:off x="1097280" y="1651074"/>
            <a:ext cx="10706669" cy="523220"/>
          </a:xfrm>
          <a:prstGeom prst="rect">
            <a:avLst/>
          </a:prstGeom>
          <a:noFill/>
        </p:spPr>
        <p:txBody>
          <a:bodyPr wrap="square" rtlCol="0">
            <a:spAutoFit/>
          </a:bodyPr>
          <a:lstStyle/>
          <a:p>
            <a:r>
              <a:rPr lang="en-US" sz="2800" b="1" dirty="0"/>
              <a:t>Step 4 Result:</a:t>
            </a:r>
            <a:endParaRPr lang="en-US" sz="2800" dirty="0"/>
          </a:p>
        </p:txBody>
      </p:sp>
      <p:graphicFrame>
        <p:nvGraphicFramePr>
          <p:cNvPr id="6" name="Content Placeholder 3"/>
          <p:cNvGraphicFramePr>
            <a:graphicFrameLocks/>
          </p:cNvGraphicFramePr>
          <p:nvPr/>
        </p:nvGraphicFramePr>
        <p:xfrm>
          <a:off x="1157330" y="2191783"/>
          <a:ext cx="10058400" cy="57912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1920397348"/>
                    </a:ext>
                  </a:extLst>
                </a:gridCol>
                <a:gridCol w="1257300">
                  <a:extLst>
                    <a:ext uri="{9D8B030D-6E8A-4147-A177-3AD203B41FA5}">
                      <a16:colId xmlns:a16="http://schemas.microsoft.com/office/drawing/2014/main" val="3524114769"/>
                    </a:ext>
                  </a:extLst>
                </a:gridCol>
                <a:gridCol w="1257300">
                  <a:extLst>
                    <a:ext uri="{9D8B030D-6E8A-4147-A177-3AD203B41FA5}">
                      <a16:colId xmlns:a16="http://schemas.microsoft.com/office/drawing/2014/main" val="2695024088"/>
                    </a:ext>
                  </a:extLst>
                </a:gridCol>
                <a:gridCol w="1257300">
                  <a:extLst>
                    <a:ext uri="{9D8B030D-6E8A-4147-A177-3AD203B41FA5}">
                      <a16:colId xmlns:a16="http://schemas.microsoft.com/office/drawing/2014/main" val="2195160812"/>
                    </a:ext>
                  </a:extLst>
                </a:gridCol>
                <a:gridCol w="1257300">
                  <a:extLst>
                    <a:ext uri="{9D8B030D-6E8A-4147-A177-3AD203B41FA5}">
                      <a16:colId xmlns:a16="http://schemas.microsoft.com/office/drawing/2014/main" val="246579557"/>
                    </a:ext>
                  </a:extLst>
                </a:gridCol>
                <a:gridCol w="1257300">
                  <a:extLst>
                    <a:ext uri="{9D8B030D-6E8A-4147-A177-3AD203B41FA5}">
                      <a16:colId xmlns:a16="http://schemas.microsoft.com/office/drawing/2014/main" val="3629415840"/>
                    </a:ext>
                  </a:extLst>
                </a:gridCol>
                <a:gridCol w="1257300">
                  <a:extLst>
                    <a:ext uri="{9D8B030D-6E8A-4147-A177-3AD203B41FA5}">
                      <a16:colId xmlns:a16="http://schemas.microsoft.com/office/drawing/2014/main" val="527822308"/>
                    </a:ext>
                  </a:extLst>
                </a:gridCol>
                <a:gridCol w="1257300">
                  <a:extLst>
                    <a:ext uri="{9D8B030D-6E8A-4147-A177-3AD203B41FA5}">
                      <a16:colId xmlns:a16="http://schemas.microsoft.com/office/drawing/2014/main" val="3987635505"/>
                    </a:ext>
                  </a:extLst>
                </a:gridCol>
              </a:tblGrid>
              <a:tr h="370840">
                <a:tc>
                  <a:txBody>
                    <a:bodyPr/>
                    <a:lstStyle/>
                    <a:p>
                      <a:r>
                        <a:rPr lang="en-US" sz="3200" dirty="0">
                          <a:solidFill>
                            <a:schemeClr val="bg1"/>
                          </a:solidFill>
                        </a:rPr>
                        <a:t>0</a:t>
                      </a:r>
                      <a:r>
                        <a:rPr lang="en-US" sz="3200" dirty="0">
                          <a:solidFill>
                            <a:srgbClr val="FF0000"/>
                          </a:solidFill>
                        </a:rPr>
                        <a:t>0</a:t>
                      </a:r>
                      <a:r>
                        <a:rPr lang="en-US" sz="3200" dirty="0">
                          <a:solidFill>
                            <a:schemeClr val="bg1"/>
                          </a:solidFill>
                        </a:rPr>
                        <a:t>2</a:t>
                      </a:r>
                    </a:p>
                  </a:txBody>
                  <a:tcPr>
                    <a:solidFill>
                      <a:schemeClr val="tx1"/>
                    </a:solidFill>
                  </a:tcPr>
                </a:tc>
                <a:tc>
                  <a:txBody>
                    <a:bodyPr/>
                    <a:lstStyle/>
                    <a:p>
                      <a:r>
                        <a:rPr lang="en-US" sz="3200" dirty="0">
                          <a:solidFill>
                            <a:schemeClr val="bg1"/>
                          </a:solidFill>
                        </a:rPr>
                        <a:t>8</a:t>
                      </a:r>
                      <a:r>
                        <a:rPr lang="en-US" sz="3200" dirty="0">
                          <a:solidFill>
                            <a:srgbClr val="FF0000"/>
                          </a:solidFill>
                        </a:rPr>
                        <a:t>0</a:t>
                      </a:r>
                      <a:r>
                        <a:rPr lang="en-US" sz="3200" dirty="0">
                          <a:solidFill>
                            <a:schemeClr val="bg1"/>
                          </a:solidFill>
                        </a:rPr>
                        <a:t>2</a:t>
                      </a:r>
                    </a:p>
                  </a:txBody>
                  <a:tcPr>
                    <a:solidFill>
                      <a:schemeClr val="tx1"/>
                    </a:solidFill>
                  </a:tcPr>
                </a:tc>
                <a:tc>
                  <a:txBody>
                    <a:bodyPr/>
                    <a:lstStyle/>
                    <a:p>
                      <a:r>
                        <a:rPr lang="en-US" sz="3200" dirty="0">
                          <a:solidFill>
                            <a:schemeClr val="bg1"/>
                          </a:solidFill>
                        </a:rPr>
                        <a:t>0</a:t>
                      </a:r>
                      <a:r>
                        <a:rPr lang="en-US" sz="3200" dirty="0">
                          <a:solidFill>
                            <a:srgbClr val="FF0000"/>
                          </a:solidFill>
                        </a:rPr>
                        <a:t>0</a:t>
                      </a:r>
                      <a:r>
                        <a:rPr lang="en-US" sz="3200" dirty="0">
                          <a:solidFill>
                            <a:schemeClr val="bg1"/>
                          </a:solidFill>
                        </a:rPr>
                        <a:t>2</a:t>
                      </a:r>
                    </a:p>
                  </a:txBody>
                  <a:tcPr>
                    <a:solidFill>
                      <a:schemeClr val="tx1"/>
                    </a:solidFill>
                  </a:tcPr>
                </a:tc>
                <a:tc>
                  <a:txBody>
                    <a:bodyPr/>
                    <a:lstStyle/>
                    <a:p>
                      <a:r>
                        <a:rPr lang="en-US" sz="3200" dirty="0">
                          <a:solidFill>
                            <a:schemeClr val="bg1"/>
                          </a:solidFill>
                        </a:rPr>
                        <a:t>0</a:t>
                      </a:r>
                      <a:r>
                        <a:rPr lang="en-US" sz="3200" dirty="0">
                          <a:solidFill>
                            <a:schemeClr val="accent1"/>
                          </a:solidFill>
                        </a:rPr>
                        <a:t>4</a:t>
                      </a:r>
                      <a:r>
                        <a:rPr lang="en-US" sz="3200" dirty="0">
                          <a:solidFill>
                            <a:schemeClr val="bg1"/>
                          </a:solidFill>
                        </a:rPr>
                        <a:t>5</a:t>
                      </a:r>
                    </a:p>
                  </a:txBody>
                  <a:tcPr>
                    <a:solidFill>
                      <a:schemeClr val="tx1"/>
                    </a:solidFill>
                  </a:tcPr>
                </a:tc>
                <a:tc>
                  <a:txBody>
                    <a:bodyPr/>
                    <a:lstStyle/>
                    <a:p>
                      <a:r>
                        <a:rPr lang="en-US" sz="3200" dirty="0">
                          <a:solidFill>
                            <a:schemeClr val="bg1"/>
                          </a:solidFill>
                        </a:rPr>
                        <a:t>0</a:t>
                      </a:r>
                      <a:r>
                        <a:rPr lang="en-US" sz="3200" dirty="0">
                          <a:solidFill>
                            <a:srgbClr val="FFFF00"/>
                          </a:solidFill>
                        </a:rPr>
                        <a:t>6</a:t>
                      </a:r>
                      <a:r>
                        <a:rPr lang="en-US" sz="3200" dirty="0">
                          <a:solidFill>
                            <a:schemeClr val="bg1"/>
                          </a:solidFill>
                        </a:rPr>
                        <a:t>6</a:t>
                      </a:r>
                    </a:p>
                  </a:txBody>
                  <a:tcPr>
                    <a:solidFill>
                      <a:schemeClr val="tx1"/>
                    </a:solidFill>
                  </a:tcPr>
                </a:tc>
                <a:tc>
                  <a:txBody>
                    <a:bodyPr/>
                    <a:lstStyle/>
                    <a:p>
                      <a:r>
                        <a:rPr lang="en-US" sz="3200" dirty="0">
                          <a:solidFill>
                            <a:schemeClr val="bg1"/>
                          </a:solidFill>
                        </a:rPr>
                        <a:t>1</a:t>
                      </a:r>
                      <a:r>
                        <a:rPr lang="en-US" sz="3200" dirty="0">
                          <a:solidFill>
                            <a:srgbClr val="00B0F0"/>
                          </a:solidFill>
                        </a:rPr>
                        <a:t>7</a:t>
                      </a:r>
                      <a:r>
                        <a:rPr lang="en-US" sz="3200" dirty="0">
                          <a:solidFill>
                            <a:schemeClr val="bg1"/>
                          </a:solidFill>
                        </a:rPr>
                        <a:t>0</a:t>
                      </a:r>
                    </a:p>
                  </a:txBody>
                  <a:tcPr>
                    <a:solidFill>
                      <a:schemeClr val="tx1"/>
                    </a:solidFill>
                  </a:tcPr>
                </a:tc>
                <a:tc>
                  <a:txBody>
                    <a:bodyPr/>
                    <a:lstStyle/>
                    <a:p>
                      <a:r>
                        <a:rPr lang="en-US" sz="3200" dirty="0">
                          <a:solidFill>
                            <a:schemeClr val="bg1"/>
                          </a:solidFill>
                        </a:rPr>
                        <a:t>0</a:t>
                      </a:r>
                      <a:r>
                        <a:rPr lang="en-US" sz="3200" dirty="0">
                          <a:solidFill>
                            <a:srgbClr val="00B0F0"/>
                          </a:solidFill>
                        </a:rPr>
                        <a:t>7</a:t>
                      </a:r>
                      <a:r>
                        <a:rPr lang="en-US" sz="3200" dirty="0">
                          <a:solidFill>
                            <a:schemeClr val="bg1"/>
                          </a:solidFill>
                        </a:rPr>
                        <a:t>5</a:t>
                      </a:r>
                    </a:p>
                  </a:txBody>
                  <a:tcPr>
                    <a:solidFill>
                      <a:schemeClr val="tx1"/>
                    </a:solidFill>
                  </a:tcPr>
                </a:tc>
                <a:tc>
                  <a:txBody>
                    <a:bodyPr/>
                    <a:lstStyle/>
                    <a:p>
                      <a:r>
                        <a:rPr lang="en-US" sz="3200" dirty="0">
                          <a:solidFill>
                            <a:schemeClr val="bg1"/>
                          </a:solidFill>
                        </a:rPr>
                        <a:t>0</a:t>
                      </a:r>
                      <a:r>
                        <a:rPr lang="en-US" sz="3200" dirty="0">
                          <a:solidFill>
                            <a:srgbClr val="00B0F0"/>
                          </a:solidFill>
                        </a:rPr>
                        <a:t>9</a:t>
                      </a:r>
                      <a:r>
                        <a:rPr lang="en-US" sz="3200" dirty="0">
                          <a:solidFill>
                            <a:schemeClr val="bg1"/>
                          </a:solidFill>
                        </a:rPr>
                        <a:t>0</a:t>
                      </a:r>
                    </a:p>
                  </a:txBody>
                  <a:tcPr>
                    <a:solidFill>
                      <a:schemeClr val="tx1"/>
                    </a:solidFill>
                  </a:tcPr>
                </a:tc>
                <a:extLst>
                  <a:ext uri="{0D108BD9-81ED-4DB2-BD59-A6C34878D82A}">
                    <a16:rowId xmlns:a16="http://schemas.microsoft.com/office/drawing/2014/main" val="2201540731"/>
                  </a:ext>
                </a:extLst>
              </a:tr>
            </a:tbl>
          </a:graphicData>
        </a:graphic>
      </p:graphicFrame>
      <p:sp>
        <p:nvSpPr>
          <p:cNvPr id="3" name="TextBox 2">
            <a:extLst>
              <a:ext uri="{C183D7F6-B498-43B3-948B-1728B52AA6E4}">
                <adec:decorative xmlns:adec="http://schemas.microsoft.com/office/drawing/2017/decorative" val="0"/>
              </a:ext>
            </a:extLst>
          </p:cNvPr>
          <p:cNvSpPr txBox="1"/>
          <p:nvPr/>
        </p:nvSpPr>
        <p:spPr>
          <a:xfrm>
            <a:off x="1157330" y="2886501"/>
            <a:ext cx="9998350" cy="1231106"/>
          </a:xfrm>
          <a:prstGeom prst="rect">
            <a:avLst/>
          </a:prstGeom>
          <a:noFill/>
        </p:spPr>
        <p:txBody>
          <a:bodyPr wrap="square" rtlCol="0">
            <a:spAutoFit/>
          </a:bodyPr>
          <a:lstStyle/>
          <a:p>
            <a:r>
              <a:rPr lang="en-US" sz="2800" b="1" dirty="0">
                <a:solidFill>
                  <a:srgbClr val="000000"/>
                </a:solidFill>
              </a:rPr>
              <a:t>Step 5: </a:t>
            </a:r>
            <a:r>
              <a:rPr lang="en-US" sz="2800" dirty="0">
                <a:solidFill>
                  <a:srgbClr val="000000"/>
                </a:solidFill>
              </a:rPr>
              <a:t>Go from left to right &amp; group list into buckets by next LSD, which is the </a:t>
            </a:r>
            <a:r>
              <a:rPr lang="en-US" sz="2800" b="1" dirty="0">
                <a:solidFill>
                  <a:srgbClr val="000000"/>
                </a:solidFill>
              </a:rPr>
              <a:t>100’s place</a:t>
            </a:r>
            <a:r>
              <a:rPr lang="en-US" sz="2800" dirty="0">
                <a:solidFill>
                  <a:srgbClr val="000000"/>
                </a:solidFill>
              </a:rPr>
              <a:t>:</a:t>
            </a:r>
          </a:p>
          <a:p>
            <a:endParaRPr lang="en-US" dirty="0"/>
          </a:p>
        </p:txBody>
      </p:sp>
      <p:graphicFrame>
        <p:nvGraphicFramePr>
          <p:cNvPr id="20" name="Content Placeholder 3"/>
          <p:cNvGraphicFramePr>
            <a:graphicFrameLocks/>
          </p:cNvGraphicFramePr>
          <p:nvPr/>
        </p:nvGraphicFramePr>
        <p:xfrm>
          <a:off x="1157330" y="3917145"/>
          <a:ext cx="10058400" cy="57912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1920397348"/>
                    </a:ext>
                  </a:extLst>
                </a:gridCol>
                <a:gridCol w="1257300">
                  <a:extLst>
                    <a:ext uri="{9D8B030D-6E8A-4147-A177-3AD203B41FA5}">
                      <a16:colId xmlns:a16="http://schemas.microsoft.com/office/drawing/2014/main" val="3524114769"/>
                    </a:ext>
                  </a:extLst>
                </a:gridCol>
                <a:gridCol w="1257300">
                  <a:extLst>
                    <a:ext uri="{9D8B030D-6E8A-4147-A177-3AD203B41FA5}">
                      <a16:colId xmlns:a16="http://schemas.microsoft.com/office/drawing/2014/main" val="2695024088"/>
                    </a:ext>
                  </a:extLst>
                </a:gridCol>
                <a:gridCol w="1257300">
                  <a:extLst>
                    <a:ext uri="{9D8B030D-6E8A-4147-A177-3AD203B41FA5}">
                      <a16:colId xmlns:a16="http://schemas.microsoft.com/office/drawing/2014/main" val="2195160812"/>
                    </a:ext>
                  </a:extLst>
                </a:gridCol>
                <a:gridCol w="1257300">
                  <a:extLst>
                    <a:ext uri="{9D8B030D-6E8A-4147-A177-3AD203B41FA5}">
                      <a16:colId xmlns:a16="http://schemas.microsoft.com/office/drawing/2014/main" val="246579557"/>
                    </a:ext>
                  </a:extLst>
                </a:gridCol>
                <a:gridCol w="1257300">
                  <a:extLst>
                    <a:ext uri="{9D8B030D-6E8A-4147-A177-3AD203B41FA5}">
                      <a16:colId xmlns:a16="http://schemas.microsoft.com/office/drawing/2014/main" val="3629415840"/>
                    </a:ext>
                  </a:extLst>
                </a:gridCol>
                <a:gridCol w="1257300">
                  <a:extLst>
                    <a:ext uri="{9D8B030D-6E8A-4147-A177-3AD203B41FA5}">
                      <a16:colId xmlns:a16="http://schemas.microsoft.com/office/drawing/2014/main" val="527822308"/>
                    </a:ext>
                  </a:extLst>
                </a:gridCol>
                <a:gridCol w="1257300">
                  <a:extLst>
                    <a:ext uri="{9D8B030D-6E8A-4147-A177-3AD203B41FA5}">
                      <a16:colId xmlns:a16="http://schemas.microsoft.com/office/drawing/2014/main" val="3987635505"/>
                    </a:ext>
                  </a:extLst>
                </a:gridCol>
              </a:tblGrid>
              <a:tr h="370840">
                <a:tc>
                  <a:txBody>
                    <a:bodyPr/>
                    <a:lstStyle/>
                    <a:p>
                      <a:r>
                        <a:rPr lang="en-US" sz="3200" dirty="0">
                          <a:solidFill>
                            <a:srgbClr val="FF3300"/>
                          </a:solidFill>
                        </a:rPr>
                        <a:t>0</a:t>
                      </a:r>
                      <a:r>
                        <a:rPr lang="en-US" sz="3200" dirty="0">
                          <a:solidFill>
                            <a:schemeClr val="bg1"/>
                          </a:solidFill>
                        </a:rPr>
                        <a:t>02</a:t>
                      </a:r>
                    </a:p>
                  </a:txBody>
                  <a:tcPr>
                    <a:solidFill>
                      <a:schemeClr val="tx1"/>
                    </a:solidFill>
                  </a:tcPr>
                </a:tc>
                <a:tc>
                  <a:txBody>
                    <a:bodyPr/>
                    <a:lstStyle/>
                    <a:p>
                      <a:r>
                        <a:rPr lang="en-US" sz="3200" dirty="0">
                          <a:solidFill>
                            <a:srgbClr val="FFFF00"/>
                          </a:solidFill>
                        </a:rPr>
                        <a:t>8</a:t>
                      </a:r>
                      <a:r>
                        <a:rPr lang="en-US" sz="3200" dirty="0">
                          <a:solidFill>
                            <a:schemeClr val="bg1"/>
                          </a:solidFill>
                        </a:rPr>
                        <a:t>02</a:t>
                      </a:r>
                    </a:p>
                  </a:txBody>
                  <a:tcPr>
                    <a:solidFill>
                      <a:schemeClr val="tx1"/>
                    </a:solidFill>
                  </a:tcPr>
                </a:tc>
                <a:tc>
                  <a:txBody>
                    <a:bodyPr/>
                    <a:lstStyle/>
                    <a:p>
                      <a:r>
                        <a:rPr lang="en-US" sz="3200" dirty="0">
                          <a:solidFill>
                            <a:srgbClr val="FF0000"/>
                          </a:solidFill>
                        </a:rPr>
                        <a:t>0</a:t>
                      </a:r>
                      <a:r>
                        <a:rPr lang="en-US" sz="3200" dirty="0">
                          <a:solidFill>
                            <a:schemeClr val="bg1"/>
                          </a:solidFill>
                        </a:rPr>
                        <a:t>02</a:t>
                      </a:r>
                    </a:p>
                  </a:txBody>
                  <a:tcPr>
                    <a:solidFill>
                      <a:schemeClr val="tx1"/>
                    </a:solidFill>
                  </a:tcPr>
                </a:tc>
                <a:tc>
                  <a:txBody>
                    <a:bodyPr/>
                    <a:lstStyle/>
                    <a:p>
                      <a:r>
                        <a:rPr lang="en-US" sz="3200" dirty="0">
                          <a:solidFill>
                            <a:srgbClr val="FF0000"/>
                          </a:solidFill>
                        </a:rPr>
                        <a:t>0</a:t>
                      </a:r>
                      <a:r>
                        <a:rPr lang="en-US" sz="3200" dirty="0">
                          <a:solidFill>
                            <a:schemeClr val="bg1"/>
                          </a:solidFill>
                        </a:rPr>
                        <a:t>45</a:t>
                      </a:r>
                    </a:p>
                  </a:txBody>
                  <a:tcPr>
                    <a:solidFill>
                      <a:schemeClr val="tx1"/>
                    </a:solidFill>
                  </a:tcPr>
                </a:tc>
                <a:tc>
                  <a:txBody>
                    <a:bodyPr/>
                    <a:lstStyle/>
                    <a:p>
                      <a:r>
                        <a:rPr lang="en-US" sz="3200" dirty="0">
                          <a:solidFill>
                            <a:srgbClr val="FF0000"/>
                          </a:solidFill>
                        </a:rPr>
                        <a:t>0</a:t>
                      </a:r>
                      <a:r>
                        <a:rPr lang="en-US" sz="3200" dirty="0">
                          <a:solidFill>
                            <a:schemeClr val="bg1"/>
                          </a:solidFill>
                        </a:rPr>
                        <a:t>66</a:t>
                      </a:r>
                    </a:p>
                  </a:txBody>
                  <a:tcPr>
                    <a:solidFill>
                      <a:schemeClr val="tx1"/>
                    </a:solidFill>
                  </a:tcPr>
                </a:tc>
                <a:tc>
                  <a:txBody>
                    <a:bodyPr/>
                    <a:lstStyle/>
                    <a:p>
                      <a:r>
                        <a:rPr lang="en-US" sz="3200" dirty="0">
                          <a:solidFill>
                            <a:schemeClr val="accent1"/>
                          </a:solidFill>
                        </a:rPr>
                        <a:t>1</a:t>
                      </a:r>
                      <a:r>
                        <a:rPr lang="en-US" sz="3200" dirty="0">
                          <a:solidFill>
                            <a:schemeClr val="bg1"/>
                          </a:solidFill>
                        </a:rPr>
                        <a:t>70</a:t>
                      </a:r>
                    </a:p>
                  </a:txBody>
                  <a:tcPr>
                    <a:solidFill>
                      <a:schemeClr val="tx1"/>
                    </a:solidFill>
                  </a:tcPr>
                </a:tc>
                <a:tc>
                  <a:txBody>
                    <a:bodyPr/>
                    <a:lstStyle/>
                    <a:p>
                      <a:r>
                        <a:rPr lang="en-US" sz="3200" dirty="0">
                          <a:solidFill>
                            <a:srgbClr val="FF0000"/>
                          </a:solidFill>
                        </a:rPr>
                        <a:t>0</a:t>
                      </a:r>
                      <a:r>
                        <a:rPr lang="en-US" sz="3200" dirty="0">
                          <a:solidFill>
                            <a:schemeClr val="bg1"/>
                          </a:solidFill>
                        </a:rPr>
                        <a:t>75</a:t>
                      </a:r>
                    </a:p>
                  </a:txBody>
                  <a:tcPr>
                    <a:solidFill>
                      <a:schemeClr val="tx1"/>
                    </a:solidFill>
                  </a:tcPr>
                </a:tc>
                <a:tc>
                  <a:txBody>
                    <a:bodyPr/>
                    <a:lstStyle/>
                    <a:p>
                      <a:r>
                        <a:rPr lang="en-US" sz="3200" dirty="0">
                          <a:solidFill>
                            <a:srgbClr val="FF0000"/>
                          </a:solidFill>
                        </a:rPr>
                        <a:t>0</a:t>
                      </a:r>
                      <a:r>
                        <a:rPr lang="en-US" sz="3200" dirty="0">
                          <a:solidFill>
                            <a:schemeClr val="bg1"/>
                          </a:solidFill>
                        </a:rPr>
                        <a:t>90</a:t>
                      </a:r>
                    </a:p>
                  </a:txBody>
                  <a:tcPr>
                    <a:solidFill>
                      <a:schemeClr val="tx1"/>
                    </a:solidFill>
                  </a:tcPr>
                </a:tc>
                <a:extLst>
                  <a:ext uri="{0D108BD9-81ED-4DB2-BD59-A6C34878D82A}">
                    <a16:rowId xmlns:a16="http://schemas.microsoft.com/office/drawing/2014/main" val="2201540731"/>
                  </a:ext>
                </a:extLst>
              </a:tr>
            </a:tbl>
          </a:graphicData>
        </a:graphic>
      </p:graphicFrame>
      <p:sp>
        <p:nvSpPr>
          <p:cNvPr id="12" name="Flowchart: Magnetic Disk 11">
            <a:extLst>
              <a:ext uri="{C183D7F6-B498-43B3-948B-1728B52AA6E4}">
                <adec:decorative xmlns:adec="http://schemas.microsoft.com/office/drawing/2017/decorative" val="1"/>
              </a:ext>
            </a:extLst>
          </p:cNvPr>
          <p:cNvSpPr/>
          <p:nvPr/>
        </p:nvSpPr>
        <p:spPr>
          <a:xfrm>
            <a:off x="2321655" y="4840330"/>
            <a:ext cx="1564033" cy="1692323"/>
          </a:xfrm>
          <a:prstGeom prst="flowChartMagneticDisk">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0</a:t>
            </a:r>
          </a:p>
        </p:txBody>
      </p:sp>
      <p:sp>
        <p:nvSpPr>
          <p:cNvPr id="13" name="Flowchart: Magnetic Disk 12">
            <a:extLst>
              <a:ext uri="{C183D7F6-B498-43B3-948B-1728B52AA6E4}">
                <adec:decorative xmlns:adec="http://schemas.microsoft.com/office/drawing/2017/decorative" val="1"/>
              </a:ext>
            </a:extLst>
          </p:cNvPr>
          <p:cNvSpPr/>
          <p:nvPr/>
        </p:nvSpPr>
        <p:spPr>
          <a:xfrm>
            <a:off x="5220835" y="4806267"/>
            <a:ext cx="1564033" cy="1692323"/>
          </a:xfrm>
          <a:prstGeom prst="flowChartMagneticDisk">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1</a:t>
            </a:r>
          </a:p>
        </p:txBody>
      </p:sp>
      <p:sp>
        <p:nvSpPr>
          <p:cNvPr id="15" name="Flowchart: Magnetic Disk 14">
            <a:extLst>
              <a:ext uri="{C183D7F6-B498-43B3-948B-1728B52AA6E4}">
                <adec:decorative xmlns:adec="http://schemas.microsoft.com/office/drawing/2017/decorative" val="1"/>
              </a:ext>
            </a:extLst>
          </p:cNvPr>
          <p:cNvSpPr/>
          <p:nvPr/>
        </p:nvSpPr>
        <p:spPr>
          <a:xfrm>
            <a:off x="8094487" y="4783540"/>
            <a:ext cx="1564033" cy="1692323"/>
          </a:xfrm>
          <a:prstGeom prst="flowChartMagneticDisk">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8</a:t>
            </a:r>
          </a:p>
        </p:txBody>
      </p:sp>
      <p:cxnSp>
        <p:nvCxnSpPr>
          <p:cNvPr id="16" name="Straight Arrow Connector 15">
            <a:extLst>
              <a:ext uri="{C183D7F6-B498-43B3-948B-1728B52AA6E4}">
                <adec:decorative xmlns:adec="http://schemas.microsoft.com/office/drawing/2017/decorative" val="1"/>
              </a:ext>
            </a:extLst>
          </p:cNvPr>
          <p:cNvCxnSpPr/>
          <p:nvPr/>
        </p:nvCxnSpPr>
        <p:spPr>
          <a:xfrm>
            <a:off x="1402019" y="4360979"/>
            <a:ext cx="1641683" cy="787272"/>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C183D7F6-B498-43B3-948B-1728B52AA6E4}">
                <adec:decorative xmlns:adec="http://schemas.microsoft.com/office/drawing/2017/decorative" val="1"/>
              </a:ext>
            </a:extLst>
          </p:cNvPr>
          <p:cNvCxnSpPr/>
          <p:nvPr/>
        </p:nvCxnSpPr>
        <p:spPr>
          <a:xfrm>
            <a:off x="2620370" y="4427609"/>
            <a:ext cx="6256133" cy="566682"/>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C183D7F6-B498-43B3-948B-1728B52AA6E4}">
                <adec:decorative xmlns:adec="http://schemas.microsoft.com/office/drawing/2017/decorative" val="1"/>
              </a:ext>
            </a:extLst>
          </p:cNvPr>
          <p:cNvCxnSpPr/>
          <p:nvPr/>
        </p:nvCxnSpPr>
        <p:spPr>
          <a:xfrm flipH="1">
            <a:off x="3043702" y="4412631"/>
            <a:ext cx="747116" cy="73562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C183D7F6-B498-43B3-948B-1728B52AA6E4}">
                <adec:decorative xmlns:adec="http://schemas.microsoft.com/office/drawing/2017/decorative" val="1"/>
              </a:ext>
            </a:extLst>
          </p:cNvPr>
          <p:cNvCxnSpPr/>
          <p:nvPr/>
        </p:nvCxnSpPr>
        <p:spPr>
          <a:xfrm flipH="1">
            <a:off x="3017412" y="4430608"/>
            <a:ext cx="2023337" cy="630313"/>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C183D7F6-B498-43B3-948B-1728B52AA6E4}">
                <adec:decorative xmlns:adec="http://schemas.microsoft.com/office/drawing/2017/decorative" val="1"/>
              </a:ext>
            </a:extLst>
          </p:cNvPr>
          <p:cNvCxnSpPr/>
          <p:nvPr/>
        </p:nvCxnSpPr>
        <p:spPr>
          <a:xfrm flipH="1">
            <a:off x="3170680" y="4461672"/>
            <a:ext cx="3205216" cy="693944"/>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C183D7F6-B498-43B3-948B-1728B52AA6E4}">
                <adec:decorative xmlns:adec="http://schemas.microsoft.com/office/drawing/2017/decorative" val="1"/>
              </a:ext>
            </a:extLst>
          </p:cNvPr>
          <p:cNvCxnSpPr/>
          <p:nvPr/>
        </p:nvCxnSpPr>
        <p:spPr>
          <a:xfrm flipH="1">
            <a:off x="5935316" y="4427609"/>
            <a:ext cx="1655149" cy="633312"/>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C183D7F6-B498-43B3-948B-1728B52AA6E4}">
                <adec:decorative xmlns:adec="http://schemas.microsoft.com/office/drawing/2017/decorative" val="1"/>
              </a:ext>
            </a:extLst>
          </p:cNvPr>
          <p:cNvCxnSpPr/>
          <p:nvPr/>
        </p:nvCxnSpPr>
        <p:spPr>
          <a:xfrm flipH="1">
            <a:off x="3170680" y="4412631"/>
            <a:ext cx="5705823" cy="73562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C183D7F6-B498-43B3-948B-1728B52AA6E4}">
                <adec:decorative xmlns:adec="http://schemas.microsoft.com/office/drawing/2017/decorative" val="1"/>
              </a:ext>
            </a:extLst>
          </p:cNvPr>
          <p:cNvCxnSpPr/>
          <p:nvPr/>
        </p:nvCxnSpPr>
        <p:spPr>
          <a:xfrm flipH="1">
            <a:off x="3221988" y="4422500"/>
            <a:ext cx="6884292" cy="725751"/>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7867160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Radix Sort Example, slide 5</a:t>
            </a:r>
          </a:p>
        </p:txBody>
      </p:sp>
      <p:sp>
        <p:nvSpPr>
          <p:cNvPr id="5" name="TextBox 4"/>
          <p:cNvSpPr txBox="1"/>
          <p:nvPr/>
        </p:nvSpPr>
        <p:spPr>
          <a:xfrm>
            <a:off x="1097280" y="1658203"/>
            <a:ext cx="10974165" cy="4770537"/>
          </a:xfrm>
          <a:prstGeom prst="rect">
            <a:avLst/>
          </a:prstGeom>
          <a:noFill/>
        </p:spPr>
        <p:txBody>
          <a:bodyPr wrap="square" rtlCol="0">
            <a:spAutoFit/>
          </a:bodyPr>
          <a:lstStyle/>
          <a:p>
            <a:r>
              <a:rPr lang="en-US" sz="2800" b="1" dirty="0"/>
              <a:t>Step 5 Result:</a:t>
            </a:r>
            <a:endParaRPr lang="en-US" sz="2800" dirty="0"/>
          </a:p>
          <a:p>
            <a:endParaRPr lang="en-US" sz="2800" dirty="0"/>
          </a:p>
          <a:p>
            <a:endParaRPr lang="en-US" sz="2800" dirty="0"/>
          </a:p>
          <a:p>
            <a:pPr algn="ctr"/>
            <a:r>
              <a:rPr lang="en-US" sz="2800" b="1" dirty="0">
                <a:solidFill>
                  <a:srgbClr val="FF0000"/>
                </a:solidFill>
              </a:rPr>
              <a:t>SORTED!</a:t>
            </a:r>
          </a:p>
          <a:p>
            <a:pPr algn="ctr"/>
            <a:endParaRPr lang="en-US" sz="2800" b="1" dirty="0">
              <a:solidFill>
                <a:srgbClr val="FF0000"/>
              </a:solidFill>
            </a:endParaRPr>
          </a:p>
          <a:p>
            <a:r>
              <a:rPr lang="en-US" sz="3200" dirty="0"/>
              <a:t>It is important to realize that each of the above steps requires just a single pass over the data, since each item can be placed in its correct bucket without having to be compared with other items.</a:t>
            </a:r>
            <a:endParaRPr lang="en-US" sz="4400" b="1" dirty="0">
              <a:solidFill>
                <a:srgbClr val="FF0000"/>
              </a:solidFill>
            </a:endParaRPr>
          </a:p>
          <a:p>
            <a:endParaRPr lang="en-US" dirty="0"/>
          </a:p>
          <a:p>
            <a:endParaRPr lang="en-US" dirty="0"/>
          </a:p>
        </p:txBody>
      </p:sp>
      <p:graphicFrame>
        <p:nvGraphicFramePr>
          <p:cNvPr id="10" name="Content Placeholder 3"/>
          <p:cNvGraphicFramePr>
            <a:graphicFrameLocks/>
          </p:cNvGraphicFramePr>
          <p:nvPr/>
        </p:nvGraphicFramePr>
        <p:xfrm>
          <a:off x="1176439" y="2140210"/>
          <a:ext cx="10058400" cy="57912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1920397348"/>
                    </a:ext>
                  </a:extLst>
                </a:gridCol>
                <a:gridCol w="1257300">
                  <a:extLst>
                    <a:ext uri="{9D8B030D-6E8A-4147-A177-3AD203B41FA5}">
                      <a16:colId xmlns:a16="http://schemas.microsoft.com/office/drawing/2014/main" val="3524114769"/>
                    </a:ext>
                  </a:extLst>
                </a:gridCol>
                <a:gridCol w="1257300">
                  <a:extLst>
                    <a:ext uri="{9D8B030D-6E8A-4147-A177-3AD203B41FA5}">
                      <a16:colId xmlns:a16="http://schemas.microsoft.com/office/drawing/2014/main" val="2695024088"/>
                    </a:ext>
                  </a:extLst>
                </a:gridCol>
                <a:gridCol w="1257300">
                  <a:extLst>
                    <a:ext uri="{9D8B030D-6E8A-4147-A177-3AD203B41FA5}">
                      <a16:colId xmlns:a16="http://schemas.microsoft.com/office/drawing/2014/main" val="2195160812"/>
                    </a:ext>
                  </a:extLst>
                </a:gridCol>
                <a:gridCol w="1257300">
                  <a:extLst>
                    <a:ext uri="{9D8B030D-6E8A-4147-A177-3AD203B41FA5}">
                      <a16:colId xmlns:a16="http://schemas.microsoft.com/office/drawing/2014/main" val="246579557"/>
                    </a:ext>
                  </a:extLst>
                </a:gridCol>
                <a:gridCol w="1257300">
                  <a:extLst>
                    <a:ext uri="{9D8B030D-6E8A-4147-A177-3AD203B41FA5}">
                      <a16:colId xmlns:a16="http://schemas.microsoft.com/office/drawing/2014/main" val="3629415840"/>
                    </a:ext>
                  </a:extLst>
                </a:gridCol>
                <a:gridCol w="1257300">
                  <a:extLst>
                    <a:ext uri="{9D8B030D-6E8A-4147-A177-3AD203B41FA5}">
                      <a16:colId xmlns:a16="http://schemas.microsoft.com/office/drawing/2014/main" val="527822308"/>
                    </a:ext>
                  </a:extLst>
                </a:gridCol>
                <a:gridCol w="1257300">
                  <a:extLst>
                    <a:ext uri="{9D8B030D-6E8A-4147-A177-3AD203B41FA5}">
                      <a16:colId xmlns:a16="http://schemas.microsoft.com/office/drawing/2014/main" val="3987635505"/>
                    </a:ext>
                  </a:extLst>
                </a:gridCol>
              </a:tblGrid>
              <a:tr h="370840">
                <a:tc>
                  <a:txBody>
                    <a:bodyPr/>
                    <a:lstStyle/>
                    <a:p>
                      <a:r>
                        <a:rPr lang="en-US" sz="3200" dirty="0">
                          <a:solidFill>
                            <a:srgbClr val="FF0000"/>
                          </a:solidFill>
                        </a:rPr>
                        <a:t>0</a:t>
                      </a:r>
                      <a:r>
                        <a:rPr lang="en-US" sz="3200" dirty="0">
                          <a:solidFill>
                            <a:schemeClr val="bg1"/>
                          </a:solidFill>
                        </a:rPr>
                        <a:t>02</a:t>
                      </a:r>
                    </a:p>
                  </a:txBody>
                  <a:tcPr>
                    <a:solidFill>
                      <a:schemeClr val="tx1"/>
                    </a:solidFill>
                  </a:tcPr>
                </a:tc>
                <a:tc>
                  <a:txBody>
                    <a:bodyPr/>
                    <a:lstStyle/>
                    <a:p>
                      <a:r>
                        <a:rPr lang="en-US" sz="3200" dirty="0">
                          <a:solidFill>
                            <a:srgbClr val="FF0000"/>
                          </a:solidFill>
                        </a:rPr>
                        <a:t>0</a:t>
                      </a:r>
                      <a:r>
                        <a:rPr lang="en-US" sz="3200" dirty="0">
                          <a:solidFill>
                            <a:schemeClr val="bg1"/>
                          </a:solidFill>
                        </a:rPr>
                        <a:t>02</a:t>
                      </a:r>
                    </a:p>
                  </a:txBody>
                  <a:tcPr>
                    <a:solidFill>
                      <a:schemeClr val="tx1"/>
                    </a:solidFill>
                  </a:tcPr>
                </a:tc>
                <a:tc>
                  <a:txBody>
                    <a:bodyPr/>
                    <a:lstStyle/>
                    <a:p>
                      <a:r>
                        <a:rPr lang="en-US" sz="3200" dirty="0">
                          <a:solidFill>
                            <a:srgbClr val="FF0000"/>
                          </a:solidFill>
                        </a:rPr>
                        <a:t>0</a:t>
                      </a:r>
                      <a:r>
                        <a:rPr lang="en-US" sz="3200" dirty="0">
                          <a:solidFill>
                            <a:schemeClr val="bg1"/>
                          </a:solidFill>
                        </a:rPr>
                        <a:t>45</a:t>
                      </a:r>
                    </a:p>
                  </a:txBody>
                  <a:tcPr>
                    <a:solidFill>
                      <a:schemeClr val="tx1"/>
                    </a:solidFill>
                  </a:tcPr>
                </a:tc>
                <a:tc>
                  <a:txBody>
                    <a:bodyPr/>
                    <a:lstStyle/>
                    <a:p>
                      <a:r>
                        <a:rPr lang="en-US" sz="3200" dirty="0">
                          <a:solidFill>
                            <a:srgbClr val="FF0000"/>
                          </a:solidFill>
                        </a:rPr>
                        <a:t>0</a:t>
                      </a:r>
                      <a:r>
                        <a:rPr lang="en-US" sz="3200" dirty="0">
                          <a:solidFill>
                            <a:schemeClr val="bg1"/>
                          </a:solidFill>
                        </a:rPr>
                        <a:t>66</a:t>
                      </a:r>
                    </a:p>
                  </a:txBody>
                  <a:tcPr>
                    <a:solidFill>
                      <a:schemeClr val="tx1"/>
                    </a:solidFill>
                  </a:tcPr>
                </a:tc>
                <a:tc>
                  <a:txBody>
                    <a:bodyPr/>
                    <a:lstStyle/>
                    <a:p>
                      <a:r>
                        <a:rPr lang="en-US" sz="3200" dirty="0">
                          <a:solidFill>
                            <a:srgbClr val="FF0000"/>
                          </a:solidFill>
                        </a:rPr>
                        <a:t>0</a:t>
                      </a:r>
                      <a:r>
                        <a:rPr lang="en-US" sz="3200" dirty="0">
                          <a:solidFill>
                            <a:schemeClr val="bg1"/>
                          </a:solidFill>
                        </a:rPr>
                        <a:t>75</a:t>
                      </a:r>
                    </a:p>
                  </a:txBody>
                  <a:tcPr>
                    <a:solidFill>
                      <a:schemeClr val="tx1"/>
                    </a:solidFill>
                  </a:tcPr>
                </a:tc>
                <a:tc>
                  <a:txBody>
                    <a:bodyPr/>
                    <a:lstStyle/>
                    <a:p>
                      <a:r>
                        <a:rPr lang="en-US" sz="3200" dirty="0">
                          <a:solidFill>
                            <a:srgbClr val="FF0000"/>
                          </a:solidFill>
                        </a:rPr>
                        <a:t>0</a:t>
                      </a:r>
                      <a:r>
                        <a:rPr lang="en-US" sz="3200" dirty="0">
                          <a:solidFill>
                            <a:schemeClr val="bg1"/>
                          </a:solidFill>
                        </a:rPr>
                        <a:t>90</a:t>
                      </a:r>
                    </a:p>
                  </a:txBody>
                  <a:tcPr>
                    <a:solidFill>
                      <a:schemeClr val="tx1"/>
                    </a:solidFill>
                  </a:tcPr>
                </a:tc>
                <a:tc>
                  <a:txBody>
                    <a:bodyPr/>
                    <a:lstStyle/>
                    <a:p>
                      <a:r>
                        <a:rPr lang="en-US" sz="3200" dirty="0">
                          <a:solidFill>
                            <a:schemeClr val="accent1"/>
                          </a:solidFill>
                        </a:rPr>
                        <a:t>1</a:t>
                      </a:r>
                      <a:r>
                        <a:rPr lang="en-US" sz="3200" dirty="0">
                          <a:solidFill>
                            <a:schemeClr val="bg1"/>
                          </a:solidFill>
                        </a:rPr>
                        <a:t>70</a:t>
                      </a:r>
                    </a:p>
                  </a:txBody>
                  <a:tcPr>
                    <a:solidFill>
                      <a:schemeClr val="tx1"/>
                    </a:solidFill>
                  </a:tcPr>
                </a:tc>
                <a:tc>
                  <a:txBody>
                    <a:bodyPr/>
                    <a:lstStyle/>
                    <a:p>
                      <a:r>
                        <a:rPr lang="en-US" sz="3200" dirty="0">
                          <a:solidFill>
                            <a:srgbClr val="FFFF00"/>
                          </a:solidFill>
                        </a:rPr>
                        <a:t>8</a:t>
                      </a:r>
                      <a:r>
                        <a:rPr lang="en-US" sz="3200" dirty="0">
                          <a:solidFill>
                            <a:schemeClr val="bg1"/>
                          </a:solidFill>
                        </a:rPr>
                        <a:t>02</a:t>
                      </a:r>
                    </a:p>
                  </a:txBody>
                  <a:tcPr>
                    <a:solidFill>
                      <a:schemeClr val="tx1"/>
                    </a:solidFill>
                  </a:tcPr>
                </a:tc>
                <a:extLst>
                  <a:ext uri="{0D108BD9-81ED-4DB2-BD59-A6C34878D82A}">
                    <a16:rowId xmlns:a16="http://schemas.microsoft.com/office/drawing/2014/main" val="2201540731"/>
                  </a:ext>
                </a:extLst>
              </a:tr>
            </a:tbl>
          </a:graphicData>
        </a:graphic>
      </p:graphicFrame>
    </p:spTree>
    <p:extLst>
      <p:ext uri="{BB962C8B-B14F-4D97-AF65-F5344CB8AC3E}">
        <p14:creationId xmlns:p14="http://schemas.microsoft.com/office/powerpoint/2010/main" val="125786636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Radix Sort Example</a:t>
            </a:r>
          </a:p>
        </p:txBody>
      </p:sp>
      <p:sp>
        <p:nvSpPr>
          <p:cNvPr id="3" name="Content Placeholder 2"/>
          <p:cNvSpPr>
            <a:spLocks noGrp="1"/>
          </p:cNvSpPr>
          <p:nvPr>
            <p:ph idx="1"/>
          </p:nvPr>
        </p:nvSpPr>
        <p:spPr/>
        <p:txBody>
          <a:bodyPr>
            <a:normAutofit/>
          </a:bodyPr>
          <a:lstStyle/>
          <a:p>
            <a:pPr marL="458788" indent="-458788">
              <a:buFont typeface="Wingdings" panose="05000000000000000000" pitchFamily="2" charset="2"/>
              <a:buChar char="v"/>
            </a:pPr>
            <a:r>
              <a:rPr lang="en-US" sz="4000" b="1" dirty="0">
                <a:solidFill>
                  <a:srgbClr val="0070C0"/>
                </a:solidFill>
              </a:rPr>
              <a:t>radixSort.cpp</a:t>
            </a:r>
          </a:p>
        </p:txBody>
      </p:sp>
    </p:spTree>
    <p:extLst>
      <p:ext uri="{BB962C8B-B14F-4D97-AF65-F5344CB8AC3E}">
        <p14:creationId xmlns:p14="http://schemas.microsoft.com/office/powerpoint/2010/main" val="332062957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Radix Sort </a:t>
            </a:r>
            <a:br>
              <a:rPr lang="en-US" b="1" dirty="0"/>
            </a:br>
            <a:r>
              <a:rPr lang="en-US" b="1" dirty="0"/>
              <a:t>Big O Notation</a:t>
            </a:r>
          </a:p>
        </p:txBody>
      </p:sp>
      <p:sp>
        <p:nvSpPr>
          <p:cNvPr id="3" name="Content Placeholder 2"/>
          <p:cNvSpPr>
            <a:spLocks noGrp="1"/>
          </p:cNvSpPr>
          <p:nvPr>
            <p:ph idx="1"/>
          </p:nvPr>
        </p:nvSpPr>
        <p:spPr>
          <a:xfrm>
            <a:off x="1097279" y="1845734"/>
            <a:ext cx="10058401" cy="4459532"/>
          </a:xfrm>
        </p:spPr>
        <p:txBody>
          <a:bodyPr>
            <a:normAutofit/>
          </a:bodyPr>
          <a:lstStyle/>
          <a:p>
            <a:pPr marL="0" indent="0">
              <a:buNone/>
            </a:pPr>
            <a:r>
              <a:rPr lang="en-US" sz="3200" b="1" dirty="0"/>
              <a:t>Runtime </a:t>
            </a:r>
            <a:r>
              <a:rPr lang="en-US" sz="3200" b="1" dirty="0">
                <a:solidFill>
                  <a:schemeClr val="tx1"/>
                </a:solidFill>
              </a:rPr>
              <a:t>Worst</a:t>
            </a:r>
            <a:r>
              <a:rPr lang="en-US" sz="3200" b="1" dirty="0"/>
              <a:t> Case:		</a:t>
            </a:r>
            <a:r>
              <a:rPr lang="en-US" sz="3200" b="1" dirty="0">
                <a:solidFill>
                  <a:srgbClr val="0070C0"/>
                </a:solidFill>
              </a:rPr>
              <a:t>O(</a:t>
            </a:r>
            <a:r>
              <a:rPr lang="en-US" sz="3200" b="1" dirty="0" err="1">
                <a:solidFill>
                  <a:srgbClr val="FF0000"/>
                </a:solidFill>
              </a:rPr>
              <a:t>w</a:t>
            </a:r>
            <a:r>
              <a:rPr lang="en-US" sz="3200" b="1" dirty="0" err="1">
                <a:solidFill>
                  <a:srgbClr val="0070C0"/>
                </a:solidFill>
              </a:rPr>
              <a:t>n</a:t>
            </a:r>
            <a:r>
              <a:rPr lang="en-US" sz="3200" b="1" dirty="0">
                <a:solidFill>
                  <a:srgbClr val="0070C0"/>
                </a:solidFill>
              </a:rPr>
              <a:t>)</a:t>
            </a:r>
          </a:p>
          <a:p>
            <a:pPr marL="0" indent="0">
              <a:buNone/>
            </a:pPr>
            <a:r>
              <a:rPr lang="en-US" sz="3200" b="1" dirty="0">
                <a:solidFill>
                  <a:srgbClr val="92D050"/>
                </a:solidFill>
              </a:rPr>
              <a:t>	</a:t>
            </a:r>
            <a:r>
              <a:rPr lang="en-US" sz="3200" b="1" dirty="0">
                <a:solidFill>
                  <a:srgbClr val="000000"/>
                </a:solidFill>
              </a:rPr>
              <a:t>w</a:t>
            </a:r>
            <a:r>
              <a:rPr lang="en-US" sz="3200" b="1" dirty="0">
                <a:solidFill>
                  <a:schemeClr val="tx1"/>
                </a:solidFill>
              </a:rPr>
              <a:t> </a:t>
            </a:r>
            <a:r>
              <a:rPr lang="en-US" sz="3200" dirty="0">
                <a:solidFill>
                  <a:srgbClr val="000000"/>
                </a:solidFill>
              </a:rPr>
              <a:t>= word size</a:t>
            </a:r>
          </a:p>
          <a:p>
            <a:pPr marL="0" indent="0">
              <a:buNone/>
            </a:pPr>
            <a:r>
              <a:rPr lang="en-US" sz="3200" b="1" dirty="0">
                <a:solidFill>
                  <a:schemeClr val="tx1"/>
                </a:solidFill>
              </a:rPr>
              <a:t>	</a:t>
            </a:r>
            <a:r>
              <a:rPr lang="en-US" sz="3200" b="1" dirty="0">
                <a:solidFill>
                  <a:srgbClr val="0070C0"/>
                </a:solidFill>
              </a:rPr>
              <a:t>n</a:t>
            </a:r>
            <a:r>
              <a:rPr lang="en-US" sz="3200" b="1" dirty="0">
                <a:solidFill>
                  <a:schemeClr val="tx1"/>
                </a:solidFill>
              </a:rPr>
              <a:t> </a:t>
            </a:r>
            <a:r>
              <a:rPr lang="en-US" sz="3200" dirty="0">
                <a:solidFill>
                  <a:schemeClr val="tx1"/>
                </a:solidFill>
              </a:rPr>
              <a:t>= number of elements / list nodes</a:t>
            </a:r>
          </a:p>
          <a:p>
            <a:pPr marL="0" indent="0">
              <a:buNone/>
            </a:pPr>
            <a:r>
              <a:rPr lang="en-US" sz="3200" b="1" dirty="0">
                <a:solidFill>
                  <a:schemeClr val="tx1"/>
                </a:solidFill>
              </a:rPr>
              <a:t>Space Complexity </a:t>
            </a:r>
            <a:r>
              <a:rPr lang="en-US" sz="3200" dirty="0">
                <a:solidFill>
                  <a:schemeClr val="tx1"/>
                </a:solidFill>
              </a:rPr>
              <a:t>:</a:t>
            </a:r>
            <a:r>
              <a:rPr lang="en-US" sz="3200" b="1" dirty="0">
                <a:solidFill>
                  <a:srgbClr val="FF0000"/>
                </a:solidFill>
              </a:rPr>
              <a:t>		</a:t>
            </a:r>
            <a:r>
              <a:rPr lang="en-US" sz="3200" b="1" dirty="0">
                <a:solidFill>
                  <a:srgbClr val="0070C0"/>
                </a:solidFill>
              </a:rPr>
              <a:t>O(</a:t>
            </a:r>
            <a:r>
              <a:rPr lang="en-US" sz="3200" b="1" dirty="0">
                <a:solidFill>
                  <a:srgbClr val="FF0000"/>
                </a:solidFill>
              </a:rPr>
              <a:t>w</a:t>
            </a:r>
            <a:r>
              <a:rPr lang="en-US" sz="3200" b="1" dirty="0">
                <a:solidFill>
                  <a:srgbClr val="0070C0"/>
                </a:solidFill>
              </a:rPr>
              <a:t> + n)</a:t>
            </a:r>
          </a:p>
          <a:p>
            <a:pPr marL="0" indent="0">
              <a:buNone/>
            </a:pPr>
            <a:endParaRPr lang="en-US" sz="3200" b="1" dirty="0">
              <a:solidFill>
                <a:srgbClr val="0070C0"/>
              </a:solidFill>
            </a:endParaRPr>
          </a:p>
          <a:p>
            <a:pPr marL="0" indent="0">
              <a:buNone/>
            </a:pPr>
            <a:r>
              <a:rPr lang="en-US" sz="3200" b="1" dirty="0">
                <a:solidFill>
                  <a:srgbClr val="0070C0"/>
                </a:solidFill>
                <a:hlinkClick r:id="rId3"/>
              </a:rPr>
              <a:t>https://en.wikipedia.org/wiki/Radix_sort</a:t>
            </a:r>
            <a:r>
              <a:rPr lang="en-US" sz="3200" b="1" dirty="0">
                <a:solidFill>
                  <a:srgbClr val="0070C0"/>
                </a:solidFill>
              </a:rPr>
              <a:t> </a:t>
            </a:r>
          </a:p>
          <a:p>
            <a:pPr marL="0" indent="0">
              <a:buNone/>
            </a:pPr>
            <a:endParaRPr lang="en-US" sz="3200" b="1" dirty="0">
              <a:solidFill>
                <a:srgbClr val="FF0000"/>
              </a:solidFill>
            </a:endParaRPr>
          </a:p>
          <a:p>
            <a:pPr marL="0" indent="0">
              <a:buNone/>
            </a:pPr>
            <a:endParaRPr lang="en-US" sz="3200" b="1" dirty="0">
              <a:solidFill>
                <a:srgbClr val="FF0000"/>
              </a:solidFill>
            </a:endParaRPr>
          </a:p>
        </p:txBody>
      </p:sp>
    </p:spTree>
    <p:extLst>
      <p:ext uri="{BB962C8B-B14F-4D97-AF65-F5344CB8AC3E}">
        <p14:creationId xmlns:p14="http://schemas.microsoft.com/office/powerpoint/2010/main" val="23467011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830" y="286603"/>
            <a:ext cx="12016854" cy="1450757"/>
          </a:xfrm>
        </p:spPr>
        <p:txBody>
          <a:bodyPr/>
          <a:lstStyle/>
          <a:p>
            <a:r>
              <a:rPr lang="en-US" dirty="0"/>
              <a:t>Summary of Big O Notation of Sorting Algorithms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63468842"/>
              </p:ext>
            </p:extLst>
          </p:nvPr>
        </p:nvGraphicFramePr>
        <p:xfrm>
          <a:off x="122830" y="1846263"/>
          <a:ext cx="11859903" cy="4175760"/>
        </p:xfrm>
        <a:graphic>
          <a:graphicData uri="http://schemas.openxmlformats.org/drawingml/2006/table">
            <a:tbl>
              <a:tblPr firstRow="1" bandRow="1">
                <a:tableStyleId>{5C22544A-7EE6-4342-B048-85BDC9FD1C3A}</a:tableStyleId>
              </a:tblPr>
              <a:tblGrid>
                <a:gridCol w="2850291">
                  <a:extLst>
                    <a:ext uri="{9D8B030D-6E8A-4147-A177-3AD203B41FA5}">
                      <a16:colId xmlns:a16="http://schemas.microsoft.com/office/drawing/2014/main" val="41976842"/>
                    </a:ext>
                  </a:extLst>
                </a:gridCol>
                <a:gridCol w="2285083">
                  <a:extLst>
                    <a:ext uri="{9D8B030D-6E8A-4147-A177-3AD203B41FA5}">
                      <a16:colId xmlns:a16="http://schemas.microsoft.com/office/drawing/2014/main" val="1313297233"/>
                    </a:ext>
                  </a:extLst>
                </a:gridCol>
                <a:gridCol w="2212668">
                  <a:extLst>
                    <a:ext uri="{9D8B030D-6E8A-4147-A177-3AD203B41FA5}">
                      <a16:colId xmlns:a16="http://schemas.microsoft.com/office/drawing/2014/main" val="3393385113"/>
                    </a:ext>
                  </a:extLst>
                </a:gridCol>
                <a:gridCol w="2220715">
                  <a:extLst>
                    <a:ext uri="{9D8B030D-6E8A-4147-A177-3AD203B41FA5}">
                      <a16:colId xmlns:a16="http://schemas.microsoft.com/office/drawing/2014/main" val="1876788671"/>
                    </a:ext>
                  </a:extLst>
                </a:gridCol>
                <a:gridCol w="2291146">
                  <a:extLst>
                    <a:ext uri="{9D8B030D-6E8A-4147-A177-3AD203B41FA5}">
                      <a16:colId xmlns:a16="http://schemas.microsoft.com/office/drawing/2014/main" val="3544441910"/>
                    </a:ext>
                  </a:extLst>
                </a:gridCol>
              </a:tblGrid>
              <a:tr h="370840">
                <a:tc>
                  <a:txBody>
                    <a:bodyPr/>
                    <a:lstStyle/>
                    <a:p>
                      <a:pPr algn="ctr"/>
                      <a:r>
                        <a:rPr lang="en-US" sz="3200" dirty="0">
                          <a:solidFill>
                            <a:schemeClr val="tx1"/>
                          </a:solidFill>
                        </a:rPr>
                        <a:t>Best</a:t>
                      </a:r>
                      <a:r>
                        <a:rPr lang="en-US" sz="3200" baseline="0" dirty="0">
                          <a:solidFill>
                            <a:schemeClr val="tx1"/>
                          </a:solidFill>
                        </a:rPr>
                        <a:t> Runtime</a:t>
                      </a:r>
                      <a:endParaRPr lang="en-US" sz="3200" dirty="0">
                        <a:solidFill>
                          <a:schemeClr val="tx1"/>
                        </a:solidFill>
                      </a:endParaRPr>
                    </a:p>
                  </a:txBody>
                  <a:tcPr/>
                </a:tc>
                <a:tc>
                  <a:txBody>
                    <a:bodyPr/>
                    <a:lstStyle/>
                    <a:p>
                      <a:pPr algn="ctr"/>
                      <a:r>
                        <a:rPr lang="en-US" sz="3200" dirty="0">
                          <a:solidFill>
                            <a:schemeClr val="tx1"/>
                          </a:solidFill>
                        </a:rPr>
                        <a:t>Best Runtime</a:t>
                      </a:r>
                    </a:p>
                  </a:txBody>
                  <a:tcPr/>
                </a:tc>
                <a:tc>
                  <a:txBody>
                    <a:bodyPr/>
                    <a:lstStyle/>
                    <a:p>
                      <a:pPr algn="ctr"/>
                      <a:r>
                        <a:rPr lang="en-US" sz="3200" dirty="0">
                          <a:solidFill>
                            <a:schemeClr val="tx1"/>
                          </a:solidFill>
                        </a:rPr>
                        <a:t>Average Runtime</a:t>
                      </a:r>
                    </a:p>
                  </a:txBody>
                  <a:tcPr/>
                </a:tc>
                <a:tc>
                  <a:txBody>
                    <a:bodyPr/>
                    <a:lstStyle/>
                    <a:p>
                      <a:pPr algn="ctr"/>
                      <a:r>
                        <a:rPr lang="en-US" sz="3200" dirty="0">
                          <a:solidFill>
                            <a:schemeClr val="tx1"/>
                          </a:solidFill>
                        </a:rPr>
                        <a:t>Worst</a:t>
                      </a:r>
                      <a:r>
                        <a:rPr lang="en-US" sz="3200" baseline="0" dirty="0">
                          <a:solidFill>
                            <a:schemeClr val="tx1"/>
                          </a:solidFill>
                        </a:rPr>
                        <a:t> Runtime</a:t>
                      </a:r>
                      <a:endParaRPr lang="en-US" sz="3200" dirty="0">
                        <a:solidFill>
                          <a:schemeClr val="tx1"/>
                        </a:solidFill>
                      </a:endParaRPr>
                    </a:p>
                  </a:txBody>
                  <a:tcPr/>
                </a:tc>
                <a:tc>
                  <a:txBody>
                    <a:bodyPr/>
                    <a:lstStyle/>
                    <a:p>
                      <a:pPr algn="ctr"/>
                      <a:r>
                        <a:rPr lang="en-US" sz="3200" dirty="0">
                          <a:solidFill>
                            <a:schemeClr val="tx1"/>
                          </a:solidFill>
                        </a:rPr>
                        <a:t>Space Complexity</a:t>
                      </a:r>
                    </a:p>
                  </a:txBody>
                  <a:tcPr/>
                </a:tc>
                <a:extLst>
                  <a:ext uri="{0D108BD9-81ED-4DB2-BD59-A6C34878D82A}">
                    <a16:rowId xmlns:a16="http://schemas.microsoft.com/office/drawing/2014/main" val="3698588655"/>
                  </a:ext>
                </a:extLst>
              </a:tr>
              <a:tr h="370840">
                <a:tc>
                  <a:txBody>
                    <a:bodyPr/>
                    <a:lstStyle/>
                    <a:p>
                      <a:r>
                        <a:rPr lang="en-US" sz="2800" dirty="0"/>
                        <a:t>BUBBLE SORT</a:t>
                      </a:r>
                    </a:p>
                  </a:txBody>
                  <a:tcPr/>
                </a:tc>
                <a:tc>
                  <a:txBody>
                    <a:bodyPr/>
                    <a:lstStyle/>
                    <a:p>
                      <a:r>
                        <a:rPr lang="en-US" sz="2800" dirty="0"/>
                        <a:t>O(n)</a:t>
                      </a:r>
                    </a:p>
                  </a:txBody>
                  <a:tcPr/>
                </a:tc>
                <a:tc>
                  <a:txBody>
                    <a:bodyPr/>
                    <a:lstStyle/>
                    <a:p>
                      <a:r>
                        <a:rPr lang="en-US" sz="2800" dirty="0"/>
                        <a:t>O(n</a:t>
                      </a:r>
                      <a:r>
                        <a:rPr lang="en-US" sz="2800" baseline="30000" dirty="0"/>
                        <a:t>2</a:t>
                      </a:r>
                      <a:r>
                        <a:rPr lang="en-US" sz="2800" dirty="0"/>
                        <a:t>)</a:t>
                      </a:r>
                    </a:p>
                  </a:txBody>
                  <a:tcPr/>
                </a:tc>
                <a:tc>
                  <a:txBody>
                    <a:bodyPr/>
                    <a:lstStyle/>
                    <a:p>
                      <a:r>
                        <a:rPr lang="en-US" sz="2800" dirty="0"/>
                        <a:t>O(n</a:t>
                      </a:r>
                      <a:r>
                        <a:rPr lang="en-US" sz="2800" baseline="30000" dirty="0"/>
                        <a:t>2</a:t>
                      </a:r>
                      <a:r>
                        <a:rPr lang="en-US" sz="2800" dirty="0"/>
                        <a:t>)</a:t>
                      </a:r>
                    </a:p>
                  </a:txBody>
                  <a:tcPr/>
                </a:tc>
                <a:tc>
                  <a:txBody>
                    <a:bodyPr/>
                    <a:lstStyle/>
                    <a:p>
                      <a:r>
                        <a:rPr lang="en-US" sz="2800" dirty="0"/>
                        <a:t>O(1)</a:t>
                      </a:r>
                    </a:p>
                  </a:txBody>
                  <a:tcPr/>
                </a:tc>
                <a:extLst>
                  <a:ext uri="{0D108BD9-81ED-4DB2-BD59-A6C34878D82A}">
                    <a16:rowId xmlns:a16="http://schemas.microsoft.com/office/drawing/2014/main" val="1671861865"/>
                  </a:ext>
                </a:extLst>
              </a:tr>
              <a:tr h="370840">
                <a:tc>
                  <a:txBody>
                    <a:bodyPr/>
                    <a:lstStyle/>
                    <a:p>
                      <a:r>
                        <a:rPr lang="en-US" sz="2800" dirty="0"/>
                        <a:t>INSERTION SORT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O(n</a:t>
                      </a:r>
                      <a:r>
                        <a:rPr lang="en-US" sz="2800" baseline="30000" dirty="0"/>
                        <a:t>2</a:t>
                      </a:r>
                      <a:r>
                        <a:rPr lang="en-US" sz="28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O(n</a:t>
                      </a:r>
                      <a:r>
                        <a:rPr lang="en-US" sz="2800" baseline="30000" dirty="0"/>
                        <a:t>2</a:t>
                      </a:r>
                      <a:r>
                        <a:rPr lang="en-US" sz="28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O(1)</a:t>
                      </a:r>
                    </a:p>
                  </a:txBody>
                  <a:tcPr/>
                </a:tc>
                <a:extLst>
                  <a:ext uri="{0D108BD9-81ED-4DB2-BD59-A6C34878D82A}">
                    <a16:rowId xmlns:a16="http://schemas.microsoft.com/office/drawing/2014/main" val="445350043"/>
                  </a:ext>
                </a:extLst>
              </a:tr>
              <a:tr h="370840">
                <a:tc>
                  <a:txBody>
                    <a:bodyPr/>
                    <a:lstStyle/>
                    <a:p>
                      <a:r>
                        <a:rPr lang="en-US" sz="2800" dirty="0"/>
                        <a:t>SELECTION SORT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O(n</a:t>
                      </a:r>
                      <a:r>
                        <a:rPr lang="en-US" sz="2800" baseline="30000" dirty="0"/>
                        <a:t>2</a:t>
                      </a:r>
                      <a:r>
                        <a:rPr lang="en-US" sz="28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O(n</a:t>
                      </a:r>
                      <a:r>
                        <a:rPr lang="en-US" sz="2800" baseline="30000" dirty="0"/>
                        <a:t>2</a:t>
                      </a:r>
                      <a:r>
                        <a:rPr lang="en-US" sz="28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O(n</a:t>
                      </a:r>
                      <a:r>
                        <a:rPr lang="en-US" sz="2800" baseline="30000" dirty="0"/>
                        <a:t>2</a:t>
                      </a:r>
                      <a:r>
                        <a:rPr lang="en-US" sz="28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O(1)</a:t>
                      </a:r>
                    </a:p>
                  </a:txBody>
                  <a:tcPr/>
                </a:tc>
                <a:extLst>
                  <a:ext uri="{0D108BD9-81ED-4DB2-BD59-A6C34878D82A}">
                    <a16:rowId xmlns:a16="http://schemas.microsoft.com/office/drawing/2014/main" val="526329093"/>
                  </a:ext>
                </a:extLst>
              </a:tr>
              <a:tr h="370840">
                <a:tc>
                  <a:txBody>
                    <a:bodyPr/>
                    <a:lstStyle/>
                    <a:p>
                      <a:r>
                        <a:rPr lang="en-US" sz="2800" dirty="0"/>
                        <a:t>QUICK SORT</a:t>
                      </a:r>
                    </a:p>
                  </a:txBody>
                  <a:tcPr/>
                </a:tc>
                <a:tc>
                  <a:txBody>
                    <a:bodyPr/>
                    <a:lstStyle/>
                    <a:p>
                      <a:r>
                        <a:rPr lang="en-US" sz="2800" dirty="0"/>
                        <a:t>O(n log n)</a:t>
                      </a:r>
                    </a:p>
                  </a:txBody>
                  <a:tcPr/>
                </a:tc>
                <a:tc>
                  <a:txBody>
                    <a:bodyPr/>
                    <a:lstStyle/>
                    <a:p>
                      <a:r>
                        <a:rPr lang="en-US" sz="2800" dirty="0"/>
                        <a:t>O(n log 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O(n</a:t>
                      </a:r>
                      <a:r>
                        <a:rPr lang="en-US" sz="2800" baseline="30000" dirty="0"/>
                        <a:t>2</a:t>
                      </a:r>
                      <a:r>
                        <a:rPr lang="en-US" sz="2800" dirty="0"/>
                        <a:t>)</a:t>
                      </a:r>
                    </a:p>
                  </a:txBody>
                  <a:tcPr/>
                </a:tc>
                <a:tc>
                  <a:txBody>
                    <a:bodyPr/>
                    <a:lstStyle/>
                    <a:p>
                      <a:r>
                        <a:rPr lang="en-US" sz="2800" dirty="0"/>
                        <a:t>O(</a:t>
                      </a:r>
                      <a:r>
                        <a:rPr lang="en-US" sz="2800" baseline="0" dirty="0"/>
                        <a:t>log n)</a:t>
                      </a:r>
                      <a:endParaRPr lang="en-US" sz="2800" dirty="0"/>
                    </a:p>
                  </a:txBody>
                  <a:tcPr/>
                </a:tc>
                <a:extLst>
                  <a:ext uri="{0D108BD9-81ED-4DB2-BD59-A6C34878D82A}">
                    <a16:rowId xmlns:a16="http://schemas.microsoft.com/office/drawing/2014/main" val="50895517"/>
                  </a:ext>
                </a:extLst>
              </a:tr>
              <a:tr h="370840">
                <a:tc>
                  <a:txBody>
                    <a:bodyPr/>
                    <a:lstStyle/>
                    <a:p>
                      <a:r>
                        <a:rPr lang="en-US" sz="2800" dirty="0"/>
                        <a:t>MERGE SORT</a:t>
                      </a:r>
                    </a:p>
                  </a:txBody>
                  <a:tcPr/>
                </a:tc>
                <a:tc>
                  <a:txBody>
                    <a:bodyPr/>
                    <a:lstStyle/>
                    <a:p>
                      <a:r>
                        <a:rPr lang="en-US" sz="2800" dirty="0"/>
                        <a:t>O(n log n)</a:t>
                      </a:r>
                    </a:p>
                  </a:txBody>
                  <a:tcPr/>
                </a:tc>
                <a:tc>
                  <a:txBody>
                    <a:bodyPr/>
                    <a:lstStyle/>
                    <a:p>
                      <a:r>
                        <a:rPr lang="en-US" sz="2800" dirty="0"/>
                        <a:t>O(n log 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O(n log n)</a:t>
                      </a:r>
                    </a:p>
                  </a:txBody>
                  <a:tcPr/>
                </a:tc>
                <a:tc>
                  <a:txBody>
                    <a:bodyPr/>
                    <a:lstStyle/>
                    <a:p>
                      <a:r>
                        <a:rPr lang="en-US" sz="2800" dirty="0"/>
                        <a:t>O(n)</a:t>
                      </a:r>
                    </a:p>
                  </a:txBody>
                  <a:tcPr/>
                </a:tc>
                <a:extLst>
                  <a:ext uri="{0D108BD9-81ED-4DB2-BD59-A6C34878D82A}">
                    <a16:rowId xmlns:a16="http://schemas.microsoft.com/office/drawing/2014/main" val="2710688858"/>
                  </a:ext>
                </a:extLst>
              </a:tr>
              <a:tr h="370840">
                <a:tc>
                  <a:txBody>
                    <a:bodyPr/>
                    <a:lstStyle/>
                    <a:p>
                      <a:r>
                        <a:rPr lang="en-US" sz="2800" dirty="0"/>
                        <a:t>RADIX</a:t>
                      </a:r>
                      <a:r>
                        <a:rPr lang="en-US" sz="2800" baseline="0" dirty="0"/>
                        <a:t> SORT</a:t>
                      </a:r>
                      <a:endParaRPr lang="en-US" sz="2800" dirty="0"/>
                    </a:p>
                  </a:txBody>
                  <a:tcPr/>
                </a:tc>
                <a:tc>
                  <a:txBody>
                    <a:bodyPr/>
                    <a:lstStyle/>
                    <a:p>
                      <a:endParaRPr lang="en-US" sz="2800" dirty="0"/>
                    </a:p>
                  </a:txBody>
                  <a:tcPr/>
                </a:tc>
                <a:tc>
                  <a:txBody>
                    <a:bodyPr/>
                    <a:lstStyle/>
                    <a:p>
                      <a:r>
                        <a:rPr lang="en-US" sz="2800" dirty="0"/>
                        <a:t>O(n)</a:t>
                      </a:r>
                    </a:p>
                  </a:txBody>
                  <a:tcPr/>
                </a:tc>
                <a:tc>
                  <a:txBody>
                    <a:bodyPr/>
                    <a:lstStyle/>
                    <a:p>
                      <a:r>
                        <a:rPr lang="en-US" sz="2800" dirty="0"/>
                        <a:t>O(</a:t>
                      </a:r>
                      <a:r>
                        <a:rPr lang="en-US" sz="2800" dirty="0" err="1"/>
                        <a:t>wn</a:t>
                      </a:r>
                      <a:r>
                        <a:rPr lang="en-US" sz="2800" dirty="0"/>
                        <a:t>)</a:t>
                      </a:r>
                    </a:p>
                  </a:txBody>
                  <a:tcPr/>
                </a:tc>
                <a:tc>
                  <a:txBody>
                    <a:bodyPr/>
                    <a:lstStyle/>
                    <a:p>
                      <a:r>
                        <a:rPr lang="en-US" sz="2800" dirty="0"/>
                        <a:t>O(</a:t>
                      </a:r>
                      <a:r>
                        <a:rPr lang="en-US" sz="2800" dirty="0" err="1"/>
                        <a:t>w+n</a:t>
                      </a:r>
                      <a:r>
                        <a:rPr lang="en-US" sz="2800" dirty="0"/>
                        <a:t>)</a:t>
                      </a:r>
                    </a:p>
                  </a:txBody>
                  <a:tcPr/>
                </a:tc>
                <a:extLst>
                  <a:ext uri="{0D108BD9-81ED-4DB2-BD59-A6C34878D82A}">
                    <a16:rowId xmlns:a16="http://schemas.microsoft.com/office/drawing/2014/main" val="1629607386"/>
                  </a:ext>
                </a:extLst>
              </a:tr>
            </a:tbl>
          </a:graphicData>
        </a:graphic>
      </p:graphicFrame>
    </p:spTree>
    <p:extLst>
      <p:ext uri="{BB962C8B-B14F-4D97-AF65-F5344CB8AC3E}">
        <p14:creationId xmlns:p14="http://schemas.microsoft.com/office/powerpoint/2010/main" val="26075986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Worst Sort Algorithm Ever - </a:t>
            </a:r>
            <a:r>
              <a:rPr lang="en-US" dirty="0" err="1"/>
              <a:t>Bogosort</a:t>
            </a:r>
            <a:endParaRPr lang="en-US" dirty="0"/>
          </a:p>
        </p:txBody>
      </p:sp>
      <p:sp>
        <p:nvSpPr>
          <p:cNvPr id="3" name="Content Placeholder 2"/>
          <p:cNvSpPr>
            <a:spLocks noGrp="1"/>
          </p:cNvSpPr>
          <p:nvPr>
            <p:ph idx="1"/>
          </p:nvPr>
        </p:nvSpPr>
        <p:spPr/>
        <p:txBody>
          <a:bodyPr>
            <a:normAutofit/>
          </a:bodyPr>
          <a:lstStyle/>
          <a:p>
            <a:r>
              <a:rPr lang="en-US" sz="3600" dirty="0" err="1"/>
              <a:t>Bogosort</a:t>
            </a:r>
            <a:r>
              <a:rPr lang="en-US" sz="3600" dirty="0"/>
              <a:t> is a highly ineffective sorting that generates permutations of its input until it finds (maybe) one that is sorted.</a:t>
            </a:r>
          </a:p>
          <a:p>
            <a:endParaRPr lang="en-US" sz="3600" dirty="0"/>
          </a:p>
          <a:p>
            <a:endParaRPr lang="en-US" sz="3600" dirty="0"/>
          </a:p>
        </p:txBody>
      </p:sp>
    </p:spTree>
    <p:extLst>
      <p:ext uri="{BB962C8B-B14F-4D97-AF65-F5344CB8AC3E}">
        <p14:creationId xmlns:p14="http://schemas.microsoft.com/office/powerpoint/2010/main" val="4008341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Bogosort</a:t>
            </a:r>
            <a:r>
              <a:rPr lang="en-US" dirty="0"/>
              <a:t> – worst sort algorithm </a:t>
            </a:r>
          </a:p>
        </p:txBody>
      </p:sp>
      <p:sp>
        <p:nvSpPr>
          <p:cNvPr id="6" name="Content Placeholder 5">
            <a:extLst>
              <a:ext uri="{FF2B5EF4-FFF2-40B4-BE49-F238E27FC236}">
                <a16:creationId xmlns:a16="http://schemas.microsoft.com/office/drawing/2014/main" id="{08164F36-090A-9A63-20D0-F55D80ED7151}"/>
              </a:ext>
            </a:extLst>
          </p:cNvPr>
          <p:cNvSpPr>
            <a:spLocks noGrp="1"/>
          </p:cNvSpPr>
          <p:nvPr>
            <p:ph idx="1"/>
          </p:nvPr>
        </p:nvSpPr>
        <p:spPr/>
        <p:txBody>
          <a:bodyPr/>
          <a:lstStyle/>
          <a:p>
            <a:r>
              <a:rPr lang="en-US" sz="5400" b="1" dirty="0">
                <a:solidFill>
                  <a:srgbClr val="0000FF"/>
                </a:solidFill>
              </a:rPr>
              <a:t>https://www.youtube.com/watch?v=DaPJkYo2quc</a:t>
            </a:r>
          </a:p>
          <a:p>
            <a:endParaRPr lang="en-US" dirty="0"/>
          </a:p>
        </p:txBody>
      </p:sp>
    </p:spTree>
    <p:extLst>
      <p:ext uri="{BB962C8B-B14F-4D97-AF65-F5344CB8AC3E}">
        <p14:creationId xmlns:p14="http://schemas.microsoft.com/office/powerpoint/2010/main" val="140938238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9822" y="0"/>
            <a:ext cx="10058400" cy="1450757"/>
          </a:xfrm>
        </p:spPr>
        <p:txBody>
          <a:bodyPr/>
          <a:lstStyle/>
          <a:p>
            <a:r>
              <a:rPr lang="en-US" dirty="0"/>
              <a:t>16 Sorts – Color Circle</a:t>
            </a:r>
          </a:p>
        </p:txBody>
      </p:sp>
      <p:sp>
        <p:nvSpPr>
          <p:cNvPr id="6" name="Content Placeholder 5">
            <a:extLst>
              <a:ext uri="{FF2B5EF4-FFF2-40B4-BE49-F238E27FC236}">
                <a16:creationId xmlns:a16="http://schemas.microsoft.com/office/drawing/2014/main" id="{313EC294-D1CD-60E8-502C-CE176C11A247}"/>
              </a:ext>
            </a:extLst>
          </p:cNvPr>
          <p:cNvSpPr>
            <a:spLocks noGrp="1"/>
          </p:cNvSpPr>
          <p:nvPr>
            <p:ph idx="1"/>
          </p:nvPr>
        </p:nvSpPr>
        <p:spPr/>
        <p:txBody>
          <a:bodyPr/>
          <a:lstStyle/>
          <a:p>
            <a:r>
              <a:rPr lang="en-US" sz="5400" b="1" dirty="0">
                <a:solidFill>
                  <a:srgbClr val="0000FF"/>
                </a:solidFill>
              </a:rPr>
              <a:t>https://www.youtube.com/watch?v=y9Ecb43qw98&amp;t=1s</a:t>
            </a:r>
          </a:p>
          <a:p>
            <a:endParaRPr lang="en-US" dirty="0"/>
          </a:p>
        </p:txBody>
      </p:sp>
    </p:spTree>
    <p:extLst>
      <p:ext uri="{BB962C8B-B14F-4D97-AF65-F5344CB8AC3E}">
        <p14:creationId xmlns:p14="http://schemas.microsoft.com/office/powerpoint/2010/main" val="283093270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Sorting Algorithms in 2 Minutes!</a:t>
            </a:r>
          </a:p>
        </p:txBody>
      </p:sp>
      <p:sp>
        <p:nvSpPr>
          <p:cNvPr id="4" name="Content Placeholder 3">
            <a:extLst>
              <a:ext uri="{FF2B5EF4-FFF2-40B4-BE49-F238E27FC236}">
                <a16:creationId xmlns:a16="http://schemas.microsoft.com/office/drawing/2014/main" id="{D9E4DFFF-CBFF-A216-5B35-1C87437B5446}"/>
              </a:ext>
            </a:extLst>
          </p:cNvPr>
          <p:cNvSpPr>
            <a:spLocks noGrp="1"/>
          </p:cNvSpPr>
          <p:nvPr>
            <p:ph idx="1"/>
          </p:nvPr>
        </p:nvSpPr>
        <p:spPr/>
        <p:txBody>
          <a:bodyPr/>
          <a:lstStyle/>
          <a:p>
            <a:r>
              <a:rPr lang="en-US" sz="5400" b="1" dirty="0">
                <a:solidFill>
                  <a:srgbClr val="0000FF"/>
                </a:solidFill>
              </a:rPr>
              <a:t>https://www.youtube.com/watch?v=BeoCbJPuvSE</a:t>
            </a:r>
          </a:p>
          <a:p>
            <a:endParaRPr lang="en-US" dirty="0"/>
          </a:p>
        </p:txBody>
      </p:sp>
    </p:spTree>
    <p:extLst>
      <p:ext uri="{BB962C8B-B14F-4D97-AF65-F5344CB8AC3E}">
        <p14:creationId xmlns:p14="http://schemas.microsoft.com/office/powerpoint/2010/main" val="8505490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d82335c-2c29-423a-8e1d-221b76a59c5a">
      <Terms xmlns="http://schemas.microsoft.com/office/infopath/2007/PartnerControls"/>
    </lcf76f155ced4ddcb4097134ff3c332f>
    <TaxCatchAll xmlns="71a01256-664b-4da4-b4dd-5beed58790e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230C191A4F5C54BAC11196ACFD065C0" ma:contentTypeVersion="12" ma:contentTypeDescription="Create a new document." ma:contentTypeScope="" ma:versionID="92d787d678dd6f3764932783920f5cce">
  <xsd:schema xmlns:xsd="http://www.w3.org/2001/XMLSchema" xmlns:xs="http://www.w3.org/2001/XMLSchema" xmlns:p="http://schemas.microsoft.com/office/2006/metadata/properties" xmlns:ns2="7d82335c-2c29-423a-8e1d-221b76a59c5a" xmlns:ns3="71a01256-664b-4da4-b4dd-5beed58790e5" targetNamespace="http://schemas.microsoft.com/office/2006/metadata/properties" ma:root="true" ma:fieldsID="b835db4a27cac5e0123106fad97b6cee" ns2:_="" ns3:_="">
    <xsd:import namespace="7d82335c-2c29-423a-8e1d-221b76a59c5a"/>
    <xsd:import namespace="71a01256-664b-4da4-b4dd-5beed58790e5"/>
    <xsd:element name="properties">
      <xsd:complexType>
        <xsd:sequence>
          <xsd:element name="documentManagement">
            <xsd:complexType>
              <xsd:all>
                <xsd:element ref="ns2:MediaServiceMetadata" minOccurs="0"/>
                <xsd:element ref="ns2:MediaServiceFastMetadata" minOccurs="0"/>
                <xsd:element ref="ns2:MediaLengthInSecond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82335c-2c29-423a-8e1d-221b76a59c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1ec41815-f866-473a-a3ba-291165dbb83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1a01256-664b-4da4-b4dd-5beed58790e5"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4797d56-e4a9-4631-963f-93f44e72cd01}" ma:internalName="TaxCatchAll" ma:showField="CatchAllData" ma:web="71a01256-664b-4da4-b4dd-5beed58790e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2E0A654-5945-452E-8B06-AF6B3F6B885A}">
  <ds:schemaRefs>
    <ds:schemaRef ds:uri="http://schemas.microsoft.com/sharepoint/v3/contenttype/forms"/>
  </ds:schemaRefs>
</ds:datastoreItem>
</file>

<file path=customXml/itemProps2.xml><?xml version="1.0" encoding="utf-8"?>
<ds:datastoreItem xmlns:ds="http://schemas.openxmlformats.org/officeDocument/2006/customXml" ds:itemID="{3C7A10F0-810F-4D62-B815-9E1046975039}">
  <ds:schemaRefs>
    <ds:schemaRef ds:uri="http://schemas.microsoft.com/office/infopath/2007/PartnerControls"/>
    <ds:schemaRef ds:uri="http://purl.org/dc/elements/1.1/"/>
    <ds:schemaRef ds:uri="http://purl.org/dc/dcmitype/"/>
    <ds:schemaRef ds:uri="http://schemas.microsoft.com/office/2006/documentManagement/types"/>
    <ds:schemaRef ds:uri="http://www.w3.org/XML/1998/namespace"/>
    <ds:schemaRef ds:uri="http://schemas.openxmlformats.org/package/2006/metadata/core-properties"/>
    <ds:schemaRef ds:uri="http://purl.org/dc/terms/"/>
    <ds:schemaRef ds:uri="71a01256-664b-4da4-b4dd-5beed58790e5"/>
    <ds:schemaRef ds:uri="7d82335c-2c29-423a-8e1d-221b76a59c5a"/>
    <ds:schemaRef ds:uri="http://schemas.microsoft.com/office/2006/metadata/properties"/>
  </ds:schemaRefs>
</ds:datastoreItem>
</file>

<file path=customXml/itemProps3.xml><?xml version="1.0" encoding="utf-8"?>
<ds:datastoreItem xmlns:ds="http://schemas.openxmlformats.org/officeDocument/2006/customXml" ds:itemID="{D1DF222E-9DF3-4163-9C62-1602B1D540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d82335c-2c29-423a-8e1d-221b76a59c5a"/>
    <ds:schemaRef ds:uri="71a01256-664b-4da4-b4dd-5beed58790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Retrospect</Template>
  <TotalTime>10226</TotalTime>
  <Words>4029</Words>
  <Application>Microsoft Office PowerPoint</Application>
  <PresentationFormat>Widescreen</PresentationFormat>
  <Paragraphs>569</Paragraphs>
  <Slides>111</Slides>
  <Notes>79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111</vt:i4>
      </vt:variant>
    </vt:vector>
  </HeadingPairs>
  <TitlesOfParts>
    <vt:vector size="120" baseType="lpstr">
      <vt:lpstr>Aptos</vt:lpstr>
      <vt:lpstr>Arial</vt:lpstr>
      <vt:lpstr>Berlin Sans FB Demi</vt:lpstr>
      <vt:lpstr>Calibri</vt:lpstr>
      <vt:lpstr>Calibri Light</vt:lpstr>
      <vt:lpstr>Cambria Math</vt:lpstr>
      <vt:lpstr>Courier New</vt:lpstr>
      <vt:lpstr>Wingdings</vt:lpstr>
      <vt:lpstr>Retrospect</vt:lpstr>
      <vt:lpstr>Search &amp; Sort Algorithms</vt:lpstr>
      <vt:lpstr>Search Algorithms</vt:lpstr>
      <vt:lpstr>Search Problem</vt:lpstr>
      <vt:lpstr>List of Search Algorithms</vt:lpstr>
      <vt:lpstr>What is a LINEAR search algorithm?</vt:lpstr>
      <vt:lpstr>Examples of Linear Search Algorithms</vt:lpstr>
      <vt:lpstr>Linear Search Animation</vt:lpstr>
      <vt:lpstr>Algorithm Visualizations</vt:lpstr>
      <vt:lpstr>Linear Search by Too Tall Productions</vt:lpstr>
      <vt:lpstr>Linear Search Example</vt:lpstr>
      <vt:lpstr>Linear Search          Good Bad and Ugly</vt:lpstr>
      <vt:lpstr>Number of Comparisons in  Linear Search Algorithm</vt:lpstr>
      <vt:lpstr>Runtime of Linear Search Algorithm</vt:lpstr>
      <vt:lpstr>What is a BINARY search algorithm?</vt:lpstr>
      <vt:lpstr>Binary Search Algorithm Example</vt:lpstr>
      <vt:lpstr>Binary Search Animation</vt:lpstr>
      <vt:lpstr>Binary Search by Too Tall Productions</vt:lpstr>
      <vt:lpstr>Interpreting Binary Search with  Flamenco Dance</vt:lpstr>
      <vt:lpstr>Binary Search</vt:lpstr>
      <vt:lpstr>Binary Search                      Good Bad and Ugly</vt:lpstr>
      <vt:lpstr>Number of Comparisons in  Binary Search Algorithm</vt:lpstr>
      <vt:lpstr>Algorithm Analysis</vt:lpstr>
      <vt:lpstr>Efficiency &amp; Growth Rate</vt:lpstr>
      <vt:lpstr>Big-O Notation</vt:lpstr>
      <vt:lpstr>Other Notations in Algorithm Analysis</vt:lpstr>
      <vt:lpstr>Common Efficiency Classes In Order of Growth Rate from  slowest growth rate (good) to highest growth rate (bad)</vt:lpstr>
      <vt:lpstr>Big-O Notation – Linear Time</vt:lpstr>
      <vt:lpstr>Big-O Notation – Quadratic Time</vt:lpstr>
      <vt:lpstr>Big-O Notation – Logarithmic Time</vt:lpstr>
      <vt:lpstr>Big-O Notation – Exponential Time</vt:lpstr>
      <vt:lpstr>Example of Finding Big-O</vt:lpstr>
      <vt:lpstr>Linear Search Big O Notation</vt:lpstr>
      <vt:lpstr>Binary Search Big O Notation</vt:lpstr>
      <vt:lpstr>Sort Algorithms</vt:lpstr>
      <vt:lpstr>What is a Sort Algorithm?</vt:lpstr>
      <vt:lpstr>Ascending / Descending Order</vt:lpstr>
      <vt:lpstr>Visualization of 24 Sort Algorithms in 2 Minutes</vt:lpstr>
      <vt:lpstr>Bubble Sort</vt:lpstr>
      <vt:lpstr>What is Bubble Sort?</vt:lpstr>
      <vt:lpstr>Bubble Sort Example with an Array, slide 1</vt:lpstr>
      <vt:lpstr>Bubble Sort Example with an Array, slide 2</vt:lpstr>
      <vt:lpstr>Bubble Sort Example with an Array, slide 3</vt:lpstr>
      <vt:lpstr>Bubble Sort Example with an Array, slide 4</vt:lpstr>
      <vt:lpstr>Bubble Sort 3D Animation </vt:lpstr>
      <vt:lpstr>Bubble Sort with Hungarian, Folk Dance</vt:lpstr>
      <vt:lpstr>Bubble Sort Code</vt:lpstr>
      <vt:lpstr>IMPROVED Bubble Sort Code</vt:lpstr>
      <vt:lpstr>Bubble Sort Examples</vt:lpstr>
      <vt:lpstr>Bubble Sort: best &amp; worst-case efficiency</vt:lpstr>
      <vt:lpstr>Bubble Sort  Big O Notation</vt:lpstr>
      <vt:lpstr>Bubble Sort Visualizations</vt:lpstr>
      <vt:lpstr>Your Turn  (Module 4 Practice)</vt:lpstr>
      <vt:lpstr>Selection Sort</vt:lpstr>
      <vt:lpstr>What is Selection Sort?</vt:lpstr>
      <vt:lpstr>Selection Sort  </vt:lpstr>
      <vt:lpstr>Selection Sort 3D Animation</vt:lpstr>
      <vt:lpstr>Selection Sort Code</vt:lpstr>
      <vt:lpstr>Selection Sort Examples</vt:lpstr>
      <vt:lpstr>Selection Sort  Big O Notation</vt:lpstr>
      <vt:lpstr>Selection Sort Visualizations</vt:lpstr>
      <vt:lpstr>Selection Sort Explained with Animation | Step-by-Step for Interviews and Beginners</vt:lpstr>
      <vt:lpstr>Selection Sort with Gypsy Folk Dance</vt:lpstr>
      <vt:lpstr>Insertion Sort</vt:lpstr>
      <vt:lpstr>What is Insertion Sort?</vt:lpstr>
      <vt:lpstr>Insertion Sort Example</vt:lpstr>
      <vt:lpstr>Insertion Sort in 2 minutes</vt:lpstr>
      <vt:lpstr>Insertion Sort Code</vt:lpstr>
      <vt:lpstr>Insertion Sort Examples</vt:lpstr>
      <vt:lpstr>Insertion Sort  Worst, Best &amp; Average Case</vt:lpstr>
      <vt:lpstr>Insertion Sort  Big O Notation</vt:lpstr>
      <vt:lpstr>Insertion Sort Comparison</vt:lpstr>
      <vt:lpstr>Insertion Sort Visualization</vt:lpstr>
      <vt:lpstr>Quick Sort</vt:lpstr>
      <vt:lpstr>What is Quick Sort?</vt:lpstr>
      <vt:lpstr>Quick Sort Explained</vt:lpstr>
      <vt:lpstr>Quick Sort Code</vt:lpstr>
      <vt:lpstr>Hoare Partition Algorithm</vt:lpstr>
      <vt:lpstr>Quick sort in 4 minutes</vt:lpstr>
      <vt:lpstr>Quicksort:  Partitioning an Array with Pivot</vt:lpstr>
      <vt:lpstr>Quick Sort Examples</vt:lpstr>
      <vt:lpstr>Quick Sort  Big O Notation</vt:lpstr>
      <vt:lpstr>Quick Sort at VisualGo.net</vt:lpstr>
      <vt:lpstr>Merge Sort</vt:lpstr>
      <vt:lpstr>What is Merge Sort?</vt:lpstr>
      <vt:lpstr>Merge Sort 3D Animation</vt:lpstr>
      <vt:lpstr>Merge Sort Algorithm – Animated Explanation in 5 minutes</vt:lpstr>
      <vt:lpstr>Merge Sort Code</vt:lpstr>
      <vt:lpstr>Merge Sort Examples</vt:lpstr>
      <vt:lpstr>Merge Sort  Big O Notation</vt:lpstr>
      <vt:lpstr>Merge Sort at VisualGo.net</vt:lpstr>
      <vt:lpstr>Writing Parallel Algorithms  (instead of Sequential)</vt:lpstr>
      <vt:lpstr>In-Class Pre-Quiz  What do you know about writing parallel programs in C++? (11 multiple choice questions)</vt:lpstr>
      <vt:lpstr>Parallel Searching (Data Parallelism)</vt:lpstr>
      <vt:lpstr>Task Parallelism</vt:lpstr>
      <vt:lpstr>Parallel Sorting</vt:lpstr>
      <vt:lpstr>Parallel Processing in C++ with OpenMP</vt:lpstr>
      <vt:lpstr>Radix Sort</vt:lpstr>
      <vt:lpstr>What is Radix Sort?</vt:lpstr>
      <vt:lpstr>Radix Sort Info</vt:lpstr>
      <vt:lpstr>Radix Sort Example, slide 1</vt:lpstr>
      <vt:lpstr>Radix Sort Example, slide 2</vt:lpstr>
      <vt:lpstr>Radix Sort Example, slide 3</vt:lpstr>
      <vt:lpstr>Radix Sort Example, slide 4</vt:lpstr>
      <vt:lpstr>Radix Sort Example, slide 5</vt:lpstr>
      <vt:lpstr>Radix Sort Example</vt:lpstr>
      <vt:lpstr>Radix Sort  Big O Notation</vt:lpstr>
      <vt:lpstr>Summary of Big O Notation of Sorting Algorithms</vt:lpstr>
      <vt:lpstr>Worst Sort Algorithm Ever - Bogosort</vt:lpstr>
      <vt:lpstr>Bogosort – worst sort algorithm </vt:lpstr>
      <vt:lpstr>16 Sorts – Color Circle</vt:lpstr>
      <vt:lpstr>24 Sorting Algorithms in 2 Minutes!</vt:lpstr>
    </vt:vector>
  </TitlesOfParts>
  <Company>Tennessee Tech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CSC2100</dc:title>
  <dc:creator>Crockett, April</dc:creator>
  <cp:lastModifiedBy>Crockett, April</cp:lastModifiedBy>
  <cp:revision>371</cp:revision>
  <cp:lastPrinted>2019-02-04T13:48:13Z</cp:lastPrinted>
  <dcterms:created xsi:type="dcterms:W3CDTF">2016-01-12T20:29:51Z</dcterms:created>
  <dcterms:modified xsi:type="dcterms:W3CDTF">2026-02-12T16:55:32Z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0x0101005230C191A4F5C54BAC11196ACFD065C0</vt:lpwstr>
  </property>
  <property fmtid="{D5CDD505-2E9C-101B-9397-08002B2CF9AE}" pid="3" name="ReadingOrderVerifiedPages">
    <vt:lpwstr>40,41,42,43,72,82,90,96,99,100,101</vt:lpwstr>
  </property>
  <property fmtid="{D5CDD505-2E9C-101B-9397-08002B2CF9AE}" pid="4" name="VerifiedLinkDescriptions">
    <vt:lpwstr>https://www.cs.usfca.edu/~galles/visualization/Search.html,https://www.youtube.com/watch?v=UU5QAJ1XMqQ,https://www.youtube.com/watch?v=8TNLRK_FyFc,https://www.youtube.com/watch?v=BeoCbJPuvSE&amp;t=2s,https://visualgo.net/bn/sorting?slide=6,https://www.cs.usfca.edu/~galles/visualization/ComparisonSort.html,https://visualgo.net/bn/sorting?slide=7,https://visualgo.net/bn/sorting?slide=8,https://www.youtube.com/watch?v=Hoixgm4-P4M&amp;t=19s,https://visualgo.net/bn/sorting?slide=11,https://www.youtube.com/watch?v=HsZ-YRQM8sE&amp;t=41s,https://en.wikipedia.org/wiki/Merge_sort,https://visualgo.net/bn/sorting?slide=10,https://tntech.co1.qualtrics.com/jfe/form/SV_3UyI7vqTj8Od6aq,https://raw.githack.com/xiaoyuansuo51-webster/Flag_Coloring_Activity/refs/heads/main/parallel_search.html,https://cse.unl.edu/~cbourke/PDCatUNL/module-parallel-visual.html,https://raw.githack.com/xiaoyuansuo51-webster/Flag_Coloring_Activity/refs/heads/main/parallel_linked_list.html,https://raw.githack.com/xiaoyuansuo51-webster/Flag_Coloring_Activity/refs/heads/main/parallel_flag_color_XSUO.html,https://en.wikipedia.org/wiki/Radix_sort</vt:lpwstr>
  </property>
</Properties>
</file>